
<file path=[Content_Types].xml><?xml version="1.0" encoding="utf-8"?>
<Types xmlns="http://schemas.openxmlformats.org/package/2006/content-types">
  <Default Extension="bin" ContentType="image/x-emf"/>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33"/>
  </p:sldMasterIdLst>
  <p:notesMasterIdLst>
    <p:notesMasterId r:id="rId114"/>
  </p:notesMasterIdLst>
  <p:sldIdLst>
    <p:sldId id="280" r:id="rId34"/>
    <p:sldId id="4503" r:id="rId35"/>
    <p:sldId id="4538" r:id="rId36"/>
    <p:sldId id="4564" r:id="rId37"/>
    <p:sldId id="4417" r:id="rId38"/>
    <p:sldId id="513" r:id="rId39"/>
    <p:sldId id="514" r:id="rId40"/>
    <p:sldId id="476" r:id="rId41"/>
    <p:sldId id="479" r:id="rId42"/>
    <p:sldId id="480" r:id="rId43"/>
    <p:sldId id="487" r:id="rId44"/>
    <p:sldId id="485" r:id="rId45"/>
    <p:sldId id="484" r:id="rId46"/>
    <p:sldId id="483" r:id="rId47"/>
    <p:sldId id="482" r:id="rId48"/>
    <p:sldId id="489" r:id="rId49"/>
    <p:sldId id="477" r:id="rId50"/>
    <p:sldId id="486" r:id="rId51"/>
    <p:sldId id="478" r:id="rId52"/>
    <p:sldId id="493" r:id="rId53"/>
    <p:sldId id="491" r:id="rId54"/>
    <p:sldId id="473" r:id="rId55"/>
    <p:sldId id="494" r:id="rId56"/>
    <p:sldId id="4560" r:id="rId57"/>
    <p:sldId id="4575" r:id="rId58"/>
    <p:sldId id="472" r:id="rId59"/>
    <p:sldId id="475" r:id="rId60"/>
    <p:sldId id="481" r:id="rId61"/>
    <p:sldId id="492" r:id="rId62"/>
    <p:sldId id="4574" r:id="rId63"/>
    <p:sldId id="474" r:id="rId64"/>
    <p:sldId id="4570" r:id="rId65"/>
    <p:sldId id="4418" r:id="rId66"/>
    <p:sldId id="4571" r:id="rId67"/>
    <p:sldId id="4572" r:id="rId68"/>
    <p:sldId id="4573" r:id="rId69"/>
    <p:sldId id="4561" r:id="rId70"/>
    <p:sldId id="4576" r:id="rId71"/>
    <p:sldId id="4577" r:id="rId72"/>
    <p:sldId id="4578" r:id="rId73"/>
    <p:sldId id="4579" r:id="rId74"/>
    <p:sldId id="4589" r:id="rId75"/>
    <p:sldId id="4590" r:id="rId76"/>
    <p:sldId id="4591" r:id="rId77"/>
    <p:sldId id="4580" r:id="rId78"/>
    <p:sldId id="4583" r:id="rId79"/>
    <p:sldId id="4587" r:id="rId80"/>
    <p:sldId id="4584" r:id="rId81"/>
    <p:sldId id="4585" r:id="rId82"/>
    <p:sldId id="4588" r:id="rId83"/>
    <p:sldId id="4581" r:id="rId84"/>
    <p:sldId id="4582" r:id="rId85"/>
    <p:sldId id="4592" r:id="rId86"/>
    <p:sldId id="4593" r:id="rId87"/>
    <p:sldId id="4594" r:id="rId88"/>
    <p:sldId id="4562" r:id="rId89"/>
    <p:sldId id="4565" r:id="rId90"/>
    <p:sldId id="4566" r:id="rId91"/>
    <p:sldId id="4597" r:id="rId92"/>
    <p:sldId id="4598" r:id="rId93"/>
    <p:sldId id="4599" r:id="rId94"/>
    <p:sldId id="4595" r:id="rId95"/>
    <p:sldId id="4596" r:id="rId96"/>
    <p:sldId id="4563" r:id="rId97"/>
    <p:sldId id="4600" r:id="rId98"/>
    <p:sldId id="4601" r:id="rId99"/>
    <p:sldId id="4618" r:id="rId100"/>
    <p:sldId id="4567" r:id="rId101"/>
    <p:sldId id="4606" r:id="rId102"/>
    <p:sldId id="4607" r:id="rId103"/>
    <p:sldId id="4608" r:id="rId104"/>
    <p:sldId id="4609" r:id="rId105"/>
    <p:sldId id="4568" r:id="rId106"/>
    <p:sldId id="4610" r:id="rId107"/>
    <p:sldId id="4611" r:id="rId108"/>
    <p:sldId id="4613" r:id="rId109"/>
    <p:sldId id="4612" r:id="rId110"/>
    <p:sldId id="4614" r:id="rId111"/>
    <p:sldId id="4615" r:id="rId112"/>
    <p:sldId id="4616" r:id="rId1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83B3B"/>
    <a:srgbClr val="FEE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27" autoAdjust="0"/>
    <p:restoredTop sz="94662" autoAdjust="0"/>
  </p:normalViewPr>
  <p:slideViewPr>
    <p:cSldViewPr snapToGrid="0" showGuides="1">
      <p:cViewPr varScale="1">
        <p:scale>
          <a:sx n="128" d="100"/>
          <a:sy n="128" d="100"/>
        </p:scale>
        <p:origin x="2248" y="800"/>
      </p:cViewPr>
      <p:guideLst>
        <p:guide orient="horz" pos="64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117" Type="http://schemas.openxmlformats.org/officeDocument/2006/relationships/theme" Target="theme/theme1.xml"/><Relationship Id="rId21" Type="http://schemas.openxmlformats.org/officeDocument/2006/relationships/customXml" Target="../customXml/item21.xml"/><Relationship Id="rId42" Type="http://schemas.openxmlformats.org/officeDocument/2006/relationships/slide" Target="slides/slide9.xml"/><Relationship Id="rId47" Type="http://schemas.openxmlformats.org/officeDocument/2006/relationships/slide" Target="slides/slide14.xml"/><Relationship Id="rId63" Type="http://schemas.openxmlformats.org/officeDocument/2006/relationships/slide" Target="slides/slide30.xml"/><Relationship Id="rId68" Type="http://schemas.openxmlformats.org/officeDocument/2006/relationships/slide" Target="slides/slide35.xml"/><Relationship Id="rId84" Type="http://schemas.openxmlformats.org/officeDocument/2006/relationships/slide" Target="slides/slide51.xml"/><Relationship Id="rId89" Type="http://schemas.openxmlformats.org/officeDocument/2006/relationships/slide" Target="slides/slide56.xml"/><Relationship Id="rId112" Type="http://schemas.openxmlformats.org/officeDocument/2006/relationships/slide" Target="slides/slide79.xml"/><Relationship Id="rId16" Type="http://schemas.openxmlformats.org/officeDocument/2006/relationships/customXml" Target="../customXml/item16.xml"/><Relationship Id="rId107" Type="http://schemas.openxmlformats.org/officeDocument/2006/relationships/slide" Target="slides/slide74.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slide" Target="slides/slide4.xml"/><Relationship Id="rId53" Type="http://schemas.openxmlformats.org/officeDocument/2006/relationships/slide" Target="slides/slide20.xml"/><Relationship Id="rId58" Type="http://schemas.openxmlformats.org/officeDocument/2006/relationships/slide" Target="slides/slide25.xml"/><Relationship Id="rId74" Type="http://schemas.openxmlformats.org/officeDocument/2006/relationships/slide" Target="slides/slide41.xml"/><Relationship Id="rId79" Type="http://schemas.openxmlformats.org/officeDocument/2006/relationships/slide" Target="slides/slide46.xml"/><Relationship Id="rId102" Type="http://schemas.openxmlformats.org/officeDocument/2006/relationships/slide" Target="slides/slide69.xml"/><Relationship Id="rId5" Type="http://schemas.openxmlformats.org/officeDocument/2006/relationships/customXml" Target="../customXml/item5.xml"/><Relationship Id="rId90" Type="http://schemas.openxmlformats.org/officeDocument/2006/relationships/slide" Target="slides/slide57.xml"/><Relationship Id="rId95" Type="http://schemas.openxmlformats.org/officeDocument/2006/relationships/slide" Target="slides/slide62.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slide" Target="slides/slide10.xml"/><Relationship Id="rId48" Type="http://schemas.openxmlformats.org/officeDocument/2006/relationships/slide" Target="slides/slide15.xml"/><Relationship Id="rId64" Type="http://schemas.openxmlformats.org/officeDocument/2006/relationships/slide" Target="slides/slide31.xml"/><Relationship Id="rId69" Type="http://schemas.openxmlformats.org/officeDocument/2006/relationships/slide" Target="slides/slide36.xml"/><Relationship Id="rId113" Type="http://schemas.openxmlformats.org/officeDocument/2006/relationships/slide" Target="slides/slide80.xml"/><Relationship Id="rId118" Type="http://schemas.openxmlformats.org/officeDocument/2006/relationships/tableStyles" Target="tableStyles.xml"/><Relationship Id="rId80" Type="http://schemas.openxmlformats.org/officeDocument/2006/relationships/slide" Target="slides/slide47.xml"/><Relationship Id="rId85" Type="http://schemas.openxmlformats.org/officeDocument/2006/relationships/slide" Target="slides/slide52.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slideMaster" Target="slideMasters/slideMaster1.xml"/><Relationship Id="rId38" Type="http://schemas.openxmlformats.org/officeDocument/2006/relationships/slide" Target="slides/slide5.xml"/><Relationship Id="rId59" Type="http://schemas.openxmlformats.org/officeDocument/2006/relationships/slide" Target="slides/slide26.xml"/><Relationship Id="rId103" Type="http://schemas.openxmlformats.org/officeDocument/2006/relationships/slide" Target="slides/slide70.xml"/><Relationship Id="rId108" Type="http://schemas.openxmlformats.org/officeDocument/2006/relationships/slide" Target="slides/slide75.xml"/><Relationship Id="rId54" Type="http://schemas.openxmlformats.org/officeDocument/2006/relationships/slide" Target="slides/slide21.xml"/><Relationship Id="rId70" Type="http://schemas.openxmlformats.org/officeDocument/2006/relationships/slide" Target="slides/slide37.xml"/><Relationship Id="rId75" Type="http://schemas.openxmlformats.org/officeDocument/2006/relationships/slide" Target="slides/slide42.xml"/><Relationship Id="rId91" Type="http://schemas.openxmlformats.org/officeDocument/2006/relationships/slide" Target="slides/slide58.xml"/><Relationship Id="rId96" Type="http://schemas.openxmlformats.org/officeDocument/2006/relationships/slide" Target="slides/slide63.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slide" Target="slides/slide16.xml"/><Relationship Id="rId114" Type="http://schemas.openxmlformats.org/officeDocument/2006/relationships/notesMaster" Target="notesMasters/notesMaster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11.xml"/><Relationship Id="rId52" Type="http://schemas.openxmlformats.org/officeDocument/2006/relationships/slide" Target="slides/slide19.xml"/><Relationship Id="rId60" Type="http://schemas.openxmlformats.org/officeDocument/2006/relationships/slide" Target="slides/slide27.xml"/><Relationship Id="rId65" Type="http://schemas.openxmlformats.org/officeDocument/2006/relationships/slide" Target="slides/slide32.xml"/><Relationship Id="rId73" Type="http://schemas.openxmlformats.org/officeDocument/2006/relationships/slide" Target="slides/slide40.xml"/><Relationship Id="rId78" Type="http://schemas.openxmlformats.org/officeDocument/2006/relationships/slide" Target="slides/slide45.xml"/><Relationship Id="rId81" Type="http://schemas.openxmlformats.org/officeDocument/2006/relationships/slide" Target="slides/slide48.xml"/><Relationship Id="rId86" Type="http://schemas.openxmlformats.org/officeDocument/2006/relationships/slide" Target="slides/slide53.xml"/><Relationship Id="rId94" Type="http://schemas.openxmlformats.org/officeDocument/2006/relationships/slide" Target="slides/slide61.xml"/><Relationship Id="rId99" Type="http://schemas.openxmlformats.org/officeDocument/2006/relationships/slide" Target="slides/slide66.xml"/><Relationship Id="rId101" Type="http://schemas.openxmlformats.org/officeDocument/2006/relationships/slide" Target="slides/slide68.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6.xml"/><Relationship Id="rId109" Type="http://schemas.openxmlformats.org/officeDocument/2006/relationships/slide" Target="slides/slide76.xml"/><Relationship Id="rId34" Type="http://schemas.openxmlformats.org/officeDocument/2006/relationships/slide" Target="slides/slide1.xml"/><Relationship Id="rId50" Type="http://schemas.openxmlformats.org/officeDocument/2006/relationships/slide" Target="slides/slide17.xml"/><Relationship Id="rId55" Type="http://schemas.openxmlformats.org/officeDocument/2006/relationships/slide" Target="slides/slide22.xml"/><Relationship Id="rId76" Type="http://schemas.openxmlformats.org/officeDocument/2006/relationships/slide" Target="slides/slide43.xml"/><Relationship Id="rId97" Type="http://schemas.openxmlformats.org/officeDocument/2006/relationships/slide" Target="slides/slide64.xml"/><Relationship Id="rId104" Type="http://schemas.openxmlformats.org/officeDocument/2006/relationships/slide" Target="slides/slide71.xml"/><Relationship Id="rId7" Type="http://schemas.openxmlformats.org/officeDocument/2006/relationships/customXml" Target="../customXml/item7.xml"/><Relationship Id="rId71" Type="http://schemas.openxmlformats.org/officeDocument/2006/relationships/slide" Target="slides/slide38.xml"/><Relationship Id="rId92" Type="http://schemas.openxmlformats.org/officeDocument/2006/relationships/slide" Target="slides/slide59.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slide" Target="slides/slide7.xml"/><Relationship Id="rId45" Type="http://schemas.openxmlformats.org/officeDocument/2006/relationships/slide" Target="slides/slide12.xml"/><Relationship Id="rId66" Type="http://schemas.openxmlformats.org/officeDocument/2006/relationships/slide" Target="slides/slide33.xml"/><Relationship Id="rId87" Type="http://schemas.openxmlformats.org/officeDocument/2006/relationships/slide" Target="slides/slide54.xml"/><Relationship Id="rId110" Type="http://schemas.openxmlformats.org/officeDocument/2006/relationships/slide" Target="slides/slide77.xml"/><Relationship Id="rId115" Type="http://schemas.openxmlformats.org/officeDocument/2006/relationships/presProps" Target="presProps.xml"/><Relationship Id="rId61" Type="http://schemas.openxmlformats.org/officeDocument/2006/relationships/slide" Target="slides/slide28.xml"/><Relationship Id="rId82" Type="http://schemas.openxmlformats.org/officeDocument/2006/relationships/slide" Target="slides/slide49.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slide" Target="slides/slide2.xml"/><Relationship Id="rId56" Type="http://schemas.openxmlformats.org/officeDocument/2006/relationships/slide" Target="slides/slide23.xml"/><Relationship Id="rId77" Type="http://schemas.openxmlformats.org/officeDocument/2006/relationships/slide" Target="slides/slide44.xml"/><Relationship Id="rId100" Type="http://schemas.openxmlformats.org/officeDocument/2006/relationships/slide" Target="slides/slide67.xml"/><Relationship Id="rId105" Type="http://schemas.openxmlformats.org/officeDocument/2006/relationships/slide" Target="slides/slide72.xml"/><Relationship Id="rId8" Type="http://schemas.openxmlformats.org/officeDocument/2006/relationships/customXml" Target="../customXml/item8.xml"/><Relationship Id="rId51" Type="http://schemas.openxmlformats.org/officeDocument/2006/relationships/slide" Target="slides/slide18.xml"/><Relationship Id="rId72" Type="http://schemas.openxmlformats.org/officeDocument/2006/relationships/slide" Target="slides/slide39.xml"/><Relationship Id="rId93" Type="http://schemas.openxmlformats.org/officeDocument/2006/relationships/slide" Target="slides/slide60.xml"/><Relationship Id="rId98" Type="http://schemas.openxmlformats.org/officeDocument/2006/relationships/slide" Target="slides/slide65.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slide" Target="slides/slide13.xml"/><Relationship Id="rId67" Type="http://schemas.openxmlformats.org/officeDocument/2006/relationships/slide" Target="slides/slide34.xml"/><Relationship Id="rId116" Type="http://schemas.openxmlformats.org/officeDocument/2006/relationships/viewProps" Target="viewProps.xml"/><Relationship Id="rId20" Type="http://schemas.openxmlformats.org/officeDocument/2006/relationships/customXml" Target="../customXml/item20.xml"/><Relationship Id="rId41" Type="http://schemas.openxmlformats.org/officeDocument/2006/relationships/slide" Target="slides/slide8.xml"/><Relationship Id="rId62" Type="http://schemas.openxmlformats.org/officeDocument/2006/relationships/slide" Target="slides/slide29.xml"/><Relationship Id="rId83" Type="http://schemas.openxmlformats.org/officeDocument/2006/relationships/slide" Target="slides/slide50.xml"/><Relationship Id="rId88" Type="http://schemas.openxmlformats.org/officeDocument/2006/relationships/slide" Target="slides/slide55.xml"/><Relationship Id="rId111" Type="http://schemas.openxmlformats.org/officeDocument/2006/relationships/slide" Target="slides/slide78.xml"/><Relationship Id="rId15" Type="http://schemas.openxmlformats.org/officeDocument/2006/relationships/customXml" Target="../customXml/item15.xml"/><Relationship Id="rId36" Type="http://schemas.openxmlformats.org/officeDocument/2006/relationships/slide" Target="slides/slide3.xml"/><Relationship Id="rId57" Type="http://schemas.openxmlformats.org/officeDocument/2006/relationships/slide" Target="slides/slide24.xml"/><Relationship Id="rId106"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CD72A38B-F9FA-4036-A084-652409E98F08}" type="datetimeFigureOut">
              <a:rPr lang="en-GB"/>
              <a:pPr/>
              <a:t>01/11/2024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49436F85-577F-4A92-A47F-D540A2BCC821}" type="slidenum">
              <a:rPr lang="en-GB"/>
              <a:pPr/>
              <a:t>‹nr.›</a:t>
            </a:fld>
            <a:endParaRPr lang="en-GB" dirty="0"/>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1</a:t>
            </a:fld>
            <a:endParaRPr lang="en-GB" dirty="0"/>
          </a:p>
        </p:txBody>
      </p:sp>
    </p:spTree>
    <p:extLst>
      <p:ext uri="{BB962C8B-B14F-4D97-AF65-F5344CB8AC3E}">
        <p14:creationId xmlns:p14="http://schemas.microsoft.com/office/powerpoint/2010/main" val="920157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2</a:t>
            </a:fld>
            <a:endParaRPr lang="en-GB" dirty="0"/>
          </a:p>
        </p:txBody>
      </p:sp>
    </p:spTree>
    <p:extLst>
      <p:ext uri="{BB962C8B-B14F-4D97-AF65-F5344CB8AC3E}">
        <p14:creationId xmlns:p14="http://schemas.microsoft.com/office/powerpoint/2010/main" val="1551896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userDrawn="1"/>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userDrawn="1"/>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14" name="Date Placeholder 14">
            <a:extLst>
              <a:ext uri="{FF2B5EF4-FFF2-40B4-BE49-F238E27FC236}">
                <a16:creationId xmlns:a16="http://schemas.microsoft.com/office/drawing/2014/main" id="{8A94F1C1-AE36-4BBA-B958-8FC614A9472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Tree>
    <p:extLst>
      <p:ext uri="{BB962C8B-B14F-4D97-AF65-F5344CB8AC3E}">
        <p14:creationId xmlns:p14="http://schemas.microsoft.com/office/powerpoint/2010/main" val="4067525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14" name="Date Placeholder 14">
            <a:extLst>
              <a:ext uri="{FF2B5EF4-FFF2-40B4-BE49-F238E27FC236}">
                <a16:creationId xmlns:a16="http://schemas.microsoft.com/office/drawing/2014/main" id="{BC3A8B03-9EA5-416E-BD54-B87E6C4A6781}"/>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Tree>
    <p:extLst>
      <p:ext uri="{BB962C8B-B14F-4D97-AF65-F5344CB8AC3E}">
        <p14:creationId xmlns:p14="http://schemas.microsoft.com/office/powerpoint/2010/main" val="3190335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540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8" name="Date Placeholder 14">
            <a:extLst>
              <a:ext uri="{FF2B5EF4-FFF2-40B4-BE49-F238E27FC236}">
                <a16:creationId xmlns:a16="http://schemas.microsoft.com/office/drawing/2014/main" id="{2D08A2CA-4B19-4B39-B540-F97244C446A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55003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096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F1A13B18-F5ED-4611-8DBB-F05123AFBA22}" type="datetimeFigureOut">
              <a:rPr lang="en-GB" smtClean="0"/>
              <a:pPr/>
              <a:t>01/11/2024</a:t>
            </a:fld>
            <a:endParaRPr lang="en-GB" dirty="0"/>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en-GB" dirty="0"/>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20" name="TextBox 19">
            <a:extLst>
              <a:ext uri="{FF2B5EF4-FFF2-40B4-BE49-F238E27FC236}">
                <a16:creationId xmlns:a16="http://schemas.microsoft.com/office/drawing/2014/main" id="{E75150F5-CFA6-40F1-B2B7-79337C2232BB}"/>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61771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0139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F1A13B18-F5ED-4611-8DBB-F05123AFBA22}" type="datetimeFigureOut">
              <a:rPr lang="en-GB" smtClean="0"/>
              <a:pPr/>
              <a:t>01/11/2024</a:t>
            </a:fld>
            <a:endParaRPr lang="en-GB" dirty="0"/>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en-GB" dirty="0"/>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45D37B1E-C366-494F-A587-962AD9AABC83}" type="slidenum">
              <a:rPr lang="en-GB" smtClean="0"/>
              <a:pPr/>
              <a:t>‹nr.›</a:t>
            </a:fld>
            <a:endParaRPr lang="en-GB" dirty="0"/>
          </a:p>
        </p:txBody>
      </p:sp>
      <p:sp>
        <p:nvSpPr>
          <p:cNvPr id="17" name="TextBox 16">
            <a:extLst>
              <a:ext uri="{FF2B5EF4-FFF2-40B4-BE49-F238E27FC236}">
                <a16:creationId xmlns:a16="http://schemas.microsoft.com/office/drawing/2014/main" id="{1BBAA208-28D6-470D-B539-73F9AC20E86C}"/>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76544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F1A13B18-F5ED-4611-8DBB-F05123AFBA22}" type="datetimeFigureOut">
              <a:rPr lang="en-GB" smtClean="0"/>
              <a:pPr/>
              <a:t>01/11/2024</a:t>
            </a:fld>
            <a:endParaRPr lang="en-GB" dirty="0"/>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en-GB" dirty="0"/>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41953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userDrawn="1"/>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userDrawn="1"/>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3072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F1A13B18-F5ED-4611-8DBB-F05123AFBA22}" type="datetimeFigureOut">
              <a:rPr lang="en-GB" smtClean="0"/>
              <a:pPr/>
              <a:t>01/11/2024</a:t>
            </a:fld>
            <a:endParaRPr lang="en-GB" dirty="0"/>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en-GB" dirty="0"/>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12" name="TextBox 11">
            <a:extLst>
              <a:ext uri="{FF2B5EF4-FFF2-40B4-BE49-F238E27FC236}">
                <a16:creationId xmlns:a16="http://schemas.microsoft.com/office/drawing/2014/main" id="{4E308762-F27B-4C02-A3F6-05048278412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userDrawn="1"/>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2172234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sp>
        <p:nvSpPr>
          <p:cNvPr id="18" name="Date Placeholder 14">
            <a:extLst>
              <a:ext uri="{FF2B5EF4-FFF2-40B4-BE49-F238E27FC236}">
                <a16:creationId xmlns:a16="http://schemas.microsoft.com/office/drawing/2014/main" id="{36B2A848-B2AD-472A-AC10-0002D162D52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en-GB" dirty="0"/>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91830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en-GB" dirty="0"/>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F1A13B18-F5ED-4611-8DBB-F05123AFBA22}" type="datetimeFigureOut">
              <a:rPr lang="en-GB" smtClean="0"/>
              <a:pPr/>
              <a:t>01/11/2024</a:t>
            </a:fld>
            <a:endParaRPr lang="en-GB" dirty="0"/>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82921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F1A13B18-F5ED-4611-8DBB-F05123AFBA22}" type="datetimeFigureOut">
              <a:rPr lang="en-GB" smtClean="0"/>
              <a:pPr/>
              <a:t>01/11/2024</a:t>
            </a:fld>
            <a:endParaRPr lang="en-GB" dirty="0"/>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en-GB" dirty="0"/>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1198522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‹nr.›</a:t>
            </a:fld>
            <a:endParaRPr lang="en-US"/>
          </a:p>
        </p:txBody>
      </p:sp>
    </p:spTree>
    <p:extLst>
      <p:ext uri="{BB962C8B-B14F-4D97-AF65-F5344CB8AC3E}">
        <p14:creationId xmlns:p14="http://schemas.microsoft.com/office/powerpoint/2010/main" val="2058200315"/>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bin"/><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en-GB" dirty="0"/>
          </a:p>
        </p:txBody>
      </p:sp>
      <p:sp>
        <p:nvSpPr>
          <p:cNvPr id="16" name="Rectangle 15">
            <a:extLst>
              <a:ext uri="{FF2B5EF4-FFF2-40B4-BE49-F238E27FC236}">
                <a16:creationId xmlns:a16="http://schemas.microsoft.com/office/drawing/2014/main" id="{D9C3F3D4-B958-489D-8401-2859D15536D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01/11/2024</a:t>
            </a:fld>
            <a:endParaRPr lang="en-GB" dirty="0"/>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45D37B1E-C366-494F-A587-962AD9AABC83}" type="slidenum">
              <a:rPr lang="en-GB" smtClean="0"/>
              <a:pPr/>
              <a:t>‹nr.›</a:t>
            </a:fld>
            <a:endParaRPr lang="en-GB" dirty="0"/>
          </a:p>
        </p:txBody>
      </p:sp>
      <p:sp>
        <p:nvSpPr>
          <p:cNvPr id="18" name="Date Placeholder 14">
            <a:extLst>
              <a:ext uri="{FF2B5EF4-FFF2-40B4-BE49-F238E27FC236}">
                <a16:creationId xmlns:a16="http://schemas.microsoft.com/office/drawing/2014/main" id="{7DF98717-AAEA-4E2B-96B8-AAAFF896C0E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01/11/2024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2143522105"/>
      </p:ext>
    </p:extLst>
  </p:cSld>
  <p:clrMap bg1="lt1" tx1="dk1" bg2="lt2" tx2="dk2" accent1="accent1" accent2="accent2" accent3="accent3" accent4="accent4" accent5="accent5" accent6="accent6" hlink="hlink" folHlink="folHlink"/>
  <p:sldLayoutIdLst>
    <p:sldLayoutId id="2147483679" r:id="rId1"/>
    <p:sldLayoutId id="2147483681" r:id="rId2"/>
    <p:sldLayoutId id="2147483680" r:id="rId3"/>
    <p:sldLayoutId id="2147483688" r:id="rId4"/>
    <p:sldLayoutId id="2147483690" r:id="rId5"/>
    <p:sldLayoutId id="2147483686" r:id="rId6"/>
    <p:sldLayoutId id="2147483692" r:id="rId7"/>
    <p:sldLayoutId id="2147483682" r:id="rId8"/>
    <p:sldLayoutId id="2147483689" r:id="rId9"/>
    <p:sldLayoutId id="2147483676" r:id="rId10"/>
    <p:sldLayoutId id="2147483654" r:id="rId11"/>
    <p:sldLayoutId id="2147483685" r:id="rId12"/>
    <p:sldLayoutId id="2147483691" r:id="rId13"/>
    <p:sldLayoutId id="2147483662" r:id="rId14"/>
    <p:sldLayoutId id="2147483693" r:id="rId15"/>
  </p:sldLayoutIdLst>
  <p:hf hdr="0"/>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userDrawn="1">
          <p15:clr>
            <a:srgbClr val="F26B43"/>
          </p15:clr>
        </p15:guide>
        <p15:guide id="4" orient="horz" pos="1071" userDrawn="1">
          <p15:clr>
            <a:srgbClr val="F26B43"/>
          </p15:clr>
        </p15:guide>
        <p15:guide id="5" pos="259" userDrawn="1">
          <p15:clr>
            <a:srgbClr val="F26B43"/>
          </p15:clr>
        </p15:guide>
        <p15:guide id="6" pos="7421" userDrawn="1">
          <p15:clr>
            <a:srgbClr val="F26B43"/>
          </p15:clr>
        </p15:guide>
        <p15:guide id="7" orient="horz" pos="1253" userDrawn="1">
          <p15:clr>
            <a:srgbClr val="F26B43"/>
          </p15:clr>
        </p15:guide>
        <p15:guide id="8" orient="horz" pos="3680" userDrawn="1">
          <p15:clr>
            <a:srgbClr val="F26B43"/>
          </p15:clr>
        </p15:guide>
        <p15:guide id="9" orient="horz" pos="3916" userDrawn="1">
          <p15:clr>
            <a:srgbClr val="F26B43"/>
          </p15:clr>
        </p15:guide>
        <p15:guide id="10" orient="horz" pos="4094" userDrawn="1">
          <p15:clr>
            <a:srgbClr val="F26B43"/>
          </p15:clr>
        </p15:guide>
        <p15:guide id="11" pos="54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25.xml"/><Relationship Id="rId1" Type="http://schemas.openxmlformats.org/officeDocument/2006/relationships/customXml" Target="../../customXml/item6.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12.xml"/><Relationship Id="rId1" Type="http://schemas.openxmlformats.org/officeDocument/2006/relationships/customXml" Target="../../customXml/item23.xml"/><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stapitutorial.com/httpstatuscodes.html" TargetMode="External"/><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hyperlink" Target="https://www.guru99.com/difference-http-vs-https.html"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hyperlink" Target="https://www.guru99.com/difference-http-vs-https.html"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8E1C76-9E48-DB9C-8DDF-10E0E3296B1D}"/>
              </a:ext>
            </a:extLst>
          </p:cNvPr>
          <p:cNvSpPr/>
          <p:nvPr/>
        </p:nvSpPr>
        <p:spPr>
          <a:xfrm>
            <a:off x="0" y="0"/>
            <a:ext cx="12192000" cy="6858000"/>
          </a:xfrm>
          <a:prstGeom prst="rect">
            <a:avLst/>
          </a:prstGeom>
          <a:solidFill>
            <a:srgbClr val="E4E3E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1</a:t>
            </a:fld>
            <a:endParaRPr lang="en-GB" dirty="0"/>
          </a:p>
        </p:txBody>
      </p:sp>
      <p:pic>
        <p:nvPicPr>
          <p:cNvPr id="1026" name="Picture 2" descr="Billede">
            <a:extLst>
              <a:ext uri="{FF2B5EF4-FFF2-40B4-BE49-F238E27FC236}">
                <a16:creationId xmlns:a16="http://schemas.microsoft.com/office/drawing/2014/main" id="{3BC26C7F-AEF1-6C7D-F639-24E5DCC5A1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050" y="-124540"/>
            <a:ext cx="12434099" cy="7107080"/>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 r:id="rId2"/>
      <p:tags r:id="rId3"/>
    </p:custDataLst>
    <p:extLst>
      <p:ext uri="{BB962C8B-B14F-4D97-AF65-F5344CB8AC3E}">
        <p14:creationId xmlns:p14="http://schemas.microsoft.com/office/powerpoint/2010/main" val="15050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a:xfrm>
            <a:off x="349384" y="1694793"/>
            <a:ext cx="11842616" cy="4135987"/>
          </a:xfrm>
        </p:spPr>
        <p:txBody>
          <a:bodyPr/>
          <a:lstStyle/>
          <a:p>
            <a:r>
              <a:rPr lang="en-GB" sz="2800" dirty="0">
                <a:latin typeface="Consolas" panose="020B0609020204030204" pitchFamily="49" charset="0"/>
              </a:rPr>
              <a:t>Web Programming</a:t>
            </a:r>
            <a:br>
              <a:rPr lang="en-GB" sz="4400" dirty="0">
                <a:latin typeface="Consolas" panose="020B0609020204030204" pitchFamily="49" charset="0"/>
              </a:rPr>
            </a:br>
            <a:br>
              <a:rPr lang="en-GB" sz="4400" dirty="0">
                <a:latin typeface="Consolas" panose="020B0609020204030204" pitchFamily="49" charset="0"/>
              </a:rPr>
            </a:br>
            <a:r>
              <a:rPr lang="en-GB" sz="4400" dirty="0">
                <a:latin typeface="Consolas" panose="020B0609020204030204" pitchFamily="49" charset="0"/>
              </a:rPr>
              <a:t>Integration Techniques</a:t>
            </a:r>
            <a:br>
              <a:rPr lang="en-GB" sz="4400" dirty="0">
                <a:latin typeface="Consolas" panose="020B0609020204030204" pitchFamily="49" charset="0"/>
              </a:rPr>
            </a:br>
            <a:br>
              <a:rPr lang="en-GB" sz="4400" dirty="0">
                <a:latin typeface="Consolas" panose="020B0609020204030204" pitchFamily="49" charset="0"/>
              </a:rPr>
            </a:br>
            <a:r>
              <a:rPr lang="en-GB" sz="4400" dirty="0">
                <a:latin typeface="Consolas" panose="020B0609020204030204" pitchFamily="49" charset="0"/>
              </a:rPr>
              <a:t>by Henrik Lange Bendixen</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2</a:t>
            </a:fld>
            <a:endParaRPr lang="en-GB" dirty="0"/>
          </a:p>
        </p:txBody>
      </p:sp>
    </p:spTree>
    <p:custDataLst>
      <p:custData r:id="rId1"/>
      <p:custData r:id="rId2"/>
      <p:tags r:id="rId3"/>
    </p:custDataLst>
    <p:extLst>
      <p:ext uri="{BB962C8B-B14F-4D97-AF65-F5344CB8AC3E}">
        <p14:creationId xmlns:p14="http://schemas.microsoft.com/office/powerpoint/2010/main" val="4096780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p:txBody>
          <a:bodyPr/>
          <a:lstStyle/>
          <a:p>
            <a:r>
              <a:rPr lang="en-DK" dirty="0"/>
              <a:t>Agenda</a:t>
            </a:r>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1989137"/>
            <a:ext cx="3847203" cy="4151531"/>
          </a:xfrm>
        </p:spPr>
        <p:txBody>
          <a:bodyPr/>
          <a:lstStyle/>
          <a:p>
            <a:pPr marL="0" indent="0">
              <a:buNone/>
            </a:pPr>
            <a:r>
              <a:rPr lang="en-GB" dirty="0">
                <a:effectLst/>
                <a:latin typeface="Helvetica Neue" panose="02000503000000020004" pitchFamily="2" charset="0"/>
              </a:rPr>
              <a:t>Common Web standards</a:t>
            </a:r>
          </a:p>
          <a:p>
            <a:r>
              <a:rPr lang="en-GB" dirty="0">
                <a:effectLst/>
                <a:latin typeface="Helvetica Neue" panose="02000503000000020004" pitchFamily="2" charset="0"/>
              </a:rPr>
              <a:t>Web Protocols:</a:t>
            </a:r>
          </a:p>
          <a:p>
            <a:pPr lvl="1"/>
            <a:r>
              <a:rPr lang="en-GB" dirty="0">
                <a:effectLst/>
                <a:latin typeface="Helvetica Neue" panose="02000503000000020004" pitchFamily="2" charset="0"/>
              </a:rPr>
              <a:t>OSI model</a:t>
            </a:r>
          </a:p>
          <a:p>
            <a:pPr lvl="1"/>
            <a:r>
              <a:rPr lang="en-GB" dirty="0">
                <a:effectLst/>
                <a:latin typeface="Helvetica Neue" panose="02000503000000020004" pitchFamily="2" charset="0"/>
              </a:rPr>
              <a:t>TCP Handshake</a:t>
            </a:r>
          </a:p>
          <a:p>
            <a:pPr lvl="1"/>
            <a:r>
              <a:rPr lang="en-GB" dirty="0">
                <a:effectLst/>
                <a:latin typeface="Helvetica Neue" panose="02000503000000020004" pitchFamily="2" charset="0"/>
              </a:rPr>
              <a:t>HTTP protocol</a:t>
            </a:r>
          </a:p>
          <a:p>
            <a:pPr marL="0" indent="0">
              <a:buNone/>
            </a:pPr>
            <a:endParaRPr lang="en-GB" dirty="0">
              <a:effectLst/>
              <a:latin typeface="Helvetica Neue" panose="02000503000000020004" pitchFamily="2" charset="0"/>
            </a:endParaRPr>
          </a:p>
          <a:p>
            <a:r>
              <a:rPr lang="en-GB" dirty="0">
                <a:effectLst/>
                <a:latin typeface="Helvetica Neue" panose="02000503000000020004" pitchFamily="2" charset="0"/>
              </a:rPr>
              <a:t>Data formats</a:t>
            </a:r>
          </a:p>
          <a:p>
            <a:pPr lvl="1"/>
            <a:r>
              <a:rPr lang="en-GB" dirty="0">
                <a:effectLst/>
                <a:latin typeface="Helvetica Neue" panose="02000503000000020004" pitchFamily="2" charset="0"/>
              </a:rPr>
              <a:t>JSON</a:t>
            </a:r>
          </a:p>
          <a:p>
            <a:pPr lvl="1"/>
            <a:r>
              <a:rPr lang="en-GB" dirty="0">
                <a:effectLst/>
                <a:latin typeface="Helvetica Neue" panose="02000503000000020004" pitchFamily="2" charset="0"/>
              </a:rPr>
              <a:t>XML</a:t>
            </a:r>
          </a:p>
          <a:p>
            <a:pPr lvl="1"/>
            <a:r>
              <a:rPr lang="en-GB" dirty="0">
                <a:latin typeface="Helvetica Neue" panose="02000503000000020004" pitchFamily="2" charset="0"/>
              </a:rPr>
              <a:t>HTML</a:t>
            </a:r>
            <a:br>
              <a:rPr lang="en-GB" dirty="0">
                <a:effectLst/>
                <a:latin typeface="Helvetica Neue" panose="02000503000000020004" pitchFamily="2" charset="0"/>
              </a:rPr>
            </a:br>
            <a:endParaRPr lang="en-GB" dirty="0">
              <a:effectLst/>
              <a:latin typeface="Helvetica Neue" panose="02000503000000020004" pitchFamily="2" charset="0"/>
            </a:endParaRPr>
          </a:p>
          <a:p>
            <a:r>
              <a:rPr lang="en-GB" dirty="0">
                <a:effectLst/>
                <a:latin typeface="Helvetica Neue" panose="02000503000000020004" pitchFamily="2" charset="0"/>
              </a:rPr>
              <a:t>Integration Protocols</a:t>
            </a:r>
          </a:p>
          <a:p>
            <a:pPr lvl="1"/>
            <a:r>
              <a:rPr lang="en-GB" dirty="0">
                <a:effectLst/>
                <a:latin typeface="Helvetica Neue" panose="02000503000000020004" pitchFamily="2" charset="0"/>
              </a:rPr>
              <a:t>REST</a:t>
            </a:r>
          </a:p>
          <a:p>
            <a:pPr lvl="1"/>
            <a:r>
              <a:rPr lang="en-GB" dirty="0">
                <a:effectLst/>
                <a:latin typeface="Helvetica Neue" panose="02000503000000020004" pitchFamily="2" charset="0"/>
              </a:rPr>
              <a:t>SOAP</a:t>
            </a:r>
          </a:p>
          <a:p>
            <a:pPr lvl="1"/>
            <a:r>
              <a:rPr lang="en-GB" dirty="0">
                <a:effectLst/>
                <a:latin typeface="Helvetica Neue" panose="02000503000000020004" pitchFamily="2" charset="0"/>
              </a:rPr>
              <a:t>MQTT </a:t>
            </a:r>
          </a:p>
          <a:p>
            <a:pPr lvl="1"/>
            <a:r>
              <a:rPr lang="en-GB" dirty="0">
                <a:effectLst/>
                <a:latin typeface="Helvetica Neue" panose="02000503000000020004" pitchFamily="2" charset="0"/>
              </a:rPr>
              <a:t>Scraping</a:t>
            </a:r>
          </a:p>
          <a:p>
            <a:pPr marL="252000" lvl="1" indent="0">
              <a:buNone/>
            </a:pPr>
            <a:endParaRPr lang="en-GB" dirty="0">
              <a:effectLst/>
              <a:latin typeface="Helvetica Neue" panose="02000503000000020004" pitchFamily="2" charset="0"/>
            </a:endParaRP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5939624" y="1957090"/>
            <a:ext cx="4223469" cy="4151531"/>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GB" dirty="0">
                <a:effectLst/>
                <a:latin typeface="Helvetica Neue" panose="02000503000000020004" pitchFamily="2" charset="0"/>
              </a:rPr>
              <a:t>Integration Strategies</a:t>
            </a:r>
          </a:p>
          <a:p>
            <a:r>
              <a:rPr lang="en-GB" dirty="0">
                <a:effectLst/>
                <a:latin typeface="Helvetica Neue" panose="02000503000000020004" pitchFamily="2" charset="0"/>
              </a:rPr>
              <a:t>Real-time Communication</a:t>
            </a:r>
          </a:p>
          <a:p>
            <a:pPr lvl="1"/>
            <a:r>
              <a:rPr lang="en-GB" dirty="0" err="1">
                <a:effectLst/>
                <a:latin typeface="Helvetica Neue" panose="02000503000000020004" pitchFamily="2" charset="0"/>
              </a:rPr>
              <a:t>Websockets</a:t>
            </a:r>
            <a:endParaRPr lang="en-GB" dirty="0">
              <a:effectLst/>
              <a:latin typeface="Helvetica Neue" panose="02000503000000020004" pitchFamily="2" charset="0"/>
            </a:endParaRPr>
          </a:p>
          <a:p>
            <a:pPr lvl="1"/>
            <a:r>
              <a:rPr lang="en-GB" dirty="0">
                <a:effectLst/>
                <a:latin typeface="Helvetica Neue" panose="02000503000000020004" pitchFamily="2" charset="0"/>
              </a:rPr>
              <a:t>Polling, Long-polling and No-polling</a:t>
            </a:r>
          </a:p>
          <a:p>
            <a:pPr lvl="1"/>
            <a:r>
              <a:rPr lang="en-GB" dirty="0">
                <a:effectLst/>
                <a:latin typeface="Helvetica Neue" panose="02000503000000020004" pitchFamily="2" charset="0"/>
              </a:rPr>
              <a:t>Deltas</a:t>
            </a:r>
          </a:p>
          <a:p>
            <a:r>
              <a:rPr lang="en-GB" dirty="0">
                <a:effectLst/>
                <a:latin typeface="Helvetica Neue" panose="02000503000000020004" pitchFamily="2" charset="0"/>
              </a:rPr>
              <a:t>Event-driven architectures</a:t>
            </a:r>
          </a:p>
          <a:p>
            <a:pPr lvl="1"/>
            <a:r>
              <a:rPr lang="en-GB" dirty="0">
                <a:effectLst/>
                <a:latin typeface="Helvetica Neue" panose="02000503000000020004" pitchFamily="2" charset="0"/>
              </a:rPr>
              <a:t>Events</a:t>
            </a:r>
          </a:p>
          <a:p>
            <a:pPr lvl="1"/>
            <a:r>
              <a:rPr lang="en-GB" dirty="0">
                <a:effectLst/>
                <a:latin typeface="Helvetica Neue" panose="02000503000000020004" pitchFamily="2" charset="0"/>
              </a:rPr>
              <a:t>Publish/Subscribe Patterns</a:t>
            </a:r>
          </a:p>
          <a:p>
            <a:r>
              <a:rPr lang="en-GB" dirty="0">
                <a:effectLst/>
                <a:latin typeface="Helvetica Neue" panose="02000503000000020004" pitchFamily="2" charset="0"/>
              </a:rPr>
              <a:t>Data Management in Web Services</a:t>
            </a:r>
          </a:p>
          <a:p>
            <a:pPr lvl="1"/>
            <a:r>
              <a:rPr lang="en-GB" dirty="0">
                <a:effectLst/>
                <a:latin typeface="Helvetica Neue" panose="02000503000000020004" pitchFamily="2" charset="0"/>
              </a:rPr>
              <a:t>Pull on load</a:t>
            </a:r>
          </a:p>
          <a:p>
            <a:pPr lvl="1"/>
            <a:r>
              <a:rPr lang="en-GB" dirty="0">
                <a:effectLst/>
                <a:latin typeface="Helvetica Neue" panose="02000503000000020004" pitchFamily="2" charset="0"/>
              </a:rPr>
              <a:t>Caching</a:t>
            </a:r>
          </a:p>
          <a:p>
            <a:pPr lvl="1"/>
            <a:r>
              <a:rPr lang="en-GB" dirty="0">
                <a:effectLst/>
                <a:latin typeface="Helvetica Neue" panose="02000503000000020004" pitchFamily="2" charset="0"/>
              </a:rPr>
              <a:t>Logging</a:t>
            </a:r>
          </a:p>
          <a:p>
            <a:r>
              <a:rPr lang="en-GB" dirty="0">
                <a:effectLst/>
                <a:latin typeface="Helvetica Neue" panose="02000503000000020004" pitchFamily="2" charset="0"/>
              </a:rPr>
              <a:t>Data Strategies</a:t>
            </a:r>
          </a:p>
          <a:p>
            <a:pPr lvl="1"/>
            <a:r>
              <a:rPr lang="en-GB" dirty="0">
                <a:effectLst/>
                <a:latin typeface="Helvetica Neue" panose="02000503000000020004" pitchFamily="2" charset="0"/>
              </a:rPr>
              <a:t>Relational Data</a:t>
            </a:r>
          </a:p>
          <a:p>
            <a:pPr lvl="1"/>
            <a:r>
              <a:rPr lang="en-GB" dirty="0">
                <a:effectLst/>
                <a:latin typeface="Helvetica Neue" panose="02000503000000020004" pitchFamily="2" charset="0"/>
              </a:rPr>
              <a:t>Data Lakes </a:t>
            </a:r>
          </a:p>
        </p:txBody>
      </p:sp>
    </p:spTree>
    <p:extLst>
      <p:ext uri="{BB962C8B-B14F-4D97-AF65-F5344CB8AC3E}">
        <p14:creationId xmlns:p14="http://schemas.microsoft.com/office/powerpoint/2010/main" val="144741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p:txBody>
          <a:bodyPr/>
          <a:lstStyle/>
          <a:p>
            <a:r>
              <a:rPr lang="en-DK" dirty="0"/>
              <a:t>Goal of todays lecture</a:t>
            </a:r>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1989137"/>
            <a:ext cx="9778876" cy="4151531"/>
          </a:xfrm>
        </p:spPr>
        <p:txBody>
          <a:bodyPr/>
          <a:lstStyle/>
          <a:p>
            <a:pPr marL="0" indent="0">
              <a:buNone/>
            </a:pPr>
            <a:r>
              <a:rPr lang="en-GB" dirty="0">
                <a:latin typeface="Helvetica Neue" panose="02000503000000020004" pitchFamily="2" charset="0"/>
              </a:rPr>
              <a:t>Create and execute a proper strategy for real-time data collaboration, including communication protocols, event driven architectures, data management and data strategies.</a:t>
            </a:r>
          </a:p>
          <a:p>
            <a:pPr marL="0" indent="0">
              <a:buNone/>
            </a:pPr>
            <a:endParaRPr lang="en-GB" dirty="0">
              <a:effectLst/>
              <a:latin typeface="Helvetica Neue" panose="02000503000000020004" pitchFamily="2" charset="0"/>
            </a:endParaRP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a:t>
            </a:fld>
            <a:endParaRPr lang="en-GB" dirty="0"/>
          </a:p>
        </p:txBody>
      </p:sp>
    </p:spTree>
    <p:extLst>
      <p:ext uri="{BB962C8B-B14F-4D97-AF65-F5344CB8AC3E}">
        <p14:creationId xmlns:p14="http://schemas.microsoft.com/office/powerpoint/2010/main" val="1862138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Web Protocols</a:t>
            </a:r>
          </a:p>
        </p:txBody>
      </p:sp>
    </p:spTree>
    <p:extLst>
      <p:ext uri="{BB962C8B-B14F-4D97-AF65-F5344CB8AC3E}">
        <p14:creationId xmlns:p14="http://schemas.microsoft.com/office/powerpoint/2010/main" val="1131869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767812" y="823678"/>
            <a:ext cx="8229600" cy="1143000"/>
          </a:xfrm>
        </p:spPr>
        <p:txBody>
          <a:bodyPr/>
          <a:lstStyle/>
          <a:p>
            <a:r>
              <a:rPr lang="en-US" altLang="en-US" sz="3200" dirty="0"/>
              <a:t>IP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6</a:t>
            </a:fld>
            <a:endParaRPr lang="en-US" altLang="en-US" sz="1000">
              <a:solidFill>
                <a:srgbClr val="898989"/>
              </a:solidFill>
              <a:ea typeface="ヒラギノ角ゴ ProN W3" pitchFamily="6" charset="-128"/>
            </a:endParaRPr>
          </a:p>
        </p:txBody>
      </p:sp>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1566960" y="1395178"/>
            <a:ext cx="7990780" cy="5366543"/>
          </a:xfrm>
        </p:spPr>
        <p:txBody>
          <a:bodyPr/>
          <a:lstStyle/>
          <a:p>
            <a:r>
              <a:rPr lang="en-US" altLang="en-US" dirty="0"/>
              <a:t>IP is the address protocol</a:t>
            </a:r>
          </a:p>
          <a:p>
            <a:pPr lvl="1"/>
            <a:r>
              <a:rPr lang="en-US" altLang="en-US" dirty="0"/>
              <a:t>IPv4 is the most commonly used protocol today</a:t>
            </a:r>
          </a:p>
          <a:p>
            <a:pPr lvl="2"/>
            <a:r>
              <a:rPr lang="en-US" altLang="en-US" dirty="0"/>
              <a:t>IPv4 uses 32-bit addresses (2</a:t>
            </a:r>
            <a:r>
              <a:rPr lang="en-US" altLang="en-US" baseline="30000" dirty="0"/>
              <a:t>32</a:t>
            </a:r>
            <a:r>
              <a:rPr lang="en-US" altLang="en-US" dirty="0"/>
              <a:t>)</a:t>
            </a:r>
          </a:p>
          <a:p>
            <a:pPr lvl="2"/>
            <a:r>
              <a:rPr lang="en-US" altLang="en-US" dirty="0"/>
              <a:t>Defined by 4 sets of 3 digits, divided by dots</a:t>
            </a:r>
          </a:p>
          <a:p>
            <a:pPr lvl="2"/>
            <a:r>
              <a:rPr lang="en-US" altLang="en-US" dirty="0"/>
              <a:t>Ports are supplied after a colon</a:t>
            </a:r>
          </a:p>
          <a:p>
            <a:pPr lvl="2"/>
            <a:r>
              <a:rPr lang="en-US" altLang="en-US" dirty="0"/>
              <a:t>Path is defined after a slash</a:t>
            </a:r>
          </a:p>
          <a:p>
            <a:pPr lvl="3"/>
            <a:r>
              <a:rPr lang="en-US" altLang="en-US" dirty="0"/>
              <a:t>123.321.12.3:80/folder</a:t>
            </a:r>
          </a:p>
          <a:p>
            <a:pPr lvl="2"/>
            <a:r>
              <a:rPr lang="en-US" altLang="en-US" dirty="0"/>
              <a:t>The subnet mask defines the local networking range</a:t>
            </a:r>
          </a:p>
          <a:p>
            <a:pPr lvl="2"/>
            <a:r>
              <a:rPr lang="en-US" altLang="en-US" dirty="0"/>
              <a:t>127.0.0.0 is usually your localhost</a:t>
            </a:r>
          </a:p>
          <a:p>
            <a:pPr lvl="2"/>
            <a:r>
              <a:rPr lang="en-US" altLang="en-US" dirty="0"/>
              <a:t>192.168 and 10.0 addresses are usually used for LAN</a:t>
            </a:r>
          </a:p>
          <a:p>
            <a:pPr lvl="1"/>
            <a:r>
              <a:rPr lang="en-US" altLang="en-US" dirty="0"/>
              <a:t>IPv6 is the latest version of the protocol</a:t>
            </a:r>
          </a:p>
          <a:p>
            <a:pPr lvl="2"/>
            <a:r>
              <a:rPr lang="en-US" altLang="en-US" dirty="0"/>
              <a:t>Uses 128-bit addresses (2</a:t>
            </a:r>
            <a:r>
              <a:rPr lang="en-US" altLang="en-US" baseline="30000" dirty="0"/>
              <a:t>128</a:t>
            </a:r>
            <a:r>
              <a:rPr lang="en-US" altLang="en-US" dirty="0"/>
              <a:t>)</a:t>
            </a:r>
          </a:p>
          <a:p>
            <a:pPr lvl="2"/>
            <a:r>
              <a:rPr lang="en-US" altLang="en-US" dirty="0"/>
              <a:t>Defined by 8 sets of 4 hex digits, where 0000 can be omitted</a:t>
            </a:r>
          </a:p>
          <a:p>
            <a:pPr lvl="3"/>
            <a:r>
              <a:rPr lang="en-US" altLang="en-US" dirty="0"/>
              <a:t>12fa:32ff: : : :0291: : 9de1</a:t>
            </a:r>
          </a:p>
          <a:p>
            <a:pPr lvl="1"/>
            <a:endParaRPr lang="en-US" altLang="en-US" dirty="0"/>
          </a:p>
        </p:txBody>
      </p:sp>
    </p:spTree>
    <p:extLst>
      <p:ext uri="{BB962C8B-B14F-4D97-AF65-F5344CB8AC3E}">
        <p14:creationId xmlns:p14="http://schemas.microsoft.com/office/powerpoint/2010/main" val="3225859063"/>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553127" y="1012194"/>
            <a:ext cx="8229600" cy="1143000"/>
          </a:xfrm>
        </p:spPr>
        <p:txBody>
          <a:bodyPr/>
          <a:lstStyle/>
          <a:p>
            <a:r>
              <a:rPr lang="en-US" altLang="en-US" sz="3200" dirty="0"/>
              <a:t>TCP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7</a:t>
            </a:fld>
            <a:endParaRPr lang="en-US" altLang="en-US" sz="1000">
              <a:solidFill>
                <a:srgbClr val="898989"/>
              </a:solidFill>
              <a:ea typeface="ヒラギノ角ゴ ProN W3" pitchFamily="6" charset="-128"/>
            </a:endParaRPr>
          </a:p>
        </p:txBody>
      </p:sp>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954709" y="1673885"/>
            <a:ext cx="7990780" cy="4702244"/>
          </a:xfrm>
        </p:spPr>
        <p:txBody>
          <a:bodyPr/>
          <a:lstStyle/>
          <a:p>
            <a:r>
              <a:rPr lang="en-US" altLang="en-US" dirty="0"/>
              <a:t>Handles connection handshakes</a:t>
            </a:r>
          </a:p>
          <a:p>
            <a:r>
              <a:rPr lang="en-US" altLang="en-US" dirty="0"/>
              <a:t>Handles data packages</a:t>
            </a:r>
          </a:p>
          <a:p>
            <a:endParaRPr lang="en-US" altLang="en-US" dirty="0"/>
          </a:p>
          <a:p>
            <a:pPr lvl="1"/>
            <a:endParaRPr lang="en-US" altLang="en-US" dirty="0"/>
          </a:p>
        </p:txBody>
      </p:sp>
    </p:spTree>
    <p:extLst>
      <p:ext uri="{BB962C8B-B14F-4D97-AF65-F5344CB8AC3E}">
        <p14:creationId xmlns:p14="http://schemas.microsoft.com/office/powerpoint/2010/main" val="2888198410"/>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8</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2302148" cy="4320480"/>
          </a:xfrm>
        </p:spPr>
        <p:txBody>
          <a:bodyPr/>
          <a:lstStyle/>
          <a:p>
            <a:pPr marL="0" indent="0">
              <a:buNone/>
            </a:pPr>
            <a:r>
              <a:rPr lang="en-US" altLang="en-US" dirty="0"/>
              <a:t>Contents:</a:t>
            </a:r>
          </a:p>
          <a:p>
            <a:r>
              <a:rPr lang="en-US" altLang="en-US" dirty="0">
                <a:solidFill>
                  <a:schemeClr val="accent2"/>
                </a:solidFill>
              </a:rPr>
              <a:t>Verb</a:t>
            </a:r>
          </a:p>
          <a:p>
            <a:r>
              <a:rPr lang="en-US" altLang="en-US" dirty="0">
                <a:solidFill>
                  <a:schemeClr val="accent6"/>
                </a:solidFill>
              </a:rPr>
              <a:t>Resource</a:t>
            </a:r>
          </a:p>
          <a:p>
            <a:r>
              <a:rPr lang="en-US" altLang="en-US" dirty="0">
                <a:solidFill>
                  <a:srgbClr val="92D050"/>
                </a:solidFill>
              </a:rPr>
              <a:t>Version</a:t>
            </a:r>
          </a:p>
          <a:p>
            <a:r>
              <a:rPr lang="en-US" altLang="en-US" dirty="0">
                <a:solidFill>
                  <a:schemeClr val="accent1"/>
                </a:solidFill>
              </a:rPr>
              <a:t>Headers</a:t>
            </a:r>
          </a:p>
          <a:p>
            <a:r>
              <a:rPr lang="en-US" altLang="en-US" dirty="0">
                <a:solidFill>
                  <a:schemeClr val="accent4"/>
                </a:solidFill>
              </a:rPr>
              <a:t>Status</a:t>
            </a:r>
          </a:p>
          <a:p>
            <a:r>
              <a:rPr lang="en-US" altLang="en-US" dirty="0">
                <a:solidFill>
                  <a:schemeClr val="accent5"/>
                </a:solidFill>
              </a:rPr>
              <a:t>Body</a:t>
            </a:r>
          </a:p>
          <a:p>
            <a:pPr marL="0" indent="0">
              <a:buNone/>
            </a:pPr>
            <a:endParaRPr lang="en-US" altLang="en-US" dirty="0">
              <a:solidFill>
                <a:schemeClr val="accent5"/>
              </a:solidFill>
            </a:endParaRPr>
          </a:p>
        </p:txBody>
      </p:sp>
      <p:sp>
        <p:nvSpPr>
          <p:cNvPr id="34" name="Pladsholder til indhold 2">
            <a:extLst>
              <a:ext uri="{FF2B5EF4-FFF2-40B4-BE49-F238E27FC236}">
                <a16:creationId xmlns:a16="http://schemas.microsoft.com/office/drawing/2014/main" id="{C54C300B-4633-4094-A130-519D4A1F00AF}"/>
              </a:ext>
            </a:extLst>
          </p:cNvPr>
          <p:cNvSpPr txBox="1">
            <a:spLocks/>
          </p:cNvSpPr>
          <p:nvPr/>
        </p:nvSpPr>
        <p:spPr bwMode="auto">
          <a:xfrm>
            <a:off x="5964481" y="1124744"/>
            <a:ext cx="4668353"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7F7F7F"/>
              </a:buClr>
              <a:buFont typeface="Wingdings" panose="05000000000000000000" pitchFamily="2" charset="2"/>
              <a:buChar char="§"/>
              <a:defRPr sz="2400" kern="1200">
                <a:solidFill>
                  <a:schemeClr val="tx1"/>
                </a:solidFill>
                <a:latin typeface="+mn-lt"/>
                <a:ea typeface="MS PGothic" pitchFamily="34" charset="-128"/>
                <a:cs typeface="ＭＳ Ｐゴシック" pitchFamily="-106" charset="-128"/>
              </a:defRPr>
            </a:lvl1pPr>
            <a:lvl2pPr marL="742950" indent="-285750" algn="l" rtl="0" eaLnBrk="0" fontAlgn="base" hangingPunct="0">
              <a:spcBef>
                <a:spcPct val="20000"/>
              </a:spcBef>
              <a:spcAft>
                <a:spcPct val="0"/>
              </a:spcAft>
              <a:buClr>
                <a:srgbClr val="7F7F7F"/>
              </a:buClr>
              <a:buFont typeface="Wingdings" panose="05000000000000000000" pitchFamily="2" charset="2"/>
              <a:buChar char="§"/>
              <a:defRPr sz="2400" kern="1200">
                <a:solidFill>
                  <a:schemeClr val="tx1"/>
                </a:solidFill>
                <a:latin typeface="+mn-lt"/>
                <a:ea typeface="MS PGothic" pitchFamily="34" charset="-128"/>
                <a:cs typeface="ＭＳ Ｐゴシック"/>
              </a:defRPr>
            </a:lvl2pPr>
            <a:lvl3pPr marL="1143000" indent="-228600" algn="l" rtl="0" eaLnBrk="0" fontAlgn="base" hangingPunct="0">
              <a:spcBef>
                <a:spcPct val="20000"/>
              </a:spcBef>
              <a:spcAft>
                <a:spcPct val="0"/>
              </a:spcAft>
              <a:buClr>
                <a:srgbClr val="7F7F7F"/>
              </a:buClr>
              <a:buFont typeface="Wingdings" panose="05000000000000000000" pitchFamily="2" charset="2"/>
              <a:buChar char="§"/>
              <a:defRPr sz="2000" kern="1200">
                <a:solidFill>
                  <a:schemeClr val="tx1"/>
                </a:solidFill>
                <a:latin typeface="+mn-lt"/>
                <a:ea typeface="MS PGothic" pitchFamily="34" charset="-128"/>
                <a:cs typeface="ＭＳ Ｐゴシック"/>
              </a:defRPr>
            </a:lvl3pPr>
            <a:lvl4pPr marL="1600200" indent="-228600" algn="l" rtl="0" eaLnBrk="0" fontAlgn="base" hangingPunct="0">
              <a:spcBef>
                <a:spcPct val="20000"/>
              </a:spcBef>
              <a:spcAft>
                <a:spcPct val="0"/>
              </a:spcAft>
              <a:buClr>
                <a:srgbClr val="7F7F7F"/>
              </a:buClr>
              <a:buFont typeface="Wingdings" panose="05000000000000000000" pitchFamily="2" charset="2"/>
              <a:buChar char="§"/>
              <a:defRPr sz="2000" kern="1200">
                <a:solidFill>
                  <a:schemeClr val="tx1"/>
                </a:solidFill>
                <a:latin typeface="+mn-lt"/>
                <a:ea typeface="MS PGothic" pitchFamily="34" charset="-128"/>
                <a:cs typeface="ＭＳ Ｐゴシック"/>
              </a:defRPr>
            </a:lvl4pPr>
            <a:lvl5pPr marL="2057400" indent="-228600" algn="l" rtl="0" eaLnBrk="0" fontAlgn="base" hangingPunct="0">
              <a:spcBef>
                <a:spcPct val="20000"/>
              </a:spcBef>
              <a:spcAft>
                <a:spcPct val="0"/>
              </a:spcAft>
              <a:buClr>
                <a:srgbClr val="7F7F7F"/>
              </a:buClr>
              <a:buFont typeface="Wingdings" panose="05000000000000000000" pitchFamily="2" charset="2"/>
              <a:buChar char="§"/>
              <a:defRPr kern="1200">
                <a:solidFill>
                  <a:schemeClr val="tx1"/>
                </a:solidFill>
                <a:latin typeface="+mn-lt"/>
                <a:ea typeface="MS PGothic" pitchFamily="34" charset="-128"/>
                <a:cs typeface="ＭＳ Ｐゴシック"/>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dirty="0"/>
              <a:t>Request:</a:t>
            </a:r>
          </a:p>
          <a:p>
            <a:pPr marL="0" indent="0">
              <a:buNone/>
            </a:pPr>
            <a:r>
              <a:rPr lang="en-US" altLang="en-US" dirty="0">
                <a:solidFill>
                  <a:schemeClr val="accent2"/>
                </a:solidFill>
              </a:rPr>
              <a:t>GET </a:t>
            </a:r>
            <a:r>
              <a:rPr lang="en-US" altLang="en-US" dirty="0">
                <a:solidFill>
                  <a:schemeClr val="accent6"/>
                </a:solidFill>
              </a:rPr>
              <a:t>/address/ </a:t>
            </a:r>
            <a:r>
              <a:rPr lang="en-US" altLang="en-US" dirty="0">
                <a:solidFill>
                  <a:schemeClr val="accent3"/>
                </a:solidFill>
              </a:rPr>
              <a:t>HTTP/1.1</a:t>
            </a:r>
          </a:p>
          <a:p>
            <a:pPr marL="0" indent="0">
              <a:buNone/>
            </a:pPr>
            <a:r>
              <a:rPr lang="en-US" altLang="en-US" dirty="0">
                <a:solidFill>
                  <a:schemeClr val="accent1"/>
                </a:solidFill>
              </a:rPr>
              <a:t>Accept: text/html</a:t>
            </a:r>
          </a:p>
          <a:p>
            <a:pPr marL="0" indent="0">
              <a:buNone/>
            </a:pPr>
            <a:endParaRPr lang="en-US" altLang="en-US" dirty="0">
              <a:solidFill>
                <a:schemeClr val="accent2"/>
              </a:solidFill>
            </a:endParaRPr>
          </a:p>
          <a:p>
            <a:pPr marL="0" indent="0">
              <a:buNone/>
            </a:pPr>
            <a:r>
              <a:rPr lang="en-US" altLang="en-US" dirty="0"/>
              <a:t>Response:</a:t>
            </a:r>
          </a:p>
          <a:p>
            <a:pPr marL="0" indent="0">
              <a:buNone/>
            </a:pPr>
            <a:r>
              <a:rPr lang="en-US" altLang="en-US" dirty="0">
                <a:solidFill>
                  <a:schemeClr val="accent3"/>
                </a:solidFill>
              </a:rPr>
              <a:t>HTTP/1.1 </a:t>
            </a:r>
            <a:r>
              <a:rPr lang="en-US" altLang="en-US" dirty="0">
                <a:solidFill>
                  <a:schemeClr val="accent4"/>
                </a:solidFill>
              </a:rPr>
              <a:t>200 OK</a:t>
            </a:r>
          </a:p>
          <a:p>
            <a:pPr marL="0" indent="0">
              <a:buNone/>
            </a:pPr>
            <a:r>
              <a:rPr lang="en-US" altLang="en-US" dirty="0">
                <a:solidFill>
                  <a:schemeClr val="accent1"/>
                </a:solidFill>
              </a:rPr>
              <a:t>Content-type: text-html</a:t>
            </a:r>
          </a:p>
          <a:p>
            <a:pPr marL="0" indent="0">
              <a:buNone/>
            </a:pPr>
            <a:endParaRPr lang="en-US" altLang="en-US" dirty="0">
              <a:solidFill>
                <a:schemeClr val="accent2"/>
              </a:solidFill>
            </a:endParaRPr>
          </a:p>
          <a:p>
            <a:pPr marL="0" indent="0">
              <a:buNone/>
            </a:pPr>
            <a:r>
              <a:rPr lang="en-US" altLang="en-US" dirty="0">
                <a:solidFill>
                  <a:schemeClr val="accent5"/>
                </a:solidFill>
              </a:rPr>
              <a:t>&lt;!DOCTYPE html&gt;</a:t>
            </a:r>
          </a:p>
          <a:p>
            <a:pPr marL="0" indent="0">
              <a:buNone/>
            </a:pPr>
            <a:r>
              <a:rPr lang="en-US" altLang="en-US" dirty="0">
                <a:solidFill>
                  <a:schemeClr val="accent5"/>
                </a:solidFill>
              </a:rPr>
              <a:t>&lt;html </a:t>
            </a:r>
            <a:r>
              <a:rPr lang="en-US" altLang="en-US" dirty="0" err="1">
                <a:solidFill>
                  <a:schemeClr val="accent5"/>
                </a:solidFill>
              </a:rPr>
              <a:t>lang</a:t>
            </a:r>
            <a:r>
              <a:rPr lang="en-US" altLang="en-US" dirty="0">
                <a:solidFill>
                  <a:schemeClr val="accent5"/>
                </a:solidFill>
              </a:rPr>
              <a:t>=“</a:t>
            </a:r>
            <a:r>
              <a:rPr lang="en-US" altLang="en-US" dirty="0" err="1">
                <a:solidFill>
                  <a:schemeClr val="accent5"/>
                </a:solidFill>
              </a:rPr>
              <a:t>en</a:t>
            </a:r>
            <a:r>
              <a:rPr lang="en-US" altLang="en-US" dirty="0">
                <a:solidFill>
                  <a:schemeClr val="accent5"/>
                </a:solidFill>
              </a:rPr>
              <a:t>”&gt;</a:t>
            </a:r>
          </a:p>
          <a:p>
            <a:pPr marL="0" indent="0">
              <a:buNone/>
            </a:pPr>
            <a:r>
              <a:rPr lang="en-US" altLang="en-US" dirty="0">
                <a:solidFill>
                  <a:schemeClr val="accent5"/>
                </a:solidFill>
              </a:rPr>
              <a:t>…</a:t>
            </a:r>
          </a:p>
        </p:txBody>
      </p:sp>
    </p:spTree>
    <p:extLst>
      <p:ext uri="{BB962C8B-B14F-4D97-AF65-F5344CB8AC3E}">
        <p14:creationId xmlns:p14="http://schemas.microsoft.com/office/powerpoint/2010/main" val="428766899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Verbs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9</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270700" cy="5366543"/>
          </a:xfrm>
        </p:spPr>
        <p:txBody>
          <a:bodyPr/>
          <a:lstStyle/>
          <a:p>
            <a:r>
              <a:rPr lang="en-US" altLang="en-US" dirty="0"/>
              <a:t>GET</a:t>
            </a:r>
          </a:p>
          <a:p>
            <a:pPr lvl="2"/>
            <a:r>
              <a:rPr lang="en-US" altLang="en-US" dirty="0"/>
              <a:t>Retrieve data (from server to client)</a:t>
            </a:r>
          </a:p>
          <a:p>
            <a:pPr lvl="2"/>
            <a:r>
              <a:rPr lang="en-US" altLang="en-US" dirty="0"/>
              <a:t>Should have no side effects</a:t>
            </a:r>
          </a:p>
          <a:p>
            <a:pPr lvl="2"/>
            <a:r>
              <a:rPr lang="en-US" altLang="en-US" dirty="0"/>
              <a:t>Parameters in resource (URI)</a:t>
            </a:r>
          </a:p>
          <a:p>
            <a:r>
              <a:rPr lang="en-US" altLang="en-US" dirty="0"/>
              <a:t>POST</a:t>
            </a:r>
          </a:p>
          <a:p>
            <a:pPr lvl="2"/>
            <a:r>
              <a:rPr lang="en-US" altLang="en-US" dirty="0"/>
              <a:t>Send data (from client to server)</a:t>
            </a:r>
          </a:p>
          <a:p>
            <a:pPr lvl="2"/>
            <a:r>
              <a:rPr lang="en-US" altLang="en-US" dirty="0"/>
              <a:t>Parameters in body</a:t>
            </a:r>
          </a:p>
          <a:p>
            <a:r>
              <a:rPr lang="en-US" altLang="en-US" dirty="0"/>
              <a:t>PUT</a:t>
            </a:r>
          </a:p>
          <a:p>
            <a:pPr lvl="2"/>
            <a:r>
              <a:rPr lang="en-US" altLang="en-US" dirty="0"/>
              <a:t>Replace data (sent from client to server)</a:t>
            </a:r>
          </a:p>
          <a:p>
            <a:r>
              <a:rPr lang="en-US" altLang="en-US" dirty="0"/>
              <a:t>DELETE</a:t>
            </a:r>
          </a:p>
          <a:p>
            <a:pPr lvl="2"/>
            <a:r>
              <a:rPr lang="en-US" altLang="en-US" dirty="0"/>
              <a:t>Removes data</a:t>
            </a:r>
          </a:p>
          <a:p>
            <a:pPr marL="0" indent="0">
              <a:buNone/>
            </a:pPr>
            <a:endParaRPr lang="en-US" altLang="en-US" dirty="0"/>
          </a:p>
          <a:p>
            <a:r>
              <a:rPr lang="en-US" altLang="en-US" dirty="0"/>
              <a:t>GET, PUT &amp; DELETE are idempotent</a:t>
            </a:r>
          </a:p>
        </p:txBody>
      </p:sp>
    </p:spTree>
    <p:extLst>
      <p:ext uri="{BB962C8B-B14F-4D97-AF65-F5344CB8AC3E}">
        <p14:creationId xmlns:p14="http://schemas.microsoft.com/office/powerpoint/2010/main" val="175477952"/>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Verbs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10</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270700" cy="5112568"/>
          </a:xfrm>
        </p:spPr>
        <p:txBody>
          <a:bodyPr/>
          <a:lstStyle/>
          <a:p>
            <a:r>
              <a:rPr lang="en-US" altLang="en-US" dirty="0"/>
              <a:t>HEAD</a:t>
            </a:r>
          </a:p>
          <a:p>
            <a:pPr lvl="1"/>
            <a:r>
              <a:rPr lang="en-US" altLang="en-US" dirty="0"/>
              <a:t>Same as GET, but transfers status and header only</a:t>
            </a:r>
          </a:p>
          <a:p>
            <a:r>
              <a:rPr lang="en-US" altLang="en-US" dirty="0"/>
              <a:t>CONNECT</a:t>
            </a:r>
          </a:p>
          <a:p>
            <a:pPr lvl="1"/>
            <a:r>
              <a:rPr lang="en-US" altLang="en-US" dirty="0"/>
              <a:t>Establishes a tunnel identified by URI</a:t>
            </a:r>
          </a:p>
          <a:p>
            <a:r>
              <a:rPr lang="en-US" altLang="en-US" dirty="0"/>
              <a:t>OPTIONS</a:t>
            </a:r>
          </a:p>
          <a:p>
            <a:pPr lvl="1"/>
            <a:r>
              <a:rPr lang="en-US" altLang="en-US" dirty="0"/>
              <a:t>Describes communication options for target</a:t>
            </a:r>
          </a:p>
          <a:p>
            <a:r>
              <a:rPr lang="en-US" altLang="en-US" dirty="0"/>
              <a:t>TRACE</a:t>
            </a:r>
          </a:p>
          <a:p>
            <a:pPr lvl="1"/>
            <a:r>
              <a:rPr lang="en-US" altLang="en-US" dirty="0"/>
              <a:t>Performs a message loop-back test along the path to the target</a:t>
            </a:r>
          </a:p>
          <a:p>
            <a:pPr lvl="1"/>
            <a:r>
              <a:rPr lang="en-US" altLang="en-US" dirty="0"/>
              <a:t>Let’s try CMD tracert</a:t>
            </a:r>
          </a:p>
        </p:txBody>
      </p:sp>
    </p:spTree>
    <p:extLst>
      <p:ext uri="{BB962C8B-B14F-4D97-AF65-F5344CB8AC3E}">
        <p14:creationId xmlns:p14="http://schemas.microsoft.com/office/powerpoint/2010/main" val="1619112255"/>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Trace</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11</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8AB9482-E00D-47D0-898B-916A635E50D9}"/>
              </a:ext>
            </a:extLst>
          </p:cNvPr>
          <p:cNvPicPr>
            <a:picLocks noChangeAspect="1"/>
          </p:cNvPicPr>
          <p:nvPr/>
        </p:nvPicPr>
        <p:blipFill>
          <a:blip r:embed="rId3"/>
          <a:stretch>
            <a:fillRect/>
          </a:stretch>
        </p:blipFill>
        <p:spPr>
          <a:xfrm>
            <a:off x="2016614" y="1340768"/>
            <a:ext cx="8158772" cy="4968552"/>
          </a:xfrm>
          <a:prstGeom prst="rect">
            <a:avLst/>
          </a:prstGeom>
        </p:spPr>
      </p:pic>
    </p:spTree>
    <p:extLst>
      <p:ext uri="{BB962C8B-B14F-4D97-AF65-F5344CB8AC3E}">
        <p14:creationId xmlns:p14="http://schemas.microsoft.com/office/powerpoint/2010/main" val="3376629283"/>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Resource</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12</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270700" cy="5112568"/>
          </a:xfrm>
        </p:spPr>
        <p:txBody>
          <a:bodyPr/>
          <a:lstStyle/>
          <a:p>
            <a:r>
              <a:rPr lang="en-US" altLang="en-US" dirty="0"/>
              <a:t>Regular</a:t>
            </a:r>
          </a:p>
          <a:p>
            <a:pPr lvl="1"/>
            <a:r>
              <a:rPr lang="en-US" altLang="en-US" dirty="0" err="1"/>
              <a:t>gp?product</a:t>
            </a:r>
            <a:r>
              <a:rPr lang="en-US" altLang="en-US" dirty="0"/>
              <a:t>=1234&amp;comment=4321</a:t>
            </a:r>
          </a:p>
          <a:p>
            <a:pPr lvl="2"/>
            <a:r>
              <a:rPr lang="en-US" altLang="en-US" dirty="0"/>
              <a:t>url?key1=value1&amp;key2=value2&amp;key3=value3</a:t>
            </a:r>
          </a:p>
          <a:p>
            <a:pPr marL="0" indent="0">
              <a:buNone/>
            </a:pPr>
            <a:endParaRPr lang="en-US" altLang="en-US" dirty="0"/>
          </a:p>
          <a:p>
            <a:r>
              <a:rPr lang="en-US" altLang="en-US" dirty="0"/>
              <a:t>RESTful</a:t>
            </a:r>
          </a:p>
          <a:p>
            <a:pPr lvl="1"/>
            <a:r>
              <a:rPr lang="en-US" altLang="en-US" dirty="0" err="1"/>
              <a:t>gp</a:t>
            </a:r>
            <a:r>
              <a:rPr lang="en-US" altLang="en-US" dirty="0"/>
              <a:t>/product/1234/comment/4321</a:t>
            </a:r>
          </a:p>
          <a:p>
            <a:pPr marL="457200" lvl="1" indent="0">
              <a:buNone/>
            </a:pPr>
            <a:endParaRPr lang="en-US" altLang="en-US" dirty="0"/>
          </a:p>
        </p:txBody>
      </p:sp>
    </p:spTree>
    <p:extLst>
      <p:ext uri="{BB962C8B-B14F-4D97-AF65-F5344CB8AC3E}">
        <p14:creationId xmlns:p14="http://schemas.microsoft.com/office/powerpoint/2010/main" val="2897764676"/>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Version</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13</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996876"/>
            <a:ext cx="7270700" cy="5528469"/>
          </a:xfrm>
        </p:spPr>
        <p:txBody>
          <a:bodyPr/>
          <a:lstStyle/>
          <a:p>
            <a:pPr marL="0" indent="0">
              <a:buNone/>
            </a:pPr>
            <a:r>
              <a:rPr lang="en-US" altLang="en-US" dirty="0"/>
              <a:t>Different versions have different behavior:</a:t>
            </a:r>
          </a:p>
          <a:p>
            <a:r>
              <a:rPr lang="en-US" altLang="en-US" dirty="0"/>
              <a:t>1991: HTTP 0.9</a:t>
            </a:r>
          </a:p>
          <a:p>
            <a:pPr lvl="2"/>
            <a:r>
              <a:rPr lang="en-US" altLang="en-US" dirty="0"/>
              <a:t>Single line protocol with no headers.</a:t>
            </a:r>
          </a:p>
          <a:p>
            <a:pPr lvl="2"/>
            <a:r>
              <a:rPr lang="en-US" altLang="en-US" dirty="0"/>
              <a:t>Only GET supported: GET index.html</a:t>
            </a:r>
          </a:p>
          <a:p>
            <a:r>
              <a:rPr lang="en-US" altLang="en-US" dirty="0"/>
              <a:t>1996: HTTP 1.0</a:t>
            </a:r>
          </a:p>
          <a:p>
            <a:pPr lvl="2"/>
            <a:r>
              <a:rPr lang="en-US" altLang="en-US" dirty="0"/>
              <a:t>Added headers, and a version string</a:t>
            </a:r>
          </a:p>
          <a:p>
            <a:r>
              <a:rPr lang="en-US" altLang="en-US" dirty="0"/>
              <a:t>1999: HTTP 1.1</a:t>
            </a:r>
          </a:p>
          <a:p>
            <a:pPr lvl="2"/>
            <a:r>
              <a:rPr lang="en-US" altLang="en-US" dirty="0"/>
              <a:t>Connection keep-alive by default</a:t>
            </a:r>
          </a:p>
          <a:p>
            <a:pPr lvl="2"/>
            <a:r>
              <a:rPr lang="en-US" altLang="en-US" dirty="0"/>
              <a:t>Additional caching mechanisms</a:t>
            </a:r>
          </a:p>
          <a:p>
            <a:pPr lvl="2"/>
            <a:r>
              <a:rPr lang="en-US" altLang="en-US" b="1" u="sng" dirty="0"/>
              <a:t>Primary HTTP version used today</a:t>
            </a:r>
          </a:p>
          <a:p>
            <a:r>
              <a:rPr lang="en-US" altLang="en-US" dirty="0"/>
              <a:t>2015: HTTP 2.0</a:t>
            </a:r>
          </a:p>
          <a:p>
            <a:pPr lvl="2"/>
            <a:r>
              <a:rPr lang="en-US" altLang="en-US" dirty="0"/>
              <a:t>Binary framing</a:t>
            </a:r>
          </a:p>
          <a:p>
            <a:pPr lvl="2"/>
            <a:r>
              <a:rPr lang="en-US" altLang="en-US" dirty="0"/>
              <a:t>Header compression</a:t>
            </a:r>
          </a:p>
          <a:p>
            <a:pPr lvl="2"/>
            <a:r>
              <a:rPr lang="en-US" altLang="en-US" dirty="0"/>
              <a:t>General optimizations</a:t>
            </a:r>
          </a:p>
        </p:txBody>
      </p:sp>
    </p:spTree>
    <p:extLst>
      <p:ext uri="{BB962C8B-B14F-4D97-AF65-F5344CB8AC3E}">
        <p14:creationId xmlns:p14="http://schemas.microsoft.com/office/powerpoint/2010/main" val="4083881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Headers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14</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270700" cy="5112568"/>
          </a:xfrm>
        </p:spPr>
        <p:txBody>
          <a:bodyPr/>
          <a:lstStyle/>
          <a:p>
            <a:r>
              <a:rPr lang="en-US" altLang="en-US" dirty="0"/>
              <a:t>Request specific format:</a:t>
            </a:r>
          </a:p>
          <a:p>
            <a:endParaRPr lang="en-US" altLang="en-US" dirty="0"/>
          </a:p>
          <a:p>
            <a:r>
              <a:rPr lang="en-US" altLang="en-US" dirty="0"/>
              <a:t>Request secondary format if first is not available</a:t>
            </a:r>
          </a:p>
          <a:p>
            <a:endParaRPr lang="en-US" altLang="en-US" dirty="0"/>
          </a:p>
          <a:p>
            <a:r>
              <a:rPr lang="en-US" altLang="en-US" dirty="0"/>
              <a:t>Request preferred encoding</a:t>
            </a:r>
          </a:p>
          <a:p>
            <a:endParaRPr lang="en-US" altLang="en-US" dirty="0"/>
          </a:p>
          <a:p>
            <a:r>
              <a:rPr lang="en-US" altLang="en-US" dirty="0"/>
              <a:t>Request preferred language</a:t>
            </a:r>
          </a:p>
          <a:p>
            <a:endParaRPr lang="en-US" altLang="en-US" dirty="0"/>
          </a:p>
          <a:p>
            <a:r>
              <a:rPr lang="en-US" altLang="en-US" dirty="0"/>
              <a:t>User-Agent (usually set by browser)</a:t>
            </a:r>
          </a:p>
        </p:txBody>
      </p:sp>
      <p:sp>
        <p:nvSpPr>
          <p:cNvPr id="2" name="Rectangle: Rounded Corners 1">
            <a:extLst>
              <a:ext uri="{FF2B5EF4-FFF2-40B4-BE49-F238E27FC236}">
                <a16:creationId xmlns:a16="http://schemas.microsoft.com/office/drawing/2014/main" id="{76F7EEC1-39CD-43BB-B704-63EE7598373B}"/>
              </a:ext>
            </a:extLst>
          </p:cNvPr>
          <p:cNvSpPr/>
          <p:nvPr/>
        </p:nvSpPr>
        <p:spPr>
          <a:xfrm>
            <a:off x="2855640" y="1628800"/>
            <a:ext cx="5832648"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Accept: text/html</a:t>
            </a:r>
            <a:endParaRPr lang="da-DK" dirty="0"/>
          </a:p>
        </p:txBody>
      </p:sp>
      <p:sp>
        <p:nvSpPr>
          <p:cNvPr id="8" name="Rectangle: Rounded Corners 7">
            <a:extLst>
              <a:ext uri="{FF2B5EF4-FFF2-40B4-BE49-F238E27FC236}">
                <a16:creationId xmlns:a16="http://schemas.microsoft.com/office/drawing/2014/main" id="{DF84091A-D166-4EE0-862A-730657A8BC08}"/>
              </a:ext>
            </a:extLst>
          </p:cNvPr>
          <p:cNvSpPr/>
          <p:nvPr/>
        </p:nvSpPr>
        <p:spPr>
          <a:xfrm>
            <a:off x="2855640" y="2498859"/>
            <a:ext cx="5832648"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Accept: application/</a:t>
            </a:r>
            <a:r>
              <a:rPr lang="en-US" dirty="0" err="1"/>
              <a:t>json,application</a:t>
            </a:r>
            <a:r>
              <a:rPr lang="en-US" dirty="0"/>
              <a:t>/xml</a:t>
            </a:r>
            <a:endParaRPr lang="da-DK" dirty="0"/>
          </a:p>
        </p:txBody>
      </p:sp>
      <p:sp>
        <p:nvSpPr>
          <p:cNvPr id="9" name="Rectangle: Rounded Corners 8">
            <a:extLst>
              <a:ext uri="{FF2B5EF4-FFF2-40B4-BE49-F238E27FC236}">
                <a16:creationId xmlns:a16="http://schemas.microsoft.com/office/drawing/2014/main" id="{A3021F42-2C46-4D47-8503-2DBE728F27AB}"/>
              </a:ext>
            </a:extLst>
          </p:cNvPr>
          <p:cNvSpPr/>
          <p:nvPr/>
        </p:nvSpPr>
        <p:spPr>
          <a:xfrm>
            <a:off x="2855640" y="3381806"/>
            <a:ext cx="5832648"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Accept-Encoding: bzip2,gzip</a:t>
            </a:r>
            <a:endParaRPr lang="da-DK" dirty="0"/>
          </a:p>
        </p:txBody>
      </p:sp>
      <p:sp>
        <p:nvSpPr>
          <p:cNvPr id="10" name="Rectangle: Rounded Corners 9">
            <a:extLst>
              <a:ext uri="{FF2B5EF4-FFF2-40B4-BE49-F238E27FC236}">
                <a16:creationId xmlns:a16="http://schemas.microsoft.com/office/drawing/2014/main" id="{2E3F5D30-B719-4CFE-ADD0-642C0D231780}"/>
              </a:ext>
            </a:extLst>
          </p:cNvPr>
          <p:cNvSpPr/>
          <p:nvPr/>
        </p:nvSpPr>
        <p:spPr>
          <a:xfrm>
            <a:off x="2855640" y="4270716"/>
            <a:ext cx="5832648"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Accept-Language: dk, es, </a:t>
            </a:r>
            <a:r>
              <a:rPr lang="en-US" dirty="0" err="1"/>
              <a:t>en</a:t>
            </a:r>
            <a:r>
              <a:rPr lang="en-US" dirty="0"/>
              <a:t>-US</a:t>
            </a:r>
            <a:endParaRPr lang="da-DK" dirty="0"/>
          </a:p>
        </p:txBody>
      </p:sp>
      <p:sp>
        <p:nvSpPr>
          <p:cNvPr id="11" name="Rectangle: Rounded Corners 10">
            <a:extLst>
              <a:ext uri="{FF2B5EF4-FFF2-40B4-BE49-F238E27FC236}">
                <a16:creationId xmlns:a16="http://schemas.microsoft.com/office/drawing/2014/main" id="{3F1585BC-A2EC-42CA-ACAE-34B9E2C6CD55}"/>
              </a:ext>
            </a:extLst>
          </p:cNvPr>
          <p:cNvSpPr/>
          <p:nvPr/>
        </p:nvSpPr>
        <p:spPr>
          <a:xfrm>
            <a:off x="2855640" y="5140775"/>
            <a:ext cx="5832648" cy="10245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User-Agent: Mozilla/5.0 (Windows NT 10.0; Win64; x64) </a:t>
            </a:r>
            <a:r>
              <a:rPr lang="en-US" dirty="0" err="1"/>
              <a:t>AppleWebKit</a:t>
            </a:r>
            <a:r>
              <a:rPr lang="en-US" dirty="0"/>
              <a:t>/537.36 (KHTML, like Gecko) Chrome/71.0.3578.98 Safari/537.36</a:t>
            </a:r>
            <a:endParaRPr lang="da-DK" dirty="0"/>
          </a:p>
        </p:txBody>
      </p:sp>
    </p:spTree>
    <p:extLst>
      <p:ext uri="{BB962C8B-B14F-4D97-AF65-F5344CB8AC3E}">
        <p14:creationId xmlns:p14="http://schemas.microsoft.com/office/powerpoint/2010/main" val="649019877"/>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Status Codes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15</a:t>
            </a:fld>
            <a:endParaRPr lang="en-US" altLang="en-US" sz="1000">
              <a:solidFill>
                <a:srgbClr val="898989"/>
              </a:solidFill>
              <a:ea typeface="ヒラギノ角ゴ ProN W3" pitchFamily="6" charset="-128"/>
            </a:endParaRPr>
          </a:p>
        </p:txBody>
      </p:sp>
      <p:pic>
        <p:nvPicPr>
          <p:cNvPr id="2" name="Picture 1">
            <a:extLst>
              <a:ext uri="{FF2B5EF4-FFF2-40B4-BE49-F238E27FC236}">
                <a16:creationId xmlns:a16="http://schemas.microsoft.com/office/drawing/2014/main" id="{8E598288-E635-4503-999D-0523DF88DC06}"/>
              </a:ext>
            </a:extLst>
          </p:cNvPr>
          <p:cNvPicPr>
            <a:picLocks noChangeAspect="1"/>
          </p:cNvPicPr>
          <p:nvPr/>
        </p:nvPicPr>
        <p:blipFill>
          <a:blip r:embed="rId2"/>
          <a:stretch>
            <a:fillRect/>
          </a:stretch>
        </p:blipFill>
        <p:spPr>
          <a:xfrm>
            <a:off x="1524000" y="809747"/>
            <a:ext cx="9144000" cy="5483584"/>
          </a:xfrm>
          <a:prstGeom prst="rect">
            <a:avLst/>
          </a:prstGeom>
        </p:spPr>
      </p:pic>
      <p:sp>
        <p:nvSpPr>
          <p:cNvPr id="5" name="TextBox 4">
            <a:extLst>
              <a:ext uri="{FF2B5EF4-FFF2-40B4-BE49-F238E27FC236}">
                <a16:creationId xmlns:a16="http://schemas.microsoft.com/office/drawing/2014/main" id="{1091F91C-6C40-4F0C-9A00-C220F75AB7FF}"/>
              </a:ext>
            </a:extLst>
          </p:cNvPr>
          <p:cNvSpPr txBox="1"/>
          <p:nvPr/>
        </p:nvSpPr>
        <p:spPr>
          <a:xfrm>
            <a:off x="3791744" y="6293332"/>
            <a:ext cx="5020670" cy="307777"/>
          </a:xfrm>
          <a:prstGeom prst="rect">
            <a:avLst/>
          </a:prstGeom>
          <a:noFill/>
        </p:spPr>
        <p:txBody>
          <a:bodyPr wrap="none" rtlCol="0">
            <a:spAutoFit/>
          </a:bodyPr>
          <a:lstStyle/>
          <a:p>
            <a:r>
              <a:rPr lang="en-US" sz="1400" dirty="0"/>
              <a:t>Source: </a:t>
            </a:r>
            <a:r>
              <a:rPr lang="en-US" sz="1400" dirty="0">
                <a:hlinkClick r:id="rId3"/>
              </a:rPr>
              <a:t>https://www.restapitutorial.com/httpstatuscodes.html</a:t>
            </a:r>
            <a:r>
              <a:rPr lang="en-US" sz="1400" dirty="0"/>
              <a:t> </a:t>
            </a:r>
            <a:endParaRPr lang="da-DK" sz="1400" dirty="0"/>
          </a:p>
        </p:txBody>
      </p:sp>
    </p:spTree>
    <p:extLst>
      <p:ext uri="{BB962C8B-B14F-4D97-AF65-F5344CB8AC3E}">
        <p14:creationId xmlns:p14="http://schemas.microsoft.com/office/powerpoint/2010/main" val="1263505657"/>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Request Body</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16</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996876"/>
            <a:ext cx="7270700" cy="5528469"/>
          </a:xfrm>
        </p:spPr>
        <p:txBody>
          <a:bodyPr/>
          <a:lstStyle/>
          <a:p>
            <a:pPr marL="0" indent="0">
              <a:buNone/>
            </a:pPr>
            <a:r>
              <a:rPr lang="en-US" altLang="en-US" dirty="0"/>
              <a:t>PUT &amp; POST request typically have a body. HTML forms usually results in a POST request with a </a:t>
            </a:r>
            <a:r>
              <a:rPr lang="en-US" altLang="en-US" dirty="0">
                <a:solidFill>
                  <a:schemeClr val="accent1"/>
                </a:solidFill>
              </a:rPr>
              <a:t>x-www-form-</a:t>
            </a:r>
            <a:r>
              <a:rPr lang="en-US" altLang="en-US" dirty="0" err="1">
                <a:solidFill>
                  <a:schemeClr val="accent1"/>
                </a:solidFill>
              </a:rPr>
              <a:t>urlencoded</a:t>
            </a:r>
            <a:r>
              <a:rPr lang="en-US" altLang="en-US" dirty="0"/>
              <a:t> type</a:t>
            </a:r>
          </a:p>
          <a:p>
            <a:pPr marL="0" indent="0">
              <a:buNone/>
            </a:pPr>
            <a:endParaRPr lang="en-US" altLang="en-US" dirty="0"/>
          </a:p>
        </p:txBody>
      </p:sp>
      <p:sp>
        <p:nvSpPr>
          <p:cNvPr id="2" name="Rectangle: Rounded Corners 1">
            <a:extLst>
              <a:ext uri="{FF2B5EF4-FFF2-40B4-BE49-F238E27FC236}">
                <a16:creationId xmlns:a16="http://schemas.microsoft.com/office/drawing/2014/main" id="{F6B2EF31-50E6-4203-A556-375524896B57}"/>
              </a:ext>
            </a:extLst>
          </p:cNvPr>
          <p:cNvSpPr/>
          <p:nvPr/>
        </p:nvSpPr>
        <p:spPr>
          <a:xfrm>
            <a:off x="2557933" y="2852936"/>
            <a:ext cx="7006233" cy="30963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POST</a:t>
            </a:r>
            <a:r>
              <a:rPr lang="en-US" sz="1600" dirty="0"/>
              <a:t> /post HTTP/1.1</a:t>
            </a:r>
          </a:p>
          <a:p>
            <a:r>
              <a:rPr lang="en-US" sz="1600" dirty="0"/>
              <a:t>Host: url.org</a:t>
            </a:r>
          </a:p>
          <a:p>
            <a:r>
              <a:rPr lang="en-US" sz="1600" dirty="0"/>
              <a:t>User-Agent: Mozilla/5.0 (Windows NT 10.0; Win64; x64) </a:t>
            </a:r>
            <a:r>
              <a:rPr lang="en-US" sz="1600" dirty="0" err="1"/>
              <a:t>AppleWebKit</a:t>
            </a:r>
            <a:r>
              <a:rPr lang="en-US" sz="1600" dirty="0"/>
              <a:t>/537.36 (KHTML, like Gecko) Chrome/71.0.3578.98 Safari/537.36</a:t>
            </a:r>
          </a:p>
          <a:p>
            <a:r>
              <a:rPr lang="en-US" sz="1600" dirty="0"/>
              <a:t>Accept: */*</a:t>
            </a:r>
          </a:p>
          <a:p>
            <a:r>
              <a:rPr lang="en-US" sz="1600" dirty="0"/>
              <a:t>Content-Length: 18</a:t>
            </a:r>
          </a:p>
          <a:p>
            <a:r>
              <a:rPr lang="en-US" sz="1600" dirty="0"/>
              <a:t>Content-Type: application/x-www-form-</a:t>
            </a:r>
            <a:r>
              <a:rPr lang="en-US" sz="1600" dirty="0" err="1"/>
              <a:t>urlencoded</a:t>
            </a:r>
            <a:endParaRPr lang="en-US" sz="1600" dirty="0"/>
          </a:p>
          <a:p>
            <a:endParaRPr lang="en-US" sz="1600" dirty="0"/>
          </a:p>
          <a:p>
            <a:r>
              <a:rPr lang="en-US" sz="1600" dirty="0"/>
              <a:t>user=</a:t>
            </a:r>
            <a:r>
              <a:rPr lang="en-US" sz="1600" dirty="0" err="1"/>
              <a:t>bo&amp;comment</a:t>
            </a:r>
            <a:r>
              <a:rPr lang="en-US" sz="1600" dirty="0"/>
              <a:t>=Hi</a:t>
            </a:r>
          </a:p>
          <a:p>
            <a:endParaRPr lang="da-DK" sz="900" dirty="0"/>
          </a:p>
        </p:txBody>
      </p:sp>
    </p:spTree>
    <p:extLst>
      <p:ext uri="{BB962C8B-B14F-4D97-AF65-F5344CB8AC3E}">
        <p14:creationId xmlns:p14="http://schemas.microsoft.com/office/powerpoint/2010/main" val="2534871597"/>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HTTP in action</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17</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414716" cy="5184576"/>
          </a:xfrm>
        </p:spPr>
        <p:txBody>
          <a:bodyPr/>
          <a:lstStyle/>
          <a:p>
            <a:pPr marL="0" indent="0">
              <a:buNone/>
            </a:pPr>
            <a:r>
              <a:rPr lang="en-US" altLang="en-US" dirty="0">
                <a:solidFill>
                  <a:schemeClr val="accent1"/>
                </a:solidFill>
              </a:rPr>
              <a:t>Let’s try Chromes “network” tab</a:t>
            </a:r>
            <a:endParaRPr lang="en-US" altLang="en-US" dirty="0"/>
          </a:p>
        </p:txBody>
      </p:sp>
      <p:pic>
        <p:nvPicPr>
          <p:cNvPr id="2" name="Picture 1">
            <a:extLst>
              <a:ext uri="{FF2B5EF4-FFF2-40B4-BE49-F238E27FC236}">
                <a16:creationId xmlns:a16="http://schemas.microsoft.com/office/drawing/2014/main" id="{BA5CE52C-C77C-4930-80D8-07500EA4CF26}"/>
              </a:ext>
            </a:extLst>
          </p:cNvPr>
          <p:cNvPicPr>
            <a:picLocks noChangeAspect="1"/>
          </p:cNvPicPr>
          <p:nvPr/>
        </p:nvPicPr>
        <p:blipFill>
          <a:blip r:embed="rId3"/>
          <a:stretch>
            <a:fillRect/>
          </a:stretch>
        </p:blipFill>
        <p:spPr>
          <a:xfrm>
            <a:off x="1538334" y="2060849"/>
            <a:ext cx="9109107" cy="7073043"/>
          </a:xfrm>
          <a:prstGeom prst="rect">
            <a:avLst/>
          </a:prstGeom>
        </p:spPr>
      </p:pic>
    </p:spTree>
    <p:extLst>
      <p:ext uri="{BB962C8B-B14F-4D97-AF65-F5344CB8AC3E}">
        <p14:creationId xmlns:p14="http://schemas.microsoft.com/office/powerpoint/2010/main" val="1987365390"/>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solidFill>
                  <a:schemeClr val="accent1"/>
                </a:solidFill>
              </a:rPr>
              <a:t>HTTP</a:t>
            </a:r>
            <a:r>
              <a:rPr lang="en-US" altLang="en-US" sz="3200" dirty="0"/>
              <a:t> vs </a:t>
            </a:r>
            <a:r>
              <a:rPr lang="en-US" altLang="en-US" sz="3200" dirty="0">
                <a:solidFill>
                  <a:schemeClr val="accent2"/>
                </a:solidFill>
              </a:rPr>
              <a:t>HTTPS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18</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414716" cy="5184576"/>
          </a:xfrm>
        </p:spPr>
        <p:txBody>
          <a:bodyPr/>
          <a:lstStyle/>
          <a:p>
            <a:pPr marL="0" indent="0">
              <a:buNone/>
            </a:pPr>
            <a:r>
              <a:rPr lang="en-US" altLang="en-US" dirty="0" err="1">
                <a:solidFill>
                  <a:schemeClr val="accent1"/>
                </a:solidFill>
              </a:rPr>
              <a:t>HyperText</a:t>
            </a:r>
            <a:r>
              <a:rPr lang="en-US" altLang="en-US" dirty="0">
                <a:solidFill>
                  <a:schemeClr val="accent1"/>
                </a:solidFill>
              </a:rPr>
              <a:t> Transfer Protocol </a:t>
            </a:r>
            <a:r>
              <a:rPr lang="en-US" altLang="en-US" dirty="0">
                <a:solidFill>
                  <a:schemeClr val="accent2"/>
                </a:solidFill>
              </a:rPr>
              <a:t>Secure</a:t>
            </a:r>
            <a:r>
              <a:rPr lang="en-US" altLang="en-US" dirty="0"/>
              <a:t>:</a:t>
            </a:r>
          </a:p>
          <a:p>
            <a:r>
              <a:rPr lang="en-US" altLang="en-US" dirty="0"/>
              <a:t>Means trusted SSL certificate is in place</a:t>
            </a:r>
          </a:p>
          <a:p>
            <a:pPr lvl="2"/>
            <a:r>
              <a:rPr lang="en-US" altLang="en-US" dirty="0"/>
              <a:t>Anyone can get one</a:t>
            </a:r>
          </a:p>
          <a:p>
            <a:pPr lvl="2"/>
            <a:r>
              <a:rPr lang="en-US" altLang="en-US" dirty="0"/>
              <a:t>TLS is an updated version, but we still call it SSL</a:t>
            </a:r>
          </a:p>
          <a:p>
            <a:pPr lvl="2"/>
            <a:r>
              <a:rPr lang="en-US" altLang="en-US" dirty="0"/>
              <a:t>Stands for Secure Socket Layer, Transport Layer Security</a:t>
            </a:r>
          </a:p>
          <a:p>
            <a:r>
              <a:rPr lang="en-US" altLang="en-US" dirty="0"/>
              <a:t>Requests and responses are scrambled and encrypted</a:t>
            </a:r>
          </a:p>
          <a:p>
            <a:pPr lvl="2"/>
            <a:r>
              <a:rPr lang="en-US" altLang="en-US" dirty="0"/>
              <a:t>Stored data is not</a:t>
            </a:r>
          </a:p>
          <a:p>
            <a:r>
              <a:rPr lang="en-US" altLang="en-US" dirty="0"/>
              <a:t>Uses port </a:t>
            </a:r>
            <a:r>
              <a:rPr lang="en-US" altLang="en-US" dirty="0">
                <a:solidFill>
                  <a:schemeClr val="accent2"/>
                </a:solidFill>
              </a:rPr>
              <a:t>443</a:t>
            </a:r>
            <a:r>
              <a:rPr lang="en-US" altLang="en-US" dirty="0"/>
              <a:t> instead of port </a:t>
            </a:r>
            <a:r>
              <a:rPr lang="en-US" altLang="en-US" dirty="0">
                <a:solidFill>
                  <a:schemeClr val="accent2"/>
                </a:solidFill>
              </a:rPr>
              <a:t>80</a:t>
            </a:r>
          </a:p>
          <a:p>
            <a:r>
              <a:rPr lang="en-US" altLang="en-US" dirty="0"/>
              <a:t>Increases SEO ranking </a:t>
            </a:r>
          </a:p>
          <a:p>
            <a:r>
              <a:rPr lang="en-US" altLang="en-US" dirty="0"/>
              <a:t>Browsers warn users not to use </a:t>
            </a:r>
            <a:r>
              <a:rPr lang="en-US" altLang="en-US" dirty="0">
                <a:solidFill>
                  <a:schemeClr val="accent1"/>
                </a:solidFill>
              </a:rPr>
              <a:t>HTTP</a:t>
            </a:r>
          </a:p>
          <a:p>
            <a:endParaRPr lang="en-US" altLang="en-US" dirty="0"/>
          </a:p>
          <a:p>
            <a:pPr lvl="2"/>
            <a:r>
              <a:rPr lang="en-US" altLang="en-US" dirty="0">
                <a:hlinkClick r:id="rId3"/>
              </a:rPr>
              <a:t>https://www.guru99.com/difference-http-vs-https.html</a:t>
            </a:r>
            <a:r>
              <a:rPr lang="en-US" altLang="en-US" dirty="0"/>
              <a:t> </a:t>
            </a:r>
          </a:p>
        </p:txBody>
      </p:sp>
    </p:spTree>
    <p:extLst>
      <p:ext uri="{BB962C8B-B14F-4D97-AF65-F5344CB8AC3E}">
        <p14:creationId xmlns:p14="http://schemas.microsoft.com/office/powerpoint/2010/main" val="1130113115"/>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solidFill>
                  <a:schemeClr val="accent1"/>
                </a:solidFill>
              </a:rPr>
              <a:t>HTTP</a:t>
            </a:r>
            <a:r>
              <a:rPr lang="en-US" altLang="en-US" sz="3200" dirty="0"/>
              <a:t> vs </a:t>
            </a:r>
            <a:r>
              <a:rPr lang="en-US" altLang="en-US" sz="3200" dirty="0">
                <a:solidFill>
                  <a:schemeClr val="accent2"/>
                </a:solidFill>
              </a:rPr>
              <a:t>HTTPS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19</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2" descr="https://www.guru99.com/images/1/053018_0552_HTTPvsHTTPS1.png">
            <a:extLst>
              <a:ext uri="{FF2B5EF4-FFF2-40B4-BE49-F238E27FC236}">
                <a16:creationId xmlns:a16="http://schemas.microsoft.com/office/drawing/2014/main" id="{90BF7491-D800-43D3-B49E-4B7554DD8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649" y="1268413"/>
            <a:ext cx="6219825" cy="36766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C56A1E5-18C0-4A3F-A0C3-28F4CB28BE5A}"/>
              </a:ext>
            </a:extLst>
          </p:cNvPr>
          <p:cNvSpPr txBox="1"/>
          <p:nvPr/>
        </p:nvSpPr>
        <p:spPr>
          <a:xfrm>
            <a:off x="3071665" y="5301208"/>
            <a:ext cx="5799345" cy="338554"/>
          </a:xfrm>
          <a:prstGeom prst="rect">
            <a:avLst/>
          </a:prstGeom>
          <a:noFill/>
        </p:spPr>
        <p:txBody>
          <a:bodyPr wrap="none" rtlCol="0">
            <a:spAutoFit/>
          </a:bodyPr>
          <a:lstStyle/>
          <a:p>
            <a:r>
              <a:rPr lang="en-US" sz="1600" dirty="0"/>
              <a:t>Source: </a:t>
            </a:r>
            <a:r>
              <a:rPr lang="en-US" sz="1600" dirty="0">
                <a:hlinkClick r:id="rId4"/>
              </a:rPr>
              <a:t>https://www.guru99.com/difference-http-vs-https.html</a:t>
            </a:r>
            <a:r>
              <a:rPr lang="en-US" sz="1600" dirty="0"/>
              <a:t> </a:t>
            </a:r>
            <a:endParaRPr lang="da-DK" sz="1600" dirty="0"/>
          </a:p>
        </p:txBody>
      </p:sp>
      <p:pic>
        <p:nvPicPr>
          <p:cNvPr id="6148" name="Picture 4" descr="Image result for ssl certificate png">
            <a:extLst>
              <a:ext uri="{FF2B5EF4-FFF2-40B4-BE49-F238E27FC236}">
                <a16:creationId xmlns:a16="http://schemas.microsoft.com/office/drawing/2014/main" id="{E60E3632-3793-4384-80CD-FAE817335B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6121" y="4136275"/>
            <a:ext cx="918989" cy="918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991879"/>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Other Protocols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20</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Pladsholder til indhold 2">
            <a:extLst>
              <a:ext uri="{FF2B5EF4-FFF2-40B4-BE49-F238E27FC236}">
                <a16:creationId xmlns:a16="http://schemas.microsoft.com/office/drawing/2014/main" id="{DBFC4FAA-DC36-46C6-991F-56024904378E}"/>
              </a:ext>
            </a:extLst>
          </p:cNvPr>
          <p:cNvSpPr>
            <a:spLocks noGrp="1"/>
          </p:cNvSpPr>
          <p:nvPr>
            <p:ph idx="1"/>
          </p:nvPr>
        </p:nvSpPr>
        <p:spPr>
          <a:xfrm>
            <a:off x="2425700" y="1124744"/>
            <a:ext cx="7414716" cy="5184576"/>
          </a:xfrm>
        </p:spPr>
        <p:txBody>
          <a:bodyPr/>
          <a:lstStyle/>
          <a:p>
            <a:r>
              <a:rPr lang="en-US" altLang="en-US" b="1" dirty="0"/>
              <a:t>FTP</a:t>
            </a:r>
          </a:p>
          <a:p>
            <a:pPr lvl="1"/>
            <a:r>
              <a:rPr lang="en-US" altLang="en-US" dirty="0"/>
              <a:t>File transfer protocol</a:t>
            </a:r>
          </a:p>
          <a:p>
            <a:pPr lvl="1"/>
            <a:r>
              <a:rPr lang="en-US" altLang="en-US" dirty="0"/>
              <a:t>Default way of working with files on the server</a:t>
            </a:r>
          </a:p>
          <a:p>
            <a:r>
              <a:rPr lang="en-US" altLang="en-US" b="1" dirty="0"/>
              <a:t>SMTP</a:t>
            </a:r>
          </a:p>
          <a:p>
            <a:pPr lvl="1"/>
            <a:r>
              <a:rPr lang="en-US" altLang="en-US" dirty="0"/>
              <a:t>Simple Mail Transfer Protocol</a:t>
            </a:r>
          </a:p>
          <a:p>
            <a:pPr lvl="1"/>
            <a:r>
              <a:rPr lang="en-US" altLang="en-US" dirty="0"/>
              <a:t>Default way of sending and receiving e-mails</a:t>
            </a:r>
          </a:p>
        </p:txBody>
      </p:sp>
    </p:spTree>
    <p:extLst>
      <p:ext uri="{BB962C8B-B14F-4D97-AF65-F5344CB8AC3E}">
        <p14:creationId xmlns:p14="http://schemas.microsoft.com/office/powerpoint/2010/main" val="4092905833"/>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The URL</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21</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Pladsholder til indhold 2">
            <a:extLst>
              <a:ext uri="{FF2B5EF4-FFF2-40B4-BE49-F238E27FC236}">
                <a16:creationId xmlns:a16="http://schemas.microsoft.com/office/drawing/2014/main" id="{2622189A-75D8-49D6-BC18-68EC00785DA8}"/>
              </a:ext>
            </a:extLst>
          </p:cNvPr>
          <p:cNvSpPr>
            <a:spLocks noGrp="1"/>
          </p:cNvSpPr>
          <p:nvPr>
            <p:ph idx="1"/>
          </p:nvPr>
        </p:nvSpPr>
        <p:spPr>
          <a:xfrm>
            <a:off x="2425700" y="1124744"/>
            <a:ext cx="7414716" cy="5184576"/>
          </a:xfrm>
        </p:spPr>
        <p:txBody>
          <a:bodyPr/>
          <a:lstStyle/>
          <a:p>
            <a:pPr marL="0" indent="0">
              <a:buNone/>
            </a:pPr>
            <a:r>
              <a:rPr lang="en-US" altLang="en-US" dirty="0">
                <a:solidFill>
                  <a:schemeClr val="accent1"/>
                </a:solidFill>
              </a:rPr>
              <a:t>http://</a:t>
            </a:r>
            <a:r>
              <a:rPr lang="en-US" altLang="en-US" dirty="0">
                <a:solidFill>
                  <a:schemeClr val="accent6"/>
                </a:solidFill>
              </a:rPr>
              <a:t>www.</a:t>
            </a:r>
            <a:r>
              <a:rPr lang="en-US" altLang="en-US" dirty="0">
                <a:solidFill>
                  <a:schemeClr val="accent3"/>
                </a:solidFill>
              </a:rPr>
              <a:t>fuzzball</a:t>
            </a:r>
            <a:r>
              <a:rPr lang="en-US" altLang="en-US" dirty="0">
                <a:solidFill>
                  <a:schemeClr val="accent4"/>
                </a:solidFill>
              </a:rPr>
              <a:t>.nu</a:t>
            </a:r>
            <a:r>
              <a:rPr lang="en-US" altLang="en-US" dirty="0">
                <a:solidFill>
                  <a:schemeClr val="accent5"/>
                </a:solidFill>
              </a:rPr>
              <a:t>/Project/simplevote/</a:t>
            </a:r>
            <a:r>
              <a:rPr lang="en-US" altLang="en-US" dirty="0">
                <a:solidFill>
                  <a:schemeClr val="bg1">
                    <a:lumMod val="75000"/>
                  </a:schemeClr>
                </a:solidFill>
              </a:rPr>
              <a:t>index.html</a:t>
            </a:r>
          </a:p>
          <a:p>
            <a:r>
              <a:rPr lang="en-US" altLang="en-US" dirty="0">
                <a:solidFill>
                  <a:schemeClr val="accent1"/>
                </a:solidFill>
              </a:rPr>
              <a:t>HTTP protocol</a:t>
            </a:r>
          </a:p>
          <a:p>
            <a:r>
              <a:rPr lang="en-US" altLang="en-US" dirty="0">
                <a:solidFill>
                  <a:schemeClr val="accent6"/>
                </a:solidFill>
              </a:rPr>
              <a:t>World-wide-web (indicates website)</a:t>
            </a:r>
          </a:p>
          <a:p>
            <a:r>
              <a:rPr lang="en-US" altLang="en-US" dirty="0">
                <a:solidFill>
                  <a:schemeClr val="accent3"/>
                </a:solidFill>
              </a:rPr>
              <a:t>Domain name</a:t>
            </a:r>
          </a:p>
          <a:p>
            <a:r>
              <a:rPr lang="en-US" altLang="en-US" dirty="0">
                <a:solidFill>
                  <a:schemeClr val="accent4"/>
                </a:solidFill>
              </a:rPr>
              <a:t>Top-level domain</a:t>
            </a:r>
          </a:p>
          <a:p>
            <a:r>
              <a:rPr lang="en-US" altLang="en-US" dirty="0">
                <a:solidFill>
                  <a:schemeClr val="accent5"/>
                </a:solidFill>
              </a:rPr>
              <a:t>Mapping on server</a:t>
            </a:r>
          </a:p>
          <a:p>
            <a:r>
              <a:rPr lang="en-US" altLang="en-US" dirty="0">
                <a:solidFill>
                  <a:schemeClr val="bg1">
                    <a:lumMod val="65000"/>
                  </a:schemeClr>
                </a:solidFill>
              </a:rPr>
              <a:t>Specific file</a:t>
            </a:r>
          </a:p>
          <a:p>
            <a:pPr lvl="1"/>
            <a:r>
              <a:rPr lang="en-US" altLang="en-US" dirty="0"/>
              <a:t>If this address is a file path, the index.html file will be loaded automatically if it exists</a:t>
            </a:r>
          </a:p>
          <a:p>
            <a:pPr lvl="1"/>
            <a:r>
              <a:rPr lang="en-US" altLang="en-US" dirty="0"/>
              <a:t>This can easily be disabled</a:t>
            </a:r>
          </a:p>
        </p:txBody>
      </p:sp>
    </p:spTree>
    <p:extLst>
      <p:ext uri="{BB962C8B-B14F-4D97-AF65-F5344CB8AC3E}">
        <p14:creationId xmlns:p14="http://schemas.microsoft.com/office/powerpoint/2010/main" val="304441167"/>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Sessions &amp; Cookies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22</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8" name="Picture 14" descr="Image result for smartphone icon png">
            <a:extLst>
              <a:ext uri="{FF2B5EF4-FFF2-40B4-BE49-F238E27FC236}">
                <a16:creationId xmlns:a16="http://schemas.microsoft.com/office/drawing/2014/main" id="{6C9A2D5E-8F09-403F-A187-701D95D2E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0474" y="4388892"/>
            <a:ext cx="172819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server icon png">
            <a:extLst>
              <a:ext uri="{FF2B5EF4-FFF2-40B4-BE49-F238E27FC236}">
                <a16:creationId xmlns:a16="http://schemas.microsoft.com/office/drawing/2014/main" id="{EFF2EBB9-CB2F-4242-AA9D-02BC3D76F3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474" y="1052736"/>
            <a:ext cx="1574088" cy="1574088"/>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Arrow Connector 34">
            <a:extLst>
              <a:ext uri="{FF2B5EF4-FFF2-40B4-BE49-F238E27FC236}">
                <a16:creationId xmlns:a16="http://schemas.microsoft.com/office/drawing/2014/main" id="{0563E301-FDC6-4A7E-9B4B-3AF8D254B17D}"/>
              </a:ext>
            </a:extLst>
          </p:cNvPr>
          <p:cNvCxnSpPr>
            <a:cxnSpLocks/>
          </p:cNvCxnSpPr>
          <p:nvPr/>
        </p:nvCxnSpPr>
        <p:spPr>
          <a:xfrm flipH="1">
            <a:off x="9346781" y="2708921"/>
            <a:ext cx="1" cy="16256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C431DC9-946F-453A-BD46-C89405061673}"/>
              </a:ext>
            </a:extLst>
          </p:cNvPr>
          <p:cNvCxnSpPr>
            <a:cxnSpLocks/>
          </p:cNvCxnSpPr>
          <p:nvPr/>
        </p:nvCxnSpPr>
        <p:spPr>
          <a:xfrm flipV="1">
            <a:off x="9035586" y="2688312"/>
            <a:ext cx="0" cy="1647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43D9419-AA08-4531-875E-CDAC677810E9}"/>
              </a:ext>
            </a:extLst>
          </p:cNvPr>
          <p:cNvSpPr txBox="1"/>
          <p:nvPr/>
        </p:nvSpPr>
        <p:spPr>
          <a:xfrm rot="16200000">
            <a:off x="8180316" y="3340156"/>
            <a:ext cx="1412709" cy="369332"/>
          </a:xfrm>
          <a:prstGeom prst="rect">
            <a:avLst/>
          </a:prstGeom>
          <a:noFill/>
        </p:spPr>
        <p:txBody>
          <a:bodyPr wrap="square" rtlCol="0">
            <a:spAutoFit/>
          </a:bodyPr>
          <a:lstStyle/>
          <a:p>
            <a:pPr algn="ctr"/>
            <a:r>
              <a:rPr lang="en-US" dirty="0">
                <a:solidFill>
                  <a:schemeClr val="accent1"/>
                </a:solidFill>
              </a:rPr>
              <a:t>Request</a:t>
            </a:r>
            <a:endParaRPr lang="da-DK" dirty="0">
              <a:solidFill>
                <a:schemeClr val="accent1"/>
              </a:solidFill>
            </a:endParaRPr>
          </a:p>
        </p:txBody>
      </p:sp>
      <p:sp>
        <p:nvSpPr>
          <p:cNvPr id="38" name="TextBox 37">
            <a:extLst>
              <a:ext uri="{FF2B5EF4-FFF2-40B4-BE49-F238E27FC236}">
                <a16:creationId xmlns:a16="http://schemas.microsoft.com/office/drawing/2014/main" id="{D93EF219-46DC-43B3-95CC-78222958CE0D}"/>
              </a:ext>
            </a:extLst>
          </p:cNvPr>
          <p:cNvSpPr txBox="1"/>
          <p:nvPr/>
        </p:nvSpPr>
        <p:spPr>
          <a:xfrm rot="5400000">
            <a:off x="8712030" y="3333252"/>
            <a:ext cx="1617995" cy="369332"/>
          </a:xfrm>
          <a:prstGeom prst="rect">
            <a:avLst/>
          </a:prstGeom>
          <a:noFill/>
        </p:spPr>
        <p:txBody>
          <a:bodyPr wrap="square" rtlCol="0">
            <a:spAutoFit/>
          </a:bodyPr>
          <a:lstStyle/>
          <a:p>
            <a:pPr algn="ctr"/>
            <a:r>
              <a:rPr lang="en-US" dirty="0">
                <a:solidFill>
                  <a:schemeClr val="accent1"/>
                </a:solidFill>
              </a:rPr>
              <a:t>Response</a:t>
            </a:r>
            <a:endParaRPr lang="da-DK" dirty="0">
              <a:solidFill>
                <a:schemeClr val="accent1"/>
              </a:solidFill>
            </a:endParaRPr>
          </a:p>
        </p:txBody>
      </p:sp>
      <p:sp>
        <p:nvSpPr>
          <p:cNvPr id="7" name="TextBox 6">
            <a:extLst>
              <a:ext uri="{FF2B5EF4-FFF2-40B4-BE49-F238E27FC236}">
                <a16:creationId xmlns:a16="http://schemas.microsoft.com/office/drawing/2014/main" id="{604E176C-9555-485A-99D8-C20C4FFF87C0}"/>
              </a:ext>
            </a:extLst>
          </p:cNvPr>
          <p:cNvSpPr txBox="1"/>
          <p:nvPr/>
        </p:nvSpPr>
        <p:spPr>
          <a:xfrm rot="5400000">
            <a:off x="8816726" y="1504722"/>
            <a:ext cx="2236510" cy="646331"/>
          </a:xfrm>
          <a:prstGeom prst="rect">
            <a:avLst/>
          </a:prstGeom>
          <a:noFill/>
        </p:spPr>
        <p:txBody>
          <a:bodyPr wrap="none" rtlCol="0">
            <a:spAutoFit/>
          </a:bodyPr>
          <a:lstStyle/>
          <a:p>
            <a:r>
              <a:rPr lang="en-US" sz="3600" dirty="0">
                <a:solidFill>
                  <a:schemeClr val="accent1"/>
                </a:solidFill>
              </a:rPr>
              <a:t>SESSION</a:t>
            </a:r>
            <a:endParaRPr lang="da-DK" sz="3600" dirty="0">
              <a:solidFill>
                <a:schemeClr val="accent1"/>
              </a:solidFill>
            </a:endParaRPr>
          </a:p>
        </p:txBody>
      </p:sp>
      <p:sp>
        <p:nvSpPr>
          <p:cNvPr id="31" name="TextBox 30">
            <a:extLst>
              <a:ext uri="{FF2B5EF4-FFF2-40B4-BE49-F238E27FC236}">
                <a16:creationId xmlns:a16="http://schemas.microsoft.com/office/drawing/2014/main" id="{78E6F56B-A0C2-49E4-9760-7806F3275A06}"/>
              </a:ext>
            </a:extLst>
          </p:cNvPr>
          <p:cNvSpPr txBox="1"/>
          <p:nvPr/>
        </p:nvSpPr>
        <p:spPr>
          <a:xfrm rot="5400000">
            <a:off x="8934549" y="4929823"/>
            <a:ext cx="1980029" cy="646331"/>
          </a:xfrm>
          <a:prstGeom prst="rect">
            <a:avLst/>
          </a:prstGeom>
          <a:noFill/>
        </p:spPr>
        <p:txBody>
          <a:bodyPr wrap="none" rtlCol="0">
            <a:spAutoFit/>
          </a:bodyPr>
          <a:lstStyle/>
          <a:p>
            <a:r>
              <a:rPr lang="en-US" sz="3600" dirty="0">
                <a:solidFill>
                  <a:schemeClr val="accent1"/>
                </a:solidFill>
              </a:rPr>
              <a:t>COOKIE</a:t>
            </a:r>
            <a:endParaRPr lang="da-DK" sz="3600" dirty="0">
              <a:solidFill>
                <a:schemeClr val="accent1"/>
              </a:solidFill>
            </a:endParaRPr>
          </a:p>
        </p:txBody>
      </p:sp>
      <p:sp>
        <p:nvSpPr>
          <p:cNvPr id="32" name="Pladsholder til indhold 2">
            <a:extLst>
              <a:ext uri="{FF2B5EF4-FFF2-40B4-BE49-F238E27FC236}">
                <a16:creationId xmlns:a16="http://schemas.microsoft.com/office/drawing/2014/main" id="{38C83C23-1CC3-4132-B17A-0DCB6679454D}"/>
              </a:ext>
            </a:extLst>
          </p:cNvPr>
          <p:cNvSpPr>
            <a:spLocks noGrp="1"/>
          </p:cNvSpPr>
          <p:nvPr>
            <p:ph idx="1"/>
          </p:nvPr>
        </p:nvSpPr>
        <p:spPr>
          <a:xfrm>
            <a:off x="2425701" y="1125539"/>
            <a:ext cx="6021685" cy="5183782"/>
          </a:xfrm>
        </p:spPr>
        <p:txBody>
          <a:bodyPr/>
          <a:lstStyle/>
          <a:p>
            <a:r>
              <a:rPr lang="en-US" altLang="en-US" dirty="0"/>
              <a:t>Sessions are stored on the server</a:t>
            </a:r>
          </a:p>
          <a:p>
            <a:pPr lvl="1"/>
            <a:r>
              <a:rPr lang="en-US" altLang="en-US" dirty="0"/>
              <a:t>invisible to the user</a:t>
            </a:r>
          </a:p>
          <a:p>
            <a:pPr lvl="2"/>
            <a:r>
              <a:rPr lang="en-US" altLang="en-US" dirty="0"/>
              <a:t>Reliable</a:t>
            </a:r>
          </a:p>
          <a:p>
            <a:r>
              <a:rPr lang="en-US" altLang="en-US" dirty="0"/>
              <a:t>Cookies are stores on the client and thus</a:t>
            </a:r>
          </a:p>
          <a:p>
            <a:pPr lvl="1"/>
            <a:r>
              <a:rPr lang="en-US" altLang="en-US" dirty="0"/>
              <a:t>Visible and editable by</a:t>
            </a:r>
          </a:p>
          <a:p>
            <a:pPr lvl="2"/>
            <a:r>
              <a:rPr lang="en-US" altLang="en-US" dirty="0"/>
              <a:t>User</a:t>
            </a:r>
          </a:p>
          <a:p>
            <a:pPr lvl="2"/>
            <a:r>
              <a:rPr lang="en-US" altLang="en-US" dirty="0"/>
              <a:t>Every other website</a:t>
            </a:r>
          </a:p>
          <a:p>
            <a:pPr lvl="2"/>
            <a:r>
              <a:rPr lang="en-US" altLang="en-US" dirty="0"/>
              <a:t>Commonly used by spyware</a:t>
            </a:r>
          </a:p>
          <a:p>
            <a:endParaRPr lang="en-US" altLang="en-US" dirty="0"/>
          </a:p>
          <a:p>
            <a:r>
              <a:rPr lang="en-US" altLang="en-US" dirty="0"/>
              <a:t>Sessions expire when the browser is closed</a:t>
            </a:r>
          </a:p>
          <a:p>
            <a:r>
              <a:rPr lang="en-US" altLang="en-US" dirty="0"/>
              <a:t>Session timeouts can be set</a:t>
            </a:r>
          </a:p>
          <a:p>
            <a:r>
              <a:rPr lang="en-US" altLang="en-US" dirty="0"/>
              <a:t>Session ID’s are stored in cookies</a:t>
            </a:r>
          </a:p>
        </p:txBody>
      </p:sp>
    </p:spTree>
    <p:extLst>
      <p:ext uri="{BB962C8B-B14F-4D97-AF65-F5344CB8AC3E}">
        <p14:creationId xmlns:p14="http://schemas.microsoft.com/office/powerpoint/2010/main" val="1496111248"/>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1992313" y="44450"/>
            <a:ext cx="8229600" cy="1143000"/>
          </a:xfrm>
        </p:spPr>
        <p:txBody>
          <a:bodyPr/>
          <a:lstStyle/>
          <a:p>
            <a:r>
              <a:rPr lang="en-US" altLang="en-US" sz="3200" dirty="0"/>
              <a:t>Sessions &amp; Cookies</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23</a:t>
            </a:fld>
            <a:endParaRPr lang="en-US" altLang="en-US" sz="1000">
              <a:solidFill>
                <a:srgbClr val="898989"/>
              </a:solidFill>
              <a:ea typeface="ヒラギノ角ゴ ProN W3" pitchFamily="6" charset="-128"/>
            </a:endParaRPr>
          </a:p>
        </p:txBody>
      </p:sp>
      <p:pic>
        <p:nvPicPr>
          <p:cNvPr id="5126" name="Picture 4" descr="graat_logo-aeble.png">
            <a:extLst>
              <a:ext uri="{FF2B5EF4-FFF2-40B4-BE49-F238E27FC236}">
                <a16:creationId xmlns:a16="http://schemas.microsoft.com/office/drawing/2014/main" id="{E4E01094-FB8A-465D-B34B-F562436419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44451"/>
            <a:ext cx="110648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Pladsholder til indhold 2">
            <a:extLst>
              <a:ext uri="{FF2B5EF4-FFF2-40B4-BE49-F238E27FC236}">
                <a16:creationId xmlns:a16="http://schemas.microsoft.com/office/drawing/2014/main" id="{38C83C23-1CC3-4132-B17A-0DCB6679454D}"/>
              </a:ext>
            </a:extLst>
          </p:cNvPr>
          <p:cNvSpPr>
            <a:spLocks noGrp="1"/>
          </p:cNvSpPr>
          <p:nvPr>
            <p:ph idx="1"/>
          </p:nvPr>
        </p:nvSpPr>
        <p:spPr>
          <a:xfrm>
            <a:off x="2425700" y="1125540"/>
            <a:ext cx="6118572" cy="1655389"/>
          </a:xfrm>
        </p:spPr>
        <p:txBody>
          <a:bodyPr/>
          <a:lstStyle/>
          <a:p>
            <a:r>
              <a:rPr lang="en-US" altLang="en-US" dirty="0"/>
              <a:t>Sites must warn you about Cookies</a:t>
            </a:r>
          </a:p>
          <a:p>
            <a:r>
              <a:rPr lang="en-US" altLang="en-US" dirty="0"/>
              <a:t>Why?</a:t>
            </a:r>
          </a:p>
          <a:p>
            <a:r>
              <a:rPr lang="en-US" altLang="en-US" dirty="0"/>
              <a:t>Why not Sessions?</a:t>
            </a:r>
          </a:p>
        </p:txBody>
      </p:sp>
      <p:pic>
        <p:nvPicPr>
          <p:cNvPr id="2" name="Picture 1">
            <a:extLst>
              <a:ext uri="{FF2B5EF4-FFF2-40B4-BE49-F238E27FC236}">
                <a16:creationId xmlns:a16="http://schemas.microsoft.com/office/drawing/2014/main" id="{01032668-DE28-4C76-83F7-755AFC54B0D8}"/>
              </a:ext>
            </a:extLst>
          </p:cNvPr>
          <p:cNvPicPr>
            <a:picLocks noChangeAspect="1"/>
          </p:cNvPicPr>
          <p:nvPr/>
        </p:nvPicPr>
        <p:blipFill>
          <a:blip r:embed="rId3"/>
          <a:stretch>
            <a:fillRect/>
          </a:stretch>
        </p:blipFill>
        <p:spPr>
          <a:xfrm>
            <a:off x="1523549" y="2976220"/>
            <a:ext cx="9144000" cy="3600824"/>
          </a:xfrm>
          <a:prstGeom prst="rect">
            <a:avLst/>
          </a:prstGeom>
        </p:spPr>
      </p:pic>
    </p:spTree>
    <p:extLst>
      <p:ext uri="{BB962C8B-B14F-4D97-AF65-F5344CB8AC3E}">
        <p14:creationId xmlns:p14="http://schemas.microsoft.com/office/powerpoint/2010/main" val="3519137819"/>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Data Formats</a:t>
            </a:r>
          </a:p>
        </p:txBody>
      </p:sp>
    </p:spTree>
    <p:extLst>
      <p:ext uri="{BB962C8B-B14F-4D97-AF65-F5344CB8AC3E}">
        <p14:creationId xmlns:p14="http://schemas.microsoft.com/office/powerpoint/2010/main" val="3314867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2"/>
            <a:ext cx="10931815" cy="1131777"/>
          </a:xfrm>
        </p:spPr>
        <p:txBody>
          <a:bodyPr/>
          <a:lstStyle/>
          <a:p>
            <a:r>
              <a:rPr lang="en-GB" dirty="0"/>
              <a:t>Client-Server Relationships:</a:t>
            </a:r>
            <a:br>
              <a:rPr lang="en-GB" dirty="0"/>
            </a:br>
            <a:r>
              <a:rPr lang="en-GB" dirty="0"/>
              <a:t>Web communication</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60555"/>
            <a:ext cx="8896282" cy="764371"/>
          </a:xfrm>
        </p:spPr>
        <p:txBody>
          <a:bodyPr/>
          <a:lstStyle/>
          <a:p>
            <a:pPr marL="0" indent="0">
              <a:buNone/>
            </a:pPr>
            <a:r>
              <a:rPr lang="en-GB" dirty="0">
                <a:effectLst/>
                <a:latin typeface="Helvetica Neue" panose="02000503000000020004" pitchFamily="2" charset="0"/>
              </a:rPr>
              <a:t>Most networked applications follow a client-server architecture, where a client application communicates with a server application to access network services. The communication between the client and server is typically done through a request/response model.</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25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218798"/>
            <a:ext cx="9748397"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Client: The application that requests a service from a server.</a:t>
            </a:r>
          </a:p>
          <a:p>
            <a:r>
              <a:rPr lang="en-GB" dirty="0">
                <a:effectLst/>
                <a:latin typeface="Helvetica Neue" panose="02000503000000020004" pitchFamily="2" charset="0"/>
              </a:rPr>
              <a:t>Server: The application that provides a service to clients.</a:t>
            </a:r>
          </a:p>
          <a:p>
            <a:r>
              <a:rPr lang="en-GB" dirty="0">
                <a:effectLst/>
                <a:latin typeface="Helvetica Neue" panose="02000503000000020004" pitchFamily="2" charset="0"/>
              </a:rPr>
              <a:t>Request: A message sent by the client to the server to request a service.</a:t>
            </a:r>
          </a:p>
          <a:p>
            <a:r>
              <a:rPr lang="en-GB" dirty="0">
                <a:effectLst/>
                <a:latin typeface="Helvetica Neue" panose="02000503000000020004" pitchFamily="2" charset="0"/>
              </a:rPr>
              <a:t>Response: A message sent by the server to the client in response to a request.</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4387956"/>
            <a:ext cx="8896282" cy="977386"/>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browse a website, your web browser acts as the client and sends an HTTP request to the web server, which acts as the server. The server then responds with an HTTP response, containing the data necessary to display the requested web page in the browser.</a:t>
            </a:r>
          </a:p>
        </p:txBody>
      </p:sp>
      <p:sp>
        <p:nvSpPr>
          <p:cNvPr id="9" name="Content Placeholder 2">
            <a:extLst>
              <a:ext uri="{FF2B5EF4-FFF2-40B4-BE49-F238E27FC236}">
                <a16:creationId xmlns:a16="http://schemas.microsoft.com/office/drawing/2014/main" id="{566B6C05-91C2-FBAD-FDAF-03550FAB9304}"/>
              </a:ext>
            </a:extLst>
          </p:cNvPr>
          <p:cNvSpPr txBox="1">
            <a:spLocks/>
          </p:cNvSpPr>
          <p:nvPr/>
        </p:nvSpPr>
        <p:spPr>
          <a:xfrm>
            <a:off x="414695" y="5328696"/>
            <a:ext cx="8896282" cy="74395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Peer-to-peer (P2P) architecture is an alternative to client-server architecture, where applications communicate directly with each other without relying on a central server.</a:t>
            </a:r>
          </a:p>
        </p:txBody>
      </p:sp>
    </p:spTree>
    <p:extLst>
      <p:ext uri="{BB962C8B-B14F-4D97-AF65-F5344CB8AC3E}">
        <p14:creationId xmlns:p14="http://schemas.microsoft.com/office/powerpoint/2010/main" val="1299004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391432" y="974803"/>
            <a:ext cx="8229600" cy="1143000"/>
          </a:xfrm>
        </p:spPr>
        <p:txBody>
          <a:bodyPr/>
          <a:lstStyle/>
          <a:p>
            <a:r>
              <a:rPr lang="en-US" altLang="en-US" sz="3200" dirty="0"/>
              <a:t>Client Server Relationship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26</a:t>
            </a:fld>
            <a:endParaRPr lang="en-US" altLang="en-US" sz="1000">
              <a:solidFill>
                <a:srgbClr val="898989"/>
              </a:solidFill>
              <a:ea typeface="ヒラギノ角ゴ ProN W3" pitchFamily="6" charset="-128"/>
            </a:endParaRPr>
          </a:p>
        </p:txBody>
      </p:sp>
      <p:pic>
        <p:nvPicPr>
          <p:cNvPr id="1032" name="Picture 8" descr="Image result for pc icon png">
            <a:extLst>
              <a:ext uri="{FF2B5EF4-FFF2-40B4-BE49-F238E27FC236}">
                <a16:creationId xmlns:a16="http://schemas.microsoft.com/office/drawing/2014/main" id="{CEBE4930-428E-40BE-B5FA-D99FB6B35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4388892"/>
            <a:ext cx="1982564" cy="198256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laptop icon png">
            <a:extLst>
              <a:ext uri="{FF2B5EF4-FFF2-40B4-BE49-F238E27FC236}">
                <a16:creationId xmlns:a16="http://schemas.microsoft.com/office/drawing/2014/main" id="{E8717FA7-9E61-418E-B38D-7EE6FDADF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997" y="4336058"/>
            <a:ext cx="2088232" cy="208823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mage result for smartphone icon png">
            <a:extLst>
              <a:ext uri="{FF2B5EF4-FFF2-40B4-BE49-F238E27FC236}">
                <a16:creationId xmlns:a16="http://schemas.microsoft.com/office/drawing/2014/main" id="{6C9A2D5E-8F09-403F-A187-701D95D2E0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474" y="4388892"/>
            <a:ext cx="172819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server icon png">
            <a:extLst>
              <a:ext uri="{FF2B5EF4-FFF2-40B4-BE49-F238E27FC236}">
                <a16:creationId xmlns:a16="http://schemas.microsoft.com/office/drawing/2014/main" id="{EFF2EBB9-CB2F-4242-AA9D-02BC3D76F3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3872" y="947854"/>
            <a:ext cx="2438400" cy="24384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B4AA72BF-3395-43B8-930A-ABB022D32947}"/>
              </a:ext>
            </a:extLst>
          </p:cNvPr>
          <p:cNvCxnSpPr>
            <a:cxnSpLocks/>
          </p:cNvCxnSpPr>
          <p:nvPr/>
        </p:nvCxnSpPr>
        <p:spPr>
          <a:xfrm>
            <a:off x="7189808" y="3386254"/>
            <a:ext cx="1570489" cy="9498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D5D0DDE-DFF3-4333-B8FC-73A47FCEA750}"/>
              </a:ext>
            </a:extLst>
          </p:cNvPr>
          <p:cNvCxnSpPr>
            <a:cxnSpLocks/>
          </p:cNvCxnSpPr>
          <p:nvPr/>
        </p:nvCxnSpPr>
        <p:spPr>
          <a:xfrm flipH="1" flipV="1">
            <a:off x="7151230" y="3068960"/>
            <a:ext cx="1969107" cy="12206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FF393F6-551E-4A8C-BF2F-52CB1C890AD6}"/>
              </a:ext>
            </a:extLst>
          </p:cNvPr>
          <p:cNvSpPr txBox="1"/>
          <p:nvPr/>
        </p:nvSpPr>
        <p:spPr>
          <a:xfrm rot="1908887">
            <a:off x="7770353" y="3389917"/>
            <a:ext cx="1043876" cy="369332"/>
          </a:xfrm>
          <a:prstGeom prst="rect">
            <a:avLst/>
          </a:prstGeom>
          <a:noFill/>
        </p:spPr>
        <p:txBody>
          <a:bodyPr wrap="none" rtlCol="0">
            <a:spAutoFit/>
          </a:bodyPr>
          <a:lstStyle/>
          <a:p>
            <a:r>
              <a:rPr lang="en-US" dirty="0">
                <a:solidFill>
                  <a:schemeClr val="accent1"/>
                </a:solidFill>
              </a:rPr>
              <a:t>Request</a:t>
            </a:r>
            <a:endParaRPr lang="da-DK" dirty="0">
              <a:solidFill>
                <a:schemeClr val="accent1"/>
              </a:solidFill>
            </a:endParaRPr>
          </a:p>
        </p:txBody>
      </p:sp>
      <p:sp>
        <p:nvSpPr>
          <p:cNvPr id="26" name="TextBox 25">
            <a:extLst>
              <a:ext uri="{FF2B5EF4-FFF2-40B4-BE49-F238E27FC236}">
                <a16:creationId xmlns:a16="http://schemas.microsoft.com/office/drawing/2014/main" id="{1B4373DC-ED94-4A27-B617-E69081F8B180}"/>
              </a:ext>
            </a:extLst>
          </p:cNvPr>
          <p:cNvSpPr txBox="1"/>
          <p:nvPr/>
        </p:nvSpPr>
        <p:spPr>
          <a:xfrm rot="1908887">
            <a:off x="7359335" y="3809751"/>
            <a:ext cx="1223412" cy="369332"/>
          </a:xfrm>
          <a:prstGeom prst="rect">
            <a:avLst/>
          </a:prstGeom>
          <a:noFill/>
        </p:spPr>
        <p:txBody>
          <a:bodyPr wrap="none" rtlCol="0">
            <a:spAutoFit/>
          </a:bodyPr>
          <a:lstStyle/>
          <a:p>
            <a:r>
              <a:rPr lang="en-US" dirty="0">
                <a:solidFill>
                  <a:schemeClr val="accent1"/>
                </a:solidFill>
              </a:rPr>
              <a:t>Response</a:t>
            </a:r>
            <a:endParaRPr lang="da-DK" dirty="0">
              <a:solidFill>
                <a:schemeClr val="accent1"/>
              </a:solidFill>
            </a:endParaRPr>
          </a:p>
        </p:txBody>
      </p:sp>
      <p:cxnSp>
        <p:nvCxnSpPr>
          <p:cNvPr id="27" name="Straight Arrow Connector 26">
            <a:extLst>
              <a:ext uri="{FF2B5EF4-FFF2-40B4-BE49-F238E27FC236}">
                <a16:creationId xmlns:a16="http://schemas.microsoft.com/office/drawing/2014/main" id="{170791F2-7DD4-4A58-AF9D-8A267A817D6F}"/>
              </a:ext>
            </a:extLst>
          </p:cNvPr>
          <p:cNvCxnSpPr>
            <a:cxnSpLocks/>
          </p:cNvCxnSpPr>
          <p:nvPr/>
        </p:nvCxnSpPr>
        <p:spPr>
          <a:xfrm flipH="1">
            <a:off x="3431704" y="3386254"/>
            <a:ext cx="1764256" cy="10852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FE32569-1B03-4859-BD68-FCD5C3C5C485}"/>
              </a:ext>
            </a:extLst>
          </p:cNvPr>
          <p:cNvCxnSpPr>
            <a:cxnSpLocks/>
          </p:cNvCxnSpPr>
          <p:nvPr/>
        </p:nvCxnSpPr>
        <p:spPr>
          <a:xfrm flipV="1">
            <a:off x="2974766" y="3068961"/>
            <a:ext cx="2182617" cy="13744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44AA8EA-B2F4-4598-A8E5-89F108AE2F68}"/>
              </a:ext>
            </a:extLst>
          </p:cNvPr>
          <p:cNvSpPr txBox="1"/>
          <p:nvPr/>
        </p:nvSpPr>
        <p:spPr>
          <a:xfrm rot="19666011">
            <a:off x="3444300" y="3446771"/>
            <a:ext cx="1043876" cy="369332"/>
          </a:xfrm>
          <a:prstGeom prst="rect">
            <a:avLst/>
          </a:prstGeom>
          <a:noFill/>
        </p:spPr>
        <p:txBody>
          <a:bodyPr wrap="none" rtlCol="0">
            <a:spAutoFit/>
          </a:bodyPr>
          <a:lstStyle/>
          <a:p>
            <a:r>
              <a:rPr lang="en-US" dirty="0">
                <a:solidFill>
                  <a:schemeClr val="accent1"/>
                </a:solidFill>
              </a:rPr>
              <a:t>Request</a:t>
            </a:r>
            <a:endParaRPr lang="da-DK" dirty="0">
              <a:solidFill>
                <a:schemeClr val="accent1"/>
              </a:solidFill>
            </a:endParaRPr>
          </a:p>
        </p:txBody>
      </p:sp>
      <p:sp>
        <p:nvSpPr>
          <p:cNvPr id="30" name="TextBox 29">
            <a:extLst>
              <a:ext uri="{FF2B5EF4-FFF2-40B4-BE49-F238E27FC236}">
                <a16:creationId xmlns:a16="http://schemas.microsoft.com/office/drawing/2014/main" id="{888DDE42-6D48-4101-8C25-483D6ED4EEB6}"/>
              </a:ext>
            </a:extLst>
          </p:cNvPr>
          <p:cNvSpPr txBox="1"/>
          <p:nvPr/>
        </p:nvSpPr>
        <p:spPr>
          <a:xfrm rot="19651853">
            <a:off x="3807411" y="3820800"/>
            <a:ext cx="1223412" cy="369332"/>
          </a:xfrm>
          <a:prstGeom prst="rect">
            <a:avLst/>
          </a:prstGeom>
          <a:noFill/>
        </p:spPr>
        <p:txBody>
          <a:bodyPr wrap="none" rtlCol="0">
            <a:spAutoFit/>
          </a:bodyPr>
          <a:lstStyle/>
          <a:p>
            <a:r>
              <a:rPr lang="en-US" dirty="0">
                <a:solidFill>
                  <a:schemeClr val="accent1"/>
                </a:solidFill>
              </a:rPr>
              <a:t>Response</a:t>
            </a:r>
            <a:endParaRPr lang="da-DK" dirty="0">
              <a:solidFill>
                <a:schemeClr val="accent1"/>
              </a:solidFill>
            </a:endParaRPr>
          </a:p>
        </p:txBody>
      </p:sp>
      <p:cxnSp>
        <p:nvCxnSpPr>
          <p:cNvPr id="35" name="Straight Arrow Connector 34">
            <a:extLst>
              <a:ext uri="{FF2B5EF4-FFF2-40B4-BE49-F238E27FC236}">
                <a16:creationId xmlns:a16="http://schemas.microsoft.com/office/drawing/2014/main" id="{0563E301-FDC6-4A7E-9B4B-3AF8D254B17D}"/>
              </a:ext>
            </a:extLst>
          </p:cNvPr>
          <p:cNvCxnSpPr>
            <a:cxnSpLocks/>
          </p:cNvCxnSpPr>
          <p:nvPr/>
        </p:nvCxnSpPr>
        <p:spPr>
          <a:xfrm flipH="1">
            <a:off x="6422237" y="3493354"/>
            <a:ext cx="21215" cy="1159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C431DC9-946F-453A-BD46-C89405061673}"/>
              </a:ext>
            </a:extLst>
          </p:cNvPr>
          <p:cNvCxnSpPr>
            <a:cxnSpLocks/>
          </p:cNvCxnSpPr>
          <p:nvPr/>
        </p:nvCxnSpPr>
        <p:spPr>
          <a:xfrm flipV="1">
            <a:off x="6132258" y="3506674"/>
            <a:ext cx="0" cy="11464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43D9419-AA08-4531-875E-CDAC677810E9}"/>
              </a:ext>
            </a:extLst>
          </p:cNvPr>
          <p:cNvSpPr txBox="1"/>
          <p:nvPr/>
        </p:nvSpPr>
        <p:spPr>
          <a:xfrm rot="16200000">
            <a:off x="5461404" y="3924313"/>
            <a:ext cx="1043876" cy="369332"/>
          </a:xfrm>
          <a:prstGeom prst="rect">
            <a:avLst/>
          </a:prstGeom>
          <a:noFill/>
        </p:spPr>
        <p:txBody>
          <a:bodyPr wrap="none" rtlCol="0">
            <a:spAutoFit/>
          </a:bodyPr>
          <a:lstStyle/>
          <a:p>
            <a:r>
              <a:rPr lang="en-US" dirty="0">
                <a:solidFill>
                  <a:schemeClr val="accent1"/>
                </a:solidFill>
              </a:rPr>
              <a:t>Request</a:t>
            </a:r>
            <a:endParaRPr lang="da-DK" dirty="0">
              <a:solidFill>
                <a:schemeClr val="accent1"/>
              </a:solidFill>
            </a:endParaRPr>
          </a:p>
        </p:txBody>
      </p:sp>
      <p:sp>
        <p:nvSpPr>
          <p:cNvPr id="38" name="TextBox 37">
            <a:extLst>
              <a:ext uri="{FF2B5EF4-FFF2-40B4-BE49-F238E27FC236}">
                <a16:creationId xmlns:a16="http://schemas.microsoft.com/office/drawing/2014/main" id="{D93EF219-46DC-43B3-95CC-78222958CE0D}"/>
              </a:ext>
            </a:extLst>
          </p:cNvPr>
          <p:cNvSpPr txBox="1"/>
          <p:nvPr/>
        </p:nvSpPr>
        <p:spPr>
          <a:xfrm rot="5400000">
            <a:off x="5956993" y="3857100"/>
            <a:ext cx="1223412" cy="369332"/>
          </a:xfrm>
          <a:prstGeom prst="rect">
            <a:avLst/>
          </a:prstGeom>
          <a:noFill/>
        </p:spPr>
        <p:txBody>
          <a:bodyPr wrap="none" rtlCol="0">
            <a:spAutoFit/>
          </a:bodyPr>
          <a:lstStyle/>
          <a:p>
            <a:r>
              <a:rPr lang="en-US" dirty="0">
                <a:solidFill>
                  <a:schemeClr val="accent1"/>
                </a:solidFill>
              </a:rPr>
              <a:t>Response</a:t>
            </a:r>
            <a:endParaRPr lang="da-DK" dirty="0">
              <a:solidFill>
                <a:schemeClr val="accent1"/>
              </a:solidFill>
            </a:endParaRPr>
          </a:p>
        </p:txBody>
      </p:sp>
    </p:spTree>
    <p:extLst>
      <p:ext uri="{BB962C8B-B14F-4D97-AF65-F5344CB8AC3E}">
        <p14:creationId xmlns:p14="http://schemas.microsoft.com/office/powerpoint/2010/main" val="2439819963"/>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386149" y="847532"/>
            <a:ext cx="8229600" cy="1143000"/>
          </a:xfrm>
        </p:spPr>
        <p:txBody>
          <a:bodyPr/>
          <a:lstStyle/>
          <a:p>
            <a:r>
              <a:rPr lang="en-US" altLang="en-US" sz="3200" dirty="0"/>
              <a:t>Client Server Relationship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27</a:t>
            </a:fld>
            <a:endParaRPr lang="en-US" altLang="en-US" sz="1000">
              <a:solidFill>
                <a:srgbClr val="898989"/>
              </a:solidFill>
              <a:ea typeface="ヒラギノ角ゴ ProN W3" pitchFamily="6" charset="-128"/>
            </a:endParaRPr>
          </a:p>
        </p:txBody>
      </p:sp>
      <p:sp>
        <p:nvSpPr>
          <p:cNvPr id="22" name="Pladsholder til indhold 2">
            <a:extLst>
              <a:ext uri="{FF2B5EF4-FFF2-40B4-BE49-F238E27FC236}">
                <a16:creationId xmlns:a16="http://schemas.microsoft.com/office/drawing/2014/main" id="{0881225C-6E47-48D1-A869-700C7E7CAB43}"/>
              </a:ext>
            </a:extLst>
          </p:cNvPr>
          <p:cNvSpPr>
            <a:spLocks noGrp="1"/>
          </p:cNvSpPr>
          <p:nvPr>
            <p:ph idx="1"/>
          </p:nvPr>
        </p:nvSpPr>
        <p:spPr>
          <a:xfrm>
            <a:off x="787732" y="1419032"/>
            <a:ext cx="7558732" cy="4711645"/>
          </a:xfrm>
        </p:spPr>
        <p:txBody>
          <a:bodyPr/>
          <a:lstStyle/>
          <a:p>
            <a:r>
              <a:rPr lang="en-US" altLang="en-US" dirty="0"/>
              <a:t>Servers can communicate directly with each other</a:t>
            </a:r>
          </a:p>
          <a:p>
            <a:r>
              <a:rPr lang="en-US" altLang="en-US" dirty="0"/>
              <a:t>Clients can communicate directly with each other</a:t>
            </a:r>
          </a:p>
          <a:p>
            <a:r>
              <a:rPr lang="en-US" altLang="en-US" dirty="0"/>
              <a:t>The most common setup is where clients only communicate with the server</a:t>
            </a:r>
          </a:p>
          <a:p>
            <a:pPr marL="0" indent="0">
              <a:buNone/>
            </a:pPr>
            <a:endParaRPr lang="en-US" altLang="en-US" dirty="0"/>
          </a:p>
        </p:txBody>
      </p:sp>
    </p:spTree>
    <p:extLst>
      <p:ext uri="{BB962C8B-B14F-4D97-AF65-F5344CB8AC3E}">
        <p14:creationId xmlns:p14="http://schemas.microsoft.com/office/powerpoint/2010/main" val="145584510"/>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417955" y="911142"/>
            <a:ext cx="8229600" cy="1143000"/>
          </a:xfrm>
        </p:spPr>
        <p:txBody>
          <a:bodyPr/>
          <a:lstStyle/>
          <a:p>
            <a:r>
              <a:rPr lang="en-US" altLang="en-US" sz="3200" dirty="0"/>
              <a:t>Client Server Relationship</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28</a:t>
            </a:fld>
            <a:endParaRPr lang="en-US" altLang="en-US" sz="1000">
              <a:solidFill>
                <a:srgbClr val="898989"/>
              </a:solidFill>
              <a:ea typeface="ヒラギノ角ゴ ProN W3" pitchFamily="6" charset="-128"/>
            </a:endParaRPr>
          </a:p>
        </p:txBody>
      </p:sp>
      <p:sp>
        <p:nvSpPr>
          <p:cNvPr id="22" name="Pladsholder til indhold 2">
            <a:extLst>
              <a:ext uri="{FF2B5EF4-FFF2-40B4-BE49-F238E27FC236}">
                <a16:creationId xmlns:a16="http://schemas.microsoft.com/office/drawing/2014/main" id="{0881225C-6E47-48D1-A869-700C7E7CAB43}"/>
              </a:ext>
            </a:extLst>
          </p:cNvPr>
          <p:cNvSpPr>
            <a:spLocks noGrp="1"/>
          </p:cNvSpPr>
          <p:nvPr>
            <p:ph idx="1"/>
          </p:nvPr>
        </p:nvSpPr>
        <p:spPr>
          <a:xfrm>
            <a:off x="787179" y="1566407"/>
            <a:ext cx="9197253" cy="5005843"/>
          </a:xfrm>
        </p:spPr>
        <p:txBody>
          <a:bodyPr/>
          <a:lstStyle/>
          <a:p>
            <a:r>
              <a:rPr lang="en-US" altLang="en-US" dirty="0"/>
              <a:t>All online devices have an IP address per online network driver</a:t>
            </a:r>
          </a:p>
          <a:p>
            <a:r>
              <a:rPr lang="en-US" altLang="en-US" dirty="0"/>
              <a:t>Multiple servers on a single IP address are reached through ports</a:t>
            </a:r>
          </a:p>
          <a:p>
            <a:pPr lvl="1"/>
            <a:r>
              <a:rPr lang="en-US" altLang="en-US" dirty="0"/>
              <a:t>Port forwarding</a:t>
            </a:r>
          </a:p>
          <a:p>
            <a:pPr lvl="1"/>
            <a:r>
              <a:rPr lang="en-US" altLang="en-US" dirty="0"/>
              <a:t>Multiple servers on one device</a:t>
            </a:r>
          </a:p>
          <a:p>
            <a:r>
              <a:rPr lang="en-US" altLang="en-US" dirty="0"/>
              <a:t>URL’s are IP address shortcuts</a:t>
            </a:r>
          </a:p>
          <a:p>
            <a:pPr lvl="1"/>
            <a:r>
              <a:rPr lang="en-US" altLang="en-US" dirty="0"/>
              <a:t>DNS (Domain Name Server)</a:t>
            </a:r>
          </a:p>
          <a:p>
            <a:pPr lvl="1"/>
            <a:endParaRPr lang="en-US" altLang="en-US" dirty="0"/>
          </a:p>
          <a:p>
            <a:r>
              <a:rPr lang="en-US" altLang="en-US" dirty="0"/>
              <a:t>Let’s try our local network settings</a:t>
            </a:r>
          </a:p>
        </p:txBody>
      </p:sp>
    </p:spTree>
    <p:extLst>
      <p:ext uri="{BB962C8B-B14F-4D97-AF65-F5344CB8AC3E}">
        <p14:creationId xmlns:p14="http://schemas.microsoft.com/office/powerpoint/2010/main" val="2123328786"/>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720104" y="911142"/>
            <a:ext cx="8229600" cy="1143000"/>
          </a:xfrm>
        </p:spPr>
        <p:txBody>
          <a:bodyPr/>
          <a:lstStyle/>
          <a:p>
            <a:r>
              <a:rPr lang="en-US" altLang="en-US" sz="3200" dirty="0"/>
              <a:t>Press Enter</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29</a:t>
            </a:fld>
            <a:endParaRPr lang="en-US" altLang="en-US" sz="1000">
              <a:solidFill>
                <a:srgbClr val="898989"/>
              </a:solidFill>
              <a:ea typeface="ヒラギノ角ゴ ProN W3" pitchFamily="6" charset="-128"/>
            </a:endParaRPr>
          </a:p>
        </p:txBody>
      </p:sp>
      <p:sp>
        <p:nvSpPr>
          <p:cNvPr id="9" name="Pladsholder til indhold 2">
            <a:extLst>
              <a:ext uri="{FF2B5EF4-FFF2-40B4-BE49-F238E27FC236}">
                <a16:creationId xmlns:a16="http://schemas.microsoft.com/office/drawing/2014/main" id="{2622189A-75D8-49D6-BC18-68EC00785DA8}"/>
              </a:ext>
            </a:extLst>
          </p:cNvPr>
          <p:cNvSpPr>
            <a:spLocks noGrp="1"/>
          </p:cNvSpPr>
          <p:nvPr>
            <p:ph idx="1"/>
          </p:nvPr>
        </p:nvSpPr>
        <p:spPr>
          <a:xfrm>
            <a:off x="1200647" y="1542552"/>
            <a:ext cx="9803958" cy="4766767"/>
          </a:xfrm>
        </p:spPr>
        <p:txBody>
          <a:bodyPr/>
          <a:lstStyle/>
          <a:p>
            <a:r>
              <a:rPr lang="en-US" altLang="en-US" dirty="0"/>
              <a:t>Address is put into browser</a:t>
            </a:r>
          </a:p>
          <a:p>
            <a:r>
              <a:rPr lang="en-US" altLang="en-US" dirty="0"/>
              <a:t>Application &gt;&gt; LAN already explained</a:t>
            </a:r>
          </a:p>
          <a:p>
            <a:r>
              <a:rPr lang="en-US" altLang="en-US" dirty="0"/>
              <a:t>LAN is connected by router</a:t>
            </a:r>
          </a:p>
          <a:p>
            <a:pPr lvl="1"/>
            <a:r>
              <a:rPr lang="en-US" altLang="en-US" dirty="0"/>
              <a:t>Router connected to ISP (internet service provider)</a:t>
            </a:r>
          </a:p>
          <a:p>
            <a:pPr lvl="1"/>
            <a:r>
              <a:rPr lang="en-US" altLang="en-US" dirty="0"/>
              <a:t>ISP has DNS (domain name server)</a:t>
            </a:r>
          </a:p>
          <a:p>
            <a:pPr lvl="1"/>
            <a:r>
              <a:rPr lang="en-US" altLang="en-US" dirty="0"/>
              <a:t>DNS translates domain name to IP address</a:t>
            </a:r>
          </a:p>
          <a:p>
            <a:pPr lvl="1"/>
            <a:r>
              <a:rPr lang="en-US" altLang="en-US" dirty="0"/>
              <a:t>Browser saves IP for further communication</a:t>
            </a:r>
          </a:p>
          <a:p>
            <a:pPr lvl="1"/>
            <a:r>
              <a:rPr lang="en-US" altLang="en-US" dirty="0"/>
              <a:t>Routers throughout the world communicate to find the requested IP address</a:t>
            </a:r>
          </a:p>
          <a:p>
            <a:pPr lvl="1"/>
            <a:r>
              <a:rPr lang="en-US" altLang="en-US" dirty="0"/>
              <a:t>Server responds to request</a:t>
            </a:r>
          </a:p>
          <a:p>
            <a:pPr lvl="1"/>
            <a:endParaRPr lang="en-US" altLang="en-US" dirty="0">
              <a:solidFill>
                <a:schemeClr val="accent1"/>
              </a:solidFill>
            </a:endParaRPr>
          </a:p>
        </p:txBody>
      </p:sp>
    </p:spTree>
    <p:extLst>
      <p:ext uri="{BB962C8B-B14F-4D97-AF65-F5344CB8AC3E}">
        <p14:creationId xmlns:p14="http://schemas.microsoft.com/office/powerpoint/2010/main" val="3650175681"/>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52579" cy="1187436"/>
          </a:xfrm>
        </p:spPr>
        <p:txBody>
          <a:bodyPr/>
          <a:lstStyle/>
          <a:p>
            <a:r>
              <a:rPr lang="en-GB" dirty="0"/>
              <a:t>The OSI Model: The Seven Layers of Networking</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1709531"/>
            <a:ext cx="9540338" cy="1321904"/>
          </a:xfrm>
        </p:spPr>
        <p:txBody>
          <a:bodyPr/>
          <a:lstStyle/>
          <a:p>
            <a:pPr marL="0" indent="0">
              <a:buNone/>
            </a:pPr>
            <a:r>
              <a:rPr lang="en-GB" dirty="0">
                <a:effectLst/>
                <a:latin typeface="Helvetica Neue" panose="02000503000000020004" pitchFamily="2" charset="0"/>
              </a:rPr>
              <a:t>The OSI model is a conceptual model that defines the communication functions of a telecommunication or computing system. It divides the communication process into seven layers and helps to understand how different networking devices work together.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30</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703444"/>
            <a:ext cx="9748397" cy="203272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Physical layer: Handles the physical connection between devices.</a:t>
            </a:r>
          </a:p>
          <a:p>
            <a:r>
              <a:rPr lang="en-GB" dirty="0">
                <a:effectLst/>
                <a:latin typeface="Helvetica Neue" panose="02000503000000020004" pitchFamily="2" charset="0"/>
              </a:rPr>
              <a:t>Data link layer: Ensures reliable data transmission over a network.</a:t>
            </a:r>
          </a:p>
          <a:p>
            <a:r>
              <a:rPr lang="en-GB" dirty="0">
                <a:effectLst/>
                <a:latin typeface="Helvetica Neue" panose="02000503000000020004" pitchFamily="2" charset="0"/>
              </a:rPr>
              <a:t>Network layer: Routes data packets between devices on different networks.</a:t>
            </a:r>
          </a:p>
          <a:p>
            <a:r>
              <a:rPr lang="en-GB" dirty="0">
                <a:effectLst/>
                <a:latin typeface="Helvetica Neue" panose="02000503000000020004" pitchFamily="2" charset="0"/>
              </a:rPr>
              <a:t>Transport layer: Manages the reliable transmission of data between applications.</a:t>
            </a:r>
          </a:p>
          <a:p>
            <a:r>
              <a:rPr lang="en-GB" dirty="0">
                <a:effectLst/>
                <a:latin typeface="Helvetica Neue" panose="02000503000000020004" pitchFamily="2" charset="0"/>
              </a:rPr>
              <a:t>Session layer: Establishes and manages sessions between applications.</a:t>
            </a:r>
          </a:p>
          <a:p>
            <a:r>
              <a:rPr lang="en-GB" dirty="0">
                <a:effectLst/>
                <a:latin typeface="Helvetica Neue" panose="02000503000000020004" pitchFamily="2" charset="0"/>
              </a:rPr>
              <a:t>Presentation layer: Handles data formatting and encryption.</a:t>
            </a:r>
          </a:p>
          <a:p>
            <a:r>
              <a:rPr lang="en-GB" dirty="0">
                <a:effectLst/>
                <a:latin typeface="Helvetica Neue" panose="02000503000000020004" pitchFamily="2" charset="0"/>
              </a:rPr>
              <a:t>Application layer: Provides services to applications for network communication.</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4" y="4736173"/>
            <a:ext cx="9748397" cy="132190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browse a website, your computer sends a request to the server using the HTTP protocol. This request goes through all seven layers of the OSI model before reaching the server and getting a response.</a:t>
            </a:r>
          </a:p>
        </p:txBody>
      </p:sp>
    </p:spTree>
    <p:extLst>
      <p:ext uri="{BB962C8B-B14F-4D97-AF65-F5344CB8AC3E}">
        <p14:creationId xmlns:p14="http://schemas.microsoft.com/office/powerpoint/2010/main" val="1646491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title"/>
          </p:nvPr>
        </p:nvSpPr>
        <p:spPr>
          <a:xfrm>
            <a:off x="640591" y="1052736"/>
            <a:ext cx="8229600" cy="1143000"/>
          </a:xfrm>
        </p:spPr>
        <p:txBody>
          <a:bodyPr/>
          <a:lstStyle/>
          <a:p>
            <a:r>
              <a:rPr lang="en-US" altLang="en-US" sz="3200" dirty="0"/>
              <a:t>OSI Model</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quarter" idx="10"/>
          </p:nvPr>
        </p:nvSpPr>
        <p:spPr bwMode="auto">
          <a:xfrm>
            <a:off x="8178057" y="5625264"/>
            <a:ext cx="2240432" cy="18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Feb. 2018</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31</a:t>
            </a:fld>
            <a:endParaRPr lang="en-US" altLang="en-US" sz="1000">
              <a:solidFill>
                <a:srgbClr val="898989"/>
              </a:solidFill>
              <a:ea typeface="ヒラギノ角ゴ ProN W3" pitchFamily="6" charset="-128"/>
            </a:endParaRPr>
          </a:p>
        </p:txBody>
      </p:sp>
      <p:sp>
        <p:nvSpPr>
          <p:cNvPr id="2" name="Rectangle: Rounded Corners 1">
            <a:extLst>
              <a:ext uri="{FF2B5EF4-FFF2-40B4-BE49-F238E27FC236}">
                <a16:creationId xmlns:a16="http://schemas.microsoft.com/office/drawing/2014/main" id="{EBF8C689-6A07-4561-8823-7CBE65FC5C0E}"/>
              </a:ext>
            </a:extLst>
          </p:cNvPr>
          <p:cNvSpPr/>
          <p:nvPr/>
        </p:nvSpPr>
        <p:spPr>
          <a:xfrm>
            <a:off x="1669750" y="2422263"/>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Application</a:t>
            </a:r>
            <a:endParaRPr lang="da-DK" sz="2400" dirty="0"/>
          </a:p>
        </p:txBody>
      </p:sp>
      <p:sp>
        <p:nvSpPr>
          <p:cNvPr id="23" name="Rectangle: Rounded Corners 22">
            <a:extLst>
              <a:ext uri="{FF2B5EF4-FFF2-40B4-BE49-F238E27FC236}">
                <a16:creationId xmlns:a16="http://schemas.microsoft.com/office/drawing/2014/main" id="{E10CB2C8-943B-4E0B-A02A-58945F7AAC92}"/>
              </a:ext>
            </a:extLst>
          </p:cNvPr>
          <p:cNvSpPr/>
          <p:nvPr/>
        </p:nvSpPr>
        <p:spPr>
          <a:xfrm>
            <a:off x="1669387" y="2935621"/>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Application Layer</a:t>
            </a:r>
            <a:endParaRPr lang="da-DK" sz="2400" dirty="0"/>
          </a:p>
        </p:txBody>
      </p:sp>
      <p:sp>
        <p:nvSpPr>
          <p:cNvPr id="24" name="Rectangle: Rounded Corners 23">
            <a:extLst>
              <a:ext uri="{FF2B5EF4-FFF2-40B4-BE49-F238E27FC236}">
                <a16:creationId xmlns:a16="http://schemas.microsoft.com/office/drawing/2014/main" id="{EE52DD83-F969-4F08-9950-A273A36EF55F}"/>
              </a:ext>
            </a:extLst>
          </p:cNvPr>
          <p:cNvSpPr/>
          <p:nvPr/>
        </p:nvSpPr>
        <p:spPr>
          <a:xfrm>
            <a:off x="1669750" y="3457761"/>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Transport layer</a:t>
            </a:r>
            <a:endParaRPr lang="da-DK" sz="2400" dirty="0"/>
          </a:p>
        </p:txBody>
      </p:sp>
      <p:sp>
        <p:nvSpPr>
          <p:cNvPr id="25" name="Rectangle: Rounded Corners 24">
            <a:extLst>
              <a:ext uri="{FF2B5EF4-FFF2-40B4-BE49-F238E27FC236}">
                <a16:creationId xmlns:a16="http://schemas.microsoft.com/office/drawing/2014/main" id="{91616F9C-DE51-410F-AB31-67EBE4C83C36}"/>
              </a:ext>
            </a:extLst>
          </p:cNvPr>
          <p:cNvSpPr/>
          <p:nvPr/>
        </p:nvSpPr>
        <p:spPr>
          <a:xfrm>
            <a:off x="1669750" y="3962337"/>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Network layer</a:t>
            </a:r>
            <a:endParaRPr lang="da-DK" sz="2400" dirty="0"/>
          </a:p>
        </p:txBody>
      </p:sp>
      <p:sp>
        <p:nvSpPr>
          <p:cNvPr id="31" name="Rectangle: Rounded Corners 30">
            <a:extLst>
              <a:ext uri="{FF2B5EF4-FFF2-40B4-BE49-F238E27FC236}">
                <a16:creationId xmlns:a16="http://schemas.microsoft.com/office/drawing/2014/main" id="{DA58BA84-F16F-4170-BDB6-7AF3FB7F9E9D}"/>
              </a:ext>
            </a:extLst>
          </p:cNvPr>
          <p:cNvSpPr/>
          <p:nvPr/>
        </p:nvSpPr>
        <p:spPr>
          <a:xfrm>
            <a:off x="1669750" y="4475695"/>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Link layer</a:t>
            </a:r>
            <a:endParaRPr lang="da-DK" sz="2400" dirty="0"/>
          </a:p>
        </p:txBody>
      </p:sp>
      <p:sp>
        <p:nvSpPr>
          <p:cNvPr id="32" name="Rectangle: Rounded Corners 31">
            <a:extLst>
              <a:ext uri="{FF2B5EF4-FFF2-40B4-BE49-F238E27FC236}">
                <a16:creationId xmlns:a16="http://schemas.microsoft.com/office/drawing/2014/main" id="{6B821F7C-7D0A-44AF-B245-738BCF56ED3B}"/>
              </a:ext>
            </a:extLst>
          </p:cNvPr>
          <p:cNvSpPr/>
          <p:nvPr/>
        </p:nvSpPr>
        <p:spPr>
          <a:xfrm>
            <a:off x="1669750" y="4997835"/>
            <a:ext cx="3600400"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Hardware layer</a:t>
            </a:r>
            <a:endParaRPr lang="da-DK" sz="2400" dirty="0"/>
          </a:p>
        </p:txBody>
      </p:sp>
      <p:sp>
        <p:nvSpPr>
          <p:cNvPr id="43" name="Rectangle: Rounded Corners 42">
            <a:extLst>
              <a:ext uri="{FF2B5EF4-FFF2-40B4-BE49-F238E27FC236}">
                <a16:creationId xmlns:a16="http://schemas.microsoft.com/office/drawing/2014/main" id="{FB51104B-0B96-43AC-B0F6-9E8E2C0F33B4}"/>
              </a:ext>
            </a:extLst>
          </p:cNvPr>
          <p:cNvSpPr/>
          <p:nvPr/>
        </p:nvSpPr>
        <p:spPr>
          <a:xfrm>
            <a:off x="5342158" y="2422263"/>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Browser</a:t>
            </a:r>
            <a:endParaRPr lang="da-DK" sz="2400" dirty="0"/>
          </a:p>
        </p:txBody>
      </p:sp>
      <p:sp>
        <p:nvSpPr>
          <p:cNvPr id="44" name="Rectangle: Rounded Corners 43">
            <a:extLst>
              <a:ext uri="{FF2B5EF4-FFF2-40B4-BE49-F238E27FC236}">
                <a16:creationId xmlns:a16="http://schemas.microsoft.com/office/drawing/2014/main" id="{1A7C8C43-F44F-44CC-B197-E6CE26047D96}"/>
              </a:ext>
            </a:extLst>
          </p:cNvPr>
          <p:cNvSpPr/>
          <p:nvPr/>
        </p:nvSpPr>
        <p:spPr>
          <a:xfrm>
            <a:off x="5341795" y="2935621"/>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HTTP</a:t>
            </a:r>
            <a:endParaRPr lang="da-DK" sz="2400" dirty="0"/>
          </a:p>
        </p:txBody>
      </p:sp>
      <p:sp>
        <p:nvSpPr>
          <p:cNvPr id="45" name="Rectangle: Rounded Corners 44">
            <a:extLst>
              <a:ext uri="{FF2B5EF4-FFF2-40B4-BE49-F238E27FC236}">
                <a16:creationId xmlns:a16="http://schemas.microsoft.com/office/drawing/2014/main" id="{4D509769-2084-48C3-BBFF-A880D0B0E5CE}"/>
              </a:ext>
            </a:extLst>
          </p:cNvPr>
          <p:cNvSpPr/>
          <p:nvPr/>
        </p:nvSpPr>
        <p:spPr>
          <a:xfrm>
            <a:off x="5342158" y="3457761"/>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TCP</a:t>
            </a:r>
            <a:endParaRPr lang="da-DK" sz="2400" dirty="0"/>
          </a:p>
        </p:txBody>
      </p:sp>
      <p:sp>
        <p:nvSpPr>
          <p:cNvPr id="46" name="Rectangle: Rounded Corners 45">
            <a:extLst>
              <a:ext uri="{FF2B5EF4-FFF2-40B4-BE49-F238E27FC236}">
                <a16:creationId xmlns:a16="http://schemas.microsoft.com/office/drawing/2014/main" id="{13A0275C-1290-4905-A530-2D1069C2BE52}"/>
              </a:ext>
            </a:extLst>
          </p:cNvPr>
          <p:cNvSpPr/>
          <p:nvPr/>
        </p:nvSpPr>
        <p:spPr>
          <a:xfrm>
            <a:off x="5342158" y="3962337"/>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IP</a:t>
            </a:r>
            <a:endParaRPr lang="da-DK" sz="2400" dirty="0"/>
          </a:p>
        </p:txBody>
      </p:sp>
      <p:sp>
        <p:nvSpPr>
          <p:cNvPr id="47" name="Rectangle: Rounded Corners 46">
            <a:extLst>
              <a:ext uri="{FF2B5EF4-FFF2-40B4-BE49-F238E27FC236}">
                <a16:creationId xmlns:a16="http://schemas.microsoft.com/office/drawing/2014/main" id="{EA1209C6-E1AA-452F-9789-C96F617114B4}"/>
              </a:ext>
            </a:extLst>
          </p:cNvPr>
          <p:cNvSpPr/>
          <p:nvPr/>
        </p:nvSpPr>
        <p:spPr>
          <a:xfrm>
            <a:off x="5342158" y="4475695"/>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Ethernet Driver</a:t>
            </a:r>
            <a:endParaRPr lang="da-DK" sz="2400" dirty="0"/>
          </a:p>
        </p:txBody>
      </p:sp>
      <p:sp>
        <p:nvSpPr>
          <p:cNvPr id="48" name="Rectangle: Rounded Corners 47">
            <a:extLst>
              <a:ext uri="{FF2B5EF4-FFF2-40B4-BE49-F238E27FC236}">
                <a16:creationId xmlns:a16="http://schemas.microsoft.com/office/drawing/2014/main" id="{ACE4697E-A4CC-4DE9-AF43-4209B7819EB6}"/>
              </a:ext>
            </a:extLst>
          </p:cNvPr>
          <p:cNvSpPr/>
          <p:nvPr/>
        </p:nvSpPr>
        <p:spPr>
          <a:xfrm>
            <a:off x="5342158" y="4997835"/>
            <a:ext cx="2304256" cy="4235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Ethernet</a:t>
            </a:r>
            <a:endParaRPr lang="da-DK" sz="2400" dirty="0"/>
          </a:p>
        </p:txBody>
      </p:sp>
      <p:sp>
        <p:nvSpPr>
          <p:cNvPr id="49" name="Rectangle: Rounded Corners 48">
            <a:extLst>
              <a:ext uri="{FF2B5EF4-FFF2-40B4-BE49-F238E27FC236}">
                <a16:creationId xmlns:a16="http://schemas.microsoft.com/office/drawing/2014/main" id="{B376B552-D25A-4546-812A-BECC2489EAD6}"/>
              </a:ext>
            </a:extLst>
          </p:cNvPr>
          <p:cNvSpPr/>
          <p:nvPr/>
        </p:nvSpPr>
        <p:spPr>
          <a:xfrm>
            <a:off x="7722814" y="2422263"/>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App</a:t>
            </a:r>
            <a:endParaRPr lang="da-DK" sz="2400" dirty="0"/>
          </a:p>
        </p:txBody>
      </p:sp>
      <p:sp>
        <p:nvSpPr>
          <p:cNvPr id="50" name="Rectangle: Rounded Corners 49">
            <a:extLst>
              <a:ext uri="{FF2B5EF4-FFF2-40B4-BE49-F238E27FC236}">
                <a16:creationId xmlns:a16="http://schemas.microsoft.com/office/drawing/2014/main" id="{299C5657-C359-47CF-8A83-2ADDEAF57958}"/>
              </a:ext>
            </a:extLst>
          </p:cNvPr>
          <p:cNvSpPr/>
          <p:nvPr/>
        </p:nvSpPr>
        <p:spPr>
          <a:xfrm>
            <a:off x="7722451" y="2935621"/>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HTTPS</a:t>
            </a:r>
            <a:endParaRPr lang="da-DK" sz="2400" dirty="0"/>
          </a:p>
        </p:txBody>
      </p:sp>
      <p:sp>
        <p:nvSpPr>
          <p:cNvPr id="51" name="Rectangle: Rounded Corners 50">
            <a:extLst>
              <a:ext uri="{FF2B5EF4-FFF2-40B4-BE49-F238E27FC236}">
                <a16:creationId xmlns:a16="http://schemas.microsoft.com/office/drawing/2014/main" id="{8534E1C4-6501-4A25-AD7E-0EC38439838C}"/>
              </a:ext>
            </a:extLst>
          </p:cNvPr>
          <p:cNvSpPr/>
          <p:nvPr/>
        </p:nvSpPr>
        <p:spPr>
          <a:xfrm>
            <a:off x="7722814" y="3457761"/>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UDP</a:t>
            </a:r>
            <a:endParaRPr lang="da-DK" sz="2400" dirty="0"/>
          </a:p>
        </p:txBody>
      </p:sp>
      <p:sp>
        <p:nvSpPr>
          <p:cNvPr id="52" name="Rectangle: Rounded Corners 51">
            <a:extLst>
              <a:ext uri="{FF2B5EF4-FFF2-40B4-BE49-F238E27FC236}">
                <a16:creationId xmlns:a16="http://schemas.microsoft.com/office/drawing/2014/main" id="{C9FC2B22-73F8-407E-B3C6-8A3132C25C03}"/>
              </a:ext>
            </a:extLst>
          </p:cNvPr>
          <p:cNvSpPr/>
          <p:nvPr/>
        </p:nvSpPr>
        <p:spPr>
          <a:xfrm>
            <a:off x="7722814" y="3962337"/>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IP</a:t>
            </a:r>
            <a:endParaRPr lang="da-DK" sz="2400" dirty="0"/>
          </a:p>
        </p:txBody>
      </p:sp>
      <p:sp>
        <p:nvSpPr>
          <p:cNvPr id="53" name="Rectangle: Rounded Corners 52">
            <a:extLst>
              <a:ext uri="{FF2B5EF4-FFF2-40B4-BE49-F238E27FC236}">
                <a16:creationId xmlns:a16="http://schemas.microsoft.com/office/drawing/2014/main" id="{AEBC0AEB-878D-4020-B43E-E7C826EDCE9B}"/>
              </a:ext>
            </a:extLst>
          </p:cNvPr>
          <p:cNvSpPr/>
          <p:nvPr/>
        </p:nvSpPr>
        <p:spPr>
          <a:xfrm>
            <a:off x="7722814" y="4475695"/>
            <a:ext cx="2304256" cy="4413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WiFi</a:t>
            </a:r>
            <a:r>
              <a:rPr lang="en-US" sz="2400" dirty="0"/>
              <a:t> Driver</a:t>
            </a:r>
            <a:endParaRPr lang="da-DK" sz="2400" dirty="0"/>
          </a:p>
        </p:txBody>
      </p:sp>
      <p:sp>
        <p:nvSpPr>
          <p:cNvPr id="54" name="Rectangle: Rounded Corners 53">
            <a:extLst>
              <a:ext uri="{FF2B5EF4-FFF2-40B4-BE49-F238E27FC236}">
                <a16:creationId xmlns:a16="http://schemas.microsoft.com/office/drawing/2014/main" id="{819B20F8-D386-47A8-91FB-2052AC806998}"/>
              </a:ext>
            </a:extLst>
          </p:cNvPr>
          <p:cNvSpPr/>
          <p:nvPr/>
        </p:nvSpPr>
        <p:spPr>
          <a:xfrm>
            <a:off x="7722814" y="4997835"/>
            <a:ext cx="2304256" cy="4235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WiFi</a:t>
            </a:r>
            <a:r>
              <a:rPr lang="en-US" sz="2400" dirty="0"/>
              <a:t> chip</a:t>
            </a:r>
            <a:endParaRPr lang="da-DK" sz="2400" dirty="0"/>
          </a:p>
        </p:txBody>
      </p:sp>
      <p:sp>
        <p:nvSpPr>
          <p:cNvPr id="3" name="TextBox 2">
            <a:extLst>
              <a:ext uri="{FF2B5EF4-FFF2-40B4-BE49-F238E27FC236}">
                <a16:creationId xmlns:a16="http://schemas.microsoft.com/office/drawing/2014/main" id="{B24F11B0-561C-471A-B8D7-FA391D890BD6}"/>
              </a:ext>
            </a:extLst>
          </p:cNvPr>
          <p:cNvSpPr txBox="1"/>
          <p:nvPr/>
        </p:nvSpPr>
        <p:spPr>
          <a:xfrm>
            <a:off x="2865095" y="1909202"/>
            <a:ext cx="1208985" cy="584775"/>
          </a:xfrm>
          <a:prstGeom prst="rect">
            <a:avLst/>
          </a:prstGeom>
          <a:noFill/>
        </p:spPr>
        <p:txBody>
          <a:bodyPr wrap="none" rtlCol="0">
            <a:spAutoFit/>
          </a:bodyPr>
          <a:lstStyle/>
          <a:p>
            <a:pPr algn="ctr"/>
            <a:r>
              <a:rPr lang="en-US" sz="3200" dirty="0"/>
              <a:t>Layer</a:t>
            </a:r>
            <a:endParaRPr lang="da-DK" sz="3200" dirty="0"/>
          </a:p>
        </p:txBody>
      </p:sp>
      <p:sp>
        <p:nvSpPr>
          <p:cNvPr id="55" name="TextBox 54">
            <a:extLst>
              <a:ext uri="{FF2B5EF4-FFF2-40B4-BE49-F238E27FC236}">
                <a16:creationId xmlns:a16="http://schemas.microsoft.com/office/drawing/2014/main" id="{AAC1B414-2933-47D9-9133-B6B2BA06F780}"/>
              </a:ext>
            </a:extLst>
          </p:cNvPr>
          <p:cNvSpPr txBox="1"/>
          <p:nvPr/>
        </p:nvSpPr>
        <p:spPr>
          <a:xfrm>
            <a:off x="5604096" y="1909202"/>
            <a:ext cx="1779654" cy="584775"/>
          </a:xfrm>
          <a:prstGeom prst="rect">
            <a:avLst/>
          </a:prstGeom>
          <a:noFill/>
        </p:spPr>
        <p:txBody>
          <a:bodyPr wrap="none" rtlCol="0">
            <a:spAutoFit/>
          </a:bodyPr>
          <a:lstStyle/>
          <a:p>
            <a:pPr algn="ctr"/>
            <a:r>
              <a:rPr lang="en-US" sz="3200" dirty="0"/>
              <a:t>Example</a:t>
            </a:r>
            <a:endParaRPr lang="da-DK" sz="3200" dirty="0"/>
          </a:p>
        </p:txBody>
      </p:sp>
      <p:sp>
        <p:nvSpPr>
          <p:cNvPr id="56" name="TextBox 55">
            <a:extLst>
              <a:ext uri="{FF2B5EF4-FFF2-40B4-BE49-F238E27FC236}">
                <a16:creationId xmlns:a16="http://schemas.microsoft.com/office/drawing/2014/main" id="{ACC33043-3781-4FE5-82A0-54B4F8DC7200}"/>
              </a:ext>
            </a:extLst>
          </p:cNvPr>
          <p:cNvSpPr txBox="1"/>
          <p:nvPr/>
        </p:nvSpPr>
        <p:spPr>
          <a:xfrm>
            <a:off x="7809644" y="1909201"/>
            <a:ext cx="2121093" cy="584775"/>
          </a:xfrm>
          <a:prstGeom prst="rect">
            <a:avLst/>
          </a:prstGeom>
          <a:noFill/>
        </p:spPr>
        <p:txBody>
          <a:bodyPr wrap="none" rtlCol="0">
            <a:spAutoFit/>
          </a:bodyPr>
          <a:lstStyle/>
          <a:p>
            <a:pPr algn="ctr"/>
            <a:r>
              <a:rPr lang="en-US" sz="3200" dirty="0"/>
              <a:t>Alternative</a:t>
            </a:r>
            <a:endParaRPr lang="da-DK" sz="3200" dirty="0"/>
          </a:p>
        </p:txBody>
      </p:sp>
    </p:spTree>
    <p:extLst>
      <p:ext uri="{BB962C8B-B14F-4D97-AF65-F5344CB8AC3E}">
        <p14:creationId xmlns:p14="http://schemas.microsoft.com/office/powerpoint/2010/main" val="2737100197"/>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52579" cy="821676"/>
          </a:xfrm>
        </p:spPr>
        <p:txBody>
          <a:bodyPr/>
          <a:lstStyle/>
          <a:p>
            <a:r>
              <a:rPr lang="en-GB" dirty="0"/>
              <a:t>The TCP/IP Model: The Four Layers of Networking</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1684631"/>
            <a:ext cx="8896282" cy="764371"/>
          </a:xfrm>
        </p:spPr>
        <p:txBody>
          <a:bodyPr/>
          <a:lstStyle/>
          <a:p>
            <a:pPr marL="0" indent="0">
              <a:buNone/>
            </a:pPr>
            <a:r>
              <a:rPr lang="en-GB" dirty="0">
                <a:effectLst/>
                <a:latin typeface="Helvetica Neue" panose="02000503000000020004" pitchFamily="2" charset="0"/>
              </a:rPr>
              <a:t>The TCP/IP model is a simpler and more practical model than the OSI model. It consists of four layers and is the foundation of the internet.</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32</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336638"/>
            <a:ext cx="9748397" cy="203272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Network Access Layer: Deals with physical connections and media types.</a:t>
            </a:r>
          </a:p>
          <a:p>
            <a:r>
              <a:rPr lang="en-GB" dirty="0">
                <a:effectLst/>
                <a:latin typeface="Helvetica Neue" panose="02000503000000020004" pitchFamily="2" charset="0"/>
              </a:rPr>
              <a:t>Internet Layer: Handles addressing and routing of packets across networks.</a:t>
            </a:r>
          </a:p>
          <a:p>
            <a:r>
              <a:rPr lang="en-GB" dirty="0">
                <a:effectLst/>
                <a:latin typeface="Helvetica Neue" panose="02000503000000020004" pitchFamily="2" charset="0"/>
              </a:rPr>
              <a:t>Transport Layer: Provides reliable data transmission between applications.</a:t>
            </a:r>
          </a:p>
          <a:p>
            <a:r>
              <a:rPr lang="en-GB" dirty="0">
                <a:effectLst/>
                <a:latin typeface="Helvetica Neue" panose="02000503000000020004" pitchFamily="2" charset="0"/>
              </a:rPr>
              <a:t>Application Layer: Provides network services to applications.</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3563252"/>
            <a:ext cx="8896282" cy="132190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visit a website, your browser sends a request to the server using the HTTP protocol. This request goes through the four layers of the TCP/IP model before reaching the server and getting a response.</a:t>
            </a:r>
          </a:p>
        </p:txBody>
      </p:sp>
    </p:spTree>
    <p:extLst>
      <p:ext uri="{BB962C8B-B14F-4D97-AF65-F5344CB8AC3E}">
        <p14:creationId xmlns:p14="http://schemas.microsoft.com/office/powerpoint/2010/main" val="4275681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BBB199-CEE7-4207-9B94-FABE54697AB5}"/>
              </a:ext>
            </a:extLst>
          </p:cNvPr>
          <p:cNvSpPr>
            <a:spLocks noGrp="1"/>
          </p:cNvSpPr>
          <p:nvPr>
            <p:ph type="ctrTitle"/>
          </p:nvPr>
        </p:nvSpPr>
        <p:spPr/>
        <p:txBody>
          <a:bodyPr/>
          <a:lstStyle/>
          <a:p>
            <a:r>
              <a:rPr lang="da-DK" dirty="0"/>
              <a:t>TCP/IP </a:t>
            </a:r>
            <a:r>
              <a:rPr lang="da-DK" dirty="0" err="1"/>
              <a:t>vs</a:t>
            </a:r>
            <a:r>
              <a:rPr lang="da-DK" dirty="0"/>
              <a:t> OSI Model</a:t>
            </a:r>
          </a:p>
        </p:txBody>
      </p:sp>
      <p:sp>
        <p:nvSpPr>
          <p:cNvPr id="4" name="Pladsholder til dato 3">
            <a:extLst>
              <a:ext uri="{FF2B5EF4-FFF2-40B4-BE49-F238E27FC236}">
                <a16:creationId xmlns:a16="http://schemas.microsoft.com/office/drawing/2014/main" id="{DF6BBC47-AF93-4B51-BB19-37E8FA70A1FC}"/>
              </a:ext>
            </a:extLst>
          </p:cNvPr>
          <p:cNvSpPr>
            <a:spLocks noGrp="1"/>
          </p:cNvSpPr>
          <p:nvPr>
            <p:ph type="dt" sz="half" idx="2"/>
          </p:nvPr>
        </p:nvSpPr>
        <p:spPr/>
        <p:txBody>
          <a:bodyPr/>
          <a:lstStyle/>
          <a:p>
            <a:fld id="{1D326F97-033E-40DE-A683-79560FFFFEF4}" type="datetime1">
              <a:rPr lang="en-GB" smtClean="0"/>
              <a:t>01/11/2024</a:t>
            </a:fld>
            <a:endParaRPr lang="en-GB" dirty="0"/>
          </a:p>
        </p:txBody>
      </p:sp>
      <p:sp>
        <p:nvSpPr>
          <p:cNvPr id="5" name="Pladsholder til sidefod 4">
            <a:extLst>
              <a:ext uri="{FF2B5EF4-FFF2-40B4-BE49-F238E27FC236}">
                <a16:creationId xmlns:a16="http://schemas.microsoft.com/office/drawing/2014/main" id="{0A4065D9-777F-4BC2-8DA9-0E100CD3446A}"/>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1971CA48-5488-429E-869D-06623C5E5997}"/>
              </a:ext>
            </a:extLst>
          </p:cNvPr>
          <p:cNvSpPr>
            <a:spLocks noGrp="1"/>
          </p:cNvSpPr>
          <p:nvPr>
            <p:ph type="sldNum" sz="quarter" idx="15"/>
          </p:nvPr>
        </p:nvSpPr>
        <p:spPr/>
        <p:txBody>
          <a:bodyPr/>
          <a:lstStyle/>
          <a:p>
            <a:fld id="{45D37B1E-C366-494F-A587-962AD9AABC83}" type="slidenum">
              <a:rPr lang="en-GB" smtClean="0"/>
              <a:pPr/>
              <a:t>33</a:t>
            </a:fld>
            <a:endParaRPr lang="en-GB" dirty="0"/>
          </a:p>
        </p:txBody>
      </p:sp>
      <p:sp>
        <p:nvSpPr>
          <p:cNvPr id="7" name="Content Placeholder 6">
            <a:extLst>
              <a:ext uri="{FF2B5EF4-FFF2-40B4-BE49-F238E27FC236}">
                <a16:creationId xmlns:a16="http://schemas.microsoft.com/office/drawing/2014/main" id="{7DFC3159-0199-FBB1-7768-9D8AB0A08C09}"/>
              </a:ext>
            </a:extLst>
          </p:cNvPr>
          <p:cNvSpPr>
            <a:spLocks noGrp="1"/>
          </p:cNvSpPr>
          <p:nvPr>
            <p:ph sz="quarter" idx="13"/>
          </p:nvPr>
        </p:nvSpPr>
        <p:spPr>
          <a:xfrm>
            <a:off x="414696" y="1989138"/>
            <a:ext cx="5047850" cy="3852862"/>
          </a:xfrm>
        </p:spPr>
        <p:txBody>
          <a:bodyPr/>
          <a:lstStyle/>
          <a:p>
            <a:r>
              <a:rPr lang="en-DK" dirty="0"/>
              <a:t>TCP/IP is more commonly used today than the OSI model</a:t>
            </a:r>
          </a:p>
        </p:txBody>
      </p:sp>
      <p:pic>
        <p:nvPicPr>
          <p:cNvPr id="2050" name="Picture 2" descr="DIFFERENCE BETWEEN TCP/IP AND OSI MODEL | STL Blog">
            <a:extLst>
              <a:ext uri="{FF2B5EF4-FFF2-40B4-BE49-F238E27FC236}">
                <a16:creationId xmlns:a16="http://schemas.microsoft.com/office/drawing/2014/main" id="{579A652F-D97F-2788-667F-CA055446B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0518" y="1700213"/>
            <a:ext cx="5947414" cy="449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54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821676"/>
          </a:xfrm>
        </p:spPr>
        <p:txBody>
          <a:bodyPr/>
          <a:lstStyle/>
          <a:p>
            <a:r>
              <a:rPr lang="en-GB" dirty="0"/>
              <a:t>The Network Layer &amp; IP:</a:t>
            </a:r>
            <a:br>
              <a:rPr lang="en-GB" dirty="0"/>
            </a:br>
            <a:r>
              <a:rPr lang="en-GB" dirty="0"/>
              <a:t>Data Routing Cross-Network</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60555"/>
            <a:ext cx="8896282" cy="764371"/>
          </a:xfrm>
        </p:spPr>
        <p:txBody>
          <a:bodyPr/>
          <a:lstStyle/>
          <a:p>
            <a:pPr marL="0" indent="0">
              <a:buNone/>
            </a:pPr>
            <a:r>
              <a:rPr lang="en-GB" dirty="0">
                <a:effectLst/>
                <a:latin typeface="Helvetica Neue" panose="02000503000000020004" pitchFamily="2" charset="0"/>
              </a:rPr>
              <a:t>The network layer is responsible for routing data packets between networks. IP (Internet Protocol) is the primary protocol used at this layer.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34</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004424"/>
            <a:ext cx="9748397"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IP addresses: Unique identifiers assigned to devices on a network.</a:t>
            </a:r>
          </a:p>
          <a:p>
            <a:r>
              <a:rPr lang="en-GB" dirty="0">
                <a:effectLst/>
                <a:latin typeface="Helvetica Neue" panose="02000503000000020004" pitchFamily="2" charset="0"/>
              </a:rPr>
              <a:t>Routing: The process of sending data packets to their intended destinations.</a:t>
            </a:r>
          </a:p>
          <a:p>
            <a:r>
              <a:rPr lang="en-GB" dirty="0">
                <a:effectLst/>
                <a:latin typeface="Helvetica Neue" panose="02000503000000020004" pitchFamily="2" charset="0"/>
              </a:rPr>
              <a:t>ICMP (Internet Control Message Protocol): Used for error reporting and network diagnostics.</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4023985"/>
            <a:ext cx="8896282" cy="977386"/>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send an email to someone on a different network, your email client sends the message to your local router. The router uses the destination IP address to route the message through the internet to the recipient's network, where it's delivered to their email server.</a:t>
            </a:r>
          </a:p>
        </p:txBody>
      </p:sp>
      <p:sp>
        <p:nvSpPr>
          <p:cNvPr id="9" name="Content Placeholder 2">
            <a:extLst>
              <a:ext uri="{FF2B5EF4-FFF2-40B4-BE49-F238E27FC236}">
                <a16:creationId xmlns:a16="http://schemas.microsoft.com/office/drawing/2014/main" id="{566B6C05-91C2-FBAD-FDAF-03550FAB9304}"/>
              </a:ext>
            </a:extLst>
          </p:cNvPr>
          <p:cNvSpPr txBox="1">
            <a:spLocks/>
          </p:cNvSpPr>
          <p:nvPr/>
        </p:nvSpPr>
        <p:spPr>
          <a:xfrm>
            <a:off x="414695" y="5001371"/>
            <a:ext cx="8896282" cy="74395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There are several alternative routing protocols, such as OSPF and BGP, used by large enterprise networks.</a:t>
            </a:r>
          </a:p>
        </p:txBody>
      </p:sp>
    </p:spTree>
    <p:extLst>
      <p:ext uri="{BB962C8B-B14F-4D97-AF65-F5344CB8AC3E}">
        <p14:creationId xmlns:p14="http://schemas.microsoft.com/office/powerpoint/2010/main" val="3602892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The Transport Layer and TCP:</a:t>
            </a:r>
            <a:br>
              <a:rPr lang="en-GB" dirty="0"/>
            </a:br>
            <a:r>
              <a:rPr lang="en-GB" dirty="0"/>
              <a:t>Ensuring Reliable Data Transmission</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60555"/>
            <a:ext cx="8896282" cy="764371"/>
          </a:xfrm>
        </p:spPr>
        <p:txBody>
          <a:bodyPr/>
          <a:lstStyle/>
          <a:p>
            <a:pPr marL="0" indent="0">
              <a:buNone/>
            </a:pPr>
            <a:r>
              <a:rPr lang="en-GB" dirty="0">
                <a:effectLst/>
                <a:latin typeface="Helvetica Neue" panose="02000503000000020004" pitchFamily="2" charset="0"/>
              </a:rPr>
              <a:t>The transport layer is responsible for managing the reliable transmission of data between applications. TCP (Transmission Control Protocol) is the primary protocol used at this layer.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004424"/>
            <a:ext cx="9748397"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Three-way handshake: The process of establishing a reliable connection between two devices.</a:t>
            </a:r>
          </a:p>
          <a:p>
            <a:r>
              <a:rPr lang="en-GB" dirty="0">
                <a:effectLst/>
                <a:latin typeface="Helvetica Neue" panose="02000503000000020004" pitchFamily="2" charset="0"/>
              </a:rPr>
              <a:t>Flow control: Regulating the amount of data sent by a sender to avoid overwhelming a receiver.</a:t>
            </a:r>
          </a:p>
          <a:p>
            <a:r>
              <a:rPr lang="en-GB" dirty="0">
                <a:effectLst/>
                <a:latin typeface="Helvetica Neue" panose="02000503000000020004" pitchFamily="2" charset="0"/>
              </a:rPr>
              <a:t>Error detection and correction: Ensuring data is transmitted without errors.</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4023985"/>
            <a:ext cx="8896282" cy="977386"/>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download a large file from a server, your browser uses TCP to ensure the file is transmitted without errors. TCP breaks the file into smaller chunks, and each chunk is sent with a sequence number. The receiver sends an acknowledgment message back to the sender for each chunk received, and the sender resends any chunks that were not acknowledged. This process continues until all the chunks are received and assembled into the complete file.</a:t>
            </a:r>
          </a:p>
        </p:txBody>
      </p:sp>
      <p:sp>
        <p:nvSpPr>
          <p:cNvPr id="9" name="Content Placeholder 2">
            <a:extLst>
              <a:ext uri="{FF2B5EF4-FFF2-40B4-BE49-F238E27FC236}">
                <a16:creationId xmlns:a16="http://schemas.microsoft.com/office/drawing/2014/main" id="{566B6C05-91C2-FBAD-FDAF-03550FAB9304}"/>
              </a:ext>
            </a:extLst>
          </p:cNvPr>
          <p:cNvSpPr txBox="1">
            <a:spLocks/>
          </p:cNvSpPr>
          <p:nvPr/>
        </p:nvSpPr>
        <p:spPr>
          <a:xfrm>
            <a:off x="414695" y="5628454"/>
            <a:ext cx="8896282" cy="74395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UDP (User Datagram Protocol) is an alternative to TCP that provides faster transmission but does not ensure reliability.</a:t>
            </a:r>
          </a:p>
        </p:txBody>
      </p:sp>
    </p:spTree>
    <p:extLst>
      <p:ext uri="{BB962C8B-B14F-4D97-AF65-F5344CB8AC3E}">
        <p14:creationId xmlns:p14="http://schemas.microsoft.com/office/powerpoint/2010/main" val="4124632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The Application Layer and HTTP:</a:t>
            </a:r>
            <a:br>
              <a:rPr lang="en-GB" dirty="0"/>
            </a:br>
            <a:r>
              <a:rPr lang="en-GB" dirty="0"/>
              <a:t>Providing Network Services to Applications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60555"/>
            <a:ext cx="8896282" cy="764371"/>
          </a:xfrm>
        </p:spPr>
        <p:txBody>
          <a:bodyPr/>
          <a:lstStyle/>
          <a:p>
            <a:pPr marL="0" indent="0">
              <a:buNone/>
            </a:pPr>
            <a:r>
              <a:rPr lang="en-GB" dirty="0">
                <a:effectLst/>
                <a:latin typeface="Helvetica Neue" panose="02000503000000020004" pitchFamily="2" charset="0"/>
              </a:rPr>
              <a:t>The application layer provides network services to applications, such as file transfer, email, and web browsing. HTTP (Hypertext Transfer Protocol) is the primary protocol used for web browsing.</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36</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004424"/>
            <a:ext cx="9748397"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Client-server architecture: Applications communicate with servers to access network services.</a:t>
            </a:r>
          </a:p>
          <a:p>
            <a:r>
              <a:rPr lang="en-GB" dirty="0">
                <a:effectLst/>
                <a:latin typeface="Helvetica Neue" panose="02000503000000020004" pitchFamily="2" charset="0"/>
              </a:rPr>
              <a:t>Request-response model: Applications send requests to servers, which respond with data.</a:t>
            </a:r>
          </a:p>
          <a:p>
            <a:r>
              <a:rPr lang="en-GB" dirty="0">
                <a:effectLst/>
                <a:latin typeface="Helvetica Neue" panose="02000503000000020004" pitchFamily="2" charset="0"/>
              </a:rPr>
              <a:t>URL (Uniform Resource Locator): A standard way to identify resources on the web.</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4023985"/>
            <a:ext cx="8896282" cy="1223876"/>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When you visit a website, your browser uses HTTP to communicate with the web server. The browser sends an HTTP request to the server, which responds with HTML, CSS, and JavaScript files that are used to display the web page. The browser then sends additional requests for images, videos, and other resources needed to fully render the page.</a:t>
            </a:r>
          </a:p>
        </p:txBody>
      </p:sp>
      <p:sp>
        <p:nvSpPr>
          <p:cNvPr id="9" name="Content Placeholder 2">
            <a:extLst>
              <a:ext uri="{FF2B5EF4-FFF2-40B4-BE49-F238E27FC236}">
                <a16:creationId xmlns:a16="http://schemas.microsoft.com/office/drawing/2014/main" id="{566B6C05-91C2-FBAD-FDAF-03550FAB9304}"/>
              </a:ext>
            </a:extLst>
          </p:cNvPr>
          <p:cNvSpPr txBox="1">
            <a:spLocks/>
          </p:cNvSpPr>
          <p:nvPr/>
        </p:nvSpPr>
        <p:spPr>
          <a:xfrm>
            <a:off x="414695" y="5247860"/>
            <a:ext cx="8896282" cy="99905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There are several alternative application layer protocols, such as FTP (File Transfer Protocol) and SMTP (Simple Mail Transfer Protocol), used for file transfer and email communication, respectively.</a:t>
            </a:r>
          </a:p>
        </p:txBody>
      </p:sp>
    </p:spTree>
    <p:extLst>
      <p:ext uri="{BB962C8B-B14F-4D97-AF65-F5344CB8AC3E}">
        <p14:creationId xmlns:p14="http://schemas.microsoft.com/office/powerpoint/2010/main" val="4005533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Integration Protocols</a:t>
            </a:r>
          </a:p>
        </p:txBody>
      </p:sp>
    </p:spTree>
    <p:extLst>
      <p:ext uri="{BB962C8B-B14F-4D97-AF65-F5344CB8AC3E}">
        <p14:creationId xmlns:p14="http://schemas.microsoft.com/office/powerpoint/2010/main" val="3840851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JSON: A Lightweight Data-Interchange Format</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1730272"/>
            <a:ext cx="8896282" cy="764371"/>
          </a:xfrm>
        </p:spPr>
        <p:txBody>
          <a:bodyPr/>
          <a:lstStyle/>
          <a:p>
            <a:pPr marL="0" indent="0">
              <a:buNone/>
            </a:pPr>
            <a:r>
              <a:rPr lang="en-GB" dirty="0">
                <a:effectLst/>
                <a:latin typeface="Helvetica Neue" panose="02000503000000020004" pitchFamily="2" charset="0"/>
              </a:rPr>
              <a:t>JSON (JavaScript Object Notation) is a lightweight data-interchange format that is easy for humans to read and write, and easy for machines to parse and generate. It is commonly used in web applications to transmit data between the client and server.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38</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193629"/>
            <a:ext cx="9748397"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Syntax: JSON uses key-value pairs to represent data, separated by commas and enclosed in curly braces {}.</a:t>
            </a:r>
          </a:p>
          <a:p>
            <a:r>
              <a:rPr lang="en-GB" dirty="0">
                <a:effectLst/>
                <a:latin typeface="Helvetica Neue" panose="02000503000000020004" pitchFamily="2" charset="0"/>
              </a:rPr>
              <a:t>Data types: JSON supports several data types, including strings, numbers, arrays, and objects.</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2575801"/>
            <a:ext cx="8896282" cy="667910"/>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A web application that uses AJAX (Asynchronous JavaScript and XML) to retrieve data from a server may receive the data in JSON format.</a:t>
            </a:r>
          </a:p>
        </p:txBody>
      </p:sp>
      <p:sp>
        <p:nvSpPr>
          <p:cNvPr id="11" name="TextBox 10">
            <a:extLst>
              <a:ext uri="{FF2B5EF4-FFF2-40B4-BE49-F238E27FC236}">
                <a16:creationId xmlns:a16="http://schemas.microsoft.com/office/drawing/2014/main" id="{E00141DF-793F-84B0-2FCF-F3CE46FD5D1D}"/>
              </a:ext>
            </a:extLst>
          </p:cNvPr>
          <p:cNvSpPr txBox="1"/>
          <p:nvPr/>
        </p:nvSpPr>
        <p:spPr>
          <a:xfrm>
            <a:off x="414695" y="4258683"/>
            <a:ext cx="3743076" cy="1169551"/>
          </a:xfrm>
          <a:prstGeom prst="rect">
            <a:avLst/>
          </a:prstGeom>
          <a:solidFill>
            <a:schemeClr val="tx1">
              <a:lumMod val="85000"/>
              <a:lumOff val="15000"/>
            </a:schemeClr>
          </a:solidFill>
        </p:spPr>
        <p:txBody>
          <a:bodyPr wrap="square">
            <a:spAutoFit/>
          </a:bodyPr>
          <a:lstStyle/>
          <a:p>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"name"</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"John"</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"age"</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30</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"city"</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"New York"</a:t>
            </a:r>
            <a:endParaRPr lang="en-GB" sz="1400" b="0" dirty="0">
              <a:solidFill>
                <a:srgbClr val="D4D4D4"/>
              </a:solidFill>
              <a:effectLst/>
              <a:latin typeface="Menlo" panose="020B0609030804020204" pitchFamily="49" charset="0"/>
            </a:endParaRP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2757278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XML: Extensible Markup Language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1730272"/>
            <a:ext cx="6456965" cy="1179484"/>
          </a:xfrm>
        </p:spPr>
        <p:txBody>
          <a:bodyPr/>
          <a:lstStyle/>
          <a:p>
            <a:pPr marL="0" indent="0">
              <a:buNone/>
            </a:pPr>
            <a:r>
              <a:rPr lang="en-GB" dirty="0">
                <a:effectLst/>
                <a:latin typeface="Helvetica Neue" panose="02000503000000020004" pitchFamily="2" charset="0"/>
              </a:rPr>
              <a:t>XML (Extensible Markup Language) is a markup language that is used to encode documents in a format that is both human-readable and machine-readable. It is commonly used in web applications for data exchange and document formatting.</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39</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6" y="3984398"/>
            <a:ext cx="7075434" cy="105074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Syntax: XML uses tags to define elements and attributes to provide additional information about elements.</a:t>
            </a:r>
          </a:p>
          <a:p>
            <a:r>
              <a:rPr lang="en-GB" dirty="0">
                <a:effectLst/>
                <a:latin typeface="Helvetica Neue" panose="02000503000000020004" pitchFamily="2" charset="0"/>
              </a:rPr>
              <a:t>Data types: XML supports several data types, including strings, numbers, and Boolean values.</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2973366"/>
            <a:ext cx="6456965" cy="938675"/>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A web application that uses SOAP (Simple Object Access Protocol) to communicate with a web service may use XML to encode the request and response messages.</a:t>
            </a:r>
          </a:p>
        </p:txBody>
      </p:sp>
      <p:sp>
        <p:nvSpPr>
          <p:cNvPr id="11" name="TextBox 10">
            <a:extLst>
              <a:ext uri="{FF2B5EF4-FFF2-40B4-BE49-F238E27FC236}">
                <a16:creationId xmlns:a16="http://schemas.microsoft.com/office/drawing/2014/main" id="{E00141DF-793F-84B0-2FCF-F3CE46FD5D1D}"/>
              </a:ext>
            </a:extLst>
          </p:cNvPr>
          <p:cNvSpPr txBox="1"/>
          <p:nvPr/>
        </p:nvSpPr>
        <p:spPr>
          <a:xfrm>
            <a:off x="7603435" y="1711153"/>
            <a:ext cx="3743076" cy="3323987"/>
          </a:xfrm>
          <a:prstGeom prst="rect">
            <a:avLst/>
          </a:prstGeom>
          <a:solidFill>
            <a:schemeClr val="tx1">
              <a:lumMod val="85000"/>
              <a:lumOff val="15000"/>
            </a:schemeClr>
          </a:solidFill>
        </p:spPr>
        <p:txBody>
          <a:bodyPr wrap="square">
            <a:spAutoFit/>
          </a:bodyPr>
          <a:lstStyle/>
          <a:p>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bookstore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book</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category</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"Children"</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title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Harry Potter</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title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author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J.K. Rowling</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author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year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2005</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year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price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29.99</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price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book</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book</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category</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"Web"</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title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Learning XML</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title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author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Erik T. Ray</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author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year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2003</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year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price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39.95</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price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a:solidFill>
                  <a:srgbClr val="569CD6"/>
                </a:solidFill>
                <a:effectLst/>
                <a:latin typeface="Menlo" panose="020B0609030804020204" pitchFamily="49" charset="0"/>
              </a:rPr>
              <a:t>book</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bookstore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endParaRPr lang="en-GB" sz="14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596379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Advanced XML Concepts:</a:t>
            </a:r>
            <a:br>
              <a:rPr lang="en-GB" dirty="0"/>
            </a:br>
            <a:r>
              <a:rPr lang="en-GB" dirty="0"/>
              <a:t>Attributes and Namespaces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13769"/>
          </a:xfrm>
        </p:spPr>
        <p:txBody>
          <a:bodyPr/>
          <a:lstStyle/>
          <a:p>
            <a:pPr marL="0" indent="0">
              <a:buNone/>
            </a:pPr>
            <a:r>
              <a:rPr lang="en-GB" dirty="0">
                <a:effectLst/>
                <a:latin typeface="Helvetica Neue" panose="02000503000000020004" pitchFamily="2" charset="0"/>
              </a:rPr>
              <a:t>XML supports advanced concepts, such as attributes and namespaces, to provide additional information about elements and improve the organization and clarity of XML documents.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40</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496195"/>
            <a:ext cx="5342048" cy="296993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Attributes: Attributes provide additional information about elements in XML documents. They are defined using the syntax attribute="value" and can be used to describe the format of the data in an element or provide metadata about the element.</a:t>
            </a:r>
          </a:p>
          <a:p>
            <a:r>
              <a:rPr lang="en-GB" dirty="0">
                <a:effectLst/>
                <a:latin typeface="Helvetica Neue" panose="02000503000000020004" pitchFamily="2" charset="0"/>
              </a:rPr>
              <a:t>Namespaces: Namespaces allow multiple XML vocabularies to coexist in the same XML document without conflicting element names. They are defined using a URI (Uniform Resource Identifier) and a prefix, such as </a:t>
            </a:r>
            <a:r>
              <a:rPr lang="en-GB" dirty="0" err="1">
                <a:effectLst/>
                <a:latin typeface="Helvetica Neue" panose="02000503000000020004" pitchFamily="2" charset="0"/>
              </a:rPr>
              <a:t>xmlns:prefix</a:t>
            </a:r>
            <a:r>
              <a:rPr lang="en-GB" dirty="0">
                <a:effectLst/>
                <a:latin typeface="Helvetica Neue" panose="02000503000000020004" pitchFamily="2" charset="0"/>
              </a:rPr>
              <a:t>="URI".</a:t>
            </a:r>
          </a:p>
        </p:txBody>
      </p:sp>
      <p:sp>
        <p:nvSpPr>
          <p:cNvPr id="8" name="Content Placeholder 2">
            <a:extLst>
              <a:ext uri="{FF2B5EF4-FFF2-40B4-BE49-F238E27FC236}">
                <a16:creationId xmlns:a16="http://schemas.microsoft.com/office/drawing/2014/main" id="{0C7D66B5-2D1A-7E00-C5DD-23CF595C01F4}"/>
              </a:ext>
            </a:extLst>
          </p:cNvPr>
          <p:cNvSpPr txBox="1">
            <a:spLocks/>
          </p:cNvSpPr>
          <p:nvPr/>
        </p:nvSpPr>
        <p:spPr>
          <a:xfrm>
            <a:off x="414695" y="2792426"/>
            <a:ext cx="8514620" cy="938675"/>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dirty="0">
                <a:latin typeface="Helvetica Neue" panose="02000503000000020004" pitchFamily="2" charset="0"/>
              </a:rPr>
              <a:t>A web application that uses XML to describe data may use attributes and namespaces to provide additional information and improve the organization and clarity of the XML document.</a:t>
            </a:r>
          </a:p>
        </p:txBody>
      </p:sp>
      <p:sp>
        <p:nvSpPr>
          <p:cNvPr id="11" name="TextBox 10">
            <a:extLst>
              <a:ext uri="{FF2B5EF4-FFF2-40B4-BE49-F238E27FC236}">
                <a16:creationId xmlns:a16="http://schemas.microsoft.com/office/drawing/2014/main" id="{E00141DF-793F-84B0-2FCF-F3CE46FD5D1D}"/>
              </a:ext>
            </a:extLst>
          </p:cNvPr>
          <p:cNvSpPr txBox="1"/>
          <p:nvPr/>
        </p:nvSpPr>
        <p:spPr>
          <a:xfrm>
            <a:off x="5915770" y="3506134"/>
            <a:ext cx="6276230" cy="2677656"/>
          </a:xfrm>
          <a:prstGeom prst="rect">
            <a:avLst/>
          </a:prstGeom>
          <a:solidFill>
            <a:schemeClr val="tx1">
              <a:lumMod val="85000"/>
              <a:lumOff val="15000"/>
            </a:schemeClr>
          </a:solidFill>
        </p:spPr>
        <p:txBody>
          <a:bodyPr wrap="square" anchor="ctr">
            <a:spAutoFit/>
          </a:bodyPr>
          <a:lstStyle/>
          <a:p>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catalog</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xmlns:book</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a:t>
            </a:r>
            <a:r>
              <a:rPr lang="en-GB" sz="1400" b="0" dirty="0" err="1">
                <a:solidFill>
                  <a:srgbClr val="CE9178"/>
                </a:solidFill>
                <a:effectLst/>
                <a:latin typeface="Menlo" panose="020B0609030804020204" pitchFamily="49" charset="0"/>
              </a:rPr>
              <a:t>example.com</a:t>
            </a:r>
            <a:r>
              <a:rPr lang="en-GB" sz="1400" b="0" dirty="0">
                <a:solidFill>
                  <a:srgbClr val="CE9178"/>
                </a:solidFill>
                <a:effectLst/>
                <a:latin typeface="Menlo" panose="020B0609030804020204" pitchFamily="49" charset="0"/>
              </a:rPr>
              <a:t>/book"</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book:book</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id</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"bk001"</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language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en</a:t>
            </a:r>
            <a:r>
              <a:rPr lang="en-GB" sz="1400" b="0" dirty="0">
                <a:solidFill>
                  <a:srgbClr val="CE9178"/>
                </a:solidFill>
                <a:effectLst/>
                <a:latin typeface="Menlo" panose="020B0609030804020204" pitchFamily="49" charset="0"/>
              </a:rPr>
              <a:t>"</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book:title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The Adventures of Tom Sawyer</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book:title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dirty="0">
                <a:solidFill>
                  <a:srgbClr val="808080"/>
                </a:solidFill>
                <a:latin typeface="Menlo" panose="020B0609030804020204" pitchFamily="49" charset="0"/>
              </a:rPr>
              <a:t>    </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book:author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Mark Twain</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book:author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book:year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1876</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book:year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book:book</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book:book</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id</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"bk002"</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language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fr</a:t>
            </a:r>
            <a:r>
              <a:rPr lang="en-GB" sz="1400" b="0" dirty="0">
                <a:solidFill>
                  <a:srgbClr val="CE9178"/>
                </a:solidFill>
                <a:effectLst/>
                <a:latin typeface="Menlo" panose="020B0609030804020204" pitchFamily="49" charset="0"/>
              </a:rPr>
              <a:t>"</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book:title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Les Misérables</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book:title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book:author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Victor Hugo</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book:author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book:year</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1862</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book:year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book:book</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catalog</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3925127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SOAP with XML: Exchanging Structured Information Between Applications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13769"/>
          </a:xfrm>
        </p:spPr>
        <p:txBody>
          <a:bodyPr/>
          <a:lstStyle/>
          <a:p>
            <a:pPr marL="0" indent="0">
              <a:buNone/>
            </a:pPr>
            <a:r>
              <a:rPr lang="en-GB" dirty="0">
                <a:effectLst/>
                <a:latin typeface="Helvetica Neue" panose="02000503000000020004" pitchFamily="2" charset="0"/>
              </a:rPr>
              <a:t>SOAP (Simple Object Access Protocol) is a protocol for exchanging structured information between applications over HTTP or other transport protocols. It uses XML for message formatting and is commonly used in enterprise applications for complex data exchange.</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41</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130435"/>
            <a:ext cx="5342048" cy="296993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XML: SOAP uses XML for message formatting, allowing complex data structures and metadata to be exchanged between applications.</a:t>
            </a:r>
          </a:p>
          <a:p>
            <a:r>
              <a:rPr lang="en-GB" dirty="0">
                <a:effectLst/>
                <a:latin typeface="Helvetica Neue" panose="02000503000000020004" pitchFamily="2" charset="0"/>
              </a:rPr>
              <a:t>WSDL (Web Services Description Language): WSDL is an XML-based language for describing web services and the operations they offer.</a:t>
            </a:r>
          </a:p>
        </p:txBody>
      </p:sp>
      <p:sp>
        <p:nvSpPr>
          <p:cNvPr id="11" name="TextBox 10">
            <a:extLst>
              <a:ext uri="{FF2B5EF4-FFF2-40B4-BE49-F238E27FC236}">
                <a16:creationId xmlns:a16="http://schemas.microsoft.com/office/drawing/2014/main" id="{E00141DF-793F-84B0-2FCF-F3CE46FD5D1D}"/>
              </a:ext>
            </a:extLst>
          </p:cNvPr>
          <p:cNvSpPr txBox="1"/>
          <p:nvPr/>
        </p:nvSpPr>
        <p:spPr>
          <a:xfrm>
            <a:off x="0" y="4950885"/>
            <a:ext cx="12192000" cy="1815882"/>
          </a:xfrm>
          <a:prstGeom prst="rect">
            <a:avLst/>
          </a:prstGeom>
          <a:solidFill>
            <a:schemeClr val="tx1">
              <a:lumMod val="85000"/>
              <a:lumOff val="15000"/>
            </a:schemeClr>
          </a:solidFill>
        </p:spPr>
        <p:txBody>
          <a:bodyPr wrap="square" anchor="ctr">
            <a:spAutoFit/>
          </a:bodyPr>
          <a:lstStyle/>
          <a:p>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soap:Envelope</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xmlns:soap</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"http://www.w3.org/2003/05/soap-envelope"</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xmlns:wsdl</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a:t>
            </a:r>
            <a:r>
              <a:rPr lang="en-GB" sz="1400" b="0" dirty="0" err="1">
                <a:solidFill>
                  <a:srgbClr val="CE9178"/>
                </a:solidFill>
                <a:effectLst/>
                <a:latin typeface="Menlo" panose="020B0609030804020204" pitchFamily="49" charset="0"/>
              </a:rPr>
              <a:t>www.example.com</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wsdl</a:t>
            </a:r>
            <a:r>
              <a:rPr lang="en-GB" sz="1400" b="0" dirty="0">
                <a:solidFill>
                  <a:srgbClr val="CE9178"/>
                </a:solidFill>
                <a:effectLst/>
                <a:latin typeface="Menlo" panose="020B0609030804020204" pitchFamily="49" charset="0"/>
              </a:rPr>
              <a:t>"</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soap:Header</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soap:Body</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wsdl:GetStockPrice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wsdl:StockName</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IBM</a:t>
            </a:r>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wsdl:StockName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wsdl:GetStockPrice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  &lt;/</a:t>
            </a:r>
            <a:r>
              <a:rPr lang="en-GB" sz="1400" b="0" dirty="0" err="1">
                <a:solidFill>
                  <a:srgbClr val="569CD6"/>
                </a:solidFill>
                <a:effectLst/>
                <a:latin typeface="Menlo" panose="020B0609030804020204" pitchFamily="49" charset="0"/>
              </a:rPr>
              <a:t>soap:Body</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a:p>
            <a:r>
              <a:rPr lang="en-GB" sz="1400" b="0" dirty="0">
                <a:solidFill>
                  <a:srgbClr val="808080"/>
                </a:solidFill>
                <a:effectLst/>
                <a:latin typeface="Menlo" panose="020B0609030804020204" pitchFamily="49" charset="0"/>
              </a:rPr>
              <a:t>&lt;/</a:t>
            </a:r>
            <a:r>
              <a:rPr lang="en-GB" sz="1400" b="0" dirty="0" err="1">
                <a:solidFill>
                  <a:srgbClr val="569CD6"/>
                </a:solidFill>
                <a:effectLst/>
                <a:latin typeface="Menlo" panose="020B0609030804020204" pitchFamily="49" charset="0"/>
              </a:rPr>
              <a:t>soap:Envelope</a:t>
            </a:r>
            <a:r>
              <a:rPr lang="en-GB" sz="1400" b="0" dirty="0">
                <a:solidFill>
                  <a:srgbClr val="808080"/>
                </a:solidFill>
                <a:effectLst/>
                <a:latin typeface="Menlo" panose="020B0609030804020204" pitchFamily="49" charset="0"/>
              </a:rPr>
              <a:t>&gt;</a:t>
            </a:r>
            <a:endParaRPr lang="en-GB" sz="14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379945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Consuming a SOAP API in Node.js:</a:t>
            </a:r>
            <a:br>
              <a:rPr lang="en-GB" dirty="0"/>
            </a:br>
            <a:r>
              <a:rPr lang="en-GB" dirty="0"/>
              <a:t>Using the soap Package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13769"/>
          </a:xfrm>
        </p:spPr>
        <p:txBody>
          <a:bodyPr/>
          <a:lstStyle/>
          <a:p>
            <a:pPr marL="0" indent="0">
              <a:buNone/>
            </a:pPr>
            <a:r>
              <a:rPr lang="en-GB" dirty="0">
                <a:effectLst/>
                <a:latin typeface="Helvetica Neue" panose="02000503000000020004" pitchFamily="2" charset="0"/>
              </a:rPr>
              <a:t>Node.js provides a powerful platform for building web applications that consume SOAP APIs. The soap package is a popular package for making SOAP requests to SOAP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42</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849586"/>
            <a:ext cx="11138550" cy="2244647"/>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soap Package: The soap package is a popular package for making SOAP requests to SOAP APIs. It provides an easy-to-use API for making SOAP requests to a SOAP API.</a:t>
            </a:r>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 web application that consumes a SOAP API to retrieve or update data may use the soap package in Node.js to make SOAP requests to the SOAP API.</a:t>
            </a:r>
          </a:p>
          <a:p>
            <a:pPr marL="0" indent="0">
              <a:buNone/>
            </a:pPr>
            <a:r>
              <a:rPr lang="en-GB" dirty="0">
                <a:effectLst/>
                <a:latin typeface="Helvetica Neue" panose="02000503000000020004" pitchFamily="2" charset="0"/>
              </a:rPr>
              <a:t>Alternatives: Other popular packages for making SOAP requests in Node.js include strong-soap, node-soap, and easy-soap-request.</a:t>
            </a:r>
          </a:p>
        </p:txBody>
      </p:sp>
      <p:sp>
        <p:nvSpPr>
          <p:cNvPr id="11" name="TextBox 10">
            <a:extLst>
              <a:ext uri="{FF2B5EF4-FFF2-40B4-BE49-F238E27FC236}">
                <a16:creationId xmlns:a16="http://schemas.microsoft.com/office/drawing/2014/main" id="{E00141DF-793F-84B0-2FCF-F3CE46FD5D1D}"/>
              </a:ext>
            </a:extLst>
          </p:cNvPr>
          <p:cNvSpPr txBox="1"/>
          <p:nvPr/>
        </p:nvSpPr>
        <p:spPr>
          <a:xfrm>
            <a:off x="0" y="4611797"/>
            <a:ext cx="6915600" cy="2246769"/>
          </a:xfrm>
          <a:prstGeom prst="rect">
            <a:avLst/>
          </a:prstGeom>
          <a:solidFill>
            <a:schemeClr val="tx1">
              <a:lumMod val="85000"/>
              <a:lumOff val="15000"/>
            </a:schemeClr>
          </a:solidFill>
        </p:spPr>
        <p:txBody>
          <a:bodyPr wrap="square" anchor="ctr">
            <a:spAutoFit/>
          </a:bodyPr>
          <a:lstStyle/>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soap = </a:t>
            </a:r>
            <a:r>
              <a:rPr lang="en-GB" sz="1400" b="0" dirty="0">
                <a:solidFill>
                  <a:srgbClr val="DCDCAA"/>
                </a:solidFill>
                <a:effectLst/>
                <a:latin typeface="Menlo" panose="020B0609030804020204" pitchFamily="49" charset="0"/>
              </a:rPr>
              <a:t>require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'soap'</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url</a:t>
            </a:r>
            <a:r>
              <a:rPr lang="en-GB" sz="1400" b="0" dirty="0">
                <a:solidFill>
                  <a:srgbClr val="D4D4D4"/>
                </a:solidFill>
                <a:effectLst/>
                <a:latin typeface="Menlo" panose="020B0609030804020204" pitchFamily="49" charset="0"/>
              </a:rPr>
              <a:t> = </a:t>
            </a:r>
            <a:r>
              <a:rPr lang="en-GB" sz="1400" b="0" dirty="0">
                <a:solidFill>
                  <a:srgbClr val="CE9178"/>
                </a:solidFill>
                <a:effectLst/>
                <a:latin typeface="Menlo" panose="020B0609030804020204" pitchFamily="49" charset="0"/>
              </a:rPr>
              <a:t>'http://</a:t>
            </a:r>
            <a:r>
              <a:rPr lang="en-GB" sz="1400" b="0" dirty="0" err="1">
                <a:solidFill>
                  <a:srgbClr val="CE9178"/>
                </a:solidFill>
                <a:effectLst/>
                <a:latin typeface="Menlo" panose="020B0609030804020204" pitchFamily="49" charset="0"/>
              </a:rPr>
              <a:t>www.dneonline.com</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calculator.asmx?wsdl</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a:t>
            </a:r>
          </a:p>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args</a:t>
            </a:r>
            <a:r>
              <a:rPr lang="en-GB" sz="1400" b="0" dirty="0">
                <a:solidFill>
                  <a:srgbClr val="D4D4D4"/>
                </a:solidFill>
                <a:effectLst/>
                <a:latin typeface="Menlo" panose="020B0609030804020204" pitchFamily="49" charset="0"/>
              </a:rPr>
              <a:t> = { </a:t>
            </a:r>
            <a:r>
              <a:rPr lang="en-GB" sz="1400" b="0" dirty="0" err="1">
                <a:solidFill>
                  <a:srgbClr val="D4D4D4"/>
                </a:solidFill>
                <a:effectLst/>
                <a:latin typeface="Menlo" panose="020B0609030804020204" pitchFamily="49" charset="0"/>
              </a:rPr>
              <a:t>intA</a:t>
            </a:r>
            <a:r>
              <a:rPr lang="en-GB" sz="1400" b="0" dirty="0">
                <a:solidFill>
                  <a:srgbClr val="C586C0"/>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2</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intB</a:t>
            </a:r>
            <a:r>
              <a:rPr lang="en-GB" sz="1400" b="0" dirty="0">
                <a:solidFill>
                  <a:srgbClr val="C586C0"/>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3</a:t>
            </a:r>
            <a:r>
              <a:rPr lang="en-GB" sz="1400" b="0" dirty="0">
                <a:solidFill>
                  <a:srgbClr val="D4D4D4"/>
                </a:solidFill>
                <a:effectLst/>
                <a:latin typeface="Menlo" panose="020B0609030804020204" pitchFamily="49" charset="0"/>
              </a:rPr>
              <a:t> };</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soap</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createClient</a:t>
            </a:r>
            <a:r>
              <a:rPr lang="en-GB" sz="1400" b="0" dirty="0">
                <a:solidFill>
                  <a:srgbClr val="D4D4D4"/>
                </a:solidFill>
                <a:effectLst/>
                <a:latin typeface="Menlo" panose="020B0609030804020204" pitchFamily="49" charset="0"/>
              </a:rPr>
              <a:t>(</a:t>
            </a:r>
            <a:r>
              <a:rPr lang="en-GB" sz="1400" b="0" dirty="0" err="1">
                <a:solidFill>
                  <a:srgbClr val="D4D4D4"/>
                </a:solidFill>
                <a:effectLst/>
                <a:latin typeface="Menlo" panose="020B0609030804020204" pitchFamily="49" charset="0"/>
              </a:rPr>
              <a:t>url</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function</a:t>
            </a:r>
            <a:r>
              <a:rPr lang="en-GB" sz="1400" b="0" dirty="0">
                <a:solidFill>
                  <a:srgbClr val="D4D4D4"/>
                </a:solidFill>
                <a:effectLst/>
                <a:latin typeface="Menlo" panose="020B0609030804020204" pitchFamily="49" charset="0"/>
              </a:rPr>
              <a:t>(err, client)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client</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Add</a:t>
            </a:r>
            <a:r>
              <a:rPr lang="en-GB" sz="1400" b="0" dirty="0">
                <a:solidFill>
                  <a:srgbClr val="D4D4D4"/>
                </a:solidFill>
                <a:effectLst/>
                <a:latin typeface="Menlo" panose="020B0609030804020204" pitchFamily="49" charset="0"/>
              </a:rPr>
              <a:t>(</a:t>
            </a:r>
            <a:r>
              <a:rPr lang="en-GB" sz="1400" b="0" dirty="0" err="1">
                <a:solidFill>
                  <a:srgbClr val="D4D4D4"/>
                </a:solidFill>
                <a:effectLst/>
                <a:latin typeface="Menlo" panose="020B0609030804020204" pitchFamily="49" charset="0"/>
              </a:rPr>
              <a:t>args</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function</a:t>
            </a:r>
            <a:r>
              <a:rPr lang="en-GB" sz="1400" b="0" dirty="0">
                <a:solidFill>
                  <a:srgbClr val="D4D4D4"/>
                </a:solidFill>
                <a:effectLst/>
                <a:latin typeface="Menlo" panose="020B0609030804020204" pitchFamily="49" charset="0"/>
              </a:rPr>
              <a:t>(err, result)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(result);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4306924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Consuming a SOAP API in Java:</a:t>
            </a:r>
            <a:br>
              <a:rPr lang="en-GB" dirty="0"/>
            </a:br>
            <a:r>
              <a:rPr lang="en-GB" dirty="0"/>
              <a:t>Using the </a:t>
            </a:r>
            <a:r>
              <a:rPr lang="en-GB" dirty="0" err="1"/>
              <a:t>javax.xml.soap</a:t>
            </a:r>
            <a:r>
              <a:rPr lang="en-GB" dirty="0"/>
              <a:t> Package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13769"/>
          </a:xfrm>
        </p:spPr>
        <p:txBody>
          <a:bodyPr/>
          <a:lstStyle/>
          <a:p>
            <a:pPr marL="0" indent="0">
              <a:buNone/>
            </a:pPr>
            <a:r>
              <a:rPr lang="en-GB" dirty="0">
                <a:effectLst/>
                <a:latin typeface="Helvetica Neue" panose="02000503000000020004" pitchFamily="2" charset="0"/>
              </a:rPr>
              <a:t>Java provides a robust platform for building enterprise applications that consume SOAP APIs.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is a built-in package for making SOAP requests to SOAP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43</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849586"/>
            <a:ext cx="11138550" cy="2244647"/>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javax.xml.soap</a:t>
            </a:r>
            <a:r>
              <a:rPr lang="en-GB" dirty="0">
                <a:effectLst/>
                <a:latin typeface="Helvetica Neue" panose="02000503000000020004" pitchFamily="2" charset="0"/>
              </a:rPr>
              <a:t> Package: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is a built-in package for making SOAP requests to SOAP APIs. It provides an easy-to-use API for making SOAP requests to a SOAP API.</a:t>
            </a:r>
          </a:p>
          <a:p>
            <a:pPr marL="0" indent="0">
              <a:buNone/>
            </a:pPr>
            <a:r>
              <a:rPr lang="en-GB" dirty="0">
                <a:effectLst/>
                <a:latin typeface="Helvetica Neue" panose="02000503000000020004" pitchFamily="2" charset="0"/>
              </a:rPr>
              <a:t>Example in Action: An enterprise application that consumes a SOAP API to exchange complex data structures, such as financial statements and trading data, may use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in Java to make SOAP requests to the SOAP API.</a:t>
            </a:r>
          </a:p>
          <a:p>
            <a:pPr marL="0" indent="0">
              <a:buNone/>
            </a:pPr>
            <a:r>
              <a:rPr lang="en-GB" dirty="0">
                <a:effectLst/>
                <a:latin typeface="Helvetica Neue" panose="02000503000000020004" pitchFamily="2" charset="0"/>
              </a:rPr>
              <a:t>Alternatives: Other popular libraries for making SOAP requests in Java include Apache CXF, Spring WS, and JAX-WS.</a:t>
            </a:r>
          </a:p>
        </p:txBody>
      </p:sp>
    </p:spTree>
    <p:extLst>
      <p:ext uri="{BB962C8B-B14F-4D97-AF65-F5344CB8AC3E}">
        <p14:creationId xmlns:p14="http://schemas.microsoft.com/office/powerpoint/2010/main" val="1638145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Consuming a SOAP API in Java:</a:t>
            </a:r>
            <a:br>
              <a:rPr lang="en-GB" dirty="0"/>
            </a:br>
            <a:r>
              <a:rPr lang="en-GB" dirty="0"/>
              <a:t>Using the </a:t>
            </a:r>
            <a:r>
              <a:rPr lang="en-GB" dirty="0" err="1"/>
              <a:t>javax.xml.soap</a:t>
            </a:r>
            <a:r>
              <a:rPr lang="en-GB" dirty="0"/>
              <a:t> Package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13769"/>
          </a:xfrm>
        </p:spPr>
        <p:txBody>
          <a:bodyPr/>
          <a:lstStyle/>
          <a:p>
            <a:pPr marL="0" indent="0">
              <a:buNone/>
            </a:pPr>
            <a:r>
              <a:rPr lang="en-GB" dirty="0">
                <a:effectLst/>
                <a:latin typeface="Helvetica Neue" panose="02000503000000020004" pitchFamily="2" charset="0"/>
              </a:rPr>
              <a:t>Java provides a robust platform for building enterprise applications that consume SOAP APIs.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is a built-in package for making SOAP requests to SOAP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44</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849586"/>
            <a:ext cx="11138550" cy="2244647"/>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javax.xml.soap</a:t>
            </a:r>
            <a:r>
              <a:rPr lang="en-GB" dirty="0">
                <a:effectLst/>
                <a:latin typeface="Helvetica Neue" panose="02000503000000020004" pitchFamily="2" charset="0"/>
              </a:rPr>
              <a:t> Package: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is a built-in package for making SOAP requests to SOAP APIs. It provides an easy-to-use API for making SOAP requests to a SOAP API.</a:t>
            </a:r>
          </a:p>
          <a:p>
            <a:pPr marL="0" indent="0">
              <a:buNone/>
            </a:pPr>
            <a:r>
              <a:rPr lang="en-GB" dirty="0">
                <a:effectLst/>
                <a:latin typeface="Helvetica Neue" panose="02000503000000020004" pitchFamily="2" charset="0"/>
              </a:rPr>
              <a:t>Example in Action: An enterprise application that consumes a SOAP API to exchange complex data structures, such as financial statements and trading data, may use the </a:t>
            </a:r>
            <a:r>
              <a:rPr lang="en-GB" dirty="0" err="1">
                <a:effectLst/>
                <a:latin typeface="Helvetica Neue" panose="02000503000000020004" pitchFamily="2" charset="0"/>
              </a:rPr>
              <a:t>javax.xml.soap</a:t>
            </a:r>
            <a:r>
              <a:rPr lang="en-GB" dirty="0">
                <a:effectLst/>
                <a:latin typeface="Helvetica Neue" panose="02000503000000020004" pitchFamily="2" charset="0"/>
              </a:rPr>
              <a:t> package in Java to make SOAP requests to the SOAP API.</a:t>
            </a:r>
          </a:p>
          <a:p>
            <a:pPr marL="0" indent="0">
              <a:buNone/>
            </a:pPr>
            <a:r>
              <a:rPr lang="en-GB" dirty="0">
                <a:effectLst/>
                <a:latin typeface="Helvetica Neue" panose="02000503000000020004" pitchFamily="2" charset="0"/>
              </a:rPr>
              <a:t>Alternatives: Other popular libraries for making SOAP requests in Java include Apache CXF, Spring WS, and JAX-WS.</a:t>
            </a:r>
          </a:p>
        </p:txBody>
      </p:sp>
      <p:sp>
        <p:nvSpPr>
          <p:cNvPr id="11" name="TextBox 10">
            <a:extLst>
              <a:ext uri="{FF2B5EF4-FFF2-40B4-BE49-F238E27FC236}">
                <a16:creationId xmlns:a16="http://schemas.microsoft.com/office/drawing/2014/main" id="{E00141DF-793F-84B0-2FCF-F3CE46FD5D1D}"/>
              </a:ext>
            </a:extLst>
          </p:cNvPr>
          <p:cNvSpPr txBox="1"/>
          <p:nvPr/>
        </p:nvSpPr>
        <p:spPr>
          <a:xfrm>
            <a:off x="0" y="-39757"/>
            <a:ext cx="11696369" cy="7040389"/>
          </a:xfrm>
          <a:prstGeom prst="rect">
            <a:avLst/>
          </a:prstGeom>
          <a:solidFill>
            <a:schemeClr val="tx1">
              <a:lumMod val="85000"/>
              <a:lumOff val="15000"/>
            </a:schemeClr>
          </a:solidFill>
        </p:spPr>
        <p:txBody>
          <a:bodyPr wrap="square" anchor="ctr">
            <a:spAutoFit/>
          </a:bodyPr>
          <a:lstStyle/>
          <a:p>
            <a:r>
              <a:rPr lang="en-GB" sz="1050" b="0" dirty="0">
                <a:solidFill>
                  <a:srgbClr val="569CD6"/>
                </a:solidFill>
                <a:effectLst/>
                <a:latin typeface="Menlo" panose="020B0609030804020204" pitchFamily="49" charset="0"/>
              </a:rPr>
              <a:t>import</a:t>
            </a:r>
            <a:r>
              <a:rPr lang="en-GB" sz="1050" b="0" dirty="0">
                <a:solidFill>
                  <a:srgbClr val="D4D4D4"/>
                </a:solidFill>
                <a:effectLst/>
                <a:latin typeface="Menlo" panose="020B0609030804020204" pitchFamily="49" charset="0"/>
              </a:rPr>
              <a:t> </a:t>
            </a:r>
            <a:r>
              <a:rPr lang="en-GB" sz="1050" b="0" dirty="0" err="1">
                <a:solidFill>
                  <a:srgbClr val="D4D4D4"/>
                </a:solidFill>
                <a:effectLst/>
                <a:latin typeface="Menlo" panose="020B0609030804020204" pitchFamily="49" charset="0"/>
              </a:rPr>
              <a:t>javax.xml.soap</a:t>
            </a:r>
            <a:r>
              <a:rPr lang="en-GB" sz="1050" b="0" dirty="0">
                <a:solidFill>
                  <a:srgbClr val="D4D4D4"/>
                </a:solidFill>
                <a:effectLst/>
                <a:latin typeface="Menlo" panose="020B0609030804020204" pitchFamily="49" charset="0"/>
              </a:rPr>
              <a:t>.*;</a:t>
            </a:r>
          </a:p>
          <a:p>
            <a:br>
              <a:rPr lang="en-GB" sz="1050" b="0" dirty="0">
                <a:solidFill>
                  <a:srgbClr val="D4D4D4"/>
                </a:solidFill>
                <a:effectLst/>
                <a:latin typeface="Menlo" panose="020B0609030804020204" pitchFamily="49" charset="0"/>
              </a:rPr>
            </a:br>
            <a:r>
              <a:rPr lang="en-GB" sz="1050" b="0" dirty="0">
                <a:solidFill>
                  <a:srgbClr val="569CD6"/>
                </a:solidFill>
                <a:effectLst/>
                <a:latin typeface="Menlo" panose="020B0609030804020204" pitchFamily="49" charset="0"/>
              </a:rPr>
              <a:t>public</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class</a:t>
            </a:r>
            <a:r>
              <a:rPr lang="en-GB" sz="1050" b="0" dirty="0">
                <a:solidFill>
                  <a:srgbClr val="D4D4D4"/>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SOAPClient</a:t>
            </a:r>
            <a:r>
              <a:rPr lang="en-GB" sz="1050" b="0" dirty="0">
                <a:solidFill>
                  <a:srgbClr val="D4D4D4"/>
                </a:solidFill>
                <a:effectLst/>
                <a:latin typeface="Menlo" panose="020B0609030804020204" pitchFamily="49" charset="0"/>
              </a:rPr>
              <a:t> {</a:t>
            </a:r>
          </a:p>
          <a:p>
            <a:br>
              <a:rPr lang="en-GB" sz="1050" b="0" dirty="0">
                <a:solidFill>
                  <a:srgbClr val="D4D4D4"/>
                </a:solidFill>
                <a:effectLst/>
                <a:latin typeface="Menlo" panose="020B0609030804020204" pitchFamily="49" charset="0"/>
              </a:rPr>
            </a:b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public</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static</a:t>
            </a: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void</a:t>
            </a:r>
            <a:r>
              <a:rPr lang="en-GB" sz="1050" b="0" dirty="0">
                <a:solidFill>
                  <a:srgbClr val="D4D4D4"/>
                </a:solidFill>
                <a:effectLst/>
                <a:latin typeface="Menlo" panose="020B0609030804020204" pitchFamily="49" charset="0"/>
              </a:rPr>
              <a:t> </a:t>
            </a:r>
            <a:r>
              <a:rPr lang="en-GB" sz="1050" b="0" dirty="0">
                <a:solidFill>
                  <a:srgbClr val="DCDCAA"/>
                </a:solidFill>
                <a:effectLst/>
                <a:latin typeface="Menlo" panose="020B0609030804020204" pitchFamily="49" charset="0"/>
              </a:rPr>
              <a:t>main</a:t>
            </a:r>
            <a:r>
              <a:rPr lang="en-GB" sz="1050" b="0" dirty="0">
                <a:solidFill>
                  <a:srgbClr val="D4D4D4"/>
                </a:solidFill>
                <a:effectLst/>
                <a:latin typeface="Menlo" panose="020B0609030804020204" pitchFamily="49" charset="0"/>
              </a:rPr>
              <a:t>(</a:t>
            </a:r>
            <a:r>
              <a:rPr lang="en-GB" sz="1050" b="0" dirty="0">
                <a:solidFill>
                  <a:srgbClr val="4EC9B0"/>
                </a:solidFill>
                <a:effectLst/>
                <a:latin typeface="Menlo" panose="020B0609030804020204" pitchFamily="49" charset="0"/>
              </a:rPr>
              <a:t>String</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args</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throws</a:t>
            </a: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Exception</a:t>
            </a:r>
            <a:r>
              <a:rPr lang="en-GB" sz="1050" b="0" dirty="0">
                <a:solidFill>
                  <a:srgbClr val="D4D4D4"/>
                </a:solidFill>
                <a:effectLst/>
                <a:latin typeface="Menlo" panose="020B0609030804020204" pitchFamily="49" charset="0"/>
              </a:rPr>
              <a:t> {</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SOAPConnectionFactory</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soapConnectionFactory</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SOAPConnectionFactory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newInstance</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SOAPConnection</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soapConnection</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soapConnectionFactory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createConnection</a:t>
            </a:r>
            <a:r>
              <a:rPr lang="en-GB" sz="1050" b="0" dirty="0">
                <a:solidFill>
                  <a:srgbClr val="D4D4D4"/>
                </a:solidFill>
                <a:effectLst/>
                <a:latin typeface="Menlo" panose="020B0609030804020204" pitchFamily="49" charset="0"/>
              </a:rPr>
              <a:t>();</a:t>
            </a:r>
          </a:p>
          <a:p>
            <a:br>
              <a:rPr lang="en-GB" sz="1050" b="0" dirty="0">
                <a:solidFill>
                  <a:srgbClr val="D4D4D4"/>
                </a:solidFill>
                <a:effectLst/>
                <a:latin typeface="Menlo" panose="020B0609030804020204" pitchFamily="49" charset="0"/>
              </a:rPr>
            </a:b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String</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url</a:t>
            </a:r>
            <a:r>
              <a:rPr lang="en-GB" sz="1050" b="0" dirty="0">
                <a:solidFill>
                  <a:srgbClr val="D4D4D4"/>
                </a:solidFill>
                <a:effectLst/>
                <a:latin typeface="Menlo" panose="020B0609030804020204" pitchFamily="49" charset="0"/>
              </a:rPr>
              <a:t> = </a:t>
            </a:r>
            <a:r>
              <a:rPr lang="en-GB" sz="1050" b="0" dirty="0">
                <a:solidFill>
                  <a:srgbClr val="CE9178"/>
                </a:solidFill>
                <a:effectLst/>
                <a:latin typeface="Menlo" panose="020B0609030804020204" pitchFamily="49" charset="0"/>
              </a:rPr>
              <a:t>"http://</a:t>
            </a:r>
            <a:r>
              <a:rPr lang="en-GB" sz="1050" b="0" dirty="0" err="1">
                <a:solidFill>
                  <a:srgbClr val="CE9178"/>
                </a:solidFill>
                <a:effectLst/>
                <a:latin typeface="Menlo" panose="020B0609030804020204" pitchFamily="49" charset="0"/>
              </a:rPr>
              <a:t>www.dneonline.com</a:t>
            </a:r>
            <a:r>
              <a:rPr lang="en-GB" sz="1050" b="0" dirty="0">
                <a:solidFill>
                  <a:srgbClr val="CE9178"/>
                </a:solidFill>
                <a:effectLst/>
                <a:latin typeface="Menlo" panose="020B0609030804020204" pitchFamily="49" charset="0"/>
              </a:rPr>
              <a:t>/</a:t>
            </a:r>
            <a:r>
              <a:rPr lang="en-GB" sz="1050" b="0" dirty="0" err="1">
                <a:solidFill>
                  <a:srgbClr val="CE9178"/>
                </a:solidFill>
                <a:effectLst/>
                <a:latin typeface="Menlo" panose="020B0609030804020204" pitchFamily="49" charset="0"/>
              </a:rPr>
              <a:t>calculator.asmx</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soapRequest</a:t>
            </a:r>
            <a:r>
              <a:rPr lang="en-GB" sz="1050" b="0" dirty="0">
                <a:solidFill>
                  <a:srgbClr val="D4D4D4"/>
                </a:solidFill>
                <a:effectLst/>
                <a:latin typeface="Menlo" panose="020B0609030804020204" pitchFamily="49" charset="0"/>
              </a:rPr>
              <a:t> = </a:t>
            </a:r>
            <a:r>
              <a:rPr lang="en-GB" sz="1050" b="0" dirty="0" err="1">
                <a:solidFill>
                  <a:srgbClr val="DCDCAA"/>
                </a:solidFill>
                <a:effectLst/>
                <a:latin typeface="Menlo" panose="020B0609030804020204" pitchFamily="49" charset="0"/>
              </a:rPr>
              <a:t>createSOAPRequest</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soapResponse</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soapConnection</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call</a:t>
            </a:r>
            <a:r>
              <a:rPr lang="en-GB" sz="1050" b="0" dirty="0">
                <a:solidFill>
                  <a:srgbClr val="D4D4D4"/>
                </a:solidFill>
                <a:effectLst/>
                <a:latin typeface="Menlo" panose="020B0609030804020204" pitchFamily="49" charset="0"/>
              </a:rPr>
              <a:t>(</a:t>
            </a:r>
            <a:r>
              <a:rPr lang="en-GB" sz="1050" b="0" dirty="0" err="1">
                <a:solidFill>
                  <a:srgbClr val="D4D4D4"/>
                </a:solidFill>
                <a:effectLst/>
                <a:latin typeface="Menlo" panose="020B0609030804020204" pitchFamily="49" charset="0"/>
              </a:rPr>
              <a:t>soapRequest</a:t>
            </a:r>
            <a:r>
              <a:rPr lang="en-GB" sz="1050" b="0" dirty="0">
                <a:solidFill>
                  <a:srgbClr val="D4D4D4"/>
                </a:solidFill>
                <a:effectLst/>
                <a:latin typeface="Menlo" panose="020B0609030804020204" pitchFamily="49" charset="0"/>
              </a:rPr>
              <a:t>, </a:t>
            </a:r>
            <a:r>
              <a:rPr lang="en-GB" sz="1050" b="0" dirty="0" err="1">
                <a:solidFill>
                  <a:srgbClr val="D4D4D4"/>
                </a:solidFill>
                <a:effectLst/>
                <a:latin typeface="Menlo" panose="020B0609030804020204" pitchFamily="49" charset="0"/>
              </a:rPr>
              <a:t>url</a:t>
            </a:r>
            <a:r>
              <a:rPr lang="en-GB" sz="1050" b="0" dirty="0">
                <a:solidFill>
                  <a:srgbClr val="D4D4D4"/>
                </a:solidFill>
                <a:effectLst/>
                <a:latin typeface="Menlo" panose="020B0609030804020204" pitchFamily="49" charset="0"/>
              </a:rPr>
              <a:t>);</a:t>
            </a:r>
          </a:p>
          <a:p>
            <a:br>
              <a:rPr lang="en-GB" sz="1050" b="0" dirty="0">
                <a:solidFill>
                  <a:srgbClr val="D4D4D4"/>
                </a:solidFill>
                <a:effectLst/>
                <a:latin typeface="Menlo" panose="020B0609030804020204" pitchFamily="49" charset="0"/>
              </a:rPr>
            </a:b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printSOAPResponse</a:t>
            </a:r>
            <a:r>
              <a:rPr lang="en-GB" sz="1050" b="0" dirty="0">
                <a:solidFill>
                  <a:srgbClr val="D4D4D4"/>
                </a:solidFill>
                <a:effectLst/>
                <a:latin typeface="Menlo" panose="020B0609030804020204" pitchFamily="49" charset="0"/>
              </a:rPr>
              <a:t>(</a:t>
            </a:r>
            <a:r>
              <a:rPr lang="en-GB" sz="1050" b="0" dirty="0" err="1">
                <a:solidFill>
                  <a:srgbClr val="D4D4D4"/>
                </a:solidFill>
                <a:effectLst/>
                <a:latin typeface="Menlo" panose="020B0609030804020204" pitchFamily="49" charset="0"/>
              </a:rPr>
              <a:t>soapResponse</a:t>
            </a:r>
            <a:r>
              <a:rPr lang="en-GB" sz="1050" b="0" dirty="0">
                <a:solidFill>
                  <a:srgbClr val="D4D4D4"/>
                </a:solidFill>
                <a:effectLst/>
                <a:latin typeface="Menlo" panose="020B0609030804020204" pitchFamily="49" charset="0"/>
              </a:rPr>
              <a:t>);</a:t>
            </a:r>
          </a:p>
          <a:p>
            <a:r>
              <a:rPr lang="en-GB" sz="1050" b="0" dirty="0">
                <a:solidFill>
                  <a:srgbClr val="9CDCFE"/>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soapConnection</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close</a:t>
            </a:r>
            <a:r>
              <a:rPr lang="en-GB" sz="1050" b="0" dirty="0">
                <a:solidFill>
                  <a:srgbClr val="D4D4D4"/>
                </a:solidFill>
                <a:effectLst/>
                <a:latin typeface="Menlo" panose="020B0609030804020204" pitchFamily="49" charset="0"/>
              </a:rPr>
              <a:t>();</a:t>
            </a:r>
          </a:p>
          <a:p>
            <a:r>
              <a:rPr lang="en-GB" sz="1050" b="0" dirty="0">
                <a:solidFill>
                  <a:srgbClr val="D4D4D4"/>
                </a:solidFill>
                <a:effectLst/>
                <a:latin typeface="Menlo" panose="020B0609030804020204" pitchFamily="49" charset="0"/>
              </a:rPr>
              <a:t>  }</a:t>
            </a:r>
          </a:p>
          <a:p>
            <a:br>
              <a:rPr lang="en-GB" sz="1050" b="0" dirty="0">
                <a:solidFill>
                  <a:srgbClr val="D4D4D4"/>
                </a:solidFill>
                <a:effectLst/>
                <a:latin typeface="Menlo" panose="020B0609030804020204" pitchFamily="49" charset="0"/>
              </a:rPr>
            </a:b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private</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static</a:t>
            </a:r>
            <a:r>
              <a:rPr lang="en-GB" sz="1050" b="0" dirty="0">
                <a:solidFill>
                  <a:srgbClr val="D4D4D4"/>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createSOAPRequest</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throws</a:t>
            </a: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Exception</a:t>
            </a:r>
            <a:r>
              <a:rPr lang="en-GB" sz="1050" b="0" dirty="0">
                <a:solidFill>
                  <a:srgbClr val="D4D4D4"/>
                </a:solidFill>
                <a:effectLst/>
                <a:latin typeface="Menlo" panose="020B0609030804020204" pitchFamily="49" charset="0"/>
              </a:rPr>
              <a:t> {</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MessageFactory</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messageFactory</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MessageFactory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newInstance</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messageFactory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createMessage</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SOAPPart</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soapPart</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soapMessage</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getSOAPPart</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String</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soapEnvelope</a:t>
            </a:r>
            <a:r>
              <a:rPr lang="en-GB" sz="1050" b="0" dirty="0">
                <a:solidFill>
                  <a:srgbClr val="D4D4D4"/>
                </a:solidFill>
                <a:effectLst/>
                <a:latin typeface="Menlo" panose="020B0609030804020204" pitchFamily="49" charset="0"/>
              </a:rPr>
              <a:t> = </a:t>
            </a:r>
            <a:r>
              <a:rPr lang="en-GB" sz="1050" b="0" dirty="0">
                <a:solidFill>
                  <a:srgbClr val="CE9178"/>
                </a:solidFill>
                <a:effectLst/>
                <a:latin typeface="Menlo" panose="020B0609030804020204" pitchFamily="49" charset="0"/>
              </a:rPr>
              <a:t>"&lt;</a:t>
            </a:r>
            <a:r>
              <a:rPr lang="en-GB" sz="1050" b="0" dirty="0" err="1">
                <a:solidFill>
                  <a:srgbClr val="CE9178"/>
                </a:solidFill>
                <a:effectLst/>
                <a:latin typeface="Menlo" panose="020B0609030804020204" pitchFamily="49" charset="0"/>
              </a:rPr>
              <a:t>soapenv:Envelope</a:t>
            </a:r>
            <a:r>
              <a:rPr lang="en-GB" sz="1050" b="0" dirty="0">
                <a:solidFill>
                  <a:srgbClr val="CE9178"/>
                </a:solidFill>
                <a:effectLst/>
                <a:latin typeface="Menlo" panose="020B0609030804020204" pitchFamily="49" charset="0"/>
              </a:rPr>
              <a:t> </a:t>
            </a:r>
            <a:r>
              <a:rPr lang="en-GB" sz="1050" b="0" dirty="0" err="1">
                <a:solidFill>
                  <a:srgbClr val="CE9178"/>
                </a:solidFill>
                <a:effectLst/>
                <a:latin typeface="Menlo" panose="020B0609030804020204" pitchFamily="49" charset="0"/>
              </a:rPr>
              <a:t>xmlns:soapenv</a:t>
            </a:r>
            <a:r>
              <a:rPr lang="en-GB" sz="1050" b="0" dirty="0">
                <a:solidFill>
                  <a:srgbClr val="CE9178"/>
                </a:solidFill>
                <a:effectLst/>
                <a:latin typeface="Menlo" panose="020B0609030804020204" pitchFamily="49" charset="0"/>
              </a:rPr>
              <a:t>=</a:t>
            </a:r>
            <a:r>
              <a:rPr lang="en-GB" sz="1050" b="0" dirty="0">
                <a:solidFill>
                  <a:srgbClr val="D7BA7D"/>
                </a:solidFill>
                <a:effectLst/>
                <a:latin typeface="Menlo" panose="020B0609030804020204" pitchFamily="49" charset="0"/>
              </a:rPr>
              <a:t>\"</a:t>
            </a:r>
            <a:r>
              <a:rPr lang="en-GB" sz="1050" b="0" dirty="0">
                <a:solidFill>
                  <a:srgbClr val="CE9178"/>
                </a:solidFill>
                <a:effectLst/>
                <a:latin typeface="Menlo" panose="020B0609030804020204" pitchFamily="49" charset="0"/>
              </a:rPr>
              <a:t>http://</a:t>
            </a:r>
            <a:r>
              <a:rPr lang="en-GB" sz="1050" b="0" dirty="0" err="1">
                <a:solidFill>
                  <a:srgbClr val="CE9178"/>
                </a:solidFill>
                <a:effectLst/>
                <a:latin typeface="Menlo" panose="020B0609030804020204" pitchFamily="49" charset="0"/>
              </a:rPr>
              <a:t>schemas.xmlsoap.org</a:t>
            </a:r>
            <a:r>
              <a:rPr lang="en-GB" sz="1050" b="0" dirty="0">
                <a:solidFill>
                  <a:srgbClr val="CE9178"/>
                </a:solidFill>
                <a:effectLst/>
                <a:latin typeface="Menlo" panose="020B0609030804020204" pitchFamily="49" charset="0"/>
              </a:rPr>
              <a:t>/soap/envelope/</a:t>
            </a:r>
            <a:r>
              <a:rPr lang="en-GB" sz="1050" b="0" dirty="0">
                <a:solidFill>
                  <a:srgbClr val="D7BA7D"/>
                </a:solidFill>
                <a:effectLst/>
                <a:latin typeface="Menlo" panose="020B0609030804020204" pitchFamily="49" charset="0"/>
              </a:rPr>
              <a:t>\"</a:t>
            </a:r>
            <a:r>
              <a:rPr lang="en-GB" sz="1050" b="0" dirty="0">
                <a:solidFill>
                  <a:srgbClr val="CE9178"/>
                </a:solidFill>
                <a:effectLst/>
                <a:latin typeface="Menlo" panose="020B0609030804020204" pitchFamily="49" charset="0"/>
              </a:rPr>
              <a:t> </a:t>
            </a:r>
            <a:r>
              <a:rPr lang="en-GB" sz="1050" b="0" dirty="0" err="1">
                <a:solidFill>
                  <a:srgbClr val="CE9178"/>
                </a:solidFill>
                <a:effectLst/>
                <a:latin typeface="Menlo" panose="020B0609030804020204" pitchFamily="49" charset="0"/>
              </a:rPr>
              <a:t>xmlns:tem</a:t>
            </a:r>
            <a:r>
              <a:rPr lang="en-GB" sz="1050" b="0" dirty="0">
                <a:solidFill>
                  <a:srgbClr val="CE9178"/>
                </a:solidFill>
                <a:effectLst/>
                <a:latin typeface="Menlo" panose="020B0609030804020204" pitchFamily="49" charset="0"/>
              </a:rPr>
              <a:t>=</a:t>
            </a:r>
            <a:r>
              <a:rPr lang="en-GB" sz="1050" b="0" dirty="0">
                <a:solidFill>
                  <a:srgbClr val="D7BA7D"/>
                </a:solidFill>
                <a:effectLst/>
                <a:latin typeface="Menlo" panose="020B0609030804020204" pitchFamily="49" charset="0"/>
              </a:rPr>
              <a:t>\"</a:t>
            </a:r>
            <a:r>
              <a:rPr lang="en-GB" sz="1050" b="0" dirty="0">
                <a:solidFill>
                  <a:srgbClr val="CE9178"/>
                </a:solidFill>
                <a:effectLst/>
                <a:latin typeface="Menlo" panose="020B0609030804020204" pitchFamily="49" charset="0"/>
              </a:rPr>
              <a:t>http://</a:t>
            </a:r>
            <a:r>
              <a:rPr lang="en-GB" sz="1050" b="0" dirty="0" err="1">
                <a:solidFill>
                  <a:srgbClr val="CE9178"/>
                </a:solidFill>
                <a:effectLst/>
                <a:latin typeface="Menlo" panose="020B0609030804020204" pitchFamily="49" charset="0"/>
              </a:rPr>
              <a:t>tempuri.org</a:t>
            </a:r>
            <a:r>
              <a:rPr lang="en-GB" sz="1050" b="0" dirty="0">
                <a:solidFill>
                  <a:srgbClr val="CE9178"/>
                </a:solidFill>
                <a:effectLst/>
                <a:latin typeface="Menlo" panose="020B0609030804020204" pitchFamily="49" charset="0"/>
              </a:rPr>
              <a:t>/</a:t>
            </a:r>
            <a:r>
              <a:rPr lang="en-GB" sz="1050" b="0" dirty="0">
                <a:solidFill>
                  <a:srgbClr val="D7BA7D"/>
                </a:solidFill>
                <a:effectLst/>
                <a:latin typeface="Menlo" panose="020B0609030804020204" pitchFamily="49" charset="0"/>
              </a:rPr>
              <a:t>\"</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soapenv:Header</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soapenv:Body</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tem:Add</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tem:intA</a:t>
            </a:r>
            <a:r>
              <a:rPr lang="en-GB" sz="1050" b="0" dirty="0">
                <a:solidFill>
                  <a:srgbClr val="CE9178"/>
                </a:solidFill>
                <a:effectLst/>
                <a:latin typeface="Menlo" panose="020B0609030804020204" pitchFamily="49" charset="0"/>
              </a:rPr>
              <a:t>&gt;2&lt;/</a:t>
            </a:r>
            <a:r>
              <a:rPr lang="en-GB" sz="1050" b="0" dirty="0" err="1">
                <a:solidFill>
                  <a:srgbClr val="CE9178"/>
                </a:solidFill>
                <a:effectLst/>
                <a:latin typeface="Menlo" panose="020B0609030804020204" pitchFamily="49" charset="0"/>
              </a:rPr>
              <a:t>tem:intA</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tem:intB</a:t>
            </a:r>
            <a:r>
              <a:rPr lang="en-GB" sz="1050" b="0" dirty="0">
                <a:solidFill>
                  <a:srgbClr val="CE9178"/>
                </a:solidFill>
                <a:effectLst/>
                <a:latin typeface="Menlo" panose="020B0609030804020204" pitchFamily="49" charset="0"/>
              </a:rPr>
              <a:t>&gt;3&lt;/</a:t>
            </a:r>
            <a:r>
              <a:rPr lang="en-GB" sz="1050" b="0" dirty="0" err="1">
                <a:solidFill>
                  <a:srgbClr val="CE9178"/>
                </a:solidFill>
                <a:effectLst/>
                <a:latin typeface="Menlo" panose="020B0609030804020204" pitchFamily="49" charset="0"/>
              </a:rPr>
              <a:t>tem:intB</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tem:Add</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 &lt;/</a:t>
            </a:r>
            <a:r>
              <a:rPr lang="en-GB" sz="1050" b="0" dirty="0" err="1">
                <a:solidFill>
                  <a:srgbClr val="CE9178"/>
                </a:solidFill>
                <a:effectLst/>
                <a:latin typeface="Menlo" panose="020B0609030804020204" pitchFamily="49" charset="0"/>
              </a:rPr>
              <a:t>soapenv:Body</a:t>
            </a:r>
            <a:r>
              <a:rPr lang="en-GB" sz="1050" b="0" dirty="0">
                <a:solidFill>
                  <a:srgbClr val="CE9178"/>
                </a:solidFill>
                <a:effectLst/>
                <a:latin typeface="Menlo" panose="020B0609030804020204" pitchFamily="49" charset="0"/>
              </a:rPr>
              <a:t>&gt;</a:t>
            </a:r>
            <a:r>
              <a:rPr lang="en-GB" sz="1050" b="0" dirty="0">
                <a:solidFill>
                  <a:srgbClr val="D7BA7D"/>
                </a:solidFill>
                <a:effectLst/>
                <a:latin typeface="Menlo" panose="020B0609030804020204" pitchFamily="49" charset="0"/>
              </a:rPr>
              <a:t>\n</a:t>
            </a:r>
            <a:r>
              <a:rPr lang="en-GB" sz="1050" b="0" dirty="0">
                <a:solidFill>
                  <a:srgbClr val="CE9178"/>
                </a:solidFill>
                <a:effectLst/>
                <a:latin typeface="Menlo" panose="020B0609030804020204" pitchFamily="49" charset="0"/>
              </a:rPr>
              <a:t>"</a:t>
            </a:r>
            <a:r>
              <a:rPr lang="en-GB" sz="1050" b="0" dirty="0">
                <a:solidFill>
                  <a:srgbClr val="D4D4D4"/>
                </a:solidFill>
                <a:effectLst/>
                <a:latin typeface="Menlo" panose="020B0609030804020204" pitchFamily="49" charset="0"/>
              </a:rPr>
              <a:t> +</a:t>
            </a:r>
          </a:p>
          <a:p>
            <a:r>
              <a:rPr lang="en-GB" sz="1050" b="0" dirty="0">
                <a:solidFill>
                  <a:srgbClr val="CE9178"/>
                </a:solidFill>
                <a:effectLst/>
                <a:latin typeface="Menlo" panose="020B0609030804020204" pitchFamily="49" charset="0"/>
              </a:rPr>
              <a:t>      "&lt;/</a:t>
            </a:r>
            <a:r>
              <a:rPr lang="en-GB" sz="1050" b="0" dirty="0" err="1">
                <a:solidFill>
                  <a:srgbClr val="CE9178"/>
                </a:solidFill>
                <a:effectLst/>
                <a:latin typeface="Menlo" panose="020B0609030804020204" pitchFamily="49" charset="0"/>
              </a:rPr>
              <a:t>soapenv:Envelope</a:t>
            </a:r>
            <a:r>
              <a:rPr lang="en-GB" sz="1050" b="0" dirty="0">
                <a:solidFill>
                  <a:srgbClr val="CE9178"/>
                </a:solidFill>
                <a:effectLst/>
                <a:latin typeface="Menlo" panose="020B0609030804020204" pitchFamily="49" charset="0"/>
              </a:rPr>
              <a:t>&gt;"</a:t>
            </a:r>
            <a:r>
              <a:rPr lang="en-GB" sz="1050" b="0" dirty="0">
                <a:solidFill>
                  <a:srgbClr val="D4D4D4"/>
                </a:solidFill>
                <a:effectLst/>
                <a:latin typeface="Menlo" panose="020B0609030804020204" pitchFamily="49" charset="0"/>
              </a:rPr>
              <a:t>;</a:t>
            </a:r>
          </a:p>
          <a:p>
            <a:r>
              <a:rPr lang="en-GB" sz="1050" b="0" dirty="0">
                <a:solidFill>
                  <a:srgbClr val="9CDCFE"/>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soapPart</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setContent</a:t>
            </a:r>
            <a:r>
              <a:rPr lang="en-GB" sz="1050" b="0" dirty="0">
                <a:solidFill>
                  <a:srgbClr val="D4D4D4"/>
                </a:solidFill>
                <a:effectLst/>
                <a:latin typeface="Menlo" panose="020B0609030804020204" pitchFamily="49" charset="0"/>
              </a:rPr>
              <a:t>(</a:t>
            </a:r>
            <a:r>
              <a:rPr lang="en-GB" sz="1050" b="0" dirty="0">
                <a:solidFill>
                  <a:srgbClr val="C586C0"/>
                </a:solidFill>
                <a:effectLst/>
                <a:latin typeface="Menlo" panose="020B0609030804020204" pitchFamily="49" charset="0"/>
              </a:rPr>
              <a:t>new</a:t>
            </a: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StreamSource</a:t>
            </a:r>
            <a:r>
              <a:rPr lang="en-GB" sz="1050" b="0" dirty="0">
                <a:solidFill>
                  <a:srgbClr val="D4D4D4"/>
                </a:solidFill>
                <a:effectLst/>
                <a:latin typeface="Menlo" panose="020B0609030804020204" pitchFamily="49" charset="0"/>
              </a:rPr>
              <a:t>(</a:t>
            </a:r>
            <a:r>
              <a:rPr lang="en-GB" sz="1050" b="0" dirty="0">
                <a:solidFill>
                  <a:srgbClr val="C586C0"/>
                </a:solidFill>
                <a:effectLst/>
                <a:latin typeface="Menlo" panose="020B0609030804020204" pitchFamily="49" charset="0"/>
              </a:rPr>
              <a:t>new</a:t>
            </a: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StringReader</a:t>
            </a:r>
            <a:r>
              <a:rPr lang="en-GB" sz="1050" b="0" dirty="0">
                <a:solidFill>
                  <a:srgbClr val="D4D4D4"/>
                </a:solidFill>
                <a:effectLst/>
                <a:latin typeface="Menlo" panose="020B0609030804020204" pitchFamily="49" charset="0"/>
              </a:rPr>
              <a:t>(</a:t>
            </a:r>
            <a:r>
              <a:rPr lang="en-GB" sz="1050" b="0" dirty="0" err="1">
                <a:solidFill>
                  <a:srgbClr val="D4D4D4"/>
                </a:solidFill>
                <a:effectLst/>
                <a:latin typeface="Menlo" panose="020B0609030804020204" pitchFamily="49" charset="0"/>
              </a:rPr>
              <a:t>soapEnvelope</a:t>
            </a:r>
            <a:r>
              <a:rPr lang="en-GB" sz="1050" b="0" dirty="0">
                <a:solidFill>
                  <a:srgbClr val="D4D4D4"/>
                </a:solidFill>
                <a:effectLst/>
                <a:latin typeface="Menlo" panose="020B0609030804020204" pitchFamily="49" charset="0"/>
              </a:rPr>
              <a:t>)));</a:t>
            </a:r>
          </a:p>
          <a:p>
            <a:r>
              <a:rPr lang="en-GB" sz="1050" b="0" dirty="0">
                <a:solidFill>
                  <a:srgbClr val="9CDCFE"/>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soapMessage</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saveChanges</a:t>
            </a:r>
            <a:r>
              <a:rPr lang="en-GB" sz="1050" b="0" dirty="0">
                <a:solidFill>
                  <a:srgbClr val="D4D4D4"/>
                </a:solidFill>
                <a:effectLst/>
                <a:latin typeface="Menlo" panose="020B0609030804020204" pitchFamily="49" charset="0"/>
              </a:rPr>
              <a:t>();</a:t>
            </a:r>
          </a:p>
          <a:p>
            <a:r>
              <a:rPr lang="en-GB" sz="1050" b="0" dirty="0">
                <a:solidFill>
                  <a:srgbClr val="C586C0"/>
                </a:solidFill>
                <a:effectLst/>
                <a:latin typeface="Menlo" panose="020B0609030804020204" pitchFamily="49" charset="0"/>
              </a:rPr>
              <a:t>    return</a:t>
            </a:r>
            <a:r>
              <a:rPr lang="en-GB" sz="1050" b="0" dirty="0">
                <a:solidFill>
                  <a:srgbClr val="D4D4D4"/>
                </a:solidFill>
                <a:effectLst/>
                <a:latin typeface="Menlo" panose="020B0609030804020204" pitchFamily="49" charset="0"/>
              </a:rPr>
              <a:t> </a:t>
            </a:r>
            <a:r>
              <a:rPr lang="en-GB" sz="1050" b="0" dirty="0" err="1">
                <a:solidFill>
                  <a:srgbClr val="D4D4D4"/>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a:t>
            </a:r>
          </a:p>
          <a:p>
            <a:r>
              <a:rPr lang="en-GB" sz="1050" b="0" dirty="0">
                <a:solidFill>
                  <a:srgbClr val="D4D4D4"/>
                </a:solidFill>
                <a:effectLst/>
                <a:latin typeface="Menlo" panose="020B0609030804020204" pitchFamily="49" charset="0"/>
              </a:rPr>
              <a:t>  }</a:t>
            </a:r>
          </a:p>
          <a:p>
            <a:br>
              <a:rPr lang="en-GB" sz="1050" b="0" dirty="0">
                <a:solidFill>
                  <a:srgbClr val="D4D4D4"/>
                </a:solidFill>
                <a:effectLst/>
                <a:latin typeface="Menlo" panose="020B0609030804020204" pitchFamily="49" charset="0"/>
              </a:rPr>
            </a:b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private</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static</a:t>
            </a: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void</a:t>
            </a: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printSOAPResponse</a:t>
            </a:r>
            <a:r>
              <a:rPr lang="en-GB" sz="1050" b="0" dirty="0">
                <a:solidFill>
                  <a:srgbClr val="D4D4D4"/>
                </a:solidFill>
                <a:effectLst/>
                <a:latin typeface="Menlo" panose="020B0609030804020204" pitchFamily="49" charset="0"/>
              </a:rPr>
              <a:t>(</a:t>
            </a:r>
            <a:r>
              <a:rPr lang="en-GB" sz="1050" b="0" dirty="0" err="1">
                <a:solidFill>
                  <a:srgbClr val="4EC9B0"/>
                </a:solidFill>
                <a:effectLst/>
                <a:latin typeface="Menlo" panose="020B0609030804020204" pitchFamily="49" charset="0"/>
              </a:rPr>
              <a:t>SOAPMessage</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soapResponse</a:t>
            </a:r>
            <a:r>
              <a:rPr lang="en-GB" sz="1050" b="0" dirty="0">
                <a:solidFill>
                  <a:srgbClr val="D4D4D4"/>
                </a:solidFill>
                <a:effectLst/>
                <a:latin typeface="Menlo" panose="020B0609030804020204" pitchFamily="49" charset="0"/>
              </a:rPr>
              <a:t>) </a:t>
            </a:r>
            <a:r>
              <a:rPr lang="en-GB" sz="1050" b="0" dirty="0">
                <a:solidFill>
                  <a:srgbClr val="569CD6"/>
                </a:solidFill>
                <a:effectLst/>
                <a:latin typeface="Menlo" panose="020B0609030804020204" pitchFamily="49" charset="0"/>
              </a:rPr>
              <a:t>throws</a:t>
            </a:r>
            <a:r>
              <a:rPr lang="en-GB" sz="1050" b="0" dirty="0">
                <a:solidFill>
                  <a:srgbClr val="D4D4D4"/>
                </a:solidFill>
                <a:effectLst/>
                <a:latin typeface="Menlo" panose="020B0609030804020204" pitchFamily="49" charset="0"/>
              </a:rPr>
              <a:t> </a:t>
            </a:r>
            <a:r>
              <a:rPr lang="en-GB" sz="1050" b="0" dirty="0">
                <a:solidFill>
                  <a:srgbClr val="4EC9B0"/>
                </a:solidFill>
                <a:effectLst/>
                <a:latin typeface="Menlo" panose="020B0609030804020204" pitchFamily="49" charset="0"/>
              </a:rPr>
              <a:t>Exception</a:t>
            </a:r>
            <a:r>
              <a:rPr lang="en-GB" sz="1050" b="0" dirty="0">
                <a:solidFill>
                  <a:srgbClr val="D4D4D4"/>
                </a:solidFill>
                <a:effectLst/>
                <a:latin typeface="Menlo" panose="020B0609030804020204" pitchFamily="49" charset="0"/>
              </a:rPr>
              <a:t> {</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TransformerFactory</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transformerFactory</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TransformerFactory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newInstance</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Transformer</a:t>
            </a:r>
            <a:r>
              <a:rPr lang="en-GB" sz="1050" b="0" dirty="0">
                <a:solidFill>
                  <a:srgbClr val="D4D4D4"/>
                </a:solidFill>
                <a:effectLst/>
                <a:latin typeface="Menlo" panose="020B0609030804020204" pitchFamily="49" charset="0"/>
              </a:rPr>
              <a:t> </a:t>
            </a:r>
            <a:r>
              <a:rPr lang="en-GB" sz="1050" b="0" dirty="0">
                <a:solidFill>
                  <a:srgbClr val="9CDCFE"/>
                </a:solidFill>
                <a:effectLst/>
                <a:latin typeface="Menlo" panose="020B0609030804020204" pitchFamily="49" charset="0"/>
              </a:rPr>
              <a:t>transformer</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transformerFactory</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newTransformer</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Source</a:t>
            </a:r>
            <a:r>
              <a:rPr lang="en-GB" sz="1050" b="0" dirty="0">
                <a:solidFill>
                  <a:srgbClr val="D4D4D4"/>
                </a:solidFill>
                <a:effectLst/>
                <a:latin typeface="Menlo" panose="020B0609030804020204" pitchFamily="49" charset="0"/>
              </a:rPr>
              <a:t> </a:t>
            </a:r>
            <a:r>
              <a:rPr lang="en-GB" sz="1050" b="0" dirty="0" err="1">
                <a:solidFill>
                  <a:srgbClr val="9CDCFE"/>
                </a:solidFill>
                <a:effectLst/>
                <a:latin typeface="Menlo" panose="020B0609030804020204" pitchFamily="49" charset="0"/>
              </a:rPr>
              <a:t>sourceContent</a:t>
            </a:r>
            <a:r>
              <a:rPr lang="en-GB" sz="1050" b="0" dirty="0">
                <a:solidFill>
                  <a:srgbClr val="D4D4D4"/>
                </a:solidFill>
                <a:effectLst/>
                <a:latin typeface="Menlo" panose="020B0609030804020204" pitchFamily="49" charset="0"/>
              </a:rPr>
              <a:t> = </a:t>
            </a:r>
            <a:r>
              <a:rPr lang="en-GB" sz="1050" b="0" dirty="0" err="1">
                <a:solidFill>
                  <a:srgbClr val="9CDCFE"/>
                </a:solidFill>
                <a:effectLst/>
                <a:latin typeface="Menlo" panose="020B0609030804020204" pitchFamily="49" charset="0"/>
              </a:rPr>
              <a:t>soapResponse</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getSOAPPart</a:t>
            </a:r>
            <a:r>
              <a:rPr lang="en-GB" sz="1050" b="0" dirty="0">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getContent</a:t>
            </a:r>
            <a:r>
              <a:rPr lang="en-GB" sz="1050" b="0" dirty="0">
                <a:solidFill>
                  <a:srgbClr val="D4D4D4"/>
                </a:solidFill>
                <a:effectLst/>
                <a:latin typeface="Menlo" panose="020B0609030804020204" pitchFamily="49" charset="0"/>
              </a:rPr>
              <a:t>();</a:t>
            </a:r>
          </a:p>
          <a:p>
            <a:r>
              <a:rPr lang="en-GB" sz="1050" b="0" dirty="0">
                <a:solidFill>
                  <a:srgbClr val="4EC9B0"/>
                </a:solidFill>
                <a:effectLst/>
                <a:latin typeface="Menlo" panose="020B0609030804020204" pitchFamily="49" charset="0"/>
              </a:rPr>
              <a:t>    </a:t>
            </a:r>
            <a:r>
              <a:rPr lang="en-GB" sz="1050" b="0" dirty="0" err="1">
                <a:solidFill>
                  <a:srgbClr val="4EC9B0"/>
                </a:solidFill>
                <a:effectLst/>
                <a:latin typeface="Menlo" panose="020B0609030804020204" pitchFamily="49" charset="0"/>
              </a:rPr>
              <a:t>StreamResult</a:t>
            </a:r>
            <a:r>
              <a:rPr lang="en-GB" sz="1050" b="0" dirty="0">
                <a:solidFill>
                  <a:srgbClr val="D4D4D4"/>
                </a:solidFill>
                <a:effectLst/>
                <a:latin typeface="Menlo" panose="020B0609030804020204" pitchFamily="49" charset="0"/>
              </a:rPr>
              <a:t> </a:t>
            </a:r>
            <a:r>
              <a:rPr lang="en-GB" sz="1050" b="0" dirty="0">
                <a:solidFill>
                  <a:srgbClr val="9CDCFE"/>
                </a:solidFill>
                <a:effectLst/>
                <a:latin typeface="Menlo" panose="020B0609030804020204" pitchFamily="49" charset="0"/>
              </a:rPr>
              <a:t>result</a:t>
            </a:r>
            <a:r>
              <a:rPr lang="en-GB" sz="1050" b="0" dirty="0">
                <a:solidFill>
                  <a:srgbClr val="D4D4D4"/>
                </a:solidFill>
                <a:effectLst/>
                <a:latin typeface="Menlo" panose="020B0609030804020204" pitchFamily="49" charset="0"/>
              </a:rPr>
              <a:t> = </a:t>
            </a:r>
            <a:r>
              <a:rPr lang="en-GB" sz="1050" b="0" dirty="0">
                <a:solidFill>
                  <a:srgbClr val="C586C0"/>
                </a:solidFill>
                <a:effectLst/>
                <a:latin typeface="Menlo" panose="020B0609030804020204" pitchFamily="49" charset="0"/>
              </a:rPr>
              <a:t>new</a:t>
            </a:r>
            <a:r>
              <a:rPr lang="en-GB" sz="1050" b="0" dirty="0">
                <a:solidFill>
                  <a:srgbClr val="D4D4D4"/>
                </a:solidFill>
                <a:effectLst/>
                <a:latin typeface="Menlo" panose="020B0609030804020204" pitchFamily="49" charset="0"/>
              </a:rPr>
              <a:t> </a:t>
            </a:r>
            <a:r>
              <a:rPr lang="en-GB" sz="1050" b="0" dirty="0" err="1">
                <a:solidFill>
                  <a:srgbClr val="DCDCAA"/>
                </a:solidFill>
                <a:effectLst/>
                <a:latin typeface="Menlo" panose="020B0609030804020204" pitchFamily="49" charset="0"/>
              </a:rPr>
              <a:t>StreamResult</a:t>
            </a:r>
            <a:r>
              <a:rPr lang="en-GB" sz="1050" b="0" dirty="0">
                <a:solidFill>
                  <a:srgbClr val="D4D4D4"/>
                </a:solidFill>
                <a:effectLst/>
                <a:latin typeface="Menlo" panose="020B0609030804020204" pitchFamily="49" charset="0"/>
              </a:rPr>
              <a:t>(</a:t>
            </a:r>
            <a:r>
              <a:rPr lang="en-GB" sz="1050" b="0" dirty="0" err="1">
                <a:solidFill>
                  <a:srgbClr val="9CDCFE"/>
                </a:solidFill>
                <a:effectLst/>
                <a:latin typeface="Menlo" panose="020B0609030804020204" pitchFamily="49" charset="0"/>
              </a:rPr>
              <a:t>System</a:t>
            </a:r>
            <a:r>
              <a:rPr lang="en-GB" sz="1050" b="0" dirty="0" err="1">
                <a:solidFill>
                  <a:srgbClr val="D4D4D4"/>
                </a:solidFill>
                <a:effectLst/>
                <a:latin typeface="Menlo" panose="020B0609030804020204" pitchFamily="49" charset="0"/>
              </a:rPr>
              <a:t>.</a:t>
            </a:r>
            <a:r>
              <a:rPr lang="en-GB" sz="1050" b="0" dirty="0" err="1">
                <a:solidFill>
                  <a:srgbClr val="9CDCFE"/>
                </a:solidFill>
                <a:effectLst/>
                <a:latin typeface="Menlo" panose="020B0609030804020204" pitchFamily="49" charset="0"/>
              </a:rPr>
              <a:t>out</a:t>
            </a:r>
            <a:r>
              <a:rPr lang="en-GB" sz="1050" b="0" dirty="0">
                <a:solidFill>
                  <a:srgbClr val="D4D4D4"/>
                </a:solidFill>
                <a:effectLst/>
                <a:latin typeface="Menlo" panose="020B0609030804020204" pitchFamily="49" charset="0"/>
              </a:rPr>
              <a:t>);</a:t>
            </a:r>
          </a:p>
          <a:p>
            <a:r>
              <a:rPr lang="en-GB" sz="1050" b="0" dirty="0">
                <a:solidFill>
                  <a:srgbClr val="9CDCFE"/>
                </a:solidFill>
                <a:effectLst/>
                <a:latin typeface="Menlo" panose="020B0609030804020204" pitchFamily="49" charset="0"/>
              </a:rPr>
              <a:t>    </a:t>
            </a:r>
            <a:r>
              <a:rPr lang="en-GB" sz="1050" b="0" dirty="0" err="1">
                <a:solidFill>
                  <a:srgbClr val="9CDCFE"/>
                </a:solidFill>
                <a:effectLst/>
                <a:latin typeface="Menlo" panose="020B0609030804020204" pitchFamily="49" charset="0"/>
              </a:rPr>
              <a:t>transformer</a:t>
            </a:r>
            <a:r>
              <a:rPr lang="en-GB" sz="1050" b="0" dirty="0" err="1">
                <a:solidFill>
                  <a:srgbClr val="D4D4D4"/>
                </a:solidFill>
                <a:effectLst/>
                <a:latin typeface="Menlo" panose="020B0609030804020204" pitchFamily="49" charset="0"/>
              </a:rPr>
              <a:t>.</a:t>
            </a:r>
            <a:r>
              <a:rPr lang="en-GB" sz="1050" b="0" dirty="0" err="1">
                <a:solidFill>
                  <a:srgbClr val="DCDCAA"/>
                </a:solidFill>
                <a:effectLst/>
                <a:latin typeface="Menlo" panose="020B0609030804020204" pitchFamily="49" charset="0"/>
              </a:rPr>
              <a:t>transform</a:t>
            </a:r>
            <a:r>
              <a:rPr lang="en-GB" sz="1050" b="0" dirty="0">
                <a:solidFill>
                  <a:srgbClr val="D4D4D4"/>
                </a:solidFill>
                <a:effectLst/>
                <a:latin typeface="Menlo" panose="020B0609030804020204" pitchFamily="49" charset="0"/>
              </a:rPr>
              <a:t>(</a:t>
            </a:r>
            <a:r>
              <a:rPr lang="en-GB" sz="1050" b="0" dirty="0" err="1">
                <a:solidFill>
                  <a:srgbClr val="D4D4D4"/>
                </a:solidFill>
                <a:effectLst/>
                <a:latin typeface="Menlo" panose="020B0609030804020204" pitchFamily="49" charset="0"/>
              </a:rPr>
              <a:t>sourceContent</a:t>
            </a:r>
            <a:r>
              <a:rPr lang="en-GB" sz="1050" b="0" dirty="0">
                <a:solidFill>
                  <a:srgbClr val="D4D4D4"/>
                </a:solidFill>
                <a:effectLst/>
                <a:latin typeface="Menlo" panose="020B0609030804020204" pitchFamily="49" charset="0"/>
              </a:rPr>
              <a:t>, result);</a:t>
            </a:r>
          </a:p>
          <a:p>
            <a:r>
              <a:rPr lang="en-GB" sz="1050" b="0" dirty="0">
                <a:solidFill>
                  <a:srgbClr val="D4D4D4"/>
                </a:solidFill>
                <a:effectLst/>
                <a:latin typeface="Menlo" panose="020B0609030804020204" pitchFamily="49" charset="0"/>
              </a:rPr>
              <a:t>  }</a:t>
            </a:r>
          </a:p>
          <a:p>
            <a:r>
              <a:rPr lang="en-GB" sz="105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2434472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REST with JSON: Accessing and Manipulating Resources Over HTTP</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951778"/>
          </a:xfrm>
        </p:spPr>
        <p:txBody>
          <a:bodyPr/>
          <a:lstStyle/>
          <a:p>
            <a:pPr marL="0" indent="0">
              <a:buNone/>
            </a:pPr>
            <a:r>
              <a:rPr lang="en-GB" dirty="0">
                <a:effectLst/>
                <a:latin typeface="Helvetica Neue" panose="02000503000000020004" pitchFamily="2" charset="0"/>
              </a:rPr>
              <a:t>REST (Representational State Transfer) is an architectural style for building web services that use HTTP methods to access and manipulate resources. It uses JSON for message formatting and is commonly used in web applications for simple data exchange.</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3130435"/>
            <a:ext cx="5342048" cy="296993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JSON: REST uses JSON for message formatting, allowing simple data structures to be exchanged between applications.</a:t>
            </a:r>
          </a:p>
          <a:p>
            <a:r>
              <a:rPr lang="en-GB" dirty="0">
                <a:effectLst/>
                <a:latin typeface="Helvetica Neue" panose="02000503000000020004" pitchFamily="2" charset="0"/>
              </a:rPr>
              <a:t>HTTP methods: RESTful APIs use HTTP methods, such as GET, POST, PUT, and DELETE, to access and manipulate resources.</a:t>
            </a:r>
          </a:p>
        </p:txBody>
      </p:sp>
      <p:sp>
        <p:nvSpPr>
          <p:cNvPr id="11" name="TextBox 10">
            <a:extLst>
              <a:ext uri="{FF2B5EF4-FFF2-40B4-BE49-F238E27FC236}">
                <a16:creationId xmlns:a16="http://schemas.microsoft.com/office/drawing/2014/main" id="{E00141DF-793F-84B0-2FCF-F3CE46FD5D1D}"/>
              </a:ext>
            </a:extLst>
          </p:cNvPr>
          <p:cNvSpPr txBox="1"/>
          <p:nvPr/>
        </p:nvSpPr>
        <p:spPr>
          <a:xfrm>
            <a:off x="7752522" y="3216728"/>
            <a:ext cx="4439478" cy="1169551"/>
          </a:xfrm>
          <a:prstGeom prst="rect">
            <a:avLst/>
          </a:prstGeom>
          <a:solidFill>
            <a:schemeClr val="tx1">
              <a:lumMod val="85000"/>
              <a:lumOff val="15000"/>
            </a:schemeClr>
          </a:solidFill>
        </p:spPr>
        <p:txBody>
          <a:bodyPr wrap="square" anchor="ctr">
            <a:spAutoFit/>
          </a:bodyPr>
          <a:lstStyle/>
          <a:p>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"id"</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"1"</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"name"</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"John Doe"</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"email"</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johndoe@example.com</a:t>
            </a:r>
            <a:r>
              <a:rPr lang="en-GB" sz="1400" b="0" dirty="0">
                <a:solidFill>
                  <a:srgbClr val="CE9178"/>
                </a:solidFill>
                <a:effectLst/>
                <a:latin typeface="Menlo" panose="020B0609030804020204" pitchFamily="49" charset="0"/>
              </a:rPr>
              <a:t>"</a:t>
            </a:r>
            <a:endParaRPr lang="en-GB" sz="1400" b="0" dirty="0">
              <a:solidFill>
                <a:srgbClr val="D4D4D4"/>
              </a:solidFill>
              <a:effectLst/>
              <a:latin typeface="Menlo" panose="020B0609030804020204" pitchFamily="49" charset="0"/>
            </a:endParaRP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497692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Accessing a REST API in Node.js:</a:t>
            </a:r>
            <a:br>
              <a:rPr lang="en-GB" dirty="0"/>
            </a:br>
            <a:r>
              <a:rPr lang="en-GB" dirty="0"/>
              <a:t>Using the Request Module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951778"/>
          </a:xfrm>
        </p:spPr>
        <p:txBody>
          <a:bodyPr/>
          <a:lstStyle/>
          <a:p>
            <a:pPr marL="0" indent="0">
              <a:buNone/>
            </a:pPr>
            <a:r>
              <a:rPr lang="en-GB" dirty="0">
                <a:effectLst/>
                <a:latin typeface="Helvetica Neue" panose="02000503000000020004" pitchFamily="2" charset="0"/>
              </a:rPr>
              <a:t>Node.js provides a powerful platform for building web applications that consume RESTful APIs. The request module is a popular module for making HTTP requests to RESTful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46</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878563"/>
            <a:ext cx="11362611" cy="1995587"/>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Request Module: The request module is a popular module for making HTTP requests to RESTful APIs. It provides an easy-to-use API for making GET, POST, PUT, and DELETE requests to a RESTful API.</a:t>
            </a:r>
          </a:p>
          <a:p>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 web application that accesses a RESTful API to retrieve or update data may use the request module in Node.js to make HTTP requests to the API.</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Alternatives: Other popular modules for making HTTP requests in Node.js include </a:t>
            </a:r>
            <a:r>
              <a:rPr lang="en-GB" dirty="0" err="1">
                <a:effectLst/>
                <a:latin typeface="Helvetica Neue" panose="02000503000000020004" pitchFamily="2" charset="0"/>
              </a:rPr>
              <a:t>Axios</a:t>
            </a:r>
            <a:r>
              <a:rPr lang="en-GB" dirty="0">
                <a:effectLst/>
                <a:latin typeface="Helvetica Neue" panose="02000503000000020004" pitchFamily="2" charset="0"/>
              </a:rPr>
              <a:t>, </a:t>
            </a:r>
            <a:r>
              <a:rPr lang="en-GB" dirty="0" err="1">
                <a:effectLst/>
                <a:latin typeface="Helvetica Neue" panose="02000503000000020004" pitchFamily="2" charset="0"/>
              </a:rPr>
              <a:t>SuperAgent</a:t>
            </a:r>
            <a:r>
              <a:rPr lang="en-GB" dirty="0">
                <a:effectLst/>
                <a:latin typeface="Helvetica Neue" panose="02000503000000020004" pitchFamily="2" charset="0"/>
              </a:rPr>
              <a:t>, and Node-fetch.</a:t>
            </a:r>
          </a:p>
        </p:txBody>
      </p:sp>
      <p:sp>
        <p:nvSpPr>
          <p:cNvPr id="11" name="TextBox 10">
            <a:extLst>
              <a:ext uri="{FF2B5EF4-FFF2-40B4-BE49-F238E27FC236}">
                <a16:creationId xmlns:a16="http://schemas.microsoft.com/office/drawing/2014/main" id="{E00141DF-793F-84B0-2FCF-F3CE46FD5D1D}"/>
              </a:ext>
            </a:extLst>
          </p:cNvPr>
          <p:cNvSpPr txBox="1"/>
          <p:nvPr/>
        </p:nvSpPr>
        <p:spPr>
          <a:xfrm>
            <a:off x="0" y="5042118"/>
            <a:ext cx="12192000" cy="1815882"/>
          </a:xfrm>
          <a:prstGeom prst="rect">
            <a:avLst/>
          </a:prstGeom>
          <a:solidFill>
            <a:schemeClr val="tx1">
              <a:lumMod val="85000"/>
              <a:lumOff val="15000"/>
            </a:schemeClr>
          </a:solidFill>
        </p:spPr>
        <p:txBody>
          <a:bodyPr wrap="square" anchor="ctr">
            <a:spAutoFit/>
          </a:bodyPr>
          <a:lstStyle/>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a:solidFill>
                  <a:srgbClr val="4FC1FF"/>
                </a:solidFill>
                <a:effectLst/>
                <a:latin typeface="Menlo" panose="020B0609030804020204" pitchFamily="49" charset="0"/>
              </a:rPr>
              <a:t>request</a:t>
            </a:r>
            <a:r>
              <a:rPr lang="en-GB" sz="1400" b="0" dirty="0">
                <a:solidFill>
                  <a:srgbClr val="D4D4D4"/>
                </a:solidFill>
                <a:effectLst/>
                <a:latin typeface="Menlo" panose="020B0609030804020204" pitchFamily="49" charset="0"/>
              </a:rPr>
              <a:t> = </a:t>
            </a:r>
            <a:r>
              <a:rPr lang="en-GB" sz="1400" b="0" dirty="0">
                <a:solidFill>
                  <a:srgbClr val="DCDCAA"/>
                </a:solidFill>
                <a:effectLst/>
                <a:latin typeface="Menlo" panose="020B0609030804020204" pitchFamily="49" charset="0"/>
              </a:rPr>
              <a:t>require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'request'</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DCDCAA"/>
                </a:solidFill>
                <a:effectLst/>
                <a:latin typeface="Menlo" panose="020B0609030804020204" pitchFamily="49" charset="0"/>
              </a:rPr>
              <a:t>request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'https://</a:t>
            </a:r>
            <a:r>
              <a:rPr lang="en-GB" sz="1400" b="0" dirty="0" err="1">
                <a:solidFill>
                  <a:srgbClr val="CE9178"/>
                </a:solidFill>
                <a:effectLst/>
                <a:latin typeface="Menlo" panose="020B0609030804020204" pitchFamily="49" charset="0"/>
              </a:rPr>
              <a:t>jsonplaceholder.typicode.com</a:t>
            </a:r>
            <a:r>
              <a:rPr lang="en-GB" sz="1400" b="0" dirty="0">
                <a:solidFill>
                  <a:srgbClr val="CE9178"/>
                </a:solidFill>
                <a:effectLst/>
                <a:latin typeface="Menlo" panose="020B0609030804020204" pitchFamily="49" charset="0"/>
              </a:rPr>
              <a:t>/posts/1'</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json</a:t>
            </a:r>
            <a:r>
              <a:rPr lang="en-GB" sz="1400" b="0" dirty="0">
                <a:solidFill>
                  <a:srgbClr val="9CDCFE"/>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true</a:t>
            </a:r>
            <a:r>
              <a:rPr lang="en-GB" sz="1400" b="0" dirty="0">
                <a:solidFill>
                  <a:srgbClr val="D4D4D4"/>
                </a:solidFill>
                <a:effectLst/>
                <a:latin typeface="Menlo" panose="020B0609030804020204" pitchFamily="49" charset="0"/>
              </a:rPr>
              <a:t> }, (</a:t>
            </a:r>
            <a:r>
              <a:rPr lang="en-GB" sz="1400" b="0" dirty="0">
                <a:solidFill>
                  <a:srgbClr val="9CDCFE"/>
                </a:solidFill>
                <a:effectLst/>
                <a:latin typeface="Menlo" panose="020B0609030804020204" pitchFamily="49" charset="0"/>
              </a:rPr>
              <a:t>err</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res</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body</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=&gt;</a:t>
            </a:r>
            <a:r>
              <a:rPr lang="en-GB" sz="1400" b="0" dirty="0">
                <a:solidFill>
                  <a:srgbClr val="D4D4D4"/>
                </a:solidFill>
                <a:effectLst/>
                <a:latin typeface="Menlo" panose="020B0609030804020204" pitchFamily="49" charset="0"/>
              </a:rPr>
              <a:t> {</a:t>
            </a:r>
          </a:p>
          <a:p>
            <a:r>
              <a:rPr lang="en-GB" sz="1400" b="0" dirty="0">
                <a:solidFill>
                  <a:srgbClr val="C586C0"/>
                </a:solidFill>
                <a:effectLst/>
                <a:latin typeface="Menlo" panose="020B0609030804020204" pitchFamily="49" charset="0"/>
              </a:rPr>
              <a:t>  if</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err</a:t>
            </a:r>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return</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err</a:t>
            </a:r>
            <a:r>
              <a:rPr lang="en-GB" sz="1400" b="0" dirty="0">
                <a:solidFill>
                  <a:srgbClr val="D4D4D4"/>
                </a:solidFill>
                <a:effectLst/>
                <a:latin typeface="Menlo" panose="020B0609030804020204" pitchFamily="49" charset="0"/>
              </a:rPr>
              <a: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body</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endParaRPr lang="en-GB" sz="14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380136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Providing a RESTful API in Node.js:</a:t>
            </a:r>
            <a:br>
              <a:rPr lang="en-GB" dirty="0"/>
            </a:br>
            <a:r>
              <a:rPr lang="en-GB" dirty="0"/>
              <a:t>Using </a:t>
            </a:r>
            <a:r>
              <a:rPr lang="en-GB" dirty="0" err="1"/>
              <a:t>Express.js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178657"/>
            <a:ext cx="5858884" cy="699906"/>
          </a:xfrm>
        </p:spPr>
        <p:txBody>
          <a:bodyPr/>
          <a:lstStyle/>
          <a:p>
            <a:pPr marL="0" indent="0">
              <a:buNone/>
            </a:pPr>
            <a:r>
              <a:rPr lang="en-GB" dirty="0">
                <a:effectLst/>
                <a:latin typeface="Helvetica Neue" panose="02000503000000020004" pitchFamily="2" charset="0"/>
              </a:rPr>
              <a:t>Node.js provides a powerful platform for building web applications that provide a RESTful API. </a:t>
            </a:r>
            <a:r>
              <a:rPr lang="en-GB" dirty="0" err="1">
                <a:effectLst/>
                <a:latin typeface="Helvetica Neue" panose="02000503000000020004" pitchFamily="2" charset="0"/>
              </a:rPr>
              <a:t>Express.js</a:t>
            </a:r>
            <a:r>
              <a:rPr lang="en-GB" dirty="0">
                <a:effectLst/>
                <a:latin typeface="Helvetica Neue" panose="02000503000000020004" pitchFamily="2" charset="0"/>
              </a:rPr>
              <a:t> is a popular framework for building web applications in Node.js that support RESTful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47</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6" y="3342429"/>
            <a:ext cx="5681306" cy="3515571"/>
          </a:xfrm>
          <a:prstGeom prst="rect">
            <a:avLst/>
          </a:prstGeom>
          <a:solidFill>
            <a:schemeClr val="bg1"/>
          </a:solidFill>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Express.js</a:t>
            </a:r>
            <a:r>
              <a:rPr lang="en-GB" dirty="0">
                <a:effectLst/>
                <a:latin typeface="Helvetica Neue" panose="02000503000000020004" pitchFamily="2" charset="0"/>
              </a:rPr>
              <a:t>: </a:t>
            </a:r>
            <a:r>
              <a:rPr lang="en-GB" dirty="0" err="1">
                <a:effectLst/>
                <a:latin typeface="Helvetica Neue" panose="02000503000000020004" pitchFamily="2" charset="0"/>
              </a:rPr>
              <a:t>Express.js</a:t>
            </a:r>
            <a:r>
              <a:rPr lang="en-GB" dirty="0">
                <a:effectLst/>
                <a:latin typeface="Helvetica Neue" panose="02000503000000020004" pitchFamily="2" charset="0"/>
              </a:rPr>
              <a:t> is a popular framework for building web applications in Node.js that support RESTful APIs. It provides an easy-to-use API for defining routes and handling HTTP requests.</a:t>
            </a:r>
          </a:p>
          <a:p>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 web application that provides a RESTful API to allow client applications to retrieve or update data may use </a:t>
            </a:r>
            <a:r>
              <a:rPr lang="en-GB" dirty="0" err="1">
                <a:effectLst/>
                <a:latin typeface="Helvetica Neue" panose="02000503000000020004" pitchFamily="2" charset="0"/>
              </a:rPr>
              <a:t>Express.js</a:t>
            </a:r>
            <a:r>
              <a:rPr lang="en-GB" dirty="0">
                <a:effectLst/>
                <a:latin typeface="Helvetica Neue" panose="02000503000000020004" pitchFamily="2" charset="0"/>
              </a:rPr>
              <a:t> in Node.js to define routes and handle HTTP requests.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Alternatives: Other popular frameworks for building web applications in Node.js that support RESTful APIs include </a:t>
            </a:r>
            <a:r>
              <a:rPr lang="en-GB" dirty="0" err="1">
                <a:effectLst/>
                <a:latin typeface="Helvetica Neue" panose="02000503000000020004" pitchFamily="2" charset="0"/>
              </a:rPr>
              <a:t>Hapi.js</a:t>
            </a:r>
            <a:r>
              <a:rPr lang="en-GB" dirty="0">
                <a:effectLst/>
                <a:latin typeface="Helvetica Neue" panose="02000503000000020004" pitchFamily="2" charset="0"/>
              </a:rPr>
              <a:t>, </a:t>
            </a:r>
            <a:r>
              <a:rPr lang="en-GB" dirty="0" err="1">
                <a:effectLst/>
                <a:latin typeface="Helvetica Neue" panose="02000503000000020004" pitchFamily="2" charset="0"/>
              </a:rPr>
              <a:t>Koa.js</a:t>
            </a:r>
            <a:r>
              <a:rPr lang="en-GB" dirty="0">
                <a:effectLst/>
                <a:latin typeface="Helvetica Neue" panose="02000503000000020004" pitchFamily="2" charset="0"/>
              </a:rPr>
              <a:t>, and </a:t>
            </a:r>
            <a:r>
              <a:rPr lang="en-GB" dirty="0" err="1">
                <a:effectLst/>
                <a:latin typeface="Helvetica Neue" panose="02000503000000020004" pitchFamily="2" charset="0"/>
              </a:rPr>
              <a:t>Nest.js</a:t>
            </a:r>
            <a:r>
              <a:rPr lang="en-GB" dirty="0">
                <a:effectLst/>
                <a:latin typeface="Helvetica Neue" panose="02000503000000020004" pitchFamily="2" charset="0"/>
              </a:rPr>
              <a:t>.</a:t>
            </a:r>
          </a:p>
        </p:txBody>
      </p:sp>
      <p:sp>
        <p:nvSpPr>
          <p:cNvPr id="11" name="TextBox 10">
            <a:extLst>
              <a:ext uri="{FF2B5EF4-FFF2-40B4-BE49-F238E27FC236}">
                <a16:creationId xmlns:a16="http://schemas.microsoft.com/office/drawing/2014/main" id="{E00141DF-793F-84B0-2FCF-F3CE46FD5D1D}"/>
              </a:ext>
            </a:extLst>
          </p:cNvPr>
          <p:cNvSpPr txBox="1"/>
          <p:nvPr/>
        </p:nvSpPr>
        <p:spPr>
          <a:xfrm>
            <a:off x="6456459" y="2025908"/>
            <a:ext cx="5735541" cy="4832092"/>
          </a:xfrm>
          <a:prstGeom prst="rect">
            <a:avLst/>
          </a:prstGeom>
          <a:solidFill>
            <a:schemeClr val="tx1">
              <a:lumMod val="85000"/>
              <a:lumOff val="15000"/>
            </a:schemeClr>
          </a:solidFill>
        </p:spPr>
        <p:txBody>
          <a:bodyPr wrap="square" anchor="ctr">
            <a:spAutoFit/>
          </a:bodyPr>
          <a:lstStyle/>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express = </a:t>
            </a:r>
            <a:r>
              <a:rPr lang="en-GB" sz="1400" b="0" dirty="0">
                <a:solidFill>
                  <a:srgbClr val="DCDCAA"/>
                </a:solidFill>
                <a:effectLst/>
                <a:latin typeface="Menlo" panose="020B0609030804020204" pitchFamily="49" charset="0"/>
              </a:rPr>
              <a:t>require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'express'</a:t>
            </a:r>
            <a:r>
              <a:rPr lang="en-GB" sz="1400" b="0" dirty="0">
                <a:solidFill>
                  <a:srgbClr val="D4D4D4"/>
                </a:solidFill>
                <a:effectLst/>
                <a:latin typeface="Menlo" panose="020B0609030804020204" pitchFamily="49" charset="0"/>
              </a:rPr>
              <a:t>);</a:t>
            </a:r>
          </a:p>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app = </a:t>
            </a:r>
            <a:r>
              <a:rPr lang="en-GB" sz="1400" b="0" dirty="0">
                <a:solidFill>
                  <a:srgbClr val="DCDCAA"/>
                </a:solidFill>
                <a:effectLst/>
                <a:latin typeface="Menlo" panose="020B0609030804020204" pitchFamily="49" charset="0"/>
              </a:rPr>
              <a:t>express</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app</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get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req</a:t>
            </a:r>
            <a:r>
              <a:rPr lang="en-GB" sz="1400" b="0" dirty="0">
                <a:solidFill>
                  <a:srgbClr val="D4D4D4"/>
                </a:solidFill>
                <a:effectLst/>
                <a:latin typeface="Menlo" panose="020B0609030804020204" pitchFamily="49" charset="0"/>
              </a:rPr>
              <a:t>, res) =&gt; {</a:t>
            </a:r>
          </a:p>
          <a:p>
            <a:r>
              <a:rPr lang="en-GB" sz="1400" b="0" dirty="0" err="1">
                <a:solidFill>
                  <a:srgbClr val="9CDCFE"/>
                </a:solidFill>
                <a:effectLst/>
                <a:latin typeface="Menlo" panose="020B0609030804020204" pitchFamily="49" charset="0"/>
              </a:rPr>
              <a:t>res</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send</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'Hello World!'</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app</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get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'/users/:</a:t>
            </a:r>
            <a:r>
              <a:rPr lang="en-GB" sz="1400" b="0" dirty="0" err="1">
                <a:solidFill>
                  <a:srgbClr val="CE9178"/>
                </a:solidFill>
                <a:effectLst/>
                <a:latin typeface="Menlo" panose="020B0609030804020204" pitchFamily="49" charset="0"/>
              </a:rPr>
              <a:t>userId</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req</a:t>
            </a:r>
            <a:r>
              <a:rPr lang="en-GB" sz="1400" b="0" dirty="0">
                <a:solidFill>
                  <a:srgbClr val="D4D4D4"/>
                </a:solidFill>
                <a:effectLst/>
                <a:latin typeface="Menlo" panose="020B0609030804020204" pitchFamily="49" charset="0"/>
              </a:rPr>
              <a:t>, res) =&gt; {</a:t>
            </a:r>
          </a:p>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userId</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req</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params</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userId</a:t>
            </a:r>
            <a:r>
              <a:rPr lang="en-GB" sz="1400" b="0" dirty="0">
                <a:solidFill>
                  <a:srgbClr val="D4D4D4"/>
                </a:solidFill>
                <a:effectLst/>
                <a:latin typeface="Menlo" panose="020B0609030804020204" pitchFamily="49" charset="0"/>
              </a:rPr>
              <a:t>;</a:t>
            </a:r>
          </a:p>
          <a:p>
            <a:r>
              <a:rPr lang="en-GB" sz="1400" b="0" dirty="0">
                <a:solidFill>
                  <a:srgbClr val="6A9955"/>
                </a:solidFill>
                <a:effectLst/>
                <a:latin typeface="Menlo" panose="020B0609030804020204" pitchFamily="49" charset="0"/>
              </a:rPr>
              <a:t>// Retrieve user information from database</a:t>
            </a:r>
            <a:endParaRPr lang="en-GB" sz="1400" b="0" dirty="0">
              <a:solidFill>
                <a:srgbClr val="D4D4D4"/>
              </a:solidFill>
              <a:effectLst/>
              <a:latin typeface="Menlo" panose="020B0609030804020204" pitchFamily="49" charset="0"/>
            </a:endParaRPr>
          </a:p>
          <a:p>
            <a:r>
              <a:rPr lang="en-GB" sz="1400" b="0" dirty="0" err="1">
                <a:solidFill>
                  <a:srgbClr val="9CDCFE"/>
                </a:solidFill>
                <a:effectLst/>
                <a:latin typeface="Menlo" panose="020B0609030804020204" pitchFamily="49" charset="0"/>
              </a:rPr>
              <a:t>res</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json</a:t>
            </a:r>
            <a:r>
              <a:rPr lang="en-GB" sz="1400" b="0" dirty="0">
                <a:solidFill>
                  <a:srgbClr val="D4D4D4"/>
                </a:solidFill>
                <a:effectLst/>
                <a:latin typeface="Menlo" panose="020B0609030804020204" pitchFamily="49" charset="0"/>
              </a:rPr>
              <a:t>({ id</a:t>
            </a:r>
            <a:r>
              <a:rPr lang="en-GB" sz="1400" b="0" dirty="0">
                <a:solidFill>
                  <a:srgbClr val="C586C0"/>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userId</a:t>
            </a:r>
            <a:r>
              <a:rPr lang="en-GB" sz="1400" b="0" dirty="0">
                <a:solidFill>
                  <a:srgbClr val="D4D4D4"/>
                </a:solidFill>
                <a:effectLst/>
                <a:latin typeface="Menlo" panose="020B0609030804020204" pitchFamily="49" charset="0"/>
              </a:rPr>
              <a:t>, name</a:t>
            </a:r>
            <a:r>
              <a:rPr lang="en-GB" sz="1400" b="0" dirty="0">
                <a:solidFill>
                  <a:srgbClr val="C586C0"/>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'John Doe'</a:t>
            </a:r>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app</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post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'/users'</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req</a:t>
            </a:r>
            <a:r>
              <a:rPr lang="en-GB" sz="1400" b="0" dirty="0">
                <a:solidFill>
                  <a:srgbClr val="D4D4D4"/>
                </a:solidFill>
                <a:effectLst/>
                <a:latin typeface="Menlo" panose="020B0609030804020204" pitchFamily="49" charset="0"/>
              </a:rPr>
              <a:t>, res) =&gt; {</a:t>
            </a:r>
          </a:p>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newUser</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req</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body</a:t>
            </a:r>
            <a:r>
              <a:rPr lang="en-GB" sz="1400" b="0" dirty="0">
                <a:solidFill>
                  <a:srgbClr val="D4D4D4"/>
                </a:solidFill>
                <a:effectLst/>
                <a:latin typeface="Menlo" panose="020B0609030804020204" pitchFamily="49" charset="0"/>
              </a:rPr>
              <a:t>;</a:t>
            </a:r>
          </a:p>
          <a:p>
            <a:r>
              <a:rPr lang="en-GB" sz="1400" b="0" dirty="0">
                <a:solidFill>
                  <a:srgbClr val="6A9955"/>
                </a:solidFill>
                <a:effectLst/>
                <a:latin typeface="Menlo" panose="020B0609030804020204" pitchFamily="49" charset="0"/>
              </a:rPr>
              <a:t>// Save new user information to database</a:t>
            </a:r>
            <a:endParaRPr lang="en-GB" sz="1400" b="0" dirty="0">
              <a:solidFill>
                <a:srgbClr val="D4D4D4"/>
              </a:solidFill>
              <a:effectLst/>
              <a:latin typeface="Menlo" panose="020B0609030804020204" pitchFamily="49" charset="0"/>
            </a:endParaRPr>
          </a:p>
          <a:p>
            <a:r>
              <a:rPr lang="en-GB" sz="1400" b="0" dirty="0" err="1">
                <a:solidFill>
                  <a:srgbClr val="9CDCFE"/>
                </a:solidFill>
                <a:effectLst/>
                <a:latin typeface="Menlo" panose="020B0609030804020204" pitchFamily="49" charset="0"/>
              </a:rPr>
              <a:t>res</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status</a:t>
            </a:r>
            <a:r>
              <a:rPr lang="en-GB" sz="1400" b="0" dirty="0">
                <a:solidFill>
                  <a:srgbClr val="D4D4D4"/>
                </a:solidFill>
                <a:effectLst/>
                <a:latin typeface="Menlo" panose="020B0609030804020204" pitchFamily="49" charset="0"/>
              </a:rPr>
              <a:t>(</a:t>
            </a:r>
            <a:r>
              <a:rPr lang="en-GB" sz="1400" b="0" dirty="0">
                <a:solidFill>
                  <a:srgbClr val="B5CEA8"/>
                </a:solidFill>
                <a:effectLst/>
                <a:latin typeface="Menlo" panose="020B0609030804020204" pitchFamily="49" charset="0"/>
              </a:rPr>
              <a:t>201</a:t>
            </a:r>
            <a:r>
              <a:rPr lang="en-GB" sz="1400" b="0" dirty="0">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json</a:t>
            </a:r>
            <a:r>
              <a:rPr lang="en-GB" sz="1400" b="0" dirty="0">
                <a:solidFill>
                  <a:srgbClr val="D4D4D4"/>
                </a:solidFill>
                <a:effectLst/>
                <a:latin typeface="Menlo" panose="020B0609030804020204" pitchFamily="49" charset="0"/>
              </a:rPr>
              <a:t>(</a:t>
            </a:r>
            <a:r>
              <a:rPr lang="en-GB" sz="1400" b="0" dirty="0" err="1">
                <a:solidFill>
                  <a:srgbClr val="D4D4D4"/>
                </a:solidFill>
                <a:effectLst/>
                <a:latin typeface="Menlo" panose="020B0609030804020204" pitchFamily="49" charset="0"/>
              </a:rPr>
              <a:t>newUser</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app</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listen</a:t>
            </a:r>
            <a:r>
              <a:rPr lang="en-GB" sz="1400" b="0" dirty="0">
                <a:solidFill>
                  <a:srgbClr val="D4D4D4"/>
                </a:solidFill>
                <a:effectLst/>
                <a:latin typeface="Menlo" panose="020B0609030804020204" pitchFamily="49" charset="0"/>
              </a:rPr>
              <a:t>(</a:t>
            </a:r>
            <a:r>
              <a:rPr lang="en-GB" sz="1400" b="0" dirty="0">
                <a:solidFill>
                  <a:srgbClr val="B5CEA8"/>
                </a:solidFill>
                <a:effectLst/>
                <a:latin typeface="Menlo" panose="020B0609030804020204" pitchFamily="49" charset="0"/>
              </a:rPr>
              <a:t>3000</a:t>
            </a:r>
            <a:r>
              <a:rPr lang="en-GB" sz="1400" b="0" dirty="0">
                <a:solidFill>
                  <a:srgbClr val="D4D4D4"/>
                </a:solidFill>
                <a:effectLst/>
                <a:latin typeface="Menlo" panose="020B0609030804020204" pitchFamily="49" charset="0"/>
              </a:rPr>
              <a:t>, () =&gt; {</a:t>
            </a:r>
          </a:p>
          <a:p>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'Example app listening on port 3000!'</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4115365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Accessing a REST API in Java: </a:t>
            </a:r>
            <a:br>
              <a:rPr lang="en-GB" dirty="0"/>
            </a:br>
            <a:r>
              <a:rPr lang="en-GB" dirty="0"/>
              <a:t>Using the </a:t>
            </a:r>
            <a:r>
              <a:rPr lang="en-GB" dirty="0" err="1"/>
              <a:t>Java.net.HttpURLConnection</a:t>
            </a:r>
            <a:r>
              <a:rPr lang="en-GB" dirty="0"/>
              <a:t> Class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628153"/>
          </a:xfrm>
        </p:spPr>
        <p:txBody>
          <a:bodyPr/>
          <a:lstStyle/>
          <a:p>
            <a:pPr marL="0" indent="0">
              <a:buNone/>
            </a:pPr>
            <a:r>
              <a:rPr lang="en-GB" dirty="0">
                <a:effectLst/>
                <a:latin typeface="Helvetica Neue" panose="02000503000000020004" pitchFamily="2" charset="0"/>
              </a:rPr>
              <a:t>Java provides a robust platform for building enterprise applications that consume RESTful APIs. The </a:t>
            </a:r>
            <a:r>
              <a:rPr lang="en-GB" dirty="0" err="1">
                <a:effectLst/>
                <a:latin typeface="Helvetica Neue" panose="02000503000000020004" pitchFamily="2" charset="0"/>
              </a:rPr>
              <a:t>Java.net.HttpURLConnection</a:t>
            </a:r>
            <a:r>
              <a:rPr lang="en-GB" dirty="0">
                <a:effectLst/>
                <a:latin typeface="Helvetica Neue" panose="02000503000000020004" pitchFamily="2" charset="0"/>
              </a:rPr>
              <a:t> class is a built-in class for making HTTP requests to RESTful APIs.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48</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878563"/>
            <a:ext cx="11362611" cy="1995587"/>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Java.net.HttpURLConnection</a:t>
            </a:r>
            <a:r>
              <a:rPr lang="en-GB" dirty="0">
                <a:effectLst/>
                <a:latin typeface="Helvetica Neue" panose="02000503000000020004" pitchFamily="2" charset="0"/>
              </a:rPr>
              <a:t> Class: The </a:t>
            </a:r>
            <a:r>
              <a:rPr lang="en-GB" dirty="0" err="1">
                <a:effectLst/>
                <a:latin typeface="Helvetica Neue" panose="02000503000000020004" pitchFamily="2" charset="0"/>
              </a:rPr>
              <a:t>Java.net.HttpURLConnection</a:t>
            </a:r>
            <a:r>
              <a:rPr lang="en-GB" dirty="0">
                <a:effectLst/>
                <a:latin typeface="Helvetica Neue" panose="02000503000000020004" pitchFamily="2" charset="0"/>
              </a:rPr>
              <a:t> class is a built-in class for making HTTP requests to RESTful APIs. It provides an easy-to-use API for making GET, POST, PUT, and DELETE requests to a RESTful API.</a:t>
            </a:r>
          </a:p>
          <a:p>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An enterprise application that accesses a RESTful API to exchange complex data structures, such as financial statements and trading data, may use the </a:t>
            </a:r>
            <a:r>
              <a:rPr lang="en-GB" dirty="0" err="1">
                <a:effectLst/>
                <a:latin typeface="Helvetica Neue" panose="02000503000000020004" pitchFamily="2" charset="0"/>
              </a:rPr>
              <a:t>Java.net.HttpURLConnection</a:t>
            </a:r>
            <a:r>
              <a:rPr lang="en-GB" dirty="0">
                <a:effectLst/>
                <a:latin typeface="Helvetica Neue" panose="02000503000000020004" pitchFamily="2" charset="0"/>
              </a:rPr>
              <a:t> class to make HTTP requests to the API.</a:t>
            </a:r>
          </a:p>
          <a:p>
            <a:pPr marL="0" indent="0">
              <a:buNone/>
            </a:pPr>
            <a:endParaRPr lang="en-GB" dirty="0">
              <a:latin typeface="Helvetica Neue" panose="02000503000000020004" pitchFamily="2" charset="0"/>
            </a:endParaRPr>
          </a:p>
          <a:p>
            <a:pPr marL="0" indent="0">
              <a:buNone/>
            </a:pPr>
            <a:r>
              <a:rPr lang="en-GB" dirty="0">
                <a:effectLst/>
                <a:latin typeface="Helvetica Neue" panose="02000503000000020004" pitchFamily="2" charset="0"/>
              </a:rPr>
              <a:t>Alternatives: Other popular libraries for making HTTP requests in Java include Apache </a:t>
            </a:r>
            <a:r>
              <a:rPr lang="en-GB" dirty="0" err="1">
                <a:effectLst/>
                <a:latin typeface="Helvetica Neue" panose="02000503000000020004" pitchFamily="2" charset="0"/>
              </a:rPr>
              <a:t>HttpComponents</a:t>
            </a:r>
            <a:r>
              <a:rPr lang="en-GB" dirty="0">
                <a:effectLst/>
                <a:latin typeface="Helvetica Neue" panose="02000503000000020004" pitchFamily="2" charset="0"/>
              </a:rPr>
              <a:t>, </a:t>
            </a:r>
            <a:r>
              <a:rPr lang="en-GB" dirty="0" err="1">
                <a:effectLst/>
                <a:latin typeface="Helvetica Neue" panose="02000503000000020004" pitchFamily="2" charset="0"/>
              </a:rPr>
              <a:t>OkHttp</a:t>
            </a:r>
            <a:r>
              <a:rPr lang="en-GB" dirty="0">
                <a:effectLst/>
                <a:latin typeface="Helvetica Neue" panose="02000503000000020004" pitchFamily="2" charset="0"/>
              </a:rPr>
              <a:t>, and Spring </a:t>
            </a:r>
            <a:r>
              <a:rPr lang="en-GB" dirty="0" err="1">
                <a:effectLst/>
                <a:latin typeface="Helvetica Neue" panose="02000503000000020004" pitchFamily="2" charset="0"/>
              </a:rPr>
              <a:t>RestTemplate</a:t>
            </a:r>
            <a:r>
              <a:rPr lang="en-GB" dirty="0">
                <a:effectLst/>
                <a:latin typeface="Helvetica Neue" panose="02000503000000020004" pitchFamily="2" charset="0"/>
              </a:rPr>
              <a:t>.</a:t>
            </a:r>
          </a:p>
          <a:p>
            <a:pPr marL="0" indent="0">
              <a:buNone/>
            </a:pPr>
            <a:endParaRPr lang="en-GB" dirty="0">
              <a:effectLst/>
              <a:latin typeface="Helvetica Neue" panose="02000503000000020004" pitchFamily="2" charset="0"/>
            </a:endParaRPr>
          </a:p>
          <a:p>
            <a:pPr marL="0" indent="0">
              <a:buNone/>
            </a:pPr>
            <a:endParaRPr lang="en-GB" dirty="0">
              <a:effectLst/>
              <a:latin typeface="Helvetica Neue" panose="02000503000000020004" pitchFamily="2" charset="0"/>
            </a:endParaRPr>
          </a:p>
        </p:txBody>
      </p:sp>
    </p:spTree>
    <p:extLst>
      <p:ext uri="{BB962C8B-B14F-4D97-AF65-F5344CB8AC3E}">
        <p14:creationId xmlns:p14="http://schemas.microsoft.com/office/powerpoint/2010/main" val="3103313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752683"/>
            <a:ext cx="10931815" cy="1179484"/>
          </a:xfrm>
        </p:spPr>
        <p:txBody>
          <a:bodyPr/>
          <a:lstStyle/>
          <a:p>
            <a:r>
              <a:rPr lang="en-GB" dirty="0"/>
              <a:t>Accessing a REST API in Java: </a:t>
            </a:r>
            <a:br>
              <a:rPr lang="en-GB" dirty="0"/>
            </a:br>
            <a:r>
              <a:rPr lang="en-GB" dirty="0"/>
              <a:t>Using the </a:t>
            </a:r>
            <a:r>
              <a:rPr lang="en-GB" dirty="0" err="1"/>
              <a:t>Java.net.HttpURLConnection</a:t>
            </a:r>
            <a:r>
              <a:rPr lang="en-GB" dirty="0"/>
              <a:t> Class</a:t>
            </a:r>
            <a:endParaRPr lang="en-DK" dirty="0"/>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49</a:t>
            </a:fld>
            <a:endParaRPr lang="en-GB" dirty="0"/>
          </a:p>
        </p:txBody>
      </p:sp>
      <p:sp>
        <p:nvSpPr>
          <p:cNvPr id="11" name="TextBox 10">
            <a:extLst>
              <a:ext uri="{FF2B5EF4-FFF2-40B4-BE49-F238E27FC236}">
                <a16:creationId xmlns:a16="http://schemas.microsoft.com/office/drawing/2014/main" id="{E00141DF-793F-84B0-2FCF-F3CE46FD5D1D}"/>
              </a:ext>
            </a:extLst>
          </p:cNvPr>
          <p:cNvSpPr txBox="1"/>
          <p:nvPr/>
        </p:nvSpPr>
        <p:spPr>
          <a:xfrm>
            <a:off x="4200939" y="1810464"/>
            <a:ext cx="7991061" cy="5047536"/>
          </a:xfrm>
          <a:prstGeom prst="rect">
            <a:avLst/>
          </a:prstGeom>
          <a:solidFill>
            <a:schemeClr val="tx1">
              <a:lumMod val="85000"/>
              <a:lumOff val="15000"/>
            </a:schemeClr>
          </a:solidFill>
        </p:spPr>
        <p:txBody>
          <a:bodyPr wrap="square" anchor="ctr">
            <a:spAutoFit/>
          </a:bodyPr>
          <a:lstStyle/>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java.net</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java.io</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569CD6"/>
                </a:solidFill>
                <a:effectLst/>
                <a:latin typeface="Menlo" panose="020B0609030804020204" pitchFamily="49" charset="0"/>
              </a:rPr>
              <a:t>public</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class</a:t>
            </a:r>
            <a:r>
              <a:rPr lang="en-GB" sz="1400" b="0" dirty="0">
                <a:solidFill>
                  <a:srgbClr val="D4D4D4"/>
                </a:solidFill>
                <a:effectLst/>
                <a:latin typeface="Menlo" panose="020B0609030804020204" pitchFamily="49" charset="0"/>
              </a:rPr>
              <a:t> </a:t>
            </a:r>
            <a:r>
              <a:rPr lang="en-GB" sz="1400" b="0" dirty="0" err="1">
                <a:solidFill>
                  <a:srgbClr val="4EC9B0"/>
                </a:solidFill>
                <a:effectLst/>
                <a:latin typeface="Menlo" panose="020B0609030804020204" pitchFamily="49" charset="0"/>
              </a:rPr>
              <a:t>HttpURLConnectionExample</a:t>
            </a:r>
            <a:r>
              <a:rPr lang="en-GB" sz="1400" b="0" dirty="0">
                <a:solidFill>
                  <a:srgbClr val="D4D4D4"/>
                </a:solidFill>
                <a:effectLst/>
                <a:latin typeface="Menlo" panose="020B0609030804020204" pitchFamily="49" charset="0"/>
              </a:rPr>
              <a:t> {</a:t>
            </a:r>
          </a:p>
          <a:p>
            <a:r>
              <a:rPr lang="en-GB" sz="1400" b="0" dirty="0">
                <a:solidFill>
                  <a:srgbClr val="569CD6"/>
                </a:solidFill>
                <a:effectLst/>
                <a:latin typeface="Menlo" panose="020B0609030804020204" pitchFamily="49" charset="0"/>
              </a:rPr>
              <a:t>  public</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static</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void</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main</a:t>
            </a:r>
            <a:r>
              <a:rPr lang="en-GB" sz="1400" b="0" dirty="0">
                <a:solidFill>
                  <a:srgbClr val="D4D4D4"/>
                </a:solidFill>
                <a:effectLst/>
                <a:latin typeface="Menlo" panose="020B0609030804020204" pitchFamily="49" charset="0"/>
              </a:rPr>
              <a:t>(</a:t>
            </a:r>
            <a:r>
              <a:rPr lang="en-GB" sz="1400" b="0" dirty="0">
                <a:solidFill>
                  <a:srgbClr val="4EC9B0"/>
                </a:solidFill>
                <a:effectLst/>
                <a:latin typeface="Menlo" panose="020B0609030804020204" pitchFamily="49" charset="0"/>
              </a:rPr>
              <a:t>String</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args</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throws</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Exception</a:t>
            </a:r>
            <a:r>
              <a:rPr lang="en-GB" sz="1400" b="0" dirty="0">
                <a:solidFill>
                  <a:srgbClr val="D4D4D4"/>
                </a:solidFill>
                <a:effectLst/>
                <a:latin typeface="Menlo" panose="020B0609030804020204" pitchFamily="49" charset="0"/>
              </a:rPr>
              <a:t> {</a:t>
            </a:r>
          </a:p>
          <a:p>
            <a:r>
              <a:rPr lang="en-GB" sz="1400" b="0" dirty="0">
                <a:solidFill>
                  <a:srgbClr val="4EC9B0"/>
                </a:solidFill>
                <a:effectLst/>
                <a:latin typeface="Menlo" panose="020B0609030804020204" pitchFamily="49" charset="0"/>
              </a:rPr>
              <a:t>    URL</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url</a:t>
            </a:r>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new</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URL</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"https://</a:t>
            </a:r>
            <a:r>
              <a:rPr lang="en-GB" sz="1400" b="0" dirty="0" err="1">
                <a:solidFill>
                  <a:srgbClr val="CE9178"/>
                </a:solidFill>
                <a:effectLst/>
                <a:latin typeface="Menlo" panose="020B0609030804020204" pitchFamily="49" charset="0"/>
              </a:rPr>
              <a:t>jsonplaceholder.typicode.com</a:t>
            </a:r>
            <a:r>
              <a:rPr lang="en-GB" sz="1400" b="0" dirty="0">
                <a:solidFill>
                  <a:srgbClr val="CE9178"/>
                </a:solidFill>
                <a:effectLst/>
                <a:latin typeface="Menlo" panose="020B0609030804020204" pitchFamily="49" charset="0"/>
              </a:rPr>
              <a:t>/posts/1"</a:t>
            </a:r>
            <a:r>
              <a:rPr lang="en-GB" sz="1400" b="0" dirty="0">
                <a:solidFill>
                  <a:srgbClr val="D4D4D4"/>
                </a:solidFill>
                <a:effectLst/>
                <a:latin typeface="Menlo" panose="020B0609030804020204" pitchFamily="49" charset="0"/>
              </a:rPr>
              <a:t>);</a:t>
            </a:r>
          </a:p>
          <a:p>
            <a:r>
              <a:rPr lang="en-GB" sz="1400" b="0" dirty="0">
                <a:solidFill>
                  <a:srgbClr val="4EC9B0"/>
                </a:solidFill>
                <a:effectLst/>
                <a:latin typeface="Menlo" panose="020B0609030804020204" pitchFamily="49" charset="0"/>
              </a:rPr>
              <a:t>    </a:t>
            </a:r>
            <a:r>
              <a:rPr lang="en-GB" sz="1400" b="0" dirty="0" err="1">
                <a:solidFill>
                  <a:srgbClr val="4EC9B0"/>
                </a:solidFill>
                <a:effectLst/>
                <a:latin typeface="Menlo" panose="020B0609030804020204" pitchFamily="49" charset="0"/>
              </a:rPr>
              <a:t>HttpURLConnection</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con</a:t>
            </a:r>
            <a:r>
              <a:rPr lang="en-GB" sz="1400" b="0" dirty="0">
                <a:solidFill>
                  <a:srgbClr val="D4D4D4"/>
                </a:solidFill>
                <a:effectLst/>
                <a:latin typeface="Menlo" panose="020B0609030804020204" pitchFamily="49" charset="0"/>
              </a:rPr>
              <a:t> = (</a:t>
            </a:r>
            <a:r>
              <a:rPr lang="en-GB" sz="1400" b="0" dirty="0" err="1">
                <a:solidFill>
                  <a:srgbClr val="D4D4D4"/>
                </a:solidFill>
                <a:effectLst/>
                <a:latin typeface="Menlo" panose="020B0609030804020204" pitchFamily="49" charset="0"/>
              </a:rPr>
              <a:t>HttpURLConnection</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url</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openConnection</a:t>
            </a:r>
            <a:r>
              <a:rPr lang="en-GB" sz="1400" b="0" dirty="0">
                <a:solidFill>
                  <a:srgbClr val="D4D4D4"/>
                </a:solidFill>
                <a:effectLst/>
                <a:latin typeface="Menlo" panose="020B0609030804020204" pitchFamily="49" charset="0"/>
              </a:rPr>
              <a:t>();</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setRequestMethod</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"GET"</a:t>
            </a:r>
            <a:r>
              <a:rPr lang="en-GB" sz="1400" b="0" dirty="0">
                <a:solidFill>
                  <a:srgbClr val="D4D4D4"/>
                </a:solidFill>
                <a:effectLst/>
                <a:latin typeface="Menlo" panose="020B0609030804020204" pitchFamily="49" charset="0"/>
              </a:rPr>
              <a:t>);</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setConnectTimeout</a:t>
            </a:r>
            <a:r>
              <a:rPr lang="en-GB" sz="1400" b="0" dirty="0">
                <a:solidFill>
                  <a:srgbClr val="D4D4D4"/>
                </a:solidFill>
                <a:effectLst/>
                <a:latin typeface="Menlo" panose="020B0609030804020204" pitchFamily="49" charset="0"/>
              </a:rPr>
              <a:t>(</a:t>
            </a:r>
            <a:r>
              <a:rPr lang="en-GB" sz="1400" b="0" dirty="0">
                <a:solidFill>
                  <a:srgbClr val="B5CEA8"/>
                </a:solidFill>
                <a:effectLst/>
                <a:latin typeface="Menlo" panose="020B0609030804020204" pitchFamily="49" charset="0"/>
              </a:rPr>
              <a:t>5000</a:t>
            </a:r>
            <a:r>
              <a:rPr lang="en-GB" sz="1400" b="0" dirty="0">
                <a:solidFill>
                  <a:srgbClr val="D4D4D4"/>
                </a:solidFill>
                <a:effectLst/>
                <a:latin typeface="Menlo" panose="020B0609030804020204" pitchFamily="49" charset="0"/>
              </a:rPr>
              <a:t>);</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setReadTimeout</a:t>
            </a:r>
            <a:r>
              <a:rPr lang="en-GB" sz="1400" b="0" dirty="0">
                <a:solidFill>
                  <a:srgbClr val="D4D4D4"/>
                </a:solidFill>
                <a:effectLst/>
                <a:latin typeface="Menlo" panose="020B0609030804020204" pitchFamily="49" charset="0"/>
              </a:rPr>
              <a:t>(</a:t>
            </a:r>
            <a:r>
              <a:rPr lang="en-GB" sz="1400" b="0" dirty="0">
                <a:solidFill>
                  <a:srgbClr val="B5CEA8"/>
                </a:solidFill>
                <a:effectLst/>
                <a:latin typeface="Menlo" panose="020B0609030804020204" pitchFamily="49" charset="0"/>
              </a:rPr>
              <a:t>5000</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    </a:t>
            </a:r>
            <a:r>
              <a:rPr lang="en-GB" sz="1400" b="0" dirty="0" err="1">
                <a:solidFill>
                  <a:srgbClr val="4EC9B0"/>
                </a:solidFill>
                <a:effectLst/>
                <a:latin typeface="Menlo" panose="020B0609030804020204" pitchFamily="49" charset="0"/>
              </a:rPr>
              <a:t>BufferedReader</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in</a:t>
            </a:r>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new</a:t>
            </a:r>
            <a:r>
              <a:rPr lang="en-GB" sz="1400" b="0" dirty="0">
                <a:solidFill>
                  <a:srgbClr val="D4D4D4"/>
                </a:solidFill>
                <a:effectLst/>
                <a:latin typeface="Menlo" panose="020B0609030804020204" pitchFamily="49" charset="0"/>
              </a:rPr>
              <a:t> </a:t>
            </a:r>
            <a:r>
              <a:rPr lang="en-GB" sz="1400" b="0" dirty="0" err="1">
                <a:solidFill>
                  <a:srgbClr val="DCDCAA"/>
                </a:solidFill>
                <a:effectLst/>
                <a:latin typeface="Menlo" panose="020B0609030804020204" pitchFamily="49" charset="0"/>
              </a:rPr>
              <a:t>BufferedReader</a:t>
            </a:r>
            <a:r>
              <a:rPr lang="en-GB" sz="1400" b="0" dirty="0">
                <a:solidFill>
                  <a:srgbClr val="D4D4D4"/>
                </a:solidFill>
                <a:effectLst/>
                <a:latin typeface="Menlo" panose="020B0609030804020204" pitchFamily="49" charset="0"/>
              </a:rPr>
              <a:t>(</a:t>
            </a:r>
          </a:p>
          <a:p>
            <a:r>
              <a:rPr lang="en-GB" sz="1400" b="0" dirty="0">
                <a:solidFill>
                  <a:srgbClr val="C586C0"/>
                </a:solidFill>
                <a:effectLst/>
                <a:latin typeface="Menlo" panose="020B0609030804020204" pitchFamily="49" charset="0"/>
              </a:rPr>
              <a:t>    new</a:t>
            </a:r>
            <a:r>
              <a:rPr lang="en-GB" sz="1400" b="0" dirty="0">
                <a:solidFill>
                  <a:srgbClr val="D4D4D4"/>
                </a:solidFill>
                <a:effectLst/>
                <a:latin typeface="Menlo" panose="020B0609030804020204" pitchFamily="49" charset="0"/>
              </a:rPr>
              <a:t> </a:t>
            </a:r>
            <a:r>
              <a:rPr lang="en-GB" sz="1400" b="0" dirty="0" err="1">
                <a:solidFill>
                  <a:srgbClr val="DCDCAA"/>
                </a:solidFill>
                <a:effectLst/>
                <a:latin typeface="Menlo" panose="020B0609030804020204" pitchFamily="49" charset="0"/>
              </a:rPr>
              <a:t>InputStreamReader</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con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getInputStream</a:t>
            </a:r>
            <a:r>
              <a:rPr lang="en-GB" sz="1400" b="0" dirty="0">
                <a:solidFill>
                  <a:srgbClr val="D4D4D4"/>
                </a:solidFill>
                <a:effectLst/>
                <a:latin typeface="Menlo" panose="020B0609030804020204" pitchFamily="49" charset="0"/>
              </a:rPr>
              <a:t>()));</a:t>
            </a:r>
          </a:p>
          <a:p>
            <a:r>
              <a:rPr lang="en-GB" sz="1400" b="0" dirty="0">
                <a:solidFill>
                  <a:srgbClr val="4EC9B0"/>
                </a:solidFill>
                <a:effectLst/>
                <a:latin typeface="Menlo" panose="020B0609030804020204" pitchFamily="49" charset="0"/>
              </a:rPr>
              <a:t>    String</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inputLine</a:t>
            </a:r>
            <a:r>
              <a:rPr lang="en-GB" sz="1400" b="0" dirty="0">
                <a:solidFill>
                  <a:srgbClr val="D4D4D4"/>
                </a:solidFill>
                <a:effectLst/>
                <a:latin typeface="Menlo" panose="020B0609030804020204" pitchFamily="49" charset="0"/>
              </a:rPr>
              <a:t>;</a:t>
            </a:r>
          </a:p>
          <a:p>
            <a:r>
              <a:rPr lang="en-GB" sz="1400" b="0" dirty="0">
                <a:solidFill>
                  <a:srgbClr val="4EC9B0"/>
                </a:solidFill>
                <a:effectLst/>
                <a:latin typeface="Menlo" panose="020B0609030804020204" pitchFamily="49" charset="0"/>
              </a:rPr>
              <a:t>    </a:t>
            </a:r>
            <a:r>
              <a:rPr lang="en-GB" sz="1400" b="0" dirty="0" err="1">
                <a:solidFill>
                  <a:srgbClr val="4EC9B0"/>
                </a:solidFill>
                <a:effectLst/>
                <a:latin typeface="Menlo" panose="020B0609030804020204" pitchFamily="49" charset="0"/>
              </a:rPr>
              <a:t>StringBuffer</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content</a:t>
            </a:r>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new</a:t>
            </a:r>
            <a:r>
              <a:rPr lang="en-GB" sz="1400" b="0" dirty="0">
                <a:solidFill>
                  <a:srgbClr val="D4D4D4"/>
                </a:solidFill>
                <a:effectLst/>
                <a:latin typeface="Menlo" panose="020B0609030804020204" pitchFamily="49" charset="0"/>
              </a:rPr>
              <a:t> </a:t>
            </a:r>
            <a:r>
              <a:rPr lang="en-GB" sz="1400" b="0" dirty="0" err="1">
                <a:solidFill>
                  <a:srgbClr val="DCDCAA"/>
                </a:solidFill>
                <a:effectLst/>
                <a:latin typeface="Menlo" panose="020B0609030804020204" pitchFamily="49" charset="0"/>
              </a:rPr>
              <a:t>StringBuffer</a:t>
            </a:r>
            <a:r>
              <a:rPr lang="en-GB" sz="1400" b="0" dirty="0">
                <a:solidFill>
                  <a:srgbClr val="D4D4D4"/>
                </a:solidFill>
                <a:effectLst/>
                <a:latin typeface="Menlo" panose="020B0609030804020204" pitchFamily="49" charset="0"/>
              </a:rPr>
              <a:t>();</a:t>
            </a:r>
          </a:p>
          <a:p>
            <a:r>
              <a:rPr lang="en-GB" sz="1400" b="0" dirty="0">
                <a:solidFill>
                  <a:srgbClr val="C586C0"/>
                </a:solidFill>
                <a:effectLst/>
                <a:latin typeface="Menlo" panose="020B0609030804020204" pitchFamily="49" charset="0"/>
              </a:rPr>
              <a:t>    while</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inputLine</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in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readLine</a:t>
            </a:r>
            <a:r>
              <a:rPr lang="en-GB" sz="1400" b="0" dirty="0">
                <a:solidFill>
                  <a:srgbClr val="D4D4D4"/>
                </a:solidFill>
                <a:effectLst/>
                <a:latin typeface="Menlo" panose="020B0609030804020204" pitchFamily="49" charset="0"/>
              </a:rPr>
              <a:t>()) != </a:t>
            </a:r>
            <a:r>
              <a:rPr lang="en-GB" sz="1400" b="0" dirty="0">
                <a:solidFill>
                  <a:srgbClr val="569CD6"/>
                </a:solidFill>
                <a:effectLst/>
                <a:latin typeface="Menlo" panose="020B0609030804020204" pitchFamily="49" charset="0"/>
              </a:rPr>
              <a:t>null</a:t>
            </a:r>
            <a:r>
              <a:rPr lang="en-GB" sz="1400" b="0" dirty="0">
                <a:solidFill>
                  <a:srgbClr val="D4D4D4"/>
                </a:solidFill>
                <a:effectLst/>
                <a:latin typeface="Menlo" panose="020B0609030804020204" pitchFamily="49" charset="0"/>
              </a:rPr>
              <a: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content</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append</a:t>
            </a:r>
            <a:r>
              <a:rPr lang="en-GB" sz="1400" b="0" dirty="0">
                <a:solidFill>
                  <a:srgbClr val="D4D4D4"/>
                </a:solidFill>
                <a:effectLst/>
                <a:latin typeface="Menlo" panose="020B0609030804020204" pitchFamily="49" charset="0"/>
              </a:rPr>
              <a:t>(</a:t>
            </a:r>
            <a:r>
              <a:rPr lang="en-GB" sz="1400" b="0" dirty="0" err="1">
                <a:solidFill>
                  <a:srgbClr val="D4D4D4"/>
                </a:solidFill>
                <a:effectLst/>
                <a:latin typeface="Menlo" panose="020B0609030804020204" pitchFamily="49" charset="0"/>
              </a:rPr>
              <a:t>inputLine</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in</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close</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System</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out</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println</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content</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toString</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5502833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Providing a RESTful API </a:t>
            </a:r>
            <a:br>
              <a:rPr lang="en-GB" dirty="0"/>
            </a:br>
            <a:r>
              <a:rPr lang="en-GB" dirty="0"/>
              <a:t>in Java: Using JAX-RS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25299" y="2178657"/>
            <a:ext cx="5858884" cy="985089"/>
          </a:xfrm>
        </p:spPr>
        <p:txBody>
          <a:bodyPr/>
          <a:lstStyle/>
          <a:p>
            <a:pPr marL="0" indent="0">
              <a:buNone/>
            </a:pPr>
            <a:r>
              <a:rPr lang="en-GB" dirty="0">
                <a:effectLst/>
                <a:latin typeface="Helvetica Neue" panose="02000503000000020004" pitchFamily="2" charset="0"/>
              </a:rPr>
              <a:t>Java provides a robust platform for building enterprise applications that provide a RESTful API. JAX-RS is a popular specification for building RESTful APIs in Java.</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50</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25299" y="3163746"/>
            <a:ext cx="5670701" cy="3515571"/>
          </a:xfrm>
          <a:prstGeom prst="rect">
            <a:avLst/>
          </a:prstGeom>
          <a:solidFill>
            <a:schemeClr val="bg1"/>
          </a:solidFill>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JAX-RS: JAX-RS is a popular specification for building RESTful APIs in Java. It provides an easy-to-use API for defining resources and handling HTTP requests.</a:t>
            </a:r>
          </a:p>
          <a:p>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An enterprise application that provides a RESTful API to exchange complex data structures, such as financial statements and trading data, may use JAX-RS in Java to define resources and handle HTTP requests.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Alternatives: Other popular frameworks and libraries for building RESTful APIs in Java include Spring MVC, </a:t>
            </a:r>
            <a:r>
              <a:rPr lang="en-GB" dirty="0" err="1">
                <a:effectLst/>
                <a:latin typeface="Helvetica Neue" panose="02000503000000020004" pitchFamily="2" charset="0"/>
              </a:rPr>
              <a:t>Dropwizard</a:t>
            </a:r>
            <a:r>
              <a:rPr lang="en-GB" dirty="0">
                <a:effectLst/>
                <a:latin typeface="Helvetica Neue" panose="02000503000000020004" pitchFamily="2" charset="0"/>
              </a:rPr>
              <a:t>, and Jersey.</a:t>
            </a:r>
          </a:p>
        </p:txBody>
      </p:sp>
      <p:sp>
        <p:nvSpPr>
          <p:cNvPr id="11" name="TextBox 10">
            <a:extLst>
              <a:ext uri="{FF2B5EF4-FFF2-40B4-BE49-F238E27FC236}">
                <a16:creationId xmlns:a16="http://schemas.microsoft.com/office/drawing/2014/main" id="{E00141DF-793F-84B0-2FCF-F3CE46FD5D1D}"/>
              </a:ext>
            </a:extLst>
          </p:cNvPr>
          <p:cNvSpPr txBox="1"/>
          <p:nvPr/>
        </p:nvSpPr>
        <p:spPr>
          <a:xfrm>
            <a:off x="6456459" y="948690"/>
            <a:ext cx="5735541" cy="5909310"/>
          </a:xfrm>
          <a:prstGeom prst="rect">
            <a:avLst/>
          </a:prstGeom>
          <a:solidFill>
            <a:schemeClr val="tx1">
              <a:lumMod val="85000"/>
              <a:lumOff val="15000"/>
            </a:schemeClr>
          </a:solidFill>
        </p:spPr>
        <p:txBody>
          <a:bodyPr wrap="square" anchor="ctr">
            <a:spAutoFit/>
          </a:bodyPr>
          <a:lstStyle/>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javax.ws.rs</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javax.ws.rs.core</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a:t>
            </a:r>
            <a:r>
              <a:rPr lang="en-GB" sz="1400" b="0" dirty="0">
                <a:solidFill>
                  <a:srgbClr val="4EC9B0"/>
                </a:solidFill>
                <a:effectLst/>
                <a:latin typeface="Menlo" panose="020B0609030804020204" pitchFamily="49" charset="0"/>
              </a:rPr>
              <a:t>Path</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"/users"</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public</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class</a:t>
            </a:r>
            <a:r>
              <a:rPr lang="en-GB" sz="1400" b="0" dirty="0">
                <a:solidFill>
                  <a:srgbClr val="D4D4D4"/>
                </a:solidFill>
                <a:effectLst/>
                <a:latin typeface="Menlo" panose="020B0609030804020204" pitchFamily="49" charset="0"/>
              </a:rPr>
              <a:t> </a:t>
            </a:r>
            <a:r>
              <a:rPr lang="en-GB" sz="1400" b="0" dirty="0" err="1">
                <a:solidFill>
                  <a:srgbClr val="4EC9B0"/>
                </a:solidFill>
                <a:effectLst/>
                <a:latin typeface="Menlo" panose="020B0609030804020204" pitchFamily="49" charset="0"/>
              </a:rPr>
              <a:t>UserResource</a:t>
            </a:r>
            <a:r>
              <a:rPr lang="en-GB" sz="1400" b="0" dirty="0">
                <a:solidFill>
                  <a:srgbClr val="D4D4D4"/>
                </a:solidFill>
                <a:effectLst/>
                <a:latin typeface="Menlo" panose="020B0609030804020204" pitchFamily="49" charset="0"/>
              </a:rPr>
              <a:t> {</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GET</a:t>
            </a:r>
            <a:endParaRPr lang="en-GB" sz="1400" b="0" dirty="0">
              <a:solidFill>
                <a:srgbClr val="D4D4D4"/>
              </a:solidFill>
              <a:effectLst/>
              <a:latin typeface="Menlo" panose="020B0609030804020204" pitchFamily="49" charset="0"/>
            </a:endParaRPr>
          </a:p>
          <a:p>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Path</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userId</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Produces</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MediaType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APPLICATION_JSON</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  public</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Response</a:t>
            </a:r>
            <a:r>
              <a:rPr lang="en-GB" sz="1400" b="0" dirty="0">
                <a:solidFill>
                  <a:srgbClr val="D4D4D4"/>
                </a:solidFill>
                <a:effectLst/>
                <a:latin typeface="Menlo" panose="020B0609030804020204" pitchFamily="49" charset="0"/>
              </a:rPr>
              <a:t> </a:t>
            </a:r>
            <a:r>
              <a:rPr lang="en-GB" sz="1400" b="0" dirty="0" err="1">
                <a:solidFill>
                  <a:srgbClr val="DCDCAA"/>
                </a:solidFill>
                <a:effectLst/>
                <a:latin typeface="Menlo" panose="020B0609030804020204" pitchFamily="49" charset="0"/>
              </a:rPr>
              <a:t>getUser</a:t>
            </a:r>
            <a:r>
              <a:rPr lang="en-GB" sz="1400" b="0" dirty="0">
                <a:solidFill>
                  <a:srgbClr val="D4D4D4"/>
                </a:solidFill>
                <a:effectLst/>
                <a:latin typeface="Menlo" panose="020B0609030804020204" pitchFamily="49" charset="0"/>
              </a:rPr>
              <a:t>(@</a:t>
            </a:r>
            <a:r>
              <a:rPr lang="en-GB" sz="1400" b="0" dirty="0" err="1">
                <a:solidFill>
                  <a:srgbClr val="4EC9B0"/>
                </a:solidFill>
                <a:effectLst/>
                <a:latin typeface="Menlo" panose="020B0609030804020204" pitchFamily="49" charset="0"/>
              </a:rPr>
              <a:t>PathParam</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userId</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int</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userId</a:t>
            </a:r>
            <a:r>
              <a:rPr lang="en-GB" sz="1400" b="0" dirty="0">
                <a:solidFill>
                  <a:srgbClr val="D4D4D4"/>
                </a:solidFill>
                <a:effectLst/>
                <a:latin typeface="Menlo" panose="020B0609030804020204" pitchFamily="49" charset="0"/>
              </a:rPr>
              <a:t>) {</a:t>
            </a:r>
          </a:p>
          <a:p>
            <a:r>
              <a:rPr lang="en-GB" sz="1400" b="0" dirty="0">
                <a:solidFill>
                  <a:srgbClr val="6A9955"/>
                </a:solidFill>
                <a:effectLst/>
                <a:latin typeface="Menlo" panose="020B0609030804020204" pitchFamily="49" charset="0"/>
              </a:rPr>
              <a:t>    // Retrieve user information from database</a:t>
            </a:r>
            <a:endParaRPr lang="en-GB" sz="1400" b="0" dirty="0">
              <a:solidFill>
                <a:srgbClr val="D4D4D4"/>
              </a:solidFill>
              <a:effectLst/>
              <a:latin typeface="Menlo" panose="020B0609030804020204" pitchFamily="49" charset="0"/>
            </a:endParaRPr>
          </a:p>
          <a:p>
            <a:r>
              <a:rPr lang="en-GB" sz="1400" b="0" dirty="0">
                <a:solidFill>
                  <a:srgbClr val="4EC9B0"/>
                </a:solidFill>
                <a:effectLst/>
                <a:latin typeface="Menlo" panose="020B0609030804020204" pitchFamily="49" charset="0"/>
              </a:rPr>
              <a:t>    User</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user</a:t>
            </a:r>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new</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User</a:t>
            </a:r>
            <a:r>
              <a:rPr lang="en-GB" sz="1400" b="0" dirty="0">
                <a:solidFill>
                  <a:srgbClr val="D4D4D4"/>
                </a:solidFill>
                <a:effectLst/>
                <a:latin typeface="Menlo" panose="020B0609030804020204" pitchFamily="49" charset="0"/>
              </a:rPr>
              <a:t>(</a:t>
            </a:r>
            <a:r>
              <a:rPr lang="en-GB" sz="1400" b="0" dirty="0" err="1">
                <a:solidFill>
                  <a:srgbClr val="D4D4D4"/>
                </a:solidFill>
                <a:effectLst/>
                <a:latin typeface="Menlo" panose="020B0609030804020204" pitchFamily="49" charset="0"/>
              </a:rPr>
              <a:t>userId</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"John Doe"</a:t>
            </a:r>
            <a:r>
              <a:rPr lang="en-GB" sz="1400" b="0" dirty="0">
                <a:solidFill>
                  <a:srgbClr val="D4D4D4"/>
                </a:solidFill>
                <a:effectLst/>
                <a:latin typeface="Menlo" panose="020B0609030804020204" pitchFamily="49" charset="0"/>
              </a:rPr>
              <a:t>);</a:t>
            </a:r>
          </a:p>
          <a:p>
            <a:r>
              <a:rPr lang="en-GB" sz="1400" b="0" dirty="0">
                <a:solidFill>
                  <a:srgbClr val="C586C0"/>
                </a:solidFill>
                <a:effectLst/>
                <a:latin typeface="Menlo" panose="020B0609030804020204" pitchFamily="49" charset="0"/>
              </a:rPr>
              <a:t>    return</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Response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ok</a:t>
            </a:r>
            <a:r>
              <a:rPr lang="en-GB" sz="1400" b="0" dirty="0">
                <a:solidFill>
                  <a:srgbClr val="D4D4D4"/>
                </a:solidFill>
                <a:effectLst/>
                <a:latin typeface="Menlo" panose="020B0609030804020204" pitchFamily="49" charset="0"/>
              </a:rPr>
              <a:t>(user).</a:t>
            </a:r>
            <a:r>
              <a:rPr lang="en-GB" sz="1400" b="0" dirty="0">
                <a:solidFill>
                  <a:srgbClr val="DCDCAA"/>
                </a:solidFill>
                <a:effectLst/>
                <a:latin typeface="Menlo" panose="020B0609030804020204" pitchFamily="49" charset="0"/>
              </a:rPr>
              <a:t>build</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POST</a:t>
            </a:r>
            <a:endParaRPr lang="en-GB" sz="1400" b="0" dirty="0">
              <a:solidFill>
                <a:srgbClr val="D4D4D4"/>
              </a:solidFill>
              <a:effectLst/>
              <a:latin typeface="Menlo" panose="020B0609030804020204" pitchFamily="49" charset="0"/>
            </a:endParaRPr>
          </a:p>
          <a:p>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Consumes</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MediaType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APPLICATION_JSON</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Produces</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MediaType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APPLICATION_JSON</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  public</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Response</a:t>
            </a:r>
            <a:r>
              <a:rPr lang="en-GB" sz="1400" b="0" dirty="0">
                <a:solidFill>
                  <a:srgbClr val="D4D4D4"/>
                </a:solidFill>
                <a:effectLst/>
                <a:latin typeface="Menlo" panose="020B0609030804020204" pitchFamily="49" charset="0"/>
              </a:rPr>
              <a:t> </a:t>
            </a:r>
            <a:r>
              <a:rPr lang="en-GB" sz="1400" b="0" dirty="0" err="1">
                <a:solidFill>
                  <a:srgbClr val="DCDCAA"/>
                </a:solidFill>
                <a:effectLst/>
                <a:latin typeface="Menlo" panose="020B0609030804020204" pitchFamily="49" charset="0"/>
              </a:rPr>
              <a:t>addUser</a:t>
            </a:r>
            <a:r>
              <a:rPr lang="en-GB" sz="1400" b="0" dirty="0">
                <a:solidFill>
                  <a:srgbClr val="D4D4D4"/>
                </a:solidFill>
                <a:effectLst/>
                <a:latin typeface="Menlo" panose="020B0609030804020204" pitchFamily="49" charset="0"/>
              </a:rPr>
              <a:t>(</a:t>
            </a:r>
            <a:r>
              <a:rPr lang="en-GB" sz="1400" b="0" dirty="0">
                <a:solidFill>
                  <a:srgbClr val="4EC9B0"/>
                </a:solidFill>
                <a:effectLst/>
                <a:latin typeface="Menlo" panose="020B0609030804020204" pitchFamily="49" charset="0"/>
              </a:rPr>
              <a:t>User</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user</a:t>
            </a:r>
            <a:r>
              <a:rPr lang="en-GB" sz="1400" b="0" dirty="0">
                <a:solidFill>
                  <a:srgbClr val="D4D4D4"/>
                </a:solidFill>
                <a:effectLst/>
                <a:latin typeface="Menlo" panose="020B0609030804020204" pitchFamily="49" charset="0"/>
              </a:rPr>
              <a:t>) {</a:t>
            </a:r>
          </a:p>
          <a:p>
            <a:r>
              <a:rPr lang="en-GB" sz="1400" b="0" dirty="0">
                <a:solidFill>
                  <a:srgbClr val="6A9955"/>
                </a:solidFill>
                <a:effectLst/>
                <a:latin typeface="Menlo" panose="020B0609030804020204" pitchFamily="49" charset="0"/>
              </a:rPr>
              <a:t>    // Save new user information to database</a:t>
            </a:r>
            <a:endParaRPr lang="en-GB" sz="1400" b="0" dirty="0">
              <a:solidFill>
                <a:srgbClr val="D4D4D4"/>
              </a:solidFill>
              <a:effectLst/>
              <a:latin typeface="Menlo" panose="020B0609030804020204" pitchFamily="49" charset="0"/>
            </a:endParaRPr>
          </a:p>
          <a:p>
            <a:r>
              <a:rPr lang="en-GB" sz="1400" b="0" dirty="0">
                <a:solidFill>
                  <a:srgbClr val="C586C0"/>
                </a:solidFill>
                <a:effectLst/>
                <a:latin typeface="Menlo" panose="020B0609030804020204" pitchFamily="49" charset="0"/>
              </a:rPr>
              <a:t>    return</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Response</a:t>
            </a:r>
          </a:p>
          <a:p>
            <a:r>
              <a:rPr lang="en-GB" sz="1400" dirty="0">
                <a:solidFill>
                  <a:srgbClr val="9CDCFE"/>
                </a:solidFill>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status</a:t>
            </a:r>
            <a:r>
              <a:rPr lang="en-GB" sz="1400" b="0" dirty="0">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Response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Status</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CREATED</a:t>
            </a:r>
            <a:r>
              <a:rPr lang="en-GB" sz="1400" b="0" dirty="0">
                <a:solidFill>
                  <a:srgbClr val="D4D4D4"/>
                </a:solidFill>
                <a:effectLst/>
                <a:latin typeface="Menlo" panose="020B0609030804020204" pitchFamily="49" charset="0"/>
              </a:rPr>
              <a:t>)</a:t>
            </a:r>
          </a:p>
          <a:p>
            <a:r>
              <a:rPr lang="en-GB" sz="1400" dirty="0">
                <a:solidFill>
                  <a:srgbClr val="D4D4D4"/>
                </a:solidFill>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entity</a:t>
            </a:r>
            <a:r>
              <a:rPr lang="en-GB" sz="1400" b="0" dirty="0">
                <a:solidFill>
                  <a:srgbClr val="D4D4D4"/>
                </a:solidFill>
                <a:effectLst/>
                <a:latin typeface="Menlo" panose="020B0609030804020204" pitchFamily="49" charset="0"/>
              </a:rPr>
              <a:t>(user)</a:t>
            </a:r>
          </a:p>
          <a:p>
            <a:r>
              <a:rPr lang="en-GB" sz="1400" dirty="0">
                <a:solidFill>
                  <a:srgbClr val="D4D4D4"/>
                </a:solidFill>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build</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41427301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MQTT with JSON: Real-time Data Exchange for IoT Applications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9325653" cy="951778"/>
          </a:xfrm>
        </p:spPr>
        <p:txBody>
          <a:bodyPr/>
          <a:lstStyle/>
          <a:p>
            <a:pPr marL="0" indent="0">
              <a:buNone/>
            </a:pPr>
            <a:r>
              <a:rPr lang="en-GB" dirty="0">
                <a:effectLst/>
                <a:latin typeface="Helvetica Neue" panose="02000503000000020004" pitchFamily="2" charset="0"/>
              </a:rPr>
              <a:t>MQTT (Message Queuing Telemetry Transport) is a protocol for sending messages between devices over a network. It uses JSON for message formatting and is commonly used in IoT (Internet of Things) applications for real-time data exchange.</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51</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3130435"/>
            <a:ext cx="6049715" cy="296993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JSON: MQTT uses JSON for message formatting, allowing devices to exchange lightweight and structured data in real-time.</a:t>
            </a:r>
          </a:p>
          <a:p>
            <a:r>
              <a:rPr lang="en-GB" dirty="0">
                <a:effectLst/>
                <a:latin typeface="Helvetica Neue" panose="02000503000000020004" pitchFamily="2" charset="0"/>
              </a:rPr>
              <a:t>Publish/Subscribe model: MQTT uses a publish/subscribe model, where devices can subscribe to topics and receive messages published on those topics.</a:t>
            </a:r>
          </a:p>
        </p:txBody>
      </p:sp>
      <p:sp>
        <p:nvSpPr>
          <p:cNvPr id="11" name="TextBox 10">
            <a:extLst>
              <a:ext uri="{FF2B5EF4-FFF2-40B4-BE49-F238E27FC236}">
                <a16:creationId xmlns:a16="http://schemas.microsoft.com/office/drawing/2014/main" id="{E00141DF-793F-84B0-2FCF-F3CE46FD5D1D}"/>
              </a:ext>
            </a:extLst>
          </p:cNvPr>
          <p:cNvSpPr txBox="1"/>
          <p:nvPr/>
        </p:nvSpPr>
        <p:spPr>
          <a:xfrm>
            <a:off x="7752522" y="3116952"/>
            <a:ext cx="4439478" cy="1169551"/>
          </a:xfrm>
          <a:prstGeom prst="rect">
            <a:avLst/>
          </a:prstGeom>
          <a:solidFill>
            <a:schemeClr val="tx1">
              <a:lumMod val="85000"/>
              <a:lumOff val="15000"/>
            </a:schemeClr>
          </a:solidFill>
        </p:spPr>
        <p:txBody>
          <a:bodyPr wrap="square" anchor="ctr">
            <a:spAutoFit/>
          </a:bodyPr>
          <a:lstStyle/>
          <a:p>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"temperature"</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23.5</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"humidity"</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50.2</a:t>
            </a:r>
            <a:r>
              <a:rPr lang="en-GB" sz="1400" b="0" dirty="0">
                <a:solidFill>
                  <a:srgbClr val="D4D4D4"/>
                </a:solidFill>
                <a:effectLst/>
                <a:latin typeface="Menlo" panose="020B0609030804020204" pitchFamily="49" charset="0"/>
              </a:rPr>
              <a:t>,</a:t>
            </a:r>
          </a:p>
          <a:p>
            <a:r>
              <a:rPr lang="en-GB" sz="1400" b="0" dirty="0">
                <a:solidFill>
                  <a:srgbClr val="CE9178"/>
                </a:solidFill>
                <a:effectLst/>
                <a:latin typeface="Menlo" panose="020B0609030804020204" pitchFamily="49" charset="0"/>
              </a:rPr>
              <a:t>  "pressure"</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1013.25</a:t>
            </a:r>
            <a:endParaRPr lang="en-GB" sz="1400" b="0" dirty="0">
              <a:solidFill>
                <a:srgbClr val="D4D4D4"/>
              </a:solidFill>
              <a:effectLst/>
              <a:latin typeface="Menlo" panose="020B0609030804020204" pitchFamily="49" charset="0"/>
            </a:endParaRP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8753375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MQTT, JSON, and XML: Choosing the Right Protocol and Data Format for Your Application</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178657"/>
            <a:ext cx="11059037" cy="951778"/>
          </a:xfrm>
        </p:spPr>
        <p:txBody>
          <a:bodyPr/>
          <a:lstStyle/>
          <a:p>
            <a:pPr marL="0" indent="0">
              <a:buNone/>
            </a:pPr>
            <a:r>
              <a:rPr lang="en-GB" dirty="0">
                <a:effectLst/>
                <a:latin typeface="Helvetica Neue" panose="02000503000000020004" pitchFamily="2" charset="0"/>
              </a:rPr>
              <a:t>Choosing the right protocol and data format for your application depends on the type of data you need to exchange and the requirements of your application. MQTT, JSON, and XML each have their own strengths and weaknesses.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52</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824952"/>
            <a:ext cx="11218064" cy="3877998"/>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MQTT: MQTT is ideal for low-bandwidth and unreliable network connections, such as those used in IoT applications. It uses a lightweight protocol and message format, making it efficient for real-time data exchange over low-quality networks.</a:t>
            </a:r>
          </a:p>
          <a:p>
            <a:pPr lvl="1"/>
            <a:r>
              <a:rPr lang="en-GB" dirty="0">
                <a:effectLst/>
                <a:latin typeface="Helvetica Neue" panose="02000503000000020004" pitchFamily="2" charset="0"/>
              </a:rPr>
              <a:t>Example: A smart home system that controls lights, temperature, and security cameras may use MQTT to exchange real-time data between sensors and actuators over a wireless network.</a:t>
            </a:r>
          </a:p>
          <a:p>
            <a:r>
              <a:rPr lang="en-GB" dirty="0">
                <a:effectLst/>
                <a:latin typeface="Helvetica Neue" panose="02000503000000020004" pitchFamily="2" charset="0"/>
              </a:rPr>
              <a:t>JSON: JSON is easy to read and write, making it a popular choice for web applications that require simple data exchange. It is also supported by most programming languages and can be easily converted to other formats.</a:t>
            </a:r>
          </a:p>
          <a:p>
            <a:pPr lvl="1"/>
            <a:r>
              <a:rPr lang="en-GB" dirty="0">
                <a:effectLst/>
                <a:latin typeface="Helvetica Neue" panose="02000503000000020004" pitchFamily="2" charset="0"/>
              </a:rPr>
              <a:t>Example: An e-commerce website that displays product information and reviews may use JSON to exchange data between the server and the client, allowing for fast and efficient data exchange.</a:t>
            </a:r>
          </a:p>
          <a:p>
            <a:r>
              <a:rPr lang="en-GB" dirty="0">
                <a:effectLst/>
                <a:latin typeface="Helvetica Neue" panose="02000503000000020004" pitchFamily="2" charset="0"/>
              </a:rPr>
              <a:t>XML: XML is a more verbose format but offers powerful features for document validation and schema definition. It is commonly used in enterprise applications, such as finance, construction, and medicine, where accurate data formats are critical.</a:t>
            </a:r>
          </a:p>
          <a:p>
            <a:pPr lvl="1"/>
            <a:r>
              <a:rPr lang="en-GB" dirty="0">
                <a:effectLst/>
                <a:latin typeface="Helvetica Neue" panose="02000503000000020004" pitchFamily="2" charset="0"/>
              </a:rPr>
              <a:t>Example: A financial application that exchanges complex data structures, such as financial statements and trading data, may use XML to ensure the accuracy and consistency of the data.</a:t>
            </a:r>
          </a:p>
        </p:txBody>
      </p:sp>
    </p:spTree>
    <p:extLst>
      <p:ext uri="{BB962C8B-B14F-4D97-AF65-F5344CB8AC3E}">
        <p14:creationId xmlns:p14="http://schemas.microsoft.com/office/powerpoint/2010/main" val="2521707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694455"/>
          </a:xfrm>
        </p:spPr>
        <p:txBody>
          <a:bodyPr/>
          <a:lstStyle/>
          <a:p>
            <a:r>
              <a:rPr lang="en-GB" dirty="0"/>
              <a:t>Web Scraping: Extracting Data from Websites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1693628"/>
            <a:ext cx="11059037" cy="694455"/>
          </a:xfrm>
        </p:spPr>
        <p:txBody>
          <a:bodyPr/>
          <a:lstStyle/>
          <a:p>
            <a:pPr marL="0" indent="0">
              <a:buNone/>
            </a:pPr>
            <a:r>
              <a:rPr lang="en-GB" dirty="0">
                <a:effectLst/>
                <a:latin typeface="Helvetica Neue" panose="02000503000000020004" pitchFamily="2" charset="0"/>
              </a:rPr>
              <a:t>Web scraping involves extracting data from websites that do not provide an API or other data access mechanism. Web scraping can be used to extract data from any website, but it should be used with care to avoid legal and ethical issues.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53</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5" y="2388083"/>
            <a:ext cx="7942126" cy="3877998"/>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Web Scraping: Web scraping involves extracting data from websites that do not provide an API or other data access mechanism. It can be used to extract any type of data from a website, including text, images, and video.</a:t>
            </a:r>
          </a:p>
          <a:p>
            <a:r>
              <a:rPr lang="en-GB" dirty="0">
                <a:effectLst/>
                <a:latin typeface="Helvetica Neue" panose="02000503000000020004" pitchFamily="2" charset="0"/>
              </a:rPr>
              <a:t>Tools: There are many tools available for web scraping, including libraries and frameworks for programming languages like Python, Node.js, and Java.</a:t>
            </a:r>
          </a:p>
          <a:p>
            <a:r>
              <a:rPr lang="en-GB" dirty="0">
                <a:effectLst/>
                <a:latin typeface="Helvetica Neue" panose="02000503000000020004" pitchFamily="2" charset="0"/>
              </a:rPr>
              <a:t>Ethical Considerations: Web scraping should be used with care to avoid legal and ethical issues. It is important to respect the terms of service of the website being scraped and to avoid scraping private or confidential data.</a:t>
            </a:r>
          </a:p>
        </p:txBody>
      </p:sp>
    </p:spTree>
    <p:extLst>
      <p:ext uri="{BB962C8B-B14F-4D97-AF65-F5344CB8AC3E}">
        <p14:creationId xmlns:p14="http://schemas.microsoft.com/office/powerpoint/2010/main" val="1019160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79484"/>
          </a:xfrm>
        </p:spPr>
        <p:txBody>
          <a:bodyPr/>
          <a:lstStyle/>
          <a:p>
            <a:r>
              <a:rPr lang="en-GB" dirty="0"/>
              <a:t>Web Scraping in Node.js:</a:t>
            </a:r>
            <a:br>
              <a:rPr lang="en-GB" dirty="0"/>
            </a:br>
            <a:r>
              <a:rPr lang="en-GB" dirty="0"/>
              <a:t>Using the Cheerio Package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25299" y="2178657"/>
            <a:ext cx="5858884" cy="985089"/>
          </a:xfrm>
        </p:spPr>
        <p:txBody>
          <a:bodyPr/>
          <a:lstStyle/>
          <a:p>
            <a:pPr marL="0" indent="0">
              <a:buNone/>
            </a:pPr>
            <a:r>
              <a:rPr lang="en-GB" dirty="0">
                <a:effectLst/>
                <a:latin typeface="Helvetica Neue" panose="02000503000000020004" pitchFamily="2" charset="0"/>
              </a:rPr>
              <a:t>Node.js provides a powerful platform for web scraping. The Cheerio package is a popular package for web scraping in Node.js.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54</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25299" y="3163746"/>
            <a:ext cx="5670701" cy="3515571"/>
          </a:xfrm>
          <a:prstGeom prst="rect">
            <a:avLst/>
          </a:prstGeom>
          <a:solidFill>
            <a:schemeClr val="bg1"/>
          </a:solidFill>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Cheerio Package: The Cheerio package is a popular package for web scraping in Node.js. It provides a jQuery-like API for manipulating HTML and XML documents.</a:t>
            </a:r>
          </a:p>
          <a:p>
            <a:pPr marL="0" indent="0">
              <a:buNone/>
            </a:pPr>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in Action: A web application that needs to extract data from a website, such as product information from an e-commerce site, may use the Cheerio package in Node.js to scrape the required data.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Alternatives: Other popular packages for web scraping in Node.js include Puppeteer, </a:t>
            </a:r>
            <a:r>
              <a:rPr lang="en-GB" dirty="0" err="1">
                <a:effectLst/>
                <a:latin typeface="Helvetica Neue" panose="02000503000000020004" pitchFamily="2" charset="0"/>
              </a:rPr>
              <a:t>Nightmare.js</a:t>
            </a:r>
            <a:r>
              <a:rPr lang="en-GB" dirty="0">
                <a:effectLst/>
                <a:latin typeface="Helvetica Neue" panose="02000503000000020004" pitchFamily="2" charset="0"/>
              </a:rPr>
              <a:t>, and JSDOM.</a:t>
            </a:r>
          </a:p>
        </p:txBody>
      </p:sp>
      <p:sp>
        <p:nvSpPr>
          <p:cNvPr id="11" name="TextBox 10">
            <a:extLst>
              <a:ext uri="{FF2B5EF4-FFF2-40B4-BE49-F238E27FC236}">
                <a16:creationId xmlns:a16="http://schemas.microsoft.com/office/drawing/2014/main" id="{E00141DF-793F-84B0-2FCF-F3CE46FD5D1D}"/>
              </a:ext>
            </a:extLst>
          </p:cNvPr>
          <p:cNvSpPr txBox="1"/>
          <p:nvPr/>
        </p:nvSpPr>
        <p:spPr>
          <a:xfrm>
            <a:off x="6456459" y="2456794"/>
            <a:ext cx="5735541" cy="2893100"/>
          </a:xfrm>
          <a:prstGeom prst="rect">
            <a:avLst/>
          </a:prstGeom>
          <a:solidFill>
            <a:schemeClr val="tx1">
              <a:lumMod val="85000"/>
              <a:lumOff val="15000"/>
            </a:schemeClr>
          </a:solidFill>
        </p:spPr>
        <p:txBody>
          <a:bodyPr wrap="square" anchor="ctr">
            <a:spAutoFit/>
          </a:bodyPr>
          <a:lstStyle/>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err="1">
                <a:solidFill>
                  <a:srgbClr val="4FC1FF"/>
                </a:solidFill>
                <a:effectLst/>
                <a:latin typeface="Menlo" panose="020B0609030804020204" pitchFamily="49" charset="0"/>
              </a:rPr>
              <a:t>axios</a:t>
            </a:r>
            <a:r>
              <a:rPr lang="en-GB" sz="1400" b="0" dirty="0">
                <a:solidFill>
                  <a:srgbClr val="D4D4D4"/>
                </a:solidFill>
                <a:effectLst/>
                <a:latin typeface="Menlo" panose="020B0609030804020204" pitchFamily="49" charset="0"/>
              </a:rPr>
              <a:t> = </a:t>
            </a:r>
            <a:r>
              <a:rPr lang="en-GB" sz="1400" b="0" dirty="0">
                <a:solidFill>
                  <a:srgbClr val="DCDCAA"/>
                </a:solidFill>
                <a:effectLst/>
                <a:latin typeface="Menlo" panose="020B0609030804020204" pitchFamily="49" charset="0"/>
              </a:rPr>
              <a:t>require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axios</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a:t>
            </a:r>
          </a:p>
          <a:p>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a:solidFill>
                  <a:srgbClr val="4FC1FF"/>
                </a:solidFill>
                <a:effectLst/>
                <a:latin typeface="Menlo" panose="020B0609030804020204" pitchFamily="49" charset="0"/>
              </a:rPr>
              <a:t>cheerio</a:t>
            </a:r>
            <a:r>
              <a:rPr lang="en-GB" sz="1400" b="0" dirty="0">
                <a:solidFill>
                  <a:srgbClr val="D4D4D4"/>
                </a:solidFill>
                <a:effectLst/>
                <a:latin typeface="Menlo" panose="020B0609030804020204" pitchFamily="49" charset="0"/>
              </a:rPr>
              <a:t> = </a:t>
            </a:r>
            <a:r>
              <a:rPr lang="en-GB" sz="1400" b="0" dirty="0">
                <a:solidFill>
                  <a:srgbClr val="DCDCAA"/>
                </a:solidFill>
                <a:effectLst/>
                <a:latin typeface="Menlo" panose="020B0609030804020204" pitchFamily="49" charset="0"/>
              </a:rPr>
              <a:t>require</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'cheerio'</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err="1">
                <a:solidFill>
                  <a:srgbClr val="9CDCFE"/>
                </a:solidFill>
                <a:effectLst/>
                <a:latin typeface="Menlo" panose="020B0609030804020204" pitchFamily="49" charset="0"/>
              </a:rPr>
              <a:t>axios</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get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'https://</a:t>
            </a:r>
            <a:r>
              <a:rPr lang="en-GB" sz="1400" b="0" dirty="0" err="1">
                <a:solidFill>
                  <a:srgbClr val="CE9178"/>
                </a:solidFill>
                <a:effectLst/>
                <a:latin typeface="Menlo" panose="020B0609030804020204" pitchFamily="49" charset="0"/>
              </a:rPr>
              <a:t>www.example.com</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then</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response</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=&gt;</a:t>
            </a:r>
            <a:r>
              <a:rPr lang="en-GB" sz="1400" b="0" dirty="0">
                <a:solidFill>
                  <a:srgbClr val="D4D4D4"/>
                </a:solidFill>
                <a:effectLst/>
                <a:latin typeface="Menlo" panose="020B0609030804020204" pitchFamily="49" charset="0"/>
              </a:rPr>
              <a:t> {</a:t>
            </a:r>
          </a:p>
          <a:p>
            <a:r>
              <a:rPr lang="en-GB" sz="1400" b="0" dirty="0">
                <a:solidFill>
                  <a:srgbClr val="569CD6"/>
                </a:solidFill>
                <a:effectLst/>
                <a:latin typeface="Menlo" panose="020B0609030804020204" pitchFamily="49" charset="0"/>
              </a:rPr>
              <a:t>    </a:t>
            </a:r>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a:solidFill>
                  <a:srgbClr val="4FC1FF"/>
                </a:solidFill>
                <a:effectLst/>
                <a:latin typeface="Menlo" panose="020B0609030804020204" pitchFamily="49" charset="0"/>
              </a:rPr>
              <a:t>html</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response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data</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    </a:t>
            </a:r>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a:solidFill>
                  <a:srgbClr val="4FC1FF"/>
                </a:solidFill>
                <a:effectLst/>
                <a:latin typeface="Menlo" panose="020B0609030804020204" pitchFamily="49" charset="0"/>
              </a:rPr>
              <a:t>$</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cheerio</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load</a:t>
            </a:r>
            <a:r>
              <a:rPr lang="en-GB" sz="1400" b="0" dirty="0">
                <a:solidFill>
                  <a:srgbClr val="D4D4D4"/>
                </a:solidFill>
                <a:effectLst/>
                <a:latin typeface="Menlo" panose="020B0609030804020204" pitchFamily="49" charset="0"/>
              </a:rPr>
              <a:t>(</a:t>
            </a:r>
            <a:r>
              <a:rPr lang="en-GB" sz="1400" b="0" dirty="0">
                <a:solidFill>
                  <a:srgbClr val="4FC1FF"/>
                </a:solidFill>
                <a:effectLst/>
                <a:latin typeface="Menlo" panose="020B0609030804020204" pitchFamily="49" charset="0"/>
              </a:rPr>
              <a:t>html</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    </a:t>
            </a:r>
            <a:r>
              <a:rPr lang="en-GB" sz="1400" b="0" dirty="0" err="1">
                <a:solidFill>
                  <a:srgbClr val="569CD6"/>
                </a:solidFill>
                <a:effectLst/>
                <a:latin typeface="Menlo" panose="020B0609030804020204" pitchFamily="49" charset="0"/>
              </a:rPr>
              <a:t>const</a:t>
            </a:r>
            <a:r>
              <a:rPr lang="en-GB" sz="1400" b="0" dirty="0">
                <a:solidFill>
                  <a:srgbClr val="D4D4D4"/>
                </a:solidFill>
                <a:effectLst/>
                <a:latin typeface="Menlo" panose="020B0609030804020204" pitchFamily="49" charset="0"/>
              </a:rPr>
              <a:t> </a:t>
            </a:r>
            <a:r>
              <a:rPr lang="en-GB" sz="1400" b="0" dirty="0">
                <a:solidFill>
                  <a:srgbClr val="4FC1FF"/>
                </a:solidFill>
                <a:effectLst/>
                <a:latin typeface="Menlo" panose="020B0609030804020204" pitchFamily="49" charset="0"/>
              </a:rPr>
              <a:t>title</a:t>
            </a:r>
            <a:r>
              <a:rPr lang="en-GB" sz="1400" b="0" dirty="0">
                <a:solidFill>
                  <a:srgbClr val="D4D4D4"/>
                </a:solidFill>
                <a:effectLst/>
                <a:latin typeface="Menlo" panose="020B0609030804020204" pitchFamily="49" charset="0"/>
              </a:rPr>
              <a:t> = </a:t>
            </a:r>
            <a:r>
              <a:rPr lang="en-GB" sz="1400" b="0" dirty="0">
                <a:solidFill>
                  <a:srgbClr val="DCDCAA"/>
                </a:solidFill>
                <a:effectLst/>
                <a:latin typeface="Menlo" panose="020B0609030804020204" pitchFamily="49" charset="0"/>
              </a:rPr>
              <a: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'title'</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text</a:t>
            </a:r>
            <a:r>
              <a:rPr lang="en-GB" sz="1400" b="0" dirty="0">
                <a:solidFill>
                  <a:srgbClr val="D4D4D4"/>
                </a:solidFill>
                <a:effectLst/>
                <a:latin typeface="Menlo" panose="020B0609030804020204" pitchFamily="49" charset="0"/>
              </a:rPr>
              <a:t>();</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a:t>
            </a:r>
            <a:r>
              <a:rPr lang="en-GB" sz="1400" b="0" dirty="0">
                <a:solidFill>
                  <a:srgbClr val="4FC1FF"/>
                </a:solidFill>
                <a:effectLst/>
                <a:latin typeface="Menlo" panose="020B0609030804020204" pitchFamily="49" charset="0"/>
              </a:rPr>
              <a:t>title</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catch</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error</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=&gt;</a:t>
            </a:r>
            <a:r>
              <a:rPr lang="en-GB" sz="1400" b="0" dirty="0">
                <a:solidFill>
                  <a:srgbClr val="D4D4D4"/>
                </a:solidFill>
                <a:effectLst/>
                <a:latin typeface="Menlo" panose="020B0609030804020204" pitchFamily="49" charset="0"/>
              </a:rPr>
              <a: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console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error</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p:txBody>
      </p:sp>
    </p:spTree>
    <p:extLst>
      <p:ext uri="{BB962C8B-B14F-4D97-AF65-F5344CB8AC3E}">
        <p14:creationId xmlns:p14="http://schemas.microsoft.com/office/powerpoint/2010/main" val="26460800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630844"/>
          </a:xfrm>
        </p:spPr>
        <p:txBody>
          <a:bodyPr/>
          <a:lstStyle/>
          <a:p>
            <a:r>
              <a:rPr lang="en-GB" dirty="0"/>
              <a:t>Web Scraping in Java: Using the </a:t>
            </a:r>
            <a:r>
              <a:rPr lang="en-GB" dirty="0" err="1"/>
              <a:t>Jsoup</a:t>
            </a:r>
            <a:r>
              <a:rPr lang="en-GB" dirty="0"/>
              <a:t> Library</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25299" y="2178657"/>
            <a:ext cx="5858884" cy="985089"/>
          </a:xfrm>
        </p:spPr>
        <p:txBody>
          <a:bodyPr/>
          <a:lstStyle/>
          <a:p>
            <a:pPr marL="0" indent="0">
              <a:buNone/>
            </a:pPr>
            <a:r>
              <a:rPr lang="en-GB" dirty="0">
                <a:effectLst/>
                <a:latin typeface="Helvetica Neue" panose="02000503000000020004" pitchFamily="2" charset="0"/>
              </a:rPr>
              <a:t>Java provides a robust platform for web scraping. The </a:t>
            </a:r>
            <a:r>
              <a:rPr lang="en-GB" dirty="0" err="1">
                <a:effectLst/>
                <a:latin typeface="Helvetica Neue" panose="02000503000000020004" pitchFamily="2" charset="0"/>
              </a:rPr>
              <a:t>Jsoup</a:t>
            </a:r>
            <a:r>
              <a:rPr lang="en-GB" dirty="0">
                <a:effectLst/>
                <a:latin typeface="Helvetica Neue" panose="02000503000000020004" pitchFamily="2" charset="0"/>
              </a:rPr>
              <a:t> library is a popular library for web scraping in Java.</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25299" y="3163746"/>
            <a:ext cx="5670701" cy="3515571"/>
          </a:xfrm>
          <a:prstGeom prst="rect">
            <a:avLst/>
          </a:prstGeom>
          <a:solidFill>
            <a:schemeClr val="bg1"/>
          </a:solidFill>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Jsoup</a:t>
            </a:r>
            <a:r>
              <a:rPr lang="en-GB" dirty="0">
                <a:effectLst/>
                <a:latin typeface="Helvetica Neue" panose="02000503000000020004" pitchFamily="2" charset="0"/>
              </a:rPr>
              <a:t> Library: The </a:t>
            </a:r>
            <a:r>
              <a:rPr lang="en-GB" dirty="0" err="1">
                <a:effectLst/>
                <a:latin typeface="Helvetica Neue" panose="02000503000000020004" pitchFamily="2" charset="0"/>
              </a:rPr>
              <a:t>Jsoup</a:t>
            </a:r>
            <a:r>
              <a:rPr lang="en-GB" dirty="0">
                <a:effectLst/>
                <a:latin typeface="Helvetica Neue" panose="02000503000000020004" pitchFamily="2" charset="0"/>
              </a:rPr>
              <a:t> library is a popular library for web scraping in Java. It provides a jQuery-like API for manipulating HTML and XML documents.</a:t>
            </a:r>
          </a:p>
          <a:p>
            <a:pPr marL="0" indent="0">
              <a:buNone/>
            </a:pPr>
            <a:endParaRPr lang="en-GB" dirty="0">
              <a:latin typeface="Helvetica Neue" panose="02000503000000020004" pitchFamily="2" charset="0"/>
            </a:endParaRPr>
          </a:p>
          <a:p>
            <a:pPr marL="0" indent="0">
              <a:buNone/>
            </a:pPr>
            <a:r>
              <a:rPr lang="en-GB" dirty="0">
                <a:latin typeface="Helvetica Neue" panose="02000503000000020004" pitchFamily="2" charset="0"/>
              </a:rPr>
              <a:t>Example in Action: A web application that needs to extract data from a website, such as product information from an e-commerce site, may use the </a:t>
            </a:r>
            <a:r>
              <a:rPr lang="en-GB" dirty="0" err="1">
                <a:latin typeface="Helvetica Neue" panose="02000503000000020004" pitchFamily="2" charset="0"/>
              </a:rPr>
              <a:t>Jsoup</a:t>
            </a:r>
            <a:r>
              <a:rPr lang="en-GB" dirty="0">
                <a:latin typeface="Helvetica Neue" panose="02000503000000020004" pitchFamily="2" charset="0"/>
              </a:rPr>
              <a:t> library in Java to scrape the required data.</a:t>
            </a:r>
          </a:p>
          <a:p>
            <a:pPr marL="0" indent="0">
              <a:buNone/>
            </a:pPr>
            <a:endParaRPr lang="en-GB" dirty="0">
              <a:latin typeface="Helvetica Neue" panose="02000503000000020004" pitchFamily="2" charset="0"/>
            </a:endParaRPr>
          </a:p>
          <a:p>
            <a:pPr marL="0" indent="0">
              <a:buNone/>
            </a:pPr>
            <a:r>
              <a:rPr lang="en-GB" dirty="0">
                <a:latin typeface="Helvetica Neue" panose="02000503000000020004" pitchFamily="2" charset="0"/>
              </a:rPr>
              <a:t>Alternatives: Other popular libraries for web scraping in Java include Jaunt, </a:t>
            </a:r>
            <a:r>
              <a:rPr lang="en-GB" dirty="0" err="1">
                <a:latin typeface="Helvetica Neue" panose="02000503000000020004" pitchFamily="2" charset="0"/>
              </a:rPr>
              <a:t>HTMLUnit</a:t>
            </a:r>
            <a:r>
              <a:rPr lang="en-GB" dirty="0">
                <a:latin typeface="Helvetica Neue" panose="02000503000000020004" pitchFamily="2" charset="0"/>
              </a:rPr>
              <a:t>, and </a:t>
            </a:r>
            <a:r>
              <a:rPr lang="en-GB" dirty="0" err="1">
                <a:latin typeface="Helvetica Neue" panose="02000503000000020004" pitchFamily="2" charset="0"/>
              </a:rPr>
              <a:t>jSoup</a:t>
            </a:r>
            <a:r>
              <a:rPr lang="en-GB" dirty="0">
                <a:latin typeface="Helvetica Neue" panose="02000503000000020004" pitchFamily="2" charset="0"/>
              </a:rPr>
              <a:t>-XML.</a:t>
            </a:r>
          </a:p>
        </p:txBody>
      </p:sp>
      <p:sp>
        <p:nvSpPr>
          <p:cNvPr id="11" name="TextBox 10">
            <a:extLst>
              <a:ext uri="{FF2B5EF4-FFF2-40B4-BE49-F238E27FC236}">
                <a16:creationId xmlns:a16="http://schemas.microsoft.com/office/drawing/2014/main" id="{E00141DF-793F-84B0-2FCF-F3CE46FD5D1D}"/>
              </a:ext>
            </a:extLst>
          </p:cNvPr>
          <p:cNvSpPr txBox="1"/>
          <p:nvPr/>
        </p:nvSpPr>
        <p:spPr>
          <a:xfrm>
            <a:off x="6456459" y="2178657"/>
            <a:ext cx="5735541" cy="4185761"/>
          </a:xfrm>
          <a:prstGeom prst="rect">
            <a:avLst/>
          </a:prstGeom>
          <a:solidFill>
            <a:schemeClr val="tx1">
              <a:lumMod val="85000"/>
              <a:lumOff val="15000"/>
            </a:schemeClr>
          </a:solidFill>
        </p:spPr>
        <p:txBody>
          <a:bodyPr wrap="square" anchor="ctr">
            <a:spAutoFit/>
          </a:bodyPr>
          <a:lstStyle/>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org.jsoup</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org.jsoup.nodes</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err="1">
                <a:solidFill>
                  <a:srgbClr val="D4D4D4"/>
                </a:solidFill>
                <a:effectLst/>
                <a:latin typeface="Menlo" panose="020B0609030804020204" pitchFamily="49" charset="0"/>
              </a:rPr>
              <a:t>org.jsoup.select</a:t>
            </a:r>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en-GB" sz="1400" b="0" dirty="0">
                <a:solidFill>
                  <a:srgbClr val="569CD6"/>
                </a:solidFill>
                <a:effectLst/>
                <a:latin typeface="Menlo" panose="020B0609030804020204" pitchFamily="49" charset="0"/>
              </a:rPr>
              <a:t>public</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class</a:t>
            </a:r>
            <a:r>
              <a:rPr lang="en-GB" sz="1400" b="0" dirty="0">
                <a:solidFill>
                  <a:srgbClr val="D4D4D4"/>
                </a:solidFill>
                <a:effectLst/>
                <a:latin typeface="Menlo" panose="020B0609030804020204" pitchFamily="49" charset="0"/>
              </a:rPr>
              <a:t> </a:t>
            </a:r>
            <a:r>
              <a:rPr lang="en-GB" sz="1400" b="0" dirty="0" err="1">
                <a:solidFill>
                  <a:srgbClr val="4EC9B0"/>
                </a:solidFill>
                <a:effectLst/>
                <a:latin typeface="Menlo" panose="020B0609030804020204" pitchFamily="49" charset="0"/>
              </a:rPr>
              <a:t>WebScraper</a:t>
            </a:r>
            <a:r>
              <a:rPr lang="en-GB" sz="1400" b="0" dirty="0">
                <a:solidFill>
                  <a:srgbClr val="D4D4D4"/>
                </a:solidFill>
                <a:effectLst/>
                <a:latin typeface="Menlo" panose="020B0609030804020204" pitchFamily="49" charset="0"/>
              </a:rPr>
              <a:t> {</a:t>
            </a:r>
          </a:p>
          <a:p>
            <a:br>
              <a:rPr lang="en-GB" sz="1400" b="0" dirty="0">
                <a:solidFill>
                  <a:srgbClr val="D4D4D4"/>
                </a:solidFill>
                <a:effectLst/>
                <a:latin typeface="Menlo" panose="020B0609030804020204" pitchFamily="49" charset="0"/>
              </a:rPr>
            </a:b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public</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static</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void</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main</a:t>
            </a:r>
            <a:r>
              <a:rPr lang="en-GB" sz="1400" b="0" dirty="0">
                <a:solidFill>
                  <a:srgbClr val="D4D4D4"/>
                </a:solidFill>
                <a:effectLst/>
                <a:latin typeface="Menlo" panose="020B0609030804020204" pitchFamily="49" charset="0"/>
              </a:rPr>
              <a:t>(</a:t>
            </a:r>
            <a:r>
              <a:rPr lang="en-GB" sz="1400" b="0" dirty="0">
                <a:solidFill>
                  <a:srgbClr val="4EC9B0"/>
                </a:solidFill>
                <a:effectLst/>
                <a:latin typeface="Menlo" panose="020B0609030804020204" pitchFamily="49" charset="0"/>
              </a:rPr>
              <a:t>String</a:t>
            </a:r>
            <a:r>
              <a:rPr lang="en-GB" sz="1400" b="0" dirty="0">
                <a:solidFill>
                  <a:srgbClr val="D4D4D4"/>
                </a:solidFill>
                <a:effectLst/>
                <a:latin typeface="Menlo" panose="020B0609030804020204" pitchFamily="49" charset="0"/>
              </a:rPr>
              <a:t>[] </a:t>
            </a:r>
            <a:r>
              <a:rPr lang="en-GB" sz="1400" b="0" dirty="0" err="1">
                <a:solidFill>
                  <a:srgbClr val="9CDCFE"/>
                </a:solidFill>
                <a:effectLst/>
                <a:latin typeface="Menlo" panose="020B0609030804020204" pitchFamily="49" charset="0"/>
              </a:rPr>
              <a:t>args</a:t>
            </a:r>
            <a:r>
              <a:rPr lang="en-GB" sz="1400" b="0" dirty="0">
                <a:solidFill>
                  <a:srgbClr val="D4D4D4"/>
                </a:solidFill>
                <a:effectLst/>
                <a:latin typeface="Menlo" panose="020B0609030804020204" pitchFamily="49" charset="0"/>
              </a:rPr>
              <a:t>) {</a:t>
            </a:r>
          </a:p>
          <a:p>
            <a:r>
              <a:rPr lang="en-GB" sz="1400" b="0" dirty="0">
                <a:solidFill>
                  <a:srgbClr val="C586C0"/>
                </a:solidFill>
                <a:effectLst/>
                <a:latin typeface="Menlo" panose="020B0609030804020204" pitchFamily="49" charset="0"/>
              </a:rPr>
              <a:t>    try</a:t>
            </a:r>
            <a:r>
              <a:rPr lang="en-GB" sz="1400" b="0" dirty="0">
                <a:solidFill>
                  <a:srgbClr val="D4D4D4"/>
                </a:solidFill>
                <a:effectLst/>
                <a:latin typeface="Menlo" panose="020B0609030804020204" pitchFamily="49" charset="0"/>
              </a:rPr>
              <a:t> {</a:t>
            </a:r>
          </a:p>
          <a:p>
            <a:r>
              <a:rPr lang="en-GB" sz="1400" b="0" dirty="0">
                <a:solidFill>
                  <a:srgbClr val="4EC9B0"/>
                </a:solidFill>
                <a:effectLst/>
                <a:latin typeface="Menlo" panose="020B0609030804020204" pitchFamily="49" charset="0"/>
              </a:rPr>
              <a:t>      Document</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doc</a:t>
            </a:r>
            <a:r>
              <a:rPr lang="en-GB" sz="1400" b="0" dirty="0">
                <a:solidFill>
                  <a:srgbClr val="D4D4D4"/>
                </a:solidFill>
                <a:effectLst/>
                <a:latin typeface="Menlo" panose="020B0609030804020204" pitchFamily="49" charset="0"/>
              </a:rPr>
              <a:t> =     </a:t>
            </a:r>
          </a:p>
          <a:p>
            <a:r>
              <a:rPr lang="en-GB" sz="1400" dirty="0">
                <a:solidFill>
                  <a:srgbClr val="D4D4D4"/>
                </a:solidFill>
                <a:latin typeface="Menlo" panose="020B0609030804020204" pitchFamily="49" charset="0"/>
              </a:rPr>
              <a:t>      </a:t>
            </a:r>
            <a:r>
              <a:rPr lang="en-GB" sz="1400" b="0" dirty="0" err="1">
                <a:solidFill>
                  <a:srgbClr val="9CDCFE"/>
                </a:solidFill>
                <a:effectLst/>
                <a:latin typeface="Menlo" panose="020B0609030804020204" pitchFamily="49" charset="0"/>
              </a:rPr>
              <a:t>Jsoup</a:t>
            </a:r>
            <a:endParaRPr lang="en-GB" sz="1400" b="0" dirty="0">
              <a:solidFill>
                <a:srgbClr val="9CDCFE"/>
              </a:solidFill>
              <a:effectLst/>
              <a:latin typeface="Menlo" panose="020B0609030804020204" pitchFamily="49" charset="0"/>
            </a:endParaRPr>
          </a:p>
          <a:p>
            <a:r>
              <a:rPr lang="en-GB" sz="1400" dirty="0">
                <a:solidFill>
                  <a:srgbClr val="9CDCFE"/>
                </a:solidFill>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connect</a:t>
            </a:r>
            <a:r>
              <a:rPr lang="en-GB" sz="1400" b="0" dirty="0">
                <a:solidFill>
                  <a:srgbClr val="D4D4D4"/>
                </a:solidFill>
                <a:effectLst/>
                <a:latin typeface="Menlo" panose="020B0609030804020204" pitchFamily="49" charset="0"/>
              </a:rPr>
              <a:t>(</a:t>
            </a:r>
            <a:r>
              <a:rPr lang="en-GB" sz="1400" b="0" dirty="0">
                <a:solidFill>
                  <a:srgbClr val="CE9178"/>
                </a:solidFill>
                <a:effectLst/>
                <a:latin typeface="Menlo" panose="020B0609030804020204" pitchFamily="49" charset="0"/>
              </a:rPr>
              <a:t>"https://</a:t>
            </a:r>
            <a:r>
              <a:rPr lang="en-GB" sz="1400" b="0" dirty="0" err="1">
                <a:solidFill>
                  <a:srgbClr val="CE9178"/>
                </a:solidFill>
                <a:effectLst/>
                <a:latin typeface="Menlo" panose="020B0609030804020204" pitchFamily="49" charset="0"/>
              </a:rPr>
              <a:t>www.example.com</a:t>
            </a:r>
            <a:r>
              <a:rPr lang="en-GB" sz="1400" b="0" dirty="0">
                <a:solidFill>
                  <a:srgbClr val="CE9178"/>
                </a:solidFill>
                <a:effectLst/>
                <a:latin typeface="Menlo" panose="020B0609030804020204" pitchFamily="49" charset="0"/>
              </a:rPr>
              <a:t>/"</a:t>
            </a:r>
            <a:r>
              <a:rPr lang="en-GB" sz="1400" b="0" dirty="0">
                <a:solidFill>
                  <a:srgbClr val="D4D4D4"/>
                </a:solidFill>
                <a:effectLst/>
                <a:latin typeface="Menlo" panose="020B0609030804020204" pitchFamily="49" charset="0"/>
              </a:rPr>
              <a:t>)</a:t>
            </a:r>
          </a:p>
          <a:p>
            <a:r>
              <a:rPr lang="en-GB" sz="1400" dirty="0">
                <a:solidFill>
                  <a:srgbClr val="D4D4D4"/>
                </a:solidFill>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DCDCAA"/>
                </a:solidFill>
                <a:effectLst/>
                <a:latin typeface="Menlo" panose="020B0609030804020204" pitchFamily="49" charset="0"/>
              </a:rPr>
              <a:t>get</a:t>
            </a:r>
            <a:r>
              <a:rPr lang="en-GB" sz="1400" b="0" dirty="0">
                <a:solidFill>
                  <a:srgbClr val="D4D4D4"/>
                </a:solidFill>
                <a:effectLst/>
                <a:latin typeface="Menlo" panose="020B0609030804020204" pitchFamily="49" charset="0"/>
              </a:rPr>
              <a:t>();</a:t>
            </a:r>
          </a:p>
          <a:p>
            <a:r>
              <a:rPr lang="en-GB" sz="1400" b="0" dirty="0">
                <a:solidFill>
                  <a:srgbClr val="4EC9B0"/>
                </a:solidFill>
                <a:effectLst/>
                <a:latin typeface="Menlo" panose="020B0609030804020204" pitchFamily="49" charset="0"/>
              </a:rPr>
              <a:t>      String</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title</a:t>
            </a:r>
            <a:r>
              <a:rPr lang="en-GB" sz="1400" b="0" dirty="0">
                <a:solidFill>
                  <a:srgbClr val="D4D4D4"/>
                </a:solidFill>
                <a:effectLst/>
                <a:latin typeface="Menlo" panose="020B0609030804020204" pitchFamily="49" charset="0"/>
              </a:rPr>
              <a:t> = </a:t>
            </a:r>
            <a:r>
              <a:rPr lang="en-GB" sz="1400" b="0" dirty="0" err="1">
                <a:solidFill>
                  <a:srgbClr val="9CDCFE"/>
                </a:solidFill>
                <a:effectLst/>
                <a:latin typeface="Menlo" panose="020B0609030804020204" pitchFamily="49" charset="0"/>
              </a:rPr>
              <a:t>doc</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title</a:t>
            </a:r>
            <a:r>
              <a:rPr lang="en-GB" sz="1400" b="0" dirty="0">
                <a:solidFill>
                  <a:srgbClr val="D4D4D4"/>
                </a:solidFill>
                <a:effectLst/>
                <a:latin typeface="Menlo" panose="020B0609030804020204" pitchFamily="49" charset="0"/>
              </a:rPr>
              <a:t>();</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System</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out</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println</a:t>
            </a:r>
            <a:r>
              <a:rPr lang="en-GB" sz="1400" b="0" dirty="0">
                <a:solidFill>
                  <a:srgbClr val="D4D4D4"/>
                </a:solidFill>
                <a:effectLst/>
                <a:latin typeface="Menlo" panose="020B0609030804020204" pitchFamily="49" charset="0"/>
              </a:rPr>
              <a:t>(title);</a:t>
            </a:r>
          </a:p>
          <a:p>
            <a:r>
              <a:rPr lang="en-GB" sz="1400" b="0" dirty="0">
                <a:solidFill>
                  <a:srgbClr val="D4D4D4"/>
                </a:solidFill>
                <a:effectLst/>
                <a:latin typeface="Menlo" panose="020B0609030804020204" pitchFamily="49" charset="0"/>
              </a:rPr>
              <a:t>    } </a:t>
            </a:r>
            <a:r>
              <a:rPr lang="en-GB" sz="1400" b="0" dirty="0">
                <a:solidFill>
                  <a:srgbClr val="C586C0"/>
                </a:solidFill>
                <a:effectLst/>
                <a:latin typeface="Menlo" panose="020B0609030804020204" pitchFamily="49" charset="0"/>
              </a:rPr>
              <a:t>catch</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Exception</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e</a:t>
            </a:r>
            <a:r>
              <a:rPr lang="en-GB" sz="1400" b="0" dirty="0">
                <a:solidFill>
                  <a:srgbClr val="D4D4D4"/>
                </a:solidFill>
                <a:effectLst/>
                <a:latin typeface="Menlo" panose="020B0609030804020204" pitchFamily="49" charset="0"/>
              </a:rPr>
              <a:t>) {</a:t>
            </a:r>
          </a:p>
          <a:p>
            <a:r>
              <a:rPr lang="en-GB" sz="1400" b="0" dirty="0">
                <a:solidFill>
                  <a:srgbClr val="9CDCFE"/>
                </a:solidFill>
                <a:effectLst/>
                <a:latin typeface="Menlo" panose="020B0609030804020204" pitchFamily="49" charset="0"/>
              </a:rPr>
              <a:t>      </a:t>
            </a:r>
            <a:r>
              <a:rPr lang="en-GB" sz="1400" b="0" dirty="0" err="1">
                <a:solidFill>
                  <a:srgbClr val="9CDCFE"/>
                </a:solidFill>
                <a:effectLst/>
                <a:latin typeface="Menlo" panose="020B0609030804020204" pitchFamily="49" charset="0"/>
              </a:rPr>
              <a:t>e</a:t>
            </a:r>
            <a:r>
              <a:rPr lang="en-GB" sz="1400" b="0" dirty="0" err="1">
                <a:solidFill>
                  <a:srgbClr val="D4D4D4"/>
                </a:solidFill>
                <a:effectLst/>
                <a:latin typeface="Menlo" panose="020B0609030804020204" pitchFamily="49" charset="0"/>
              </a:rPr>
              <a:t>.</a:t>
            </a:r>
            <a:r>
              <a:rPr lang="en-GB" sz="1400" b="0" dirty="0" err="1">
                <a:solidFill>
                  <a:srgbClr val="DCDCAA"/>
                </a:solidFill>
                <a:effectLst/>
                <a:latin typeface="Menlo" panose="020B0609030804020204" pitchFamily="49" charset="0"/>
              </a:rPr>
              <a:t>printStackTrace</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0294607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Integration Strategies</a:t>
            </a:r>
          </a:p>
        </p:txBody>
      </p:sp>
    </p:spTree>
    <p:extLst>
      <p:ext uri="{BB962C8B-B14F-4D97-AF65-F5344CB8AC3E}">
        <p14:creationId xmlns:p14="http://schemas.microsoft.com/office/powerpoint/2010/main" val="563074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p:txBody>
          <a:bodyPr/>
          <a:lstStyle/>
          <a:p>
            <a:r>
              <a:rPr lang="en-DK" dirty="0"/>
              <a:t>Agenda</a:t>
            </a:r>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1989137"/>
            <a:ext cx="3847203" cy="4151531"/>
          </a:xfrm>
        </p:spPr>
        <p:txBody>
          <a:bodyPr/>
          <a:lstStyle/>
          <a:p>
            <a:pPr marL="0" indent="0">
              <a:buNone/>
            </a:pPr>
            <a:r>
              <a:rPr lang="en-GB" dirty="0">
                <a:solidFill>
                  <a:schemeClr val="bg1">
                    <a:lumMod val="50000"/>
                  </a:schemeClr>
                </a:solidFill>
                <a:effectLst/>
                <a:latin typeface="Helvetica Neue" panose="02000503000000020004" pitchFamily="2" charset="0"/>
              </a:rPr>
              <a:t>Common Web standards</a:t>
            </a:r>
          </a:p>
          <a:p>
            <a:r>
              <a:rPr lang="en-GB" dirty="0">
                <a:solidFill>
                  <a:schemeClr val="bg1">
                    <a:lumMod val="50000"/>
                  </a:schemeClr>
                </a:solidFill>
                <a:effectLst/>
                <a:latin typeface="Helvetica Neue" panose="02000503000000020004" pitchFamily="2" charset="0"/>
              </a:rPr>
              <a:t>Web Protocols:</a:t>
            </a:r>
          </a:p>
          <a:p>
            <a:pPr lvl="1"/>
            <a:r>
              <a:rPr lang="en-GB" dirty="0">
                <a:solidFill>
                  <a:schemeClr val="bg1">
                    <a:lumMod val="50000"/>
                  </a:schemeClr>
                </a:solidFill>
                <a:effectLst/>
                <a:latin typeface="Helvetica Neue" panose="02000503000000020004" pitchFamily="2" charset="0"/>
              </a:rPr>
              <a:t>OSI model</a:t>
            </a:r>
          </a:p>
          <a:p>
            <a:pPr lvl="1"/>
            <a:r>
              <a:rPr lang="en-GB" dirty="0">
                <a:solidFill>
                  <a:schemeClr val="bg1">
                    <a:lumMod val="50000"/>
                  </a:schemeClr>
                </a:solidFill>
                <a:effectLst/>
                <a:latin typeface="Helvetica Neue" panose="02000503000000020004" pitchFamily="2" charset="0"/>
              </a:rPr>
              <a:t>TCP Handshake</a:t>
            </a:r>
          </a:p>
          <a:p>
            <a:pPr lvl="1"/>
            <a:r>
              <a:rPr lang="en-GB" dirty="0">
                <a:solidFill>
                  <a:schemeClr val="bg1">
                    <a:lumMod val="50000"/>
                  </a:schemeClr>
                </a:solidFill>
                <a:effectLst/>
                <a:latin typeface="Helvetica Neue" panose="02000503000000020004" pitchFamily="2" charset="0"/>
              </a:rPr>
              <a:t>HTTP protocol</a:t>
            </a:r>
          </a:p>
          <a:p>
            <a:pPr marL="0" indent="0">
              <a:buNone/>
            </a:pPr>
            <a:endParaRPr lang="en-GB" dirty="0">
              <a:solidFill>
                <a:schemeClr val="bg1">
                  <a:lumMod val="50000"/>
                </a:schemeClr>
              </a:solidFill>
              <a:effectLst/>
              <a:latin typeface="Helvetica Neue" panose="02000503000000020004" pitchFamily="2" charset="0"/>
            </a:endParaRPr>
          </a:p>
          <a:p>
            <a:r>
              <a:rPr lang="en-GB" dirty="0">
                <a:solidFill>
                  <a:schemeClr val="bg1">
                    <a:lumMod val="50000"/>
                  </a:schemeClr>
                </a:solidFill>
                <a:effectLst/>
                <a:latin typeface="Helvetica Neue" panose="02000503000000020004" pitchFamily="2" charset="0"/>
              </a:rPr>
              <a:t>Data formats</a:t>
            </a:r>
          </a:p>
          <a:p>
            <a:pPr lvl="1"/>
            <a:r>
              <a:rPr lang="en-GB" dirty="0">
                <a:solidFill>
                  <a:schemeClr val="bg1">
                    <a:lumMod val="50000"/>
                  </a:schemeClr>
                </a:solidFill>
                <a:effectLst/>
                <a:latin typeface="Helvetica Neue" panose="02000503000000020004" pitchFamily="2" charset="0"/>
              </a:rPr>
              <a:t>JSON</a:t>
            </a:r>
          </a:p>
          <a:p>
            <a:pPr lvl="1"/>
            <a:r>
              <a:rPr lang="en-GB" dirty="0">
                <a:solidFill>
                  <a:schemeClr val="bg1">
                    <a:lumMod val="50000"/>
                  </a:schemeClr>
                </a:solidFill>
                <a:effectLst/>
                <a:latin typeface="Helvetica Neue" panose="02000503000000020004" pitchFamily="2" charset="0"/>
              </a:rPr>
              <a:t>XML</a:t>
            </a:r>
          </a:p>
          <a:p>
            <a:pPr lvl="1"/>
            <a:r>
              <a:rPr lang="en-GB" dirty="0">
                <a:solidFill>
                  <a:schemeClr val="bg1">
                    <a:lumMod val="50000"/>
                  </a:schemeClr>
                </a:solidFill>
                <a:latin typeface="Helvetica Neue" panose="02000503000000020004" pitchFamily="2" charset="0"/>
              </a:rPr>
              <a:t>HTML</a:t>
            </a:r>
            <a:br>
              <a:rPr lang="en-GB" dirty="0">
                <a:solidFill>
                  <a:schemeClr val="bg1">
                    <a:lumMod val="50000"/>
                  </a:schemeClr>
                </a:solidFill>
                <a:effectLst/>
                <a:latin typeface="Helvetica Neue" panose="02000503000000020004" pitchFamily="2" charset="0"/>
              </a:rPr>
            </a:br>
            <a:endParaRPr lang="en-GB" dirty="0">
              <a:solidFill>
                <a:schemeClr val="bg1">
                  <a:lumMod val="50000"/>
                </a:schemeClr>
              </a:solidFill>
              <a:effectLst/>
              <a:latin typeface="Helvetica Neue" panose="02000503000000020004" pitchFamily="2" charset="0"/>
            </a:endParaRPr>
          </a:p>
          <a:p>
            <a:r>
              <a:rPr lang="en-GB" dirty="0">
                <a:solidFill>
                  <a:schemeClr val="bg1">
                    <a:lumMod val="50000"/>
                  </a:schemeClr>
                </a:solidFill>
                <a:effectLst/>
                <a:latin typeface="Helvetica Neue" panose="02000503000000020004" pitchFamily="2" charset="0"/>
              </a:rPr>
              <a:t>Integration Protocols</a:t>
            </a:r>
          </a:p>
          <a:p>
            <a:pPr lvl="1"/>
            <a:r>
              <a:rPr lang="en-GB" dirty="0">
                <a:solidFill>
                  <a:schemeClr val="bg1">
                    <a:lumMod val="50000"/>
                  </a:schemeClr>
                </a:solidFill>
                <a:effectLst/>
                <a:latin typeface="Helvetica Neue" panose="02000503000000020004" pitchFamily="2" charset="0"/>
              </a:rPr>
              <a:t>REST</a:t>
            </a:r>
          </a:p>
          <a:p>
            <a:pPr lvl="1"/>
            <a:r>
              <a:rPr lang="en-GB" dirty="0">
                <a:solidFill>
                  <a:schemeClr val="bg1">
                    <a:lumMod val="50000"/>
                  </a:schemeClr>
                </a:solidFill>
                <a:effectLst/>
                <a:latin typeface="Helvetica Neue" panose="02000503000000020004" pitchFamily="2" charset="0"/>
              </a:rPr>
              <a:t>SOAP</a:t>
            </a:r>
          </a:p>
          <a:p>
            <a:pPr lvl="1"/>
            <a:r>
              <a:rPr lang="en-GB" dirty="0">
                <a:solidFill>
                  <a:schemeClr val="bg1">
                    <a:lumMod val="50000"/>
                  </a:schemeClr>
                </a:solidFill>
                <a:effectLst/>
                <a:latin typeface="Helvetica Neue" panose="02000503000000020004" pitchFamily="2" charset="0"/>
              </a:rPr>
              <a:t>MQTT </a:t>
            </a:r>
          </a:p>
          <a:p>
            <a:pPr lvl="1"/>
            <a:r>
              <a:rPr lang="en-GB" dirty="0">
                <a:solidFill>
                  <a:schemeClr val="bg1">
                    <a:lumMod val="50000"/>
                  </a:schemeClr>
                </a:solidFill>
                <a:effectLst/>
                <a:latin typeface="Helvetica Neue" panose="02000503000000020004" pitchFamily="2" charset="0"/>
              </a:rPr>
              <a:t>Scraping</a:t>
            </a:r>
          </a:p>
          <a:p>
            <a:pPr marL="252000" lvl="1" indent="0">
              <a:buNone/>
            </a:pPr>
            <a:endParaRPr lang="en-GB" dirty="0">
              <a:solidFill>
                <a:schemeClr val="bg1">
                  <a:lumMod val="50000"/>
                </a:schemeClr>
              </a:solidFill>
              <a:effectLst/>
              <a:latin typeface="Helvetica Neue" panose="02000503000000020004" pitchFamily="2" charset="0"/>
            </a:endParaRP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57</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5939624" y="1957090"/>
            <a:ext cx="4223469" cy="4151531"/>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GB" dirty="0">
                <a:effectLst/>
                <a:latin typeface="Helvetica Neue" panose="02000503000000020004" pitchFamily="2" charset="0"/>
              </a:rPr>
              <a:t>Integration Strategies</a:t>
            </a:r>
          </a:p>
          <a:p>
            <a:r>
              <a:rPr lang="en-GB" dirty="0">
                <a:effectLst/>
                <a:latin typeface="Helvetica Neue" panose="02000503000000020004" pitchFamily="2" charset="0"/>
              </a:rPr>
              <a:t>Real-time Communication</a:t>
            </a:r>
          </a:p>
          <a:p>
            <a:pPr lvl="1"/>
            <a:r>
              <a:rPr lang="en-GB" dirty="0" err="1">
                <a:effectLst/>
                <a:latin typeface="Helvetica Neue" panose="02000503000000020004" pitchFamily="2" charset="0"/>
              </a:rPr>
              <a:t>Websockets</a:t>
            </a:r>
            <a:endParaRPr lang="en-GB" dirty="0">
              <a:effectLst/>
              <a:latin typeface="Helvetica Neue" panose="02000503000000020004" pitchFamily="2" charset="0"/>
            </a:endParaRPr>
          </a:p>
          <a:p>
            <a:pPr lvl="1"/>
            <a:r>
              <a:rPr lang="en-GB" dirty="0">
                <a:effectLst/>
                <a:latin typeface="Helvetica Neue" panose="02000503000000020004" pitchFamily="2" charset="0"/>
              </a:rPr>
              <a:t>Polling, Long-polling and No-polling</a:t>
            </a:r>
          </a:p>
          <a:p>
            <a:pPr lvl="1"/>
            <a:r>
              <a:rPr lang="en-GB" dirty="0">
                <a:effectLst/>
                <a:latin typeface="Helvetica Neue" panose="02000503000000020004" pitchFamily="2" charset="0"/>
              </a:rPr>
              <a:t>Deltas</a:t>
            </a:r>
          </a:p>
          <a:p>
            <a:r>
              <a:rPr lang="en-GB" dirty="0">
                <a:effectLst/>
                <a:latin typeface="Helvetica Neue" panose="02000503000000020004" pitchFamily="2" charset="0"/>
              </a:rPr>
              <a:t>Event-driven architectures</a:t>
            </a:r>
          </a:p>
          <a:p>
            <a:pPr lvl="1"/>
            <a:r>
              <a:rPr lang="en-GB" dirty="0">
                <a:effectLst/>
                <a:latin typeface="Helvetica Neue" panose="02000503000000020004" pitchFamily="2" charset="0"/>
              </a:rPr>
              <a:t>Events</a:t>
            </a:r>
          </a:p>
          <a:p>
            <a:pPr lvl="1"/>
            <a:r>
              <a:rPr lang="en-GB" dirty="0">
                <a:effectLst/>
                <a:latin typeface="Helvetica Neue" panose="02000503000000020004" pitchFamily="2" charset="0"/>
              </a:rPr>
              <a:t>Publish/Subscribe Patterns</a:t>
            </a:r>
          </a:p>
          <a:p>
            <a:r>
              <a:rPr lang="en-GB" dirty="0">
                <a:effectLst/>
                <a:latin typeface="Helvetica Neue" panose="02000503000000020004" pitchFamily="2" charset="0"/>
              </a:rPr>
              <a:t>Data Management in Web Services</a:t>
            </a:r>
          </a:p>
          <a:p>
            <a:pPr lvl="1"/>
            <a:r>
              <a:rPr lang="en-GB" dirty="0">
                <a:effectLst/>
                <a:latin typeface="Helvetica Neue" panose="02000503000000020004" pitchFamily="2" charset="0"/>
              </a:rPr>
              <a:t>Pull on load</a:t>
            </a:r>
          </a:p>
          <a:p>
            <a:pPr lvl="1"/>
            <a:r>
              <a:rPr lang="en-GB" dirty="0">
                <a:effectLst/>
                <a:latin typeface="Helvetica Neue" panose="02000503000000020004" pitchFamily="2" charset="0"/>
              </a:rPr>
              <a:t>Caching</a:t>
            </a:r>
          </a:p>
          <a:p>
            <a:pPr lvl="1"/>
            <a:r>
              <a:rPr lang="en-GB" dirty="0">
                <a:effectLst/>
                <a:latin typeface="Helvetica Neue" panose="02000503000000020004" pitchFamily="2" charset="0"/>
              </a:rPr>
              <a:t>Logging</a:t>
            </a:r>
          </a:p>
          <a:p>
            <a:r>
              <a:rPr lang="en-GB" dirty="0">
                <a:effectLst/>
                <a:latin typeface="Helvetica Neue" panose="02000503000000020004" pitchFamily="2" charset="0"/>
              </a:rPr>
              <a:t>Data Strategies</a:t>
            </a:r>
          </a:p>
          <a:p>
            <a:pPr lvl="1"/>
            <a:r>
              <a:rPr lang="en-GB" dirty="0">
                <a:effectLst/>
                <a:latin typeface="Helvetica Neue" panose="02000503000000020004" pitchFamily="2" charset="0"/>
              </a:rPr>
              <a:t>Relational Data</a:t>
            </a:r>
          </a:p>
          <a:p>
            <a:pPr lvl="1"/>
            <a:r>
              <a:rPr lang="en-GB" dirty="0">
                <a:effectLst/>
                <a:latin typeface="Helvetica Neue" panose="02000503000000020004" pitchFamily="2" charset="0"/>
              </a:rPr>
              <a:t>Data Lakes </a:t>
            </a:r>
          </a:p>
        </p:txBody>
      </p:sp>
    </p:spTree>
    <p:extLst>
      <p:ext uri="{BB962C8B-B14F-4D97-AF65-F5344CB8AC3E}">
        <p14:creationId xmlns:p14="http://schemas.microsoft.com/office/powerpoint/2010/main" val="19973191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Real Time </a:t>
            </a:r>
            <a:r>
              <a:rPr lang="da-DK" sz="2800" b="1" dirty="0" err="1"/>
              <a:t>Communication</a:t>
            </a:r>
            <a:endParaRPr lang="da-DK" sz="2800" b="1" dirty="0"/>
          </a:p>
        </p:txBody>
      </p:sp>
    </p:spTree>
    <p:extLst>
      <p:ext uri="{BB962C8B-B14F-4D97-AF65-F5344CB8AC3E}">
        <p14:creationId xmlns:p14="http://schemas.microsoft.com/office/powerpoint/2010/main" val="29395614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Polling: Making Regular Requests</a:t>
            </a:r>
            <a:br>
              <a:rPr lang="en-GB" dirty="0"/>
            </a:br>
            <a:r>
              <a:rPr lang="en-GB" dirty="0"/>
              <a:t>to Get Updated Data</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Polling involves making regular requests to a server to get updated data. It is a simple and reliable method of getting real-time data, but it can be resource-intensive and lead to delays in data updates.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59</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166627"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Polling: Polling involves making regular requests to a server to get updated data. It is a simple and reliable method of getting real-time data, but it can be resource-intensive and lead to delays in data updates.</a:t>
            </a:r>
          </a:p>
          <a:p>
            <a:r>
              <a:rPr lang="en-GB" dirty="0">
                <a:effectLst/>
                <a:latin typeface="Helvetica Neue" panose="02000503000000020004" pitchFamily="2" charset="0"/>
              </a:rPr>
              <a:t>Node.js Library: The request library is a popular library for making HTTP requests in Node.js.</a:t>
            </a:r>
          </a:p>
          <a:p>
            <a:r>
              <a:rPr lang="en-GB" dirty="0">
                <a:effectLst/>
                <a:latin typeface="Helvetica Neue" panose="02000503000000020004" pitchFamily="2" charset="0"/>
              </a:rPr>
              <a:t>Java Library: The Apache HTTP Client library is a popular library for making HTTP requests in Java.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real-time weather application may use polling to get updated weather data every few minutes.</a:t>
            </a:r>
          </a:p>
        </p:txBody>
      </p:sp>
    </p:spTree>
    <p:extLst>
      <p:ext uri="{BB962C8B-B14F-4D97-AF65-F5344CB8AC3E}">
        <p14:creationId xmlns:p14="http://schemas.microsoft.com/office/powerpoint/2010/main" val="38288221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Long-Polling: Keeping a Request Open</a:t>
            </a:r>
            <a:br>
              <a:rPr lang="en-GB" dirty="0"/>
            </a:br>
            <a:r>
              <a:rPr lang="en-GB" dirty="0"/>
              <a:t>Until New Data is Available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Long-polling involves keeping a request open until new data is available. It reduces the number of requests being made to the server, but it can be more complex to implement and may require additional server resources.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60</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166627"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Long-Polling: Long-polling involves keeping a request open until new data is available. It reduces the number of requests being made to the server, but it can be more complex to implement and may require additional server resources.</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socket.io</a:t>
            </a:r>
            <a:r>
              <a:rPr lang="en-GB" dirty="0">
                <a:effectLst/>
                <a:latin typeface="Helvetica Neue" panose="02000503000000020004" pitchFamily="2" charset="0"/>
              </a:rPr>
              <a:t> library is a popular library for implementing long-polling in Node.js.</a:t>
            </a:r>
          </a:p>
          <a:p>
            <a:r>
              <a:rPr lang="en-GB" dirty="0">
                <a:effectLst/>
                <a:latin typeface="Helvetica Neue" panose="02000503000000020004" pitchFamily="2" charset="0"/>
              </a:rPr>
              <a:t>Java Library: The Atmosphere Framework is a popular library for implementing long-polling in Java.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real-time stock trading application may use long-polling to get updated stock prices as soon as they become available.</a:t>
            </a:r>
          </a:p>
        </p:txBody>
      </p:sp>
    </p:spTree>
    <p:extLst>
      <p:ext uri="{BB962C8B-B14F-4D97-AF65-F5344CB8AC3E}">
        <p14:creationId xmlns:p14="http://schemas.microsoft.com/office/powerpoint/2010/main" val="22734238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No-Polling: Using Server-Sent Events</a:t>
            </a:r>
            <a:br>
              <a:rPr lang="en-GB" dirty="0"/>
            </a:br>
            <a:r>
              <a:rPr lang="en-GB" dirty="0"/>
              <a:t>for Real-time Communication</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No-polling involves using Server-Sent Events (SSE) for real-time communication. SSE is a unidirectional communication channel where the server sends data to the client, without the client having to make any requests.</a:t>
            </a:r>
          </a:p>
          <a:p>
            <a:pPr marL="0" indent="0">
              <a:buNone/>
            </a:pPr>
            <a:endParaRPr lang="en-GB" dirty="0">
              <a:effectLst/>
              <a:latin typeface="Helvetica Neue" panose="02000503000000020004" pitchFamily="2" charset="0"/>
            </a:endParaRP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61</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166627"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No-Polling: No-polling involves using Server-Sent Events (SSE) for real-time communication. SSE is a unidirectional communication channel where the server sends data to the client, without the client having to make any requests.</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sse</a:t>
            </a:r>
            <a:r>
              <a:rPr lang="en-GB" dirty="0">
                <a:effectLst/>
                <a:latin typeface="Helvetica Neue" panose="02000503000000020004" pitchFamily="2" charset="0"/>
              </a:rPr>
              <a:t> library is a popular library for implementing SSE in Node.js.</a:t>
            </a:r>
          </a:p>
          <a:p>
            <a:r>
              <a:rPr lang="en-GB" dirty="0">
                <a:effectLst/>
                <a:latin typeface="Helvetica Neue" panose="02000503000000020004" pitchFamily="2" charset="0"/>
              </a:rPr>
              <a:t>Java Library: The Spring Framework provides built-in support for SSE in Java.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real-time news application may use SSE to send updated news articles to the client as soon as they become available.</a:t>
            </a:r>
          </a:p>
        </p:txBody>
      </p:sp>
    </p:spTree>
    <p:extLst>
      <p:ext uri="{BB962C8B-B14F-4D97-AF65-F5344CB8AC3E}">
        <p14:creationId xmlns:p14="http://schemas.microsoft.com/office/powerpoint/2010/main" val="25401999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err="1"/>
              <a:t>WebSockets</a:t>
            </a:r>
            <a:r>
              <a:rPr lang="en-GB" dirty="0"/>
              <a:t>: Real-time Communication</a:t>
            </a:r>
            <a:br>
              <a:rPr lang="en-GB" dirty="0"/>
            </a:br>
            <a:r>
              <a:rPr lang="en-GB" dirty="0"/>
              <a:t>Between Clients and Servers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err="1">
                <a:effectLst/>
                <a:latin typeface="Helvetica Neue" panose="02000503000000020004" pitchFamily="2" charset="0"/>
              </a:rPr>
              <a:t>WebSockets</a:t>
            </a:r>
            <a:r>
              <a:rPr lang="en-GB" dirty="0">
                <a:effectLst/>
                <a:latin typeface="Helvetica Neue" panose="02000503000000020004" pitchFamily="2" charset="0"/>
              </a:rPr>
              <a:t> provide a real-time communication channel between clients and servers. They allow for full-duplex communication, where both the client and server can send messages to each other at any time.</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62</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166627"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err="1">
                <a:effectLst/>
                <a:latin typeface="Helvetica Neue" panose="02000503000000020004" pitchFamily="2" charset="0"/>
              </a:rPr>
              <a:t>WebSockets</a:t>
            </a:r>
            <a:r>
              <a:rPr lang="en-GB" dirty="0">
                <a:effectLst/>
                <a:latin typeface="Helvetica Neue" panose="02000503000000020004" pitchFamily="2" charset="0"/>
              </a:rPr>
              <a:t>: </a:t>
            </a:r>
            <a:r>
              <a:rPr lang="en-GB" dirty="0" err="1">
                <a:effectLst/>
                <a:latin typeface="Helvetica Neue" panose="02000503000000020004" pitchFamily="2" charset="0"/>
              </a:rPr>
              <a:t>WebSockets</a:t>
            </a:r>
            <a:r>
              <a:rPr lang="en-GB" dirty="0">
                <a:effectLst/>
                <a:latin typeface="Helvetica Neue" panose="02000503000000020004" pitchFamily="2" charset="0"/>
              </a:rPr>
              <a:t> provide a real-time communication channel between clients and servers. They use a single TCP connection and allow for full-duplex communication.</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ws</a:t>
            </a:r>
            <a:r>
              <a:rPr lang="en-GB" dirty="0">
                <a:effectLst/>
                <a:latin typeface="Helvetica Neue" panose="02000503000000020004" pitchFamily="2" charset="0"/>
              </a:rPr>
              <a:t> library is a popular library for implementing </a:t>
            </a:r>
            <a:r>
              <a:rPr lang="en-GB" dirty="0" err="1">
                <a:effectLst/>
                <a:latin typeface="Helvetica Neue" panose="02000503000000020004" pitchFamily="2" charset="0"/>
              </a:rPr>
              <a:t>WebSockets</a:t>
            </a:r>
            <a:r>
              <a:rPr lang="en-GB" dirty="0">
                <a:effectLst/>
                <a:latin typeface="Helvetica Neue" panose="02000503000000020004" pitchFamily="2" charset="0"/>
              </a:rPr>
              <a:t> in Node.js.</a:t>
            </a:r>
          </a:p>
          <a:p>
            <a:r>
              <a:rPr lang="en-GB" dirty="0">
                <a:effectLst/>
                <a:latin typeface="Helvetica Neue" panose="02000503000000020004" pitchFamily="2" charset="0"/>
              </a:rPr>
              <a:t>Java Library: The </a:t>
            </a:r>
            <a:r>
              <a:rPr lang="en-GB" dirty="0" err="1">
                <a:effectLst/>
                <a:latin typeface="Helvetica Neue" panose="02000503000000020004" pitchFamily="2" charset="0"/>
              </a:rPr>
              <a:t>javax.websocket</a:t>
            </a:r>
            <a:r>
              <a:rPr lang="en-GB" dirty="0">
                <a:effectLst/>
                <a:latin typeface="Helvetica Neue" panose="02000503000000020004" pitchFamily="2" charset="0"/>
              </a:rPr>
              <a:t> package provides built-in support for </a:t>
            </a:r>
            <a:r>
              <a:rPr lang="en-GB" dirty="0" err="1">
                <a:effectLst/>
                <a:latin typeface="Helvetica Neue" panose="02000503000000020004" pitchFamily="2" charset="0"/>
              </a:rPr>
              <a:t>WebSockets</a:t>
            </a:r>
            <a:r>
              <a:rPr lang="en-GB" dirty="0">
                <a:effectLst/>
                <a:latin typeface="Helvetica Neue" panose="02000503000000020004" pitchFamily="2" charset="0"/>
              </a:rPr>
              <a:t> in Java.</a:t>
            </a:r>
          </a:p>
          <a:p>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use: A real-time chat application may use </a:t>
            </a:r>
            <a:r>
              <a:rPr lang="en-GB" dirty="0" err="1">
                <a:effectLst/>
                <a:latin typeface="Helvetica Neue" panose="02000503000000020004" pitchFamily="2" charset="0"/>
              </a:rPr>
              <a:t>WebSockets</a:t>
            </a:r>
            <a:r>
              <a:rPr lang="en-GB" dirty="0">
                <a:effectLst/>
                <a:latin typeface="Helvetica Neue" panose="02000503000000020004" pitchFamily="2" charset="0"/>
              </a:rPr>
              <a:t> to allow for instant messaging between users.</a:t>
            </a:r>
          </a:p>
        </p:txBody>
      </p:sp>
    </p:spTree>
    <p:extLst>
      <p:ext uri="{BB962C8B-B14F-4D97-AF65-F5344CB8AC3E}">
        <p14:creationId xmlns:p14="http://schemas.microsoft.com/office/powerpoint/2010/main" val="32275042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Deltas: Optimizing Real-time Communication</a:t>
            </a:r>
            <a:br>
              <a:rPr lang="en-GB" dirty="0"/>
            </a:br>
            <a:r>
              <a:rPr lang="en-GB" dirty="0"/>
              <a:t>by Sending Only Data Changes</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Deltas refer to the changes or updates that occur in data over time. Instead of sending the entire data set each time, deltas allow for sending only the changes, which reduces the amount of data being sent.</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63</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166627"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Deltas: Deltas refer to the changes or updates that occur in data over time. They optimize real-time communication by sending only data changes, which reduces the amount of data being sent.</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jsondiffpatch</a:t>
            </a:r>
            <a:r>
              <a:rPr lang="en-GB" dirty="0">
                <a:effectLst/>
                <a:latin typeface="Helvetica Neue" panose="02000503000000020004" pitchFamily="2" charset="0"/>
              </a:rPr>
              <a:t> library is a popular library for generating and applying deltas in Node.js.</a:t>
            </a:r>
          </a:p>
          <a:p>
            <a:r>
              <a:rPr lang="en-GB" dirty="0">
                <a:effectLst/>
                <a:latin typeface="Helvetica Neue" panose="02000503000000020004" pitchFamily="2" charset="0"/>
              </a:rPr>
              <a:t>Java Library: The </a:t>
            </a:r>
            <a:r>
              <a:rPr lang="en-GB" dirty="0" err="1">
                <a:effectLst/>
                <a:latin typeface="Helvetica Neue" panose="02000503000000020004" pitchFamily="2" charset="0"/>
              </a:rPr>
              <a:t>DeltaJava</a:t>
            </a:r>
            <a:r>
              <a:rPr lang="en-GB" dirty="0">
                <a:effectLst/>
                <a:latin typeface="Helvetica Neue" panose="02000503000000020004" pitchFamily="2" charset="0"/>
              </a:rPr>
              <a:t> library is a lightweight library for generating and applying deltas in Java.</a:t>
            </a:r>
          </a:p>
          <a:p>
            <a:pPr marL="0" indent="0">
              <a:buNone/>
            </a:pPr>
            <a:endParaRPr lang="en-GB" dirty="0">
              <a:latin typeface="Helvetica Neue" panose="02000503000000020004" pitchFamily="2" charset="0"/>
            </a:endParaRPr>
          </a:p>
          <a:p>
            <a:pPr marL="0" indent="0">
              <a:buNone/>
            </a:pPr>
            <a:r>
              <a:rPr lang="en-GB" dirty="0">
                <a:effectLst/>
                <a:latin typeface="Helvetica Neue" panose="02000503000000020004" pitchFamily="2" charset="0"/>
              </a:rPr>
              <a:t>Example use: A real-time stock trading application may use deltas to send only the changes in stock prices, which reduces the amount of data being sent.</a:t>
            </a:r>
          </a:p>
        </p:txBody>
      </p:sp>
    </p:spTree>
    <p:extLst>
      <p:ext uri="{BB962C8B-B14F-4D97-AF65-F5344CB8AC3E}">
        <p14:creationId xmlns:p14="http://schemas.microsoft.com/office/powerpoint/2010/main" val="13598962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Eventdriven Architectures</a:t>
            </a:r>
          </a:p>
        </p:txBody>
      </p:sp>
    </p:spTree>
    <p:extLst>
      <p:ext uri="{BB962C8B-B14F-4D97-AF65-F5344CB8AC3E}">
        <p14:creationId xmlns:p14="http://schemas.microsoft.com/office/powerpoint/2010/main" val="2861635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Introduction to Event-Driven Architectures:</a:t>
            </a:r>
            <a:br>
              <a:rPr lang="en-GB" dirty="0"/>
            </a:br>
            <a:r>
              <a:rPr lang="en-GB" dirty="0"/>
              <a:t>A Flexible Approach to Real-Time Communication</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Event-driven architectures are a flexible approach to real-time communication between services. In this architecture, services communicate by exchanging events, which represent changes or updates to data.</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11289626"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Event-Driven Architectures: Event-driven architectures are a flexible approach to real-time communication between services. In this architecture, services communicate by exchanging events, which represent changes or updates to data.</a:t>
            </a:r>
          </a:p>
          <a:p>
            <a:r>
              <a:rPr lang="en-GB" dirty="0">
                <a:effectLst/>
                <a:latin typeface="Helvetica Neue" panose="02000503000000020004" pitchFamily="2" charset="0"/>
              </a:rPr>
              <a:t>Message Queue: Message queue architecture involves using a message broker to decouple services.</a:t>
            </a:r>
          </a:p>
          <a:p>
            <a:r>
              <a:rPr lang="en-GB" dirty="0">
                <a:effectLst/>
                <a:latin typeface="Helvetica Neue" panose="02000503000000020004" pitchFamily="2" charset="0"/>
              </a:rPr>
              <a:t>Event Sourcing: Event sourcing architecture involves storing data as a sequence of events.</a:t>
            </a:r>
          </a:p>
          <a:p>
            <a:r>
              <a:rPr lang="en-GB" dirty="0">
                <a:effectLst/>
                <a:latin typeface="Helvetica Neue" panose="02000503000000020004" pitchFamily="2" charset="0"/>
              </a:rPr>
              <a:t>CQRS: CQRS architecture involves separating read and write operations for a service into different components.</a:t>
            </a:r>
          </a:p>
          <a:p>
            <a:r>
              <a:rPr lang="en-GB" dirty="0">
                <a:effectLst/>
                <a:latin typeface="Helvetica Neue" panose="02000503000000020004" pitchFamily="2" charset="0"/>
              </a:rPr>
              <a:t>Lambda Architecture: Lambda architecture involves processing data in two layers: a batch layer and a real-time layer.</a:t>
            </a:r>
          </a:p>
          <a:p>
            <a:r>
              <a:rPr lang="en-GB" dirty="0">
                <a:effectLst/>
                <a:latin typeface="Helvetica Neue" panose="02000503000000020004" pitchFamily="2" charset="0"/>
              </a:rPr>
              <a:t>Reactive Architecture: Reactive architecture involves designing services to be responsive, resilient, and elastic.</a:t>
            </a:r>
          </a:p>
        </p:txBody>
      </p:sp>
    </p:spTree>
    <p:extLst>
      <p:ext uri="{BB962C8B-B14F-4D97-AF65-F5344CB8AC3E}">
        <p14:creationId xmlns:p14="http://schemas.microsoft.com/office/powerpoint/2010/main" val="493982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Message Queue Architecture:</a:t>
            </a:r>
            <a:br>
              <a:rPr lang="en-GB" dirty="0"/>
            </a:br>
            <a:r>
              <a:rPr lang="en-GB" dirty="0"/>
              <a:t>Decoupling Services with a Message Broker</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Message queue architecture involves using a message broker, such as RabbitMQ or Apache Kafka, to decouple services. Services communicate by passing messages through the message broker.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66</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421069"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Message Queue Architecture: Message queue architecture involves using a message broker to decouple services. Services communicate by passing messages through the message broker.</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amqplib</a:t>
            </a:r>
            <a:r>
              <a:rPr lang="en-GB" dirty="0">
                <a:effectLst/>
                <a:latin typeface="Helvetica Neue" panose="02000503000000020004" pitchFamily="2" charset="0"/>
              </a:rPr>
              <a:t> library is a popular library for interacting with RabbitMQ in Node.js.</a:t>
            </a:r>
          </a:p>
          <a:p>
            <a:r>
              <a:rPr lang="en-GB" dirty="0">
                <a:effectLst/>
                <a:latin typeface="Helvetica Neue" panose="02000503000000020004" pitchFamily="2" charset="0"/>
              </a:rPr>
              <a:t>Java Library: The Spring AMQP framework provides built-in support for RabbitMQ in Java.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An e-commerce application may use message queue architecture to handle order processing, where each step in the order process is a separate service that communicates through a message broker.</a:t>
            </a:r>
          </a:p>
        </p:txBody>
      </p:sp>
    </p:spTree>
    <p:extLst>
      <p:ext uri="{BB962C8B-B14F-4D97-AF65-F5344CB8AC3E}">
        <p14:creationId xmlns:p14="http://schemas.microsoft.com/office/powerpoint/2010/main" val="32815931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Message Queue Architecture:</a:t>
            </a:r>
            <a:br>
              <a:rPr lang="en-GB" dirty="0"/>
            </a:br>
            <a:r>
              <a:rPr lang="en-GB" dirty="0"/>
              <a:t>Decoupling Services with a Message Broker</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Message queue architecture involves using a message broker, such as RabbitMQ or Apache Kafka, to decouple services. Services communicate by passing messages through the message broker.</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67</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4"/>
            <a:ext cx="9421069" cy="2470164"/>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Message Queue Architecture: Message queue architecture involves using a message broker to decouple services. Services communicate by passing messages through the message broker.</a:t>
            </a:r>
          </a:p>
          <a:p>
            <a:r>
              <a:rPr lang="en-GB" dirty="0">
                <a:effectLst/>
                <a:latin typeface="Helvetica Neue" panose="02000503000000020004" pitchFamily="2" charset="0"/>
              </a:rPr>
              <a:t>Node.js Library: The </a:t>
            </a:r>
            <a:r>
              <a:rPr lang="en-GB" dirty="0" err="1">
                <a:effectLst/>
                <a:latin typeface="Helvetica Neue" panose="02000503000000020004" pitchFamily="2" charset="0"/>
              </a:rPr>
              <a:t>amqplib</a:t>
            </a:r>
            <a:r>
              <a:rPr lang="en-GB" dirty="0">
                <a:effectLst/>
                <a:latin typeface="Helvetica Neue" panose="02000503000000020004" pitchFamily="2" charset="0"/>
              </a:rPr>
              <a:t> library is a popular library for interacting with RabbitMQ in Node.js.</a:t>
            </a:r>
          </a:p>
          <a:p>
            <a:r>
              <a:rPr lang="en-GB" dirty="0">
                <a:effectLst/>
                <a:latin typeface="Helvetica Neue" panose="02000503000000020004" pitchFamily="2" charset="0"/>
              </a:rPr>
              <a:t>Java Library: The Spring AMQP framework provides built-in support for RabbitMQ in Java.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An e-commerce application may use message queue architecture to handle order processing, where each step in the order process is a separate service that communicates through a message broker.</a:t>
            </a:r>
          </a:p>
        </p:txBody>
      </p:sp>
      <p:pic>
        <p:nvPicPr>
          <p:cNvPr id="1026" name="Picture 2" descr="Overview of Message Queuing Services Architecture - Win32 apps | Microsoft  Learn">
            <a:extLst>
              <a:ext uri="{FF2B5EF4-FFF2-40B4-BE49-F238E27FC236}">
                <a16:creationId xmlns:a16="http://schemas.microsoft.com/office/drawing/2014/main" id="{09E75BEF-A3D8-C581-1B4C-904982DC1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0224" y="1181231"/>
            <a:ext cx="7595539" cy="5464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9738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Data Management in Web Services</a:t>
            </a:r>
          </a:p>
        </p:txBody>
      </p:sp>
    </p:spTree>
    <p:extLst>
      <p:ext uri="{BB962C8B-B14F-4D97-AF65-F5344CB8AC3E}">
        <p14:creationId xmlns:p14="http://schemas.microsoft.com/office/powerpoint/2010/main" val="11674485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Data Quality: Ensuring Accuracy and</a:t>
            </a:r>
            <a:br>
              <a:rPr lang="en-GB" dirty="0"/>
            </a:br>
            <a:r>
              <a:rPr lang="en-GB" dirty="0"/>
              <a:t>Reliability of Third-Party Data</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Data quality refers to the accuracy, completeness, consistency, and reliability of data. In the context of third-party data, it is important to ensure that the data is of high quality and meets the needs of the application.</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69</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Data Quality: Data quality refers to the accuracy, completeness, consistency, and reliability of data.</a:t>
            </a:r>
          </a:p>
          <a:p>
            <a:r>
              <a:rPr lang="en-GB" dirty="0">
                <a:effectLst/>
                <a:latin typeface="Helvetica Neue" panose="02000503000000020004" pitchFamily="2" charset="0"/>
              </a:rPr>
              <a:t>Importance of Data Quality: Poor data quality can lead to incorrect decisions and inaccurate insights.</a:t>
            </a:r>
          </a:p>
          <a:p>
            <a:r>
              <a:rPr lang="en-GB" dirty="0">
                <a:effectLst/>
                <a:latin typeface="Helvetica Neue" panose="02000503000000020004" pitchFamily="2" charset="0"/>
              </a:rPr>
              <a:t>Techniques for Ensuring Data Quality: Data validation, data cleansing, and data profiling are techniques for ensuring data quality.</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financial services application that relies on third-party market data must ensure that the data is accurate and up-to-date to make informed investment decisions.</a:t>
            </a:r>
          </a:p>
        </p:txBody>
      </p:sp>
    </p:spTree>
    <p:extLst>
      <p:ext uri="{BB962C8B-B14F-4D97-AF65-F5344CB8AC3E}">
        <p14:creationId xmlns:p14="http://schemas.microsoft.com/office/powerpoint/2010/main" val="10006845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Pulling Data When Needed: </a:t>
            </a:r>
            <a:br>
              <a:rPr lang="en-GB" dirty="0"/>
            </a:br>
            <a:r>
              <a:rPr lang="en-GB" dirty="0"/>
              <a:t>Efficient Use of Third-Party Data</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11059037" cy="694455"/>
          </a:xfrm>
        </p:spPr>
        <p:txBody>
          <a:bodyPr/>
          <a:lstStyle/>
          <a:p>
            <a:pPr marL="0" indent="0">
              <a:buNone/>
            </a:pPr>
            <a:r>
              <a:rPr lang="en-GB" dirty="0">
                <a:effectLst/>
                <a:latin typeface="Helvetica Neue" panose="02000503000000020004" pitchFamily="2" charset="0"/>
              </a:rPr>
              <a:t>Pulling data from third-party sources when needed is an efficient way to use third-party data without incurring unnecessary overhead.</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70</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Pulling Data When Needed: Pulling data from third-party sources when needed is an efficient way to use third-party data.</a:t>
            </a:r>
          </a:p>
          <a:p>
            <a:r>
              <a:rPr lang="en-GB" dirty="0">
                <a:effectLst/>
                <a:latin typeface="Helvetica Neue" panose="02000503000000020004" pitchFamily="2" charset="0"/>
              </a:rPr>
              <a:t>Advantages of Pulling Data: Reduced overhead, increased flexibility, and better control over data usage.</a:t>
            </a:r>
          </a:p>
          <a:p>
            <a:r>
              <a:rPr lang="en-GB" dirty="0">
                <a:effectLst/>
                <a:latin typeface="Helvetica Neue" panose="02000503000000020004" pitchFamily="2" charset="0"/>
              </a:rPr>
              <a:t>Techniques for Pulling Data: REST APIs, web scraping, and data feeds are techniques for pulling data from third-party sources.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weather application that pulls weather data from a third-party source only when a user requests a weather report.</a:t>
            </a:r>
          </a:p>
        </p:txBody>
      </p:sp>
    </p:spTree>
    <p:extLst>
      <p:ext uri="{BB962C8B-B14F-4D97-AF65-F5344CB8AC3E}">
        <p14:creationId xmlns:p14="http://schemas.microsoft.com/office/powerpoint/2010/main" val="2148489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Caching Data: Improving Performance</a:t>
            </a:r>
            <a:br>
              <a:rPr lang="en-GB" dirty="0"/>
            </a:br>
            <a:r>
              <a:rPr lang="en-GB" dirty="0"/>
              <a:t>and Reducing Overhead</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250219"/>
            <a:ext cx="7465048" cy="694455"/>
          </a:xfrm>
        </p:spPr>
        <p:txBody>
          <a:bodyPr/>
          <a:lstStyle/>
          <a:p>
            <a:pPr marL="0" indent="0">
              <a:buNone/>
            </a:pPr>
            <a:r>
              <a:rPr lang="en-GB" dirty="0">
                <a:effectLst/>
                <a:latin typeface="Helvetica Neue" panose="02000503000000020004" pitchFamily="2" charset="0"/>
              </a:rPr>
              <a:t>Caching data is a technique for storing frequently accessed data in a local cache to improve performance and reduce overhead.</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71</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Caching Data: Caching data is a technique for storing frequently accessed data in a local cache.</a:t>
            </a:r>
          </a:p>
          <a:p>
            <a:r>
              <a:rPr lang="en-GB" dirty="0">
                <a:effectLst/>
                <a:latin typeface="Helvetica Neue" panose="02000503000000020004" pitchFamily="2" charset="0"/>
              </a:rPr>
              <a:t>Advantages of Caching Data: Improved performance, reduced overhead, and improved availability of data.</a:t>
            </a:r>
          </a:p>
          <a:p>
            <a:r>
              <a:rPr lang="en-GB" dirty="0">
                <a:effectLst/>
                <a:latin typeface="Helvetica Neue" panose="02000503000000020004" pitchFamily="2" charset="0"/>
              </a:rPr>
              <a:t>Techniques for Caching Data: In-memory caching, file-based caching, and distributed caching are techniques for caching data.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news application that caches news articles for a certain period of time to reduce the number of requests to the third-party news API.</a:t>
            </a:r>
          </a:p>
        </p:txBody>
      </p:sp>
    </p:spTree>
    <p:extLst>
      <p:ext uri="{BB962C8B-B14F-4D97-AF65-F5344CB8AC3E}">
        <p14:creationId xmlns:p14="http://schemas.microsoft.com/office/powerpoint/2010/main" val="9852655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Logging Data: Tracking and</a:t>
            </a:r>
            <a:br>
              <a:rPr lang="en-GB" dirty="0"/>
            </a:br>
            <a:r>
              <a:rPr lang="en-GB" dirty="0" err="1"/>
              <a:t>Analyzing</a:t>
            </a:r>
            <a:r>
              <a:rPr lang="en-GB" dirty="0"/>
              <a:t> Third-Party Data Usage</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250219"/>
            <a:ext cx="7465048" cy="694455"/>
          </a:xfrm>
        </p:spPr>
        <p:txBody>
          <a:bodyPr/>
          <a:lstStyle/>
          <a:p>
            <a:pPr marL="0" indent="0">
              <a:buNone/>
            </a:pPr>
            <a:r>
              <a:rPr lang="en-GB" dirty="0">
                <a:effectLst/>
                <a:latin typeface="Helvetica Neue" panose="02000503000000020004" pitchFamily="2" charset="0"/>
              </a:rPr>
              <a:t>Logging data is a technique for tracking and </a:t>
            </a:r>
            <a:r>
              <a:rPr lang="en-GB" dirty="0" err="1">
                <a:effectLst/>
                <a:latin typeface="Helvetica Neue" panose="02000503000000020004" pitchFamily="2" charset="0"/>
              </a:rPr>
              <a:t>analyzing</a:t>
            </a:r>
            <a:r>
              <a:rPr lang="en-GB" dirty="0">
                <a:effectLst/>
                <a:latin typeface="Helvetica Neue" panose="02000503000000020004" pitchFamily="2" charset="0"/>
              </a:rPr>
              <a:t> the usage of third-party data, including usage statistics and usage patterns.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72</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Logging Data: Logging data is a technique for tracking and </a:t>
            </a:r>
            <a:r>
              <a:rPr lang="en-GB" dirty="0" err="1">
                <a:effectLst/>
                <a:latin typeface="Helvetica Neue" panose="02000503000000020004" pitchFamily="2" charset="0"/>
              </a:rPr>
              <a:t>analyzing</a:t>
            </a:r>
            <a:r>
              <a:rPr lang="en-GB" dirty="0">
                <a:effectLst/>
                <a:latin typeface="Helvetica Neue" panose="02000503000000020004" pitchFamily="2" charset="0"/>
              </a:rPr>
              <a:t> the usage of third-party data.</a:t>
            </a:r>
          </a:p>
          <a:p>
            <a:r>
              <a:rPr lang="en-GB" dirty="0">
                <a:effectLst/>
                <a:latin typeface="Helvetica Neue" panose="02000503000000020004" pitchFamily="2" charset="0"/>
              </a:rPr>
              <a:t>Advantages of Logging Data: Improved visibility into data usage, better understanding of data consumption patterns, and improved optimization of data usage.</a:t>
            </a:r>
          </a:p>
          <a:p>
            <a:r>
              <a:rPr lang="en-GB" dirty="0">
                <a:effectLst/>
                <a:latin typeface="Helvetica Neue" panose="02000503000000020004" pitchFamily="2" charset="0"/>
              </a:rPr>
              <a:t>Techniques for Logging Data: Log files, analytics platforms, and reporting tools are techniques for logging data.</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social media analytics application that logs user activity data to better understand user engagement and to optimize ad targeting.</a:t>
            </a:r>
          </a:p>
        </p:txBody>
      </p:sp>
    </p:spTree>
    <p:extLst>
      <p:ext uri="{BB962C8B-B14F-4D97-AF65-F5344CB8AC3E}">
        <p14:creationId xmlns:p14="http://schemas.microsoft.com/office/powerpoint/2010/main" val="37707787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Data Strategies</a:t>
            </a:r>
          </a:p>
        </p:txBody>
      </p:sp>
    </p:spTree>
    <p:extLst>
      <p:ext uri="{BB962C8B-B14F-4D97-AF65-F5344CB8AC3E}">
        <p14:creationId xmlns:p14="http://schemas.microsoft.com/office/powerpoint/2010/main" val="40901603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Relational Databases: When to Use Them</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250219"/>
            <a:ext cx="7465048" cy="694455"/>
          </a:xfrm>
        </p:spPr>
        <p:txBody>
          <a:bodyPr/>
          <a:lstStyle/>
          <a:p>
            <a:pPr marL="0" indent="0">
              <a:buNone/>
            </a:pPr>
            <a:r>
              <a:rPr lang="en-GB" dirty="0">
                <a:effectLst/>
                <a:latin typeface="Helvetica Neue" panose="02000503000000020004" pitchFamily="2" charset="0"/>
              </a:rPr>
              <a:t>Relational databases are a traditional approach to managing structured data, and are useful when data needs to be organized and queried in a specific way.</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74</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Relational Databases: Relational databases are a traditional approach to managing structured data.</a:t>
            </a:r>
          </a:p>
          <a:p>
            <a:r>
              <a:rPr lang="en-GB" dirty="0">
                <a:effectLst/>
                <a:latin typeface="Helvetica Neue" panose="02000503000000020004" pitchFamily="2" charset="0"/>
              </a:rPr>
              <a:t>Advantages of Relational Databases: Well-defined data structure, efficient queries, and support for ACID transactions.</a:t>
            </a:r>
          </a:p>
          <a:p>
            <a:r>
              <a:rPr lang="en-GB" dirty="0">
                <a:effectLst/>
                <a:latin typeface="Helvetica Neue" panose="02000503000000020004" pitchFamily="2" charset="0"/>
              </a:rPr>
              <a:t>Use Cases for Relational Databases: Applications that require strict data consistency, such as financial applications and e-commerce platforms.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customer relationship management (CRM) system that stores customer data in a relational database for easy querying and analysis.</a:t>
            </a:r>
          </a:p>
        </p:txBody>
      </p:sp>
    </p:spTree>
    <p:extLst>
      <p:ext uri="{BB962C8B-B14F-4D97-AF65-F5344CB8AC3E}">
        <p14:creationId xmlns:p14="http://schemas.microsoft.com/office/powerpoint/2010/main" val="29663995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What is a Data Lake? </a:t>
            </a:r>
            <a:br>
              <a:rPr lang="en-GB" dirty="0"/>
            </a:br>
            <a:r>
              <a:rPr lang="en-GB" dirty="0"/>
              <a:t>A Flexible Approach to Data Management</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5" y="2250219"/>
            <a:ext cx="9222285" cy="694455"/>
          </a:xfrm>
        </p:spPr>
        <p:txBody>
          <a:bodyPr/>
          <a:lstStyle/>
          <a:p>
            <a:pPr marL="0" indent="0">
              <a:buNone/>
            </a:pPr>
            <a:r>
              <a:rPr lang="en-GB" dirty="0">
                <a:effectLst/>
                <a:latin typeface="Helvetica Neue" panose="02000503000000020004" pitchFamily="2" charset="0"/>
              </a:rPr>
              <a:t>A data lake is a large, centralized repository for storing all types of data, including structured, semi-structured, and unstructured data. Unlike a relational database, a data lake is schema-less and does not require a predefined data structure.</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75</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3275937"/>
            <a:ext cx="9842489" cy="3100192"/>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Data Lake: A data lake is a large, centralized repository for storing all types of data, including structured, semi-structured, and unstructured data.</a:t>
            </a:r>
          </a:p>
          <a:p>
            <a:r>
              <a:rPr lang="en-GB" dirty="0">
                <a:effectLst/>
                <a:latin typeface="Helvetica Neue" panose="02000503000000020004" pitchFamily="2" charset="0"/>
              </a:rPr>
              <a:t>Schema-less: A data lake is schema-less and does not require a predefined data structure.</a:t>
            </a:r>
          </a:p>
          <a:p>
            <a:r>
              <a:rPr lang="en-GB" dirty="0">
                <a:effectLst/>
                <a:latin typeface="Helvetica Neue" panose="02000503000000020004" pitchFamily="2" charset="0"/>
              </a:rPr>
              <a:t>Flexibility: Data lakes offer a flexible approach to data management, enabling organizations to store and process data of various types and sizes.</a:t>
            </a:r>
          </a:p>
          <a:p>
            <a:r>
              <a:rPr lang="en-GB" dirty="0">
                <a:effectLst/>
                <a:latin typeface="Helvetica Neue" panose="02000503000000020004" pitchFamily="2" charset="0"/>
              </a:rPr>
              <a:t>Big Data Processing: Data lakes are designed for big data processing, enabling organizations to </a:t>
            </a:r>
            <a:r>
              <a:rPr lang="en-GB" dirty="0" err="1">
                <a:effectLst/>
                <a:latin typeface="Helvetica Neue" panose="02000503000000020004" pitchFamily="2" charset="0"/>
              </a:rPr>
              <a:t>analyze</a:t>
            </a:r>
            <a:r>
              <a:rPr lang="en-GB" dirty="0">
                <a:effectLst/>
                <a:latin typeface="Helvetica Neue" panose="02000503000000020004" pitchFamily="2" charset="0"/>
              </a:rPr>
              <a:t> large volumes of data using distributed computing frameworks.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retail organization that collects data from various sources, such as social media, customer reviews, and sales data, can use a data lake to store and </a:t>
            </a:r>
            <a:r>
              <a:rPr lang="en-GB" dirty="0" err="1">
                <a:effectLst/>
                <a:latin typeface="Helvetica Neue" panose="02000503000000020004" pitchFamily="2" charset="0"/>
              </a:rPr>
              <a:t>analyze</a:t>
            </a:r>
            <a:r>
              <a:rPr lang="en-GB" dirty="0">
                <a:effectLst/>
                <a:latin typeface="Helvetica Neue" panose="02000503000000020004" pitchFamily="2" charset="0"/>
              </a:rPr>
              <a:t> this data in a flexible and scalable manner, without the need for predefined data structures.</a:t>
            </a:r>
          </a:p>
        </p:txBody>
      </p:sp>
    </p:spTree>
    <p:extLst>
      <p:ext uri="{BB962C8B-B14F-4D97-AF65-F5344CB8AC3E}">
        <p14:creationId xmlns:p14="http://schemas.microsoft.com/office/powerpoint/2010/main" val="16728231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Data Lakes: When to Use Them</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250219"/>
            <a:ext cx="7465048" cy="694455"/>
          </a:xfrm>
        </p:spPr>
        <p:txBody>
          <a:bodyPr/>
          <a:lstStyle/>
          <a:p>
            <a:pPr marL="0" indent="0">
              <a:buNone/>
            </a:pPr>
            <a:r>
              <a:rPr lang="en-GB" dirty="0">
                <a:effectLst/>
                <a:latin typeface="Helvetica Neue" panose="02000503000000020004" pitchFamily="2" charset="0"/>
              </a:rPr>
              <a:t>Data lakes are a more flexible approach to managing data, and are useful when data is unstructured or has unknown use cases.</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76</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2944673"/>
            <a:ext cx="9421069"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Data Lakes: Data lakes are a more flexible approach to managing data, and are useful when data is unstructured or has unknown use cases.</a:t>
            </a:r>
          </a:p>
          <a:p>
            <a:r>
              <a:rPr lang="en-GB" dirty="0">
                <a:effectLst/>
                <a:latin typeface="Helvetica Neue" panose="02000503000000020004" pitchFamily="2" charset="0"/>
              </a:rPr>
              <a:t>Advantages of Data Lakes: Flexible data storage, support for unstructured and semi-structured data, and support for big data processing.</a:t>
            </a:r>
          </a:p>
          <a:p>
            <a:r>
              <a:rPr lang="en-GB" dirty="0">
                <a:effectLst/>
                <a:latin typeface="Helvetica Neue" panose="02000503000000020004" pitchFamily="2" charset="0"/>
              </a:rPr>
              <a:t>Use Cases for Data Lakes: Applications that require processing and analysis of large volumes of data, such as data science and machine learning applications.</a:t>
            </a:r>
          </a:p>
          <a:p>
            <a:pPr marL="0" indent="0">
              <a:buNone/>
            </a:pPr>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marketing analytics platform that stores various types of marketing data in a data lake for easy access and analysis.</a:t>
            </a:r>
          </a:p>
        </p:txBody>
      </p:sp>
    </p:spTree>
    <p:extLst>
      <p:ext uri="{BB962C8B-B14F-4D97-AF65-F5344CB8AC3E}">
        <p14:creationId xmlns:p14="http://schemas.microsoft.com/office/powerpoint/2010/main" val="23633298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Relational Databases vs. Data Lakes: </a:t>
            </a:r>
            <a:br>
              <a:rPr lang="en-GB" dirty="0"/>
            </a:br>
            <a:r>
              <a:rPr lang="en-GB" dirty="0"/>
              <a:t>Which One to Use for Your Data</a:t>
            </a:r>
            <a:endParaRPr lang="en-DK" dirty="0"/>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6" y="2250219"/>
            <a:ext cx="7465048" cy="694455"/>
          </a:xfrm>
        </p:spPr>
        <p:txBody>
          <a:bodyPr/>
          <a:lstStyle/>
          <a:p>
            <a:pPr marL="0" indent="0">
              <a:buNone/>
            </a:pPr>
            <a:r>
              <a:rPr lang="en-GB" dirty="0">
                <a:effectLst/>
                <a:latin typeface="Helvetica Neue" panose="02000503000000020004" pitchFamily="2" charset="0"/>
              </a:rPr>
              <a:t>Relational databases and data lakes serve different purposes and have different strengths and weaknesses. Choosing the right approach depends on the nature of the data and the requirements of the application.</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77</a:t>
            </a:fld>
            <a:endParaRPr lang="en-GB" dirty="0"/>
          </a:p>
        </p:txBody>
      </p:sp>
      <p:sp>
        <p:nvSpPr>
          <p:cNvPr id="7" name="Content Placeholder 2">
            <a:extLst>
              <a:ext uri="{FF2B5EF4-FFF2-40B4-BE49-F238E27FC236}">
                <a16:creationId xmlns:a16="http://schemas.microsoft.com/office/drawing/2014/main" id="{5C37D17A-60E1-F47F-DCC4-E3DBCB3316CC}"/>
              </a:ext>
            </a:extLst>
          </p:cNvPr>
          <p:cNvSpPr txBox="1">
            <a:spLocks/>
          </p:cNvSpPr>
          <p:nvPr/>
        </p:nvSpPr>
        <p:spPr>
          <a:xfrm>
            <a:off x="414694" y="3269860"/>
            <a:ext cx="10987476" cy="310626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dirty="0">
                <a:effectLst/>
                <a:latin typeface="Helvetica Neue" panose="02000503000000020004" pitchFamily="2" charset="0"/>
              </a:rPr>
              <a:t>Relational Databases vs. Data Lakes: Relational databases and data lakes serve different purposes and have different strengths and weaknesses.</a:t>
            </a:r>
          </a:p>
          <a:p>
            <a:r>
              <a:rPr lang="en-GB" dirty="0">
                <a:effectLst/>
                <a:latin typeface="Helvetica Neue" panose="02000503000000020004" pitchFamily="2" charset="0"/>
              </a:rPr>
              <a:t>Relational Databases: Relational databases are useful for structured data that requires well-defined data structures and efficient queries.</a:t>
            </a:r>
          </a:p>
          <a:p>
            <a:r>
              <a:rPr lang="en-GB" dirty="0">
                <a:effectLst/>
                <a:latin typeface="Helvetica Neue" panose="02000503000000020004" pitchFamily="2" charset="0"/>
              </a:rPr>
              <a:t>Data Lakes: Data lakes are useful for unstructured data that requires flexible data storage and support for big data processing.</a:t>
            </a:r>
          </a:p>
          <a:p>
            <a:r>
              <a:rPr lang="en-GB" dirty="0">
                <a:effectLst/>
                <a:latin typeface="Helvetica Neue" panose="02000503000000020004" pitchFamily="2" charset="0"/>
              </a:rPr>
              <a:t>Choosing the Right Approach: Choosing the right approach depends on the nature of the data and the requirements of the application.</a:t>
            </a:r>
          </a:p>
          <a:p>
            <a:endParaRPr lang="en-GB" dirty="0">
              <a:effectLst/>
              <a:latin typeface="Helvetica Neue" panose="02000503000000020004" pitchFamily="2" charset="0"/>
            </a:endParaRPr>
          </a:p>
          <a:p>
            <a:pPr marL="0" indent="0">
              <a:buNone/>
            </a:pPr>
            <a:r>
              <a:rPr lang="en-GB" dirty="0">
                <a:effectLst/>
                <a:latin typeface="Helvetica Neue" panose="02000503000000020004" pitchFamily="2" charset="0"/>
              </a:rPr>
              <a:t>Example Use: A healthcare data management system that stores patient data in a relational database for easy querying and analysis, but also uses a data lake to store large volumes of unstructured data from medical devices and sensors.</a:t>
            </a:r>
          </a:p>
        </p:txBody>
      </p:sp>
    </p:spTree>
    <p:extLst>
      <p:ext uri="{BB962C8B-B14F-4D97-AF65-F5344CB8AC3E}">
        <p14:creationId xmlns:p14="http://schemas.microsoft.com/office/powerpoint/2010/main" val="4636573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2FF25E-24BF-4225-87AB-B2869F94CB2B}"/>
              </a:ext>
            </a:extLst>
          </p:cNvPr>
          <p:cNvSpPr>
            <a:spLocks noGrp="1"/>
          </p:cNvSpPr>
          <p:nvPr>
            <p:ph type="ctrTitle"/>
          </p:nvPr>
        </p:nvSpPr>
        <p:spPr/>
        <p:txBody>
          <a:bodyPr/>
          <a:lstStyle/>
          <a:p>
            <a:endParaRPr lang="da-DK"/>
          </a:p>
        </p:txBody>
      </p:sp>
      <p:sp>
        <p:nvSpPr>
          <p:cNvPr id="3" name="Pladsholder til dato 2">
            <a:extLst>
              <a:ext uri="{FF2B5EF4-FFF2-40B4-BE49-F238E27FC236}">
                <a16:creationId xmlns:a16="http://schemas.microsoft.com/office/drawing/2014/main" id="{4C93D788-8D9D-4045-B518-6692018D89DE}"/>
              </a:ext>
            </a:extLst>
          </p:cNvPr>
          <p:cNvSpPr>
            <a:spLocks noGrp="1"/>
          </p:cNvSpPr>
          <p:nvPr>
            <p:ph type="dt" sz="half" idx="2"/>
          </p:nvPr>
        </p:nvSpPr>
        <p:spPr/>
        <p:txBody>
          <a:bodyPr/>
          <a:lstStyle/>
          <a:p>
            <a:fld id="{B4C4C6FD-8607-43FF-8BC8-950EFB970BA3}" type="datetime1">
              <a:rPr lang="en-GB" smtClean="0"/>
              <a:t>01/11/2024</a:t>
            </a:fld>
            <a:endParaRPr lang="en-GB" dirty="0"/>
          </a:p>
        </p:txBody>
      </p:sp>
      <p:sp>
        <p:nvSpPr>
          <p:cNvPr id="4" name="Rektangel 3">
            <a:extLst>
              <a:ext uri="{FF2B5EF4-FFF2-40B4-BE49-F238E27FC236}">
                <a16:creationId xmlns:a16="http://schemas.microsoft.com/office/drawing/2014/main" id="{F994D39F-0217-4BCC-AD0B-429E7605B2F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da-DK" sz="2800" b="1" dirty="0"/>
              <a:t>Key </a:t>
            </a:r>
            <a:r>
              <a:rPr lang="da-DK" sz="2800" b="1" dirty="0" err="1"/>
              <a:t>Takeaways</a:t>
            </a:r>
            <a:r>
              <a:rPr lang="da-DK" sz="2800" b="1" dirty="0"/>
              <a:t> and </a:t>
            </a:r>
            <a:r>
              <a:rPr lang="da-DK" sz="2800" b="1" dirty="0" err="1"/>
              <a:t>Further</a:t>
            </a:r>
            <a:r>
              <a:rPr lang="da-DK" sz="2800" b="1" dirty="0"/>
              <a:t> Reading</a:t>
            </a:r>
          </a:p>
        </p:txBody>
      </p:sp>
    </p:spTree>
    <p:extLst>
      <p:ext uri="{BB962C8B-B14F-4D97-AF65-F5344CB8AC3E}">
        <p14:creationId xmlns:p14="http://schemas.microsoft.com/office/powerpoint/2010/main" val="26070213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Key Takeaways: </a:t>
            </a:r>
            <a:br>
              <a:rPr lang="en-GB" dirty="0"/>
            </a:br>
            <a:r>
              <a:rPr lang="en-GB" dirty="0"/>
              <a:t>Building Robust and Scalable Web Services</a:t>
            </a:r>
            <a:endParaRPr lang="en-DK" dirty="0"/>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79</a:t>
            </a:fld>
            <a:endParaRPr lang="en-GB" dirty="0"/>
          </a:p>
        </p:txBody>
      </p:sp>
      <p:sp>
        <p:nvSpPr>
          <p:cNvPr id="9" name="Content Placeholder 8">
            <a:extLst>
              <a:ext uri="{FF2B5EF4-FFF2-40B4-BE49-F238E27FC236}">
                <a16:creationId xmlns:a16="http://schemas.microsoft.com/office/drawing/2014/main" id="{B52F6801-EF9D-65FA-CEAA-72093D35E056}"/>
              </a:ext>
            </a:extLst>
          </p:cNvPr>
          <p:cNvSpPr>
            <a:spLocks noGrp="1"/>
          </p:cNvSpPr>
          <p:nvPr>
            <p:ph sz="quarter" idx="13"/>
          </p:nvPr>
        </p:nvSpPr>
        <p:spPr>
          <a:xfrm>
            <a:off x="414696" y="2194560"/>
            <a:ext cx="10168490" cy="3647439"/>
          </a:xfrm>
        </p:spPr>
        <p:txBody>
          <a:bodyPr/>
          <a:lstStyle/>
          <a:p>
            <a:r>
              <a:rPr lang="en-GB" dirty="0"/>
              <a:t>Web services enable applications to communicate and share data across different systems and platforms.</a:t>
            </a:r>
          </a:p>
          <a:p>
            <a:r>
              <a:rPr lang="en-GB" dirty="0"/>
              <a:t>Key web service technologies include REST, SOAP, and MQTT, which each have their own strengths and weaknesses.</a:t>
            </a:r>
          </a:p>
          <a:p>
            <a:r>
              <a:rPr lang="en-GB" dirty="0"/>
              <a:t>The OSI model and TCP/IP model provide a framework for understanding how network communication works.</a:t>
            </a:r>
          </a:p>
          <a:p>
            <a:r>
              <a:rPr lang="en-GB" dirty="0"/>
              <a:t>Data management is a critical component of web services, and includes techniques such as data quality, data caching, and data logging.</a:t>
            </a:r>
          </a:p>
          <a:p>
            <a:r>
              <a:rPr lang="en-GB" dirty="0"/>
              <a:t>Relational databases and data lakes are two approaches to data management, each with their own advantages and use cases.</a:t>
            </a:r>
          </a:p>
          <a:p>
            <a:r>
              <a:rPr lang="en-GB" dirty="0"/>
              <a:t>Successful web service development requires careful planning, robust testing, and ongoing maintenance and monitoring.</a:t>
            </a:r>
            <a:endParaRPr lang="en-DK" dirty="0"/>
          </a:p>
        </p:txBody>
      </p:sp>
    </p:spTree>
    <p:extLst>
      <p:ext uri="{BB962C8B-B14F-4D97-AF65-F5344CB8AC3E}">
        <p14:creationId xmlns:p14="http://schemas.microsoft.com/office/powerpoint/2010/main" val="13931294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a:xfrm>
            <a:off x="414696" y="999173"/>
            <a:ext cx="10931815" cy="1195387"/>
          </a:xfrm>
        </p:spPr>
        <p:txBody>
          <a:bodyPr/>
          <a:lstStyle/>
          <a:p>
            <a:r>
              <a:rPr lang="en-GB" dirty="0"/>
              <a:t>Further Reading: </a:t>
            </a:r>
            <a:br>
              <a:rPr lang="en-GB" dirty="0"/>
            </a:br>
            <a:r>
              <a:rPr lang="en-GB" dirty="0"/>
              <a:t>Explore Web Services and Data Management</a:t>
            </a:r>
            <a:endParaRPr lang="en-DK" dirty="0"/>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01/11/2024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80</a:t>
            </a:fld>
            <a:endParaRPr lang="en-GB" dirty="0"/>
          </a:p>
        </p:txBody>
      </p:sp>
      <p:sp>
        <p:nvSpPr>
          <p:cNvPr id="9" name="Content Placeholder 8">
            <a:extLst>
              <a:ext uri="{FF2B5EF4-FFF2-40B4-BE49-F238E27FC236}">
                <a16:creationId xmlns:a16="http://schemas.microsoft.com/office/drawing/2014/main" id="{B52F6801-EF9D-65FA-CEAA-72093D35E056}"/>
              </a:ext>
            </a:extLst>
          </p:cNvPr>
          <p:cNvSpPr>
            <a:spLocks noGrp="1"/>
          </p:cNvSpPr>
          <p:nvPr>
            <p:ph sz="quarter" idx="13"/>
          </p:nvPr>
        </p:nvSpPr>
        <p:spPr>
          <a:xfrm>
            <a:off x="414696" y="2194560"/>
            <a:ext cx="10168490" cy="3647439"/>
          </a:xfrm>
        </p:spPr>
        <p:txBody>
          <a:bodyPr/>
          <a:lstStyle/>
          <a:p>
            <a:r>
              <a:rPr lang="en-GB" dirty="0"/>
              <a:t>RESTful Web Services by Leonard Richardson and Sam Ruby</a:t>
            </a:r>
          </a:p>
          <a:p>
            <a:r>
              <a:rPr lang="en-GB" dirty="0"/>
              <a:t>Building Microservices by Sam Newman</a:t>
            </a:r>
          </a:p>
          <a:p>
            <a:r>
              <a:rPr lang="en-GB" dirty="0"/>
              <a:t>Data Architecture: A Primer for the Data Scientist by W.H. </a:t>
            </a:r>
            <a:r>
              <a:rPr lang="en-GB" dirty="0" err="1"/>
              <a:t>Inmon</a:t>
            </a:r>
            <a:endParaRPr lang="en-GB" dirty="0"/>
          </a:p>
          <a:p>
            <a:r>
              <a:rPr lang="en-GB" dirty="0"/>
              <a:t>Big Data by Nathan </a:t>
            </a:r>
            <a:r>
              <a:rPr lang="en-GB" dirty="0" err="1"/>
              <a:t>Marz</a:t>
            </a:r>
            <a:r>
              <a:rPr lang="en-GB" dirty="0"/>
              <a:t> and James Warren</a:t>
            </a:r>
          </a:p>
          <a:p>
            <a:r>
              <a:rPr lang="en-GB" dirty="0"/>
              <a:t>NoSQL Distilled: A Brief Guide to the Emerging World of Polyglot Persistence by Martin Fowler</a:t>
            </a:r>
          </a:p>
          <a:p>
            <a:r>
              <a:rPr lang="en-GB" dirty="0"/>
              <a:t>Stream Processing with Apache </a:t>
            </a:r>
            <a:r>
              <a:rPr lang="en-GB" dirty="0" err="1"/>
              <a:t>Flink</a:t>
            </a:r>
            <a:r>
              <a:rPr lang="en-GB" dirty="0"/>
              <a:t> by Fabian </a:t>
            </a:r>
            <a:r>
              <a:rPr lang="en-GB" dirty="0" err="1"/>
              <a:t>Hueske</a:t>
            </a:r>
            <a:r>
              <a:rPr lang="en-GB" dirty="0"/>
              <a:t> and </a:t>
            </a:r>
            <a:r>
              <a:rPr lang="en-GB" dirty="0" err="1"/>
              <a:t>Vasia</a:t>
            </a:r>
            <a:r>
              <a:rPr lang="en-GB" dirty="0"/>
              <a:t> </a:t>
            </a:r>
            <a:r>
              <a:rPr lang="en-GB" dirty="0" err="1"/>
              <a:t>Kalavri</a:t>
            </a:r>
            <a:endParaRPr lang="en-DK" dirty="0"/>
          </a:p>
        </p:txBody>
      </p:sp>
    </p:spTree>
    <p:extLst>
      <p:ext uri="{BB962C8B-B14F-4D97-AF65-F5344CB8AC3E}">
        <p14:creationId xmlns:p14="http://schemas.microsoft.com/office/powerpoint/2010/main" val="2657055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2.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heme/theme1.xml><?xml version="1.0" encoding="utf-8"?>
<a:theme xmlns:a="http://schemas.openxmlformats.org/drawingml/2006/main" name="Blank">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widescreen.potx" id="{1C4F8E8D-0334-4267-96F7-9CAC143C1229}" vid="{6887ADA9-E5D5-4F4B-ACE2-43240691910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item1.xml><?xml version="1.0" encoding="utf-8"?>
<TemplafySlideTemplateConfiguration><![CDATA[{"documentContentValidatorConfiguration":{"enableDocumentContentValidator":false,"documentContentValidatorVersion":0},"elementsMetadata":[],"slideId":"636891895636792758","enableDocumentContentUpdater":true,"version":"1.3"}]]></TemplafySlideTemplate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documentContentValidatorConfiguration":{"enableDocumentContentValidator":false,"documentContentValidatorVersion":0},"elementsMetadata":[],"slideId":"636891895637105316","enableDocumentContentUpdater":true,"version":"1.3"}]]></TemplafySlideTemplateConfiguration>
</file>

<file path=customXml/item9.xml><?xml version="1.0" encoding="utf-8"?>
<TemplafySlideTemplateConfiguration><![CDATA[{"documentContentValidatorConfiguration":{"enableDocumentContentValidator":false,"documentContentValidatorVersion":0},"elementsMetadata":[],"slideId":"636891895636636524","enableDocumentContentUpdater":true,"version":"1.3"}]]></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documentContentValidatorConfiguration":{"enableDocumentContentValidator":false,"documentContentValidatorVersion":0},"elementsMetadata":[],"slideId":"636891895636167766","enableDocumentContentUpdater":true,"version":"1.3"}]]></TemplafySlideTemplateConfiguration>
</file>

<file path=customXml/item12.xml><?xml version="1.0" encoding="utf-8"?>
<TemplafySlideFormConfiguration><![CDATA[{"formFields":[],"formDataEntries":[]}]]></TemplafySlideFormConfiguration>
</file>

<file path=customXml/item13.xml><?xml version="1.0" encoding="utf-8"?>
<TemplafyTemplateConfiguration><![CDATA[{"elementsMetadata":[{"type":"shape","id":"d572fa25-8edd-43b8-9b55-27d872b6b1fc","elementConfiguration":{"format":"{{DateFormats.MonthYear}}","binding":"Form.Date","disableUpdates":false,"type":"date"}},{"type":"shape","id":"bbb50dc8-a7c0-4554-930d-663460fed123","elementConfiguration":{"binding":"UserProfile.Institut.InstituteDCU_{{DocumentLanguage}}","disableUpdates":false,"type":"text"}},{"type":"shape","id":"f39ab476-473e-4cbc-a735-08e8467cfb7b","elementConfiguration":{"binding":"UserProfile.Institut.InstituteDCU_{{DocumentLanguage}}","disableUpdates":false,"type":"text"}},{"type":"shape","id":"8f4f5ab2-38ae-4794-9556-95edf115af0a","elementConfiguration":{"format":"{{DateFormats.MonthYear}}","binding":"Form.Date","disableUpdates":false,"type":"date"}},{"type":"shape","id":"535c2e69-01e7-4dce-95a6-4de9d99d38ac","elementConfiguration":{"binding":"UserProfile.Institut.InstituteDCU_{{DocumentLanguage}}","disableUpdates":false,"type":"text"}},{"type":"shape","id":"4580039a-6a0b-47c3-8582-fb9e2e105f97","elementConfiguration":{"format":"{{DateFormats.MonthYear}}","binding":"Form.Date","disableUpdates":false,"type":"date"}},{"type":"shape","id":"9e66ba45-e00c-4751-bf02-a4956d240516","elementConfiguration":{"binding":"UserProfile.Institut.InstituteDCU_{{DocumentLanguage}}","disableUpdates":false,"type":"text"}},{"type":"shape","id":"e93eeae9-b581-4184-9cc7-9a0f9897d348","elementConfiguration":{"format":"{{DateFormats.MonthYear}}","binding":"Form.Date","disableUpdates":false,"type":"date"}},{"type":"shape","id":"b451176b-5c0c-4d4d-9060-3837f3de11a8","elementConfiguration":{"format":"{{DateFormats.MonthYear}}","binding":"Form.Date","disableUpdates":false,"type":"date"}},{"type":"shape","id":"c68689c9-e668-4c96-a109-f982a524f861","elementConfiguration":{"binding":"UserProfile.Institut.InstituteDCU_{{DocumentLanguage}}","disableUpdates":false,"type":"text"}},{"type":"shape","id":"c5e3364f-695b-4164-8ae0-df0baedf3be1","elementConfiguration":{"binding":"UserProfile.Institut.InstituteDCU_{{DocumentLanguage}}","disableUpdates":false,"type":"text"}},{"type":"shape","id":"19392b15-c614-4755-aea8-28d38b6bbe91","elementConfiguration":{"binding":"UserProfile.Institut.InstituteDCU_{{DocumentLanguage}}","disableUpdates":false,"type":"text"}},{"type":"shape","id":"7c8a4e8f-f1eb-4af7-b254-c88f4a86ec48","elementConfiguration":{"format":"{{DateFormats.MonthYear}}","binding":"Form.Date","disableUpdates":false,"type":"date"}}],"transformationConfigurations":[{"language":"{{DocumentLanguage}}","disableUpdates":false,"type":"proofingLanguage"}],"templateName":"SDU widescreen 16:9 template","templateDescription":"Tom bredformat skabelon til Powerpoint med enhed, dato og links","enableDocumentContentUpdater":true,"version":"1.3"}]]></TemplafyTemplateConfiguration>
</file>

<file path=customXml/item14.xml><?xml version="1.0" encoding="utf-8"?>
<TemplafyFormConfiguration><![CDATA[{"formFields":[{"required":false,"type":"datePicker","name":"Date","label":"Date","helpTexts":{"prefix":"","postfix":""},"spacing":{},"fullyQualifiedName":"Date"}],"formDataEntries":[{"name":"Date","value":"2Ix+bEfKiBgFPlbzHV5hwA=="}]}]]></TemplafyFormConfiguration>
</file>

<file path=customXml/item15.xml><?xml version="1.0" encoding="utf-8"?>
<TemplafySlideTemplateConfiguration><![CDATA[{"documentContentValidatorConfiguration":{"enableDocumentContentValidator":false,"documentContentValidatorVersion":0},"elementsMetadata":[],"slideId":"636891895636479881","enableDocumentContentUpdater":true,"version":"1.3"}]]></TemplafySlideTemplateConfiguration>
</file>

<file path=customXml/item16.xml><?xml version="1.0" encoding="utf-8"?>
<TemplafySlideTemplateConfiguration><![CDATA[{"documentContentValidatorConfiguration":{"enableDocumentContentValidator":false,"documentContentValidatorVersion":0},"elementsMetadata":[],"slideId":"636891895637261154","enableDocumentContentUpdater":true,"version":"1.3"}]]></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documentContentValidatorConfiguration":{"enableDocumentContentValidator":false,"documentContentValidatorVersion":0},"elementsMetadata":[],"slideId":"636891895636949350","enableDocumentContentUpdater":true,"version":"1.3"}]]></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documentContentValidatorConfiguration":{"enableDocumentContentValidator":false,"documentContentValidatorVersion":0},"elementsMetadata":[],"slideId":"636891895635073635","enableDocumentContentUpdater":true,"version":"1.3"}]]></TemplafySlideTemplateConfiguration>
</file>

<file path=customXml/item21.xml><?xml version="1.0" encoding="utf-8"?>
<TemplafySlideTemplateConfiguration><![CDATA[{"documentContentValidatorConfiguration":{"enableDocumentContentValidator":false,"documentContentValidatorVersion":0},"elementsMetadata":[],"slideId":"636891895635699094","enableDocumentContentUpdater":true,"version":"1.3"}]]></TemplafySlideTemplateConfiguration>
</file>

<file path=customXml/item22.xml><?xml version="1.0" encoding="utf-8"?>
<TemplafySlideFormConfiguration><![CDATA[{"formFields":[],"formDataEntries":[]}]]></TemplafySlideFormConfiguration>
</file>

<file path=customXml/item23.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4.xml><?xml version="1.0" encoding="utf-8"?>
<TemplafySlideFormConfiguration><![CDATA[{"formFields":[],"formDataEntries":[]}]]></TemplafySlideFormConfiguration>
</file>

<file path=customXml/item25.xml><?xml version="1.0" encoding="utf-8"?>
<TemplafySlideFormConfiguration><![CDATA[{"formFields":[],"formDataEntries":[]}]]></TemplafySlideFormConfiguration>
</file>

<file path=customXml/item26.xml><?xml version="1.0" encoding="utf-8"?>
<TemplafySlideTemplateConfiguration><![CDATA[{"documentContentValidatorConfiguration":{"enableDocumentContentValidator":false,"documentContentValidatorVersion":0},"elementsMetadata":[],"slideId":"636891895634292862","enableDocumentContentUpdater":true,"version":"1.3"}]]></TemplafySlideTemplateConfiguration>
</file>

<file path=customXml/item27.xml><?xml version="1.0" encoding="utf-8"?>
<TemplafySlideFormConfiguration><![CDATA[{"formFields":[],"formDataEntries":[]}]]></TemplafySlideFormConfiguration>
</file>

<file path=customXml/item28.xml><?xml version="1.0" encoding="utf-8"?>
<TemplafySlideFormConfiguration><![CDATA[{"formFields":[],"formDataEntries":[]}]]></TemplafySlideFormConfiguration>
</file>

<file path=customXml/item29.xml><?xml version="1.0" encoding="utf-8"?>
<TemplafySlideTemplateConfiguration><![CDATA[{"documentContentValidatorConfiguration":{"enableDocumentContentValidator":false,"documentContentValidatorVersion":0},"elementsMetadata":[],"slideId":"636891895634761137","enableDocumentContentUpdater":true,"version":"1.3"}]]></TemplafySlideTemplateConfiguration>
</file>

<file path=customXml/item30.xml><?xml version="1.0" encoding="utf-8"?>
<TemplafySlideTemplateConfiguration><![CDATA[{"documentContentValidatorConfiguration":{"enableDocumentContentValidator":false,"documentContentValidatorVersion":0},"elementsMetadata":[],"slideId":"636891895636011205","enableDocumentContentUpdater":true,"version":"1.3"}]]></TemplafySlideTemplateConfiguration>
</file>

<file path=customXml/item31.xml><?xml version="1.0" encoding="utf-8"?>
<TemplafySlideTemplateConfiguration><![CDATA[{"documentContentValidatorConfiguration":{"enableDocumentContentValidator":false,"documentContentValidatorVersion":0},"elementsMetadata":[],"slideId":"636891895635386589","enableDocumentContentUpdater":true,"version":"1.3"}]]></TemplafySlideTemplateConfiguration>
</file>

<file path=customXml/item32.xml><?xml version="1.0" encoding="utf-8"?>
<TemplafySlideFormConfiguration><![CDATA[{"formFields":[],"formDataEntries":[]}]]></TemplafySlideFormConfiguration>
</file>

<file path=customXml/itemProps1.xml><?xml version="1.0" encoding="utf-8"?>
<ds:datastoreItem xmlns:ds="http://schemas.openxmlformats.org/officeDocument/2006/customXml" ds:itemID="{AD853561-0684-44E3-AD44-5FC2461A9BA1}">
  <ds:schemaRefs/>
</ds:datastoreItem>
</file>

<file path=customXml/itemProps2.xml><?xml version="1.0" encoding="utf-8"?>
<ds:datastoreItem xmlns:ds="http://schemas.openxmlformats.org/officeDocument/2006/customXml" ds:itemID="{537D50E1-E116-4E1F-BBA2-BF976DC0D71C}">
  <ds:schemaRefs/>
</ds:datastoreItem>
</file>

<file path=customXml/itemProps3.xml><?xml version="1.0" encoding="utf-8"?>
<ds:datastoreItem xmlns:ds="http://schemas.openxmlformats.org/officeDocument/2006/customXml" ds:itemID="{6B0D700A-B574-468F-8B57-017D5DD2185D}">
  <ds:schemaRefs/>
</ds:datastoreItem>
</file>

<file path=customXml/itemProps4.xml><?xml version="1.0" encoding="utf-8"?>
<ds:datastoreItem xmlns:ds="http://schemas.openxmlformats.org/officeDocument/2006/customXml" ds:itemID="{AB6030D5-BCDD-426E-8913-152EAE6D3877}">
  <ds:schemaRefs/>
</ds:datastoreItem>
</file>

<file path=customXml/itemProps5.xml><?xml version="1.0" encoding="utf-8"?>
<ds:datastoreItem xmlns:ds="http://schemas.openxmlformats.org/officeDocument/2006/customXml" ds:itemID="{15345BB6-FFF0-4812-9AF7-D4DE0D3D596A}">
  <ds:schemaRefs/>
</ds:datastoreItem>
</file>

<file path=customXml/itemProps6.xml><?xml version="1.0" encoding="utf-8"?>
<ds:datastoreItem xmlns:ds="http://schemas.openxmlformats.org/officeDocument/2006/customXml" ds:itemID="{BBAB0D6C-E008-4FE2-8B70-5C5246D8A525}">
  <ds:schemaRefs/>
</ds:datastoreItem>
</file>

<file path=customXml/itemProps7.xml><?xml version="1.0" encoding="utf-8"?>
<ds:datastoreItem xmlns:ds="http://schemas.openxmlformats.org/officeDocument/2006/customXml" ds:itemID="{6328992E-AE26-492A-B96B-B12F18AF1702}">
  <ds:schemaRefs/>
</ds:datastoreItem>
</file>

<file path=customXml/itemProps8.xml><?xml version="1.0" encoding="utf-8"?>
<ds:datastoreItem xmlns:ds="http://schemas.openxmlformats.org/officeDocument/2006/customXml" ds:itemID="{563840C0-0BDF-4F63-86E4-16B670C857E2}">
  <ds:schemaRefs/>
</ds:datastoreItem>
</file>

<file path=customXml/itemProps9.xml><?xml version="1.0" encoding="utf-8"?>
<ds:datastoreItem xmlns:ds="http://schemas.openxmlformats.org/officeDocument/2006/customXml" ds:itemID="{75EE5595-EB9F-41D4-B2D4-51D62F570062}">
  <ds:schemaRefs/>
</ds:datastoreItem>
</file>

<file path=customXml/itemProps10.xml><?xml version="1.0" encoding="utf-8"?>
<ds:datastoreItem xmlns:ds="http://schemas.openxmlformats.org/officeDocument/2006/customXml" ds:itemID="{F684AA90-C329-4C50-9AD6-76E97F24E028}">
  <ds:schemaRefs/>
</ds:datastoreItem>
</file>

<file path=customXml/itemProps11.xml><?xml version="1.0" encoding="utf-8"?>
<ds:datastoreItem xmlns:ds="http://schemas.openxmlformats.org/officeDocument/2006/customXml" ds:itemID="{3C302438-84D4-4410-883F-41F2AB7D30E2}">
  <ds:schemaRefs/>
</ds:datastoreItem>
</file>

<file path=customXml/itemProps12.xml><?xml version="1.0" encoding="utf-8"?>
<ds:datastoreItem xmlns:ds="http://schemas.openxmlformats.org/officeDocument/2006/customXml" ds:itemID="{58450B56-0CFA-A948-8B99-3450019AB3CC}">
  <ds:schemaRefs/>
</ds:datastoreItem>
</file>

<file path=customXml/itemProps13.xml><?xml version="1.0" encoding="utf-8"?>
<ds:datastoreItem xmlns:ds="http://schemas.openxmlformats.org/officeDocument/2006/customXml" ds:itemID="{C484C70F-0F64-4774-853F-19FDF7E1F81D}">
  <ds:schemaRefs/>
</ds:datastoreItem>
</file>

<file path=customXml/itemProps14.xml><?xml version="1.0" encoding="utf-8"?>
<ds:datastoreItem xmlns:ds="http://schemas.openxmlformats.org/officeDocument/2006/customXml" ds:itemID="{C5CD5A01-6378-494D-B71B-D23DEC9A120C}">
  <ds:schemaRefs/>
</ds:datastoreItem>
</file>

<file path=customXml/itemProps15.xml><?xml version="1.0" encoding="utf-8"?>
<ds:datastoreItem xmlns:ds="http://schemas.openxmlformats.org/officeDocument/2006/customXml" ds:itemID="{12AAEFAA-488B-4613-B61C-8C050760FBEC}">
  <ds:schemaRefs/>
</ds:datastoreItem>
</file>

<file path=customXml/itemProps16.xml><?xml version="1.0" encoding="utf-8"?>
<ds:datastoreItem xmlns:ds="http://schemas.openxmlformats.org/officeDocument/2006/customXml" ds:itemID="{80B8C55C-E564-418E-A10D-CDA99D5F3EE8}">
  <ds:schemaRefs/>
</ds:datastoreItem>
</file>

<file path=customXml/itemProps17.xml><?xml version="1.0" encoding="utf-8"?>
<ds:datastoreItem xmlns:ds="http://schemas.openxmlformats.org/officeDocument/2006/customXml" ds:itemID="{EACF0A14-ED2E-4A19-ADF3-0D0A3222E90D}">
  <ds:schemaRefs/>
</ds:datastoreItem>
</file>

<file path=customXml/itemProps18.xml><?xml version="1.0" encoding="utf-8"?>
<ds:datastoreItem xmlns:ds="http://schemas.openxmlformats.org/officeDocument/2006/customXml" ds:itemID="{220EA0D0-DB51-4BFA-9F4B-DA1208570F35}">
  <ds:schemaRefs/>
</ds:datastoreItem>
</file>

<file path=customXml/itemProps19.xml><?xml version="1.0" encoding="utf-8"?>
<ds:datastoreItem xmlns:ds="http://schemas.openxmlformats.org/officeDocument/2006/customXml" ds:itemID="{D0688CFD-82DB-43CD-8984-E850371D850F}">
  <ds:schemaRefs/>
</ds:datastoreItem>
</file>

<file path=customXml/itemProps20.xml><?xml version="1.0" encoding="utf-8"?>
<ds:datastoreItem xmlns:ds="http://schemas.openxmlformats.org/officeDocument/2006/customXml" ds:itemID="{FE87C2BA-4D9C-4A03-8ACC-AC033380FDD9}">
  <ds:schemaRefs/>
</ds:datastoreItem>
</file>

<file path=customXml/itemProps21.xml><?xml version="1.0" encoding="utf-8"?>
<ds:datastoreItem xmlns:ds="http://schemas.openxmlformats.org/officeDocument/2006/customXml" ds:itemID="{61049392-9824-46E8-B53B-071ADFE52D03}">
  <ds:schemaRefs/>
</ds:datastoreItem>
</file>

<file path=customXml/itemProps22.xml><?xml version="1.0" encoding="utf-8"?>
<ds:datastoreItem xmlns:ds="http://schemas.openxmlformats.org/officeDocument/2006/customXml" ds:itemID="{B052E437-0E37-4BD0-B658-F410C70F086D}">
  <ds:schemaRefs/>
</ds:datastoreItem>
</file>

<file path=customXml/itemProps23.xml><?xml version="1.0" encoding="utf-8"?>
<ds:datastoreItem xmlns:ds="http://schemas.openxmlformats.org/officeDocument/2006/customXml" ds:itemID="{5440D603-6365-B745-8CF4-596E37F2C66D}">
  <ds:schemaRefs/>
</ds:datastoreItem>
</file>

<file path=customXml/itemProps24.xml><?xml version="1.0" encoding="utf-8"?>
<ds:datastoreItem xmlns:ds="http://schemas.openxmlformats.org/officeDocument/2006/customXml" ds:itemID="{59413F36-46DB-4441-9E33-4CC730A14BA9}">
  <ds:schemaRefs/>
</ds:datastoreItem>
</file>

<file path=customXml/itemProps25.xml><?xml version="1.0" encoding="utf-8"?>
<ds:datastoreItem xmlns:ds="http://schemas.openxmlformats.org/officeDocument/2006/customXml" ds:itemID="{7742661A-7DA4-440D-9F17-A42C45E5F282}">
  <ds:schemaRefs/>
</ds:datastoreItem>
</file>

<file path=customXml/itemProps26.xml><?xml version="1.0" encoding="utf-8"?>
<ds:datastoreItem xmlns:ds="http://schemas.openxmlformats.org/officeDocument/2006/customXml" ds:itemID="{B01C8A0A-9C31-4B7B-950D-DD9959F2B8E1}">
  <ds:schemaRefs/>
</ds:datastoreItem>
</file>

<file path=customXml/itemProps27.xml><?xml version="1.0" encoding="utf-8"?>
<ds:datastoreItem xmlns:ds="http://schemas.openxmlformats.org/officeDocument/2006/customXml" ds:itemID="{6851A85B-2F43-457A-A79C-603DD5A77068}">
  <ds:schemaRefs/>
</ds:datastoreItem>
</file>

<file path=customXml/itemProps28.xml><?xml version="1.0" encoding="utf-8"?>
<ds:datastoreItem xmlns:ds="http://schemas.openxmlformats.org/officeDocument/2006/customXml" ds:itemID="{CFC7CD9E-B387-47DD-A892-194586C4B0A8}">
  <ds:schemaRefs/>
</ds:datastoreItem>
</file>

<file path=customXml/itemProps29.xml><?xml version="1.0" encoding="utf-8"?>
<ds:datastoreItem xmlns:ds="http://schemas.openxmlformats.org/officeDocument/2006/customXml" ds:itemID="{1DA5F47D-14F9-49C7-BB6D-79A6A719F13C}">
  <ds:schemaRefs/>
</ds:datastoreItem>
</file>

<file path=customXml/itemProps30.xml><?xml version="1.0" encoding="utf-8"?>
<ds:datastoreItem xmlns:ds="http://schemas.openxmlformats.org/officeDocument/2006/customXml" ds:itemID="{F31277A9-97EE-4BA1-BCFA-B539C538A774}">
  <ds:schemaRefs/>
</ds:datastoreItem>
</file>

<file path=customXml/itemProps31.xml><?xml version="1.0" encoding="utf-8"?>
<ds:datastoreItem xmlns:ds="http://schemas.openxmlformats.org/officeDocument/2006/customXml" ds:itemID="{D40B8ABF-BCDE-4BFC-8014-3E62B1CE21F5}">
  <ds:schemaRefs/>
</ds:datastoreItem>
</file>

<file path=customXml/itemProps32.xml><?xml version="1.0" encoding="utf-8"?>
<ds:datastoreItem xmlns:ds="http://schemas.openxmlformats.org/officeDocument/2006/customXml" ds:itemID="{13904DEA-8253-4BF3-9310-8891F043FA29}">
  <ds:schemaRefs/>
</ds:datastoreItem>
</file>

<file path=docProps/app.xml><?xml version="1.0" encoding="utf-8"?>
<Properties xmlns="http://schemas.openxmlformats.org/officeDocument/2006/extended-properties" xmlns:vt="http://schemas.openxmlformats.org/officeDocument/2006/docPropsVTypes">
  <TotalTime>0</TotalTime>
  <Words>8699</Words>
  <Application>Microsoft Macintosh PowerPoint</Application>
  <PresentationFormat>Widescreen</PresentationFormat>
  <Paragraphs>907</Paragraphs>
  <Slides>80</Slides>
  <Notes>2</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80</vt:i4>
      </vt:variant>
    </vt:vector>
  </HeadingPairs>
  <TitlesOfParts>
    <vt:vector size="87" baseType="lpstr">
      <vt:lpstr>Arial</vt:lpstr>
      <vt:lpstr>Consolas</vt:lpstr>
      <vt:lpstr>Helvetica Neue</vt:lpstr>
      <vt:lpstr>Menlo</vt:lpstr>
      <vt:lpstr>Wingdings</vt:lpstr>
      <vt:lpstr>ヒラギノ角ゴ ProN W3</vt:lpstr>
      <vt:lpstr>Blank</vt:lpstr>
      <vt:lpstr>PowerPoint-præsentation</vt:lpstr>
      <vt:lpstr>Web Programming  Integration Techniques  by Henrik Lange Bendixen</vt:lpstr>
      <vt:lpstr>Agenda</vt:lpstr>
      <vt:lpstr>Goal of todays lecture</vt:lpstr>
      <vt:lpstr>PowerPoint-præsentation</vt:lpstr>
      <vt:lpstr>IP</vt:lpstr>
      <vt:lpstr>TCP</vt:lpstr>
      <vt:lpstr>HTTP</vt:lpstr>
      <vt:lpstr>HTTP Verbs</vt:lpstr>
      <vt:lpstr>HTTP Verbs</vt:lpstr>
      <vt:lpstr>Trace</vt:lpstr>
      <vt:lpstr>HTTP Resource</vt:lpstr>
      <vt:lpstr>HTTP Version</vt:lpstr>
      <vt:lpstr>HTTP Headers</vt:lpstr>
      <vt:lpstr>HTTP Status Codes</vt:lpstr>
      <vt:lpstr>HTTP Request Body</vt:lpstr>
      <vt:lpstr>HTTP in action</vt:lpstr>
      <vt:lpstr>HTTP vs HTTPS</vt:lpstr>
      <vt:lpstr>HTTP vs HTTPS</vt:lpstr>
      <vt:lpstr>Other Protocols</vt:lpstr>
      <vt:lpstr>The URL</vt:lpstr>
      <vt:lpstr>Sessions &amp; Cookies</vt:lpstr>
      <vt:lpstr>Sessions &amp; Cookies</vt:lpstr>
      <vt:lpstr>PowerPoint-præsentation</vt:lpstr>
      <vt:lpstr>Client-Server Relationships: Web communication</vt:lpstr>
      <vt:lpstr>Client Server Relationship</vt:lpstr>
      <vt:lpstr>Client Server Relationship</vt:lpstr>
      <vt:lpstr>Client Server Relationship</vt:lpstr>
      <vt:lpstr>Press Enter</vt:lpstr>
      <vt:lpstr>The OSI Model: The Seven Layers of Networking</vt:lpstr>
      <vt:lpstr>OSI Model</vt:lpstr>
      <vt:lpstr>The TCP/IP Model: The Four Layers of Networking</vt:lpstr>
      <vt:lpstr>TCP/IP vs OSI Model</vt:lpstr>
      <vt:lpstr>The Network Layer &amp; IP: Data Routing Cross-Network</vt:lpstr>
      <vt:lpstr>The Transport Layer and TCP: Ensuring Reliable Data Transmission</vt:lpstr>
      <vt:lpstr>The Application Layer and HTTP: Providing Network Services to Applications</vt:lpstr>
      <vt:lpstr>PowerPoint-præsentation</vt:lpstr>
      <vt:lpstr>JSON: A Lightweight Data-Interchange Format</vt:lpstr>
      <vt:lpstr>XML: Extensible Markup Language</vt:lpstr>
      <vt:lpstr>Advanced XML Concepts: Attributes and Namespaces</vt:lpstr>
      <vt:lpstr>SOAP with XML: Exchanging Structured Information Between Applications</vt:lpstr>
      <vt:lpstr>Consuming a SOAP API in Node.js: Using the soap Package</vt:lpstr>
      <vt:lpstr>Consuming a SOAP API in Java: Using the javax.xml.soap Package</vt:lpstr>
      <vt:lpstr>Consuming a SOAP API in Java: Using the javax.xml.soap Package</vt:lpstr>
      <vt:lpstr>REST with JSON: Accessing and Manipulating Resources Over HTTP</vt:lpstr>
      <vt:lpstr>Accessing a REST API in Node.js: Using the Request Module</vt:lpstr>
      <vt:lpstr>Providing a RESTful API in Node.js: Using Express.js</vt:lpstr>
      <vt:lpstr>Accessing a REST API in Java:  Using the Java.net.HttpURLConnection Class</vt:lpstr>
      <vt:lpstr>Accessing a REST API in Java:  Using the Java.net.HttpURLConnection Class</vt:lpstr>
      <vt:lpstr>Providing a RESTful API  in Java: Using JAX-RS</vt:lpstr>
      <vt:lpstr>MQTT with JSON: Real-time Data Exchange for IoT Applications</vt:lpstr>
      <vt:lpstr>MQTT, JSON, and XML: Choosing the Right Protocol and Data Format for Your Application</vt:lpstr>
      <vt:lpstr>Web Scraping: Extracting Data from Websites</vt:lpstr>
      <vt:lpstr>Web Scraping in Node.js: Using the Cheerio Package</vt:lpstr>
      <vt:lpstr>Web Scraping in Java: Using the Jsoup Library</vt:lpstr>
      <vt:lpstr>PowerPoint-præsentation</vt:lpstr>
      <vt:lpstr>Agenda</vt:lpstr>
      <vt:lpstr>PowerPoint-præsentation</vt:lpstr>
      <vt:lpstr>Polling: Making Regular Requests to Get Updated Data</vt:lpstr>
      <vt:lpstr>Long-Polling: Keeping a Request Open Until New Data is Available</vt:lpstr>
      <vt:lpstr>No-Polling: Using Server-Sent Events for Real-time Communication</vt:lpstr>
      <vt:lpstr>WebSockets: Real-time Communication Between Clients and Servers</vt:lpstr>
      <vt:lpstr>Deltas: Optimizing Real-time Communication by Sending Only Data Changes</vt:lpstr>
      <vt:lpstr>PowerPoint-præsentation</vt:lpstr>
      <vt:lpstr>Introduction to Event-Driven Architectures: A Flexible Approach to Real-Time Communication</vt:lpstr>
      <vt:lpstr>Message Queue Architecture: Decoupling Services with a Message Broker</vt:lpstr>
      <vt:lpstr>Message Queue Architecture: Decoupling Services with a Message Broker</vt:lpstr>
      <vt:lpstr>PowerPoint-præsentation</vt:lpstr>
      <vt:lpstr>Data Quality: Ensuring Accuracy and Reliability of Third-Party Data</vt:lpstr>
      <vt:lpstr>Pulling Data When Needed:  Efficient Use of Third-Party Data</vt:lpstr>
      <vt:lpstr>Caching Data: Improving Performance and Reducing Overhead</vt:lpstr>
      <vt:lpstr>Logging Data: Tracking and Analyzing Third-Party Data Usage</vt:lpstr>
      <vt:lpstr>PowerPoint-præsentation</vt:lpstr>
      <vt:lpstr>Relational Databases: When to Use Them</vt:lpstr>
      <vt:lpstr>What is a Data Lake?  A Flexible Approach to Data Management</vt:lpstr>
      <vt:lpstr>Data Lakes: When to Use Them</vt:lpstr>
      <vt:lpstr>Relational Databases vs. Data Lakes:  Which One to Use for Your Data</vt:lpstr>
      <vt:lpstr>PowerPoint-præsentation</vt:lpstr>
      <vt:lpstr>Key Takeaways:  Building Robust and Scalable Web Services</vt:lpstr>
      <vt:lpstr>Further Reading:  Explore Web Services and Data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2020-09-13T18:31:53Z</dcterms:created>
  <dcterms:modified xsi:type="dcterms:W3CDTF">2024-11-01T13:23:50Z</dcterms:modified>
</cp:coreProperties>
</file>