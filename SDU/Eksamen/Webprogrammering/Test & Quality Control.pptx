
<file path=[Content_Types].xml><?xml version="1.0" encoding="utf-8"?>
<Types xmlns="http://schemas.openxmlformats.org/package/2006/content-types">
  <Default Extension="bin" ContentType="image/x-emf"/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customXml/itemProps4.xml" ContentType="application/vnd.openxmlformats-officedocument.customXmlProperties+xml"/>
  <Override PartName="/customXml/itemProps5.xml" ContentType="application/vnd.openxmlformats-officedocument.customXmlProperties+xml"/>
  <Override PartName="/customXml/itemProps6.xml" ContentType="application/vnd.openxmlformats-officedocument.customXmlProperties+xml"/>
  <Override PartName="/customXml/itemProps7.xml" ContentType="application/vnd.openxmlformats-officedocument.customXmlProperties+xml"/>
  <Override PartName="/customXml/itemProps8.xml" ContentType="application/vnd.openxmlformats-officedocument.customXmlProperties+xml"/>
  <Override PartName="/customXml/itemProps9.xml" ContentType="application/vnd.openxmlformats-officedocument.customXmlProperties+xml"/>
  <Override PartName="/customXml/itemProps10.xml" ContentType="application/vnd.openxmlformats-officedocument.customXmlProperties+xml"/>
  <Override PartName="/customXml/itemProps11.xml" ContentType="application/vnd.openxmlformats-officedocument.customXmlProperties+xml"/>
  <Override PartName="/customXml/itemProps12.xml" ContentType="application/vnd.openxmlformats-officedocument.customXmlProperties+xml"/>
  <Override PartName="/customXml/itemProps13.xml" ContentType="application/vnd.openxmlformats-officedocument.customXmlProperties+xml"/>
  <Override PartName="/customXml/itemProps14.xml" ContentType="application/vnd.openxmlformats-officedocument.customXmlProperties+xml"/>
  <Override PartName="/customXml/itemProps15.xml" ContentType="application/vnd.openxmlformats-officedocument.customXmlProperties+xml"/>
  <Override PartName="/customXml/itemProps16.xml" ContentType="application/vnd.openxmlformats-officedocument.customXmlProperties+xml"/>
  <Override PartName="/customXml/itemProps17.xml" ContentType="application/vnd.openxmlformats-officedocument.customXmlProperties+xml"/>
  <Override PartName="/customXml/itemProps18.xml" ContentType="application/vnd.openxmlformats-officedocument.customXmlProperties+xml"/>
  <Override PartName="/customXml/itemProps19.xml" ContentType="application/vnd.openxmlformats-officedocument.customXmlProperties+xml"/>
  <Override PartName="/customXml/itemProps20.xml" ContentType="application/vnd.openxmlformats-officedocument.customXmlProperties+xml"/>
  <Override PartName="/customXml/itemProps21.xml" ContentType="application/vnd.openxmlformats-officedocument.customXmlProperties+xml"/>
  <Override PartName="/customXml/itemProps22.xml" ContentType="application/vnd.openxmlformats-officedocument.customXmlProperties+xml"/>
  <Override PartName="/customXml/itemProps23.xml" ContentType="application/vnd.openxmlformats-officedocument.customXmlProperties+xml"/>
  <Override PartName="/customXml/itemProps24.xml" ContentType="application/vnd.openxmlformats-officedocument.customXmlProperties+xml"/>
  <Override PartName="/customXml/itemProps25.xml" ContentType="application/vnd.openxmlformats-officedocument.customXmlProperties+xml"/>
  <Override PartName="/customXml/itemProps26.xml" ContentType="application/vnd.openxmlformats-officedocument.customXmlProperties+xml"/>
  <Override PartName="/customXml/itemProps27.xml" ContentType="application/vnd.openxmlformats-officedocument.customXmlProperties+xml"/>
  <Override PartName="/customXml/itemProps28.xml" ContentType="application/vnd.openxmlformats-officedocument.customXmlProperties+xml"/>
  <Override PartName="/customXml/itemProps29.xml" ContentType="application/vnd.openxmlformats-officedocument.customXmlProperties+xml"/>
  <Override PartName="/customXml/itemProps30.xml" ContentType="application/vnd.openxmlformats-officedocument.customXmlProperties+xml"/>
  <Override PartName="/customXml/itemProps31.xml" ContentType="application/vnd.openxmlformats-officedocument.customXmlProperties+xml"/>
  <Override PartName="/customXml/itemProps32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slides/slide80.xml" ContentType="application/vnd.openxmlformats-officedocument.presentationml.slide+xml"/>
  <Override PartName="/ppt/slides/slide81.xml" ContentType="application/vnd.openxmlformats-officedocument.presentationml.slide+xml"/>
  <Override PartName="/ppt/slides/slide82.xml" ContentType="application/vnd.openxmlformats-officedocument.presentationml.slide+xml"/>
  <Override PartName="/ppt/slides/slide83.xml" ContentType="application/vnd.openxmlformats-officedocument.presentationml.slide+xml"/>
  <Override PartName="/ppt/slides/slide84.xml" ContentType="application/vnd.openxmlformats-officedocument.presentationml.slide+xml"/>
  <Override PartName="/ppt/slides/slide85.xml" ContentType="application/vnd.openxmlformats-officedocument.presentationml.slide+xml"/>
  <Override PartName="/ppt/slides/slide86.xml" ContentType="application/vnd.openxmlformats-officedocument.presentationml.slide+xml"/>
  <Override PartName="/ppt/slides/slide87.xml" ContentType="application/vnd.openxmlformats-officedocument.presentationml.slide+xml"/>
  <Override PartName="/ppt/slides/slide88.xml" ContentType="application/vnd.openxmlformats-officedocument.presentationml.slide+xml"/>
  <Override PartName="/ppt/slides/slide89.xml" ContentType="application/vnd.openxmlformats-officedocument.presentationml.slide+xml"/>
  <Override PartName="/ppt/slides/slide90.xml" ContentType="application/vnd.openxmlformats-officedocument.presentationml.slide+xml"/>
  <Override PartName="/ppt/slides/slide91.xml" ContentType="application/vnd.openxmlformats-officedocument.presentationml.slide+xml"/>
  <Override PartName="/ppt/slides/slide92.xml" ContentType="application/vnd.openxmlformats-officedocument.presentationml.slide+xml"/>
  <Override PartName="/ppt/slides/slide93.xml" ContentType="application/vnd.openxmlformats-officedocument.presentationml.slide+xml"/>
  <Override PartName="/ppt/slides/slide94.xml" ContentType="application/vnd.openxmlformats-officedocument.presentationml.slide+xml"/>
  <Override PartName="/ppt/slides/slide95.xml" ContentType="application/vnd.openxmlformats-officedocument.presentationml.slide+xml"/>
  <Override PartName="/ppt/slides/slide96.xml" ContentType="application/vnd.openxmlformats-officedocument.presentationml.slide+xml"/>
  <Override PartName="/ppt/slides/slide9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theme/theme2.xml" ContentType="application/vnd.openxmlformats-officedocument.theme+xml"/>
  <Override PartName="/ppt/tags/tag1.xml" ContentType="application/vnd.openxmlformats-officedocument.presentationml.tags+xml"/>
  <Override PartName="/ppt/notesSlides/notesSlide1.xml" ContentType="application/vnd.openxmlformats-officedocument.presentationml.notesSlide+xml"/>
  <Override PartName="/ppt/tags/tag2.xml" ContentType="application/vnd.openxmlformats-officedocument.presentationml.tags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removePersonalInfoOnSave="1" saveSubsetFonts="1">
  <p:sldMasterIdLst>
    <p:sldMasterId id="2147483648" r:id="rId33"/>
  </p:sldMasterIdLst>
  <p:notesMasterIdLst>
    <p:notesMasterId r:id="rId131"/>
  </p:notesMasterIdLst>
  <p:sldIdLst>
    <p:sldId id="280" r:id="rId34"/>
    <p:sldId id="4503" r:id="rId35"/>
    <p:sldId id="4538" r:id="rId36"/>
    <p:sldId id="4418" r:id="rId37"/>
    <p:sldId id="4417" r:id="rId38"/>
    <p:sldId id="4559" r:id="rId39"/>
    <p:sldId id="4540" r:id="rId40"/>
    <p:sldId id="4541" r:id="rId41"/>
    <p:sldId id="4542" r:id="rId42"/>
    <p:sldId id="4543" r:id="rId43"/>
    <p:sldId id="4560" r:id="rId44"/>
    <p:sldId id="4561" r:id="rId45"/>
    <p:sldId id="4562" r:id="rId46"/>
    <p:sldId id="4566" r:id="rId47"/>
    <p:sldId id="4563" r:id="rId48"/>
    <p:sldId id="4564" r:id="rId49"/>
    <p:sldId id="4565" r:id="rId50"/>
    <p:sldId id="4463" r:id="rId51"/>
    <p:sldId id="4567" r:id="rId52"/>
    <p:sldId id="4568" r:id="rId53"/>
    <p:sldId id="4569" r:id="rId54"/>
    <p:sldId id="4570" r:id="rId55"/>
    <p:sldId id="4602" r:id="rId56"/>
    <p:sldId id="4572" r:id="rId57"/>
    <p:sldId id="4573" r:id="rId58"/>
    <p:sldId id="4574" r:id="rId59"/>
    <p:sldId id="4575" r:id="rId60"/>
    <p:sldId id="4576" r:id="rId61"/>
    <p:sldId id="4601" r:id="rId62"/>
    <p:sldId id="4577" r:id="rId63"/>
    <p:sldId id="4578" r:id="rId64"/>
    <p:sldId id="4579" r:id="rId65"/>
    <p:sldId id="4580" r:id="rId66"/>
    <p:sldId id="4581" r:id="rId67"/>
    <p:sldId id="4600" r:id="rId68"/>
    <p:sldId id="4582" r:id="rId69"/>
    <p:sldId id="4583" r:id="rId70"/>
    <p:sldId id="4584" r:id="rId71"/>
    <p:sldId id="4585" r:id="rId72"/>
    <p:sldId id="4586" r:id="rId73"/>
    <p:sldId id="4599" r:id="rId74"/>
    <p:sldId id="4587" r:id="rId75"/>
    <p:sldId id="4588" r:id="rId76"/>
    <p:sldId id="4589" r:id="rId77"/>
    <p:sldId id="4590" r:id="rId78"/>
    <p:sldId id="4591" r:id="rId79"/>
    <p:sldId id="4598" r:id="rId80"/>
    <p:sldId id="4592" r:id="rId81"/>
    <p:sldId id="4593" r:id="rId82"/>
    <p:sldId id="4594" r:id="rId83"/>
    <p:sldId id="4595" r:id="rId84"/>
    <p:sldId id="4596" r:id="rId85"/>
    <p:sldId id="4597" r:id="rId86"/>
    <p:sldId id="4609" r:id="rId87"/>
    <p:sldId id="4604" r:id="rId88"/>
    <p:sldId id="4605" r:id="rId89"/>
    <p:sldId id="4606" r:id="rId90"/>
    <p:sldId id="4607" r:id="rId91"/>
    <p:sldId id="4608" r:id="rId92"/>
    <p:sldId id="4610" r:id="rId93"/>
    <p:sldId id="4611" r:id="rId94"/>
    <p:sldId id="4612" r:id="rId95"/>
    <p:sldId id="4613" r:id="rId96"/>
    <p:sldId id="4614" r:id="rId97"/>
    <p:sldId id="4615" r:id="rId98"/>
    <p:sldId id="4616" r:id="rId99"/>
    <p:sldId id="4617" r:id="rId100"/>
    <p:sldId id="4618" r:id="rId101"/>
    <p:sldId id="4619" r:id="rId102"/>
    <p:sldId id="4620" r:id="rId103"/>
    <p:sldId id="4621" r:id="rId104"/>
    <p:sldId id="4622" r:id="rId105"/>
    <p:sldId id="4629" r:id="rId106"/>
    <p:sldId id="4630" r:id="rId107"/>
    <p:sldId id="4631" r:id="rId108"/>
    <p:sldId id="4632" r:id="rId109"/>
    <p:sldId id="4633" r:id="rId110"/>
    <p:sldId id="4634" r:id="rId111"/>
    <p:sldId id="4635" r:id="rId112"/>
    <p:sldId id="4636" r:id="rId113"/>
    <p:sldId id="4637" r:id="rId114"/>
    <p:sldId id="4647" r:id="rId115"/>
    <p:sldId id="4648" r:id="rId116"/>
    <p:sldId id="4649" r:id="rId117"/>
    <p:sldId id="4650" r:id="rId118"/>
    <p:sldId id="4651" r:id="rId119"/>
    <p:sldId id="4645" r:id="rId120"/>
    <p:sldId id="4646" r:id="rId121"/>
    <p:sldId id="4638" r:id="rId122"/>
    <p:sldId id="4639" r:id="rId123"/>
    <p:sldId id="4640" r:id="rId124"/>
    <p:sldId id="4641" r:id="rId125"/>
    <p:sldId id="4642" r:id="rId126"/>
    <p:sldId id="4603" r:id="rId127"/>
    <p:sldId id="314" r:id="rId128"/>
    <p:sldId id="4643" r:id="rId129"/>
    <p:sldId id="4644" r:id="rId130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640" userDrawn="1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prnPr scaleToFitPaper="1"/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0000"/>
    <a:srgbClr val="983B3B"/>
    <a:srgbClr val="FEEEB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llemlayout 2 - Markering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1850" autoAdjust="0"/>
    <p:restoredTop sz="94662" autoAdjust="0"/>
  </p:normalViewPr>
  <p:slideViewPr>
    <p:cSldViewPr snapToGrid="0" showGuides="1">
      <p:cViewPr varScale="1">
        <p:scale>
          <a:sx n="128" d="100"/>
          <a:sy n="128" d="100"/>
        </p:scale>
        <p:origin x="720" y="176"/>
      </p:cViewPr>
      <p:guideLst>
        <p:guide orient="horz" pos="640"/>
        <p:guide pos="384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17" Type="http://schemas.openxmlformats.org/officeDocument/2006/relationships/slide" Target="slides/slide84.xml"/><Relationship Id="rId21" Type="http://schemas.openxmlformats.org/officeDocument/2006/relationships/customXml" Target="../customXml/item21.xml"/><Relationship Id="rId42" Type="http://schemas.openxmlformats.org/officeDocument/2006/relationships/slide" Target="slides/slide9.xml"/><Relationship Id="rId63" Type="http://schemas.openxmlformats.org/officeDocument/2006/relationships/slide" Target="slides/slide30.xml"/><Relationship Id="rId84" Type="http://schemas.openxmlformats.org/officeDocument/2006/relationships/slide" Target="slides/slide51.xml"/><Relationship Id="rId16" Type="http://schemas.openxmlformats.org/officeDocument/2006/relationships/customXml" Target="../customXml/item16.xml"/><Relationship Id="rId107" Type="http://schemas.openxmlformats.org/officeDocument/2006/relationships/slide" Target="slides/slide74.xml"/><Relationship Id="rId11" Type="http://schemas.openxmlformats.org/officeDocument/2006/relationships/customXml" Target="../customXml/item11.xml"/><Relationship Id="rId32" Type="http://schemas.openxmlformats.org/officeDocument/2006/relationships/customXml" Target="../customXml/item32.xml"/><Relationship Id="rId37" Type="http://schemas.openxmlformats.org/officeDocument/2006/relationships/slide" Target="slides/slide4.xml"/><Relationship Id="rId53" Type="http://schemas.openxmlformats.org/officeDocument/2006/relationships/slide" Target="slides/slide20.xml"/><Relationship Id="rId58" Type="http://schemas.openxmlformats.org/officeDocument/2006/relationships/slide" Target="slides/slide25.xml"/><Relationship Id="rId74" Type="http://schemas.openxmlformats.org/officeDocument/2006/relationships/slide" Target="slides/slide41.xml"/><Relationship Id="rId79" Type="http://schemas.openxmlformats.org/officeDocument/2006/relationships/slide" Target="slides/slide46.xml"/><Relationship Id="rId102" Type="http://schemas.openxmlformats.org/officeDocument/2006/relationships/slide" Target="slides/slide69.xml"/><Relationship Id="rId123" Type="http://schemas.openxmlformats.org/officeDocument/2006/relationships/slide" Target="slides/slide90.xml"/><Relationship Id="rId128" Type="http://schemas.openxmlformats.org/officeDocument/2006/relationships/slide" Target="slides/slide95.xml"/><Relationship Id="rId5" Type="http://schemas.openxmlformats.org/officeDocument/2006/relationships/customXml" Target="../customXml/item5.xml"/><Relationship Id="rId90" Type="http://schemas.openxmlformats.org/officeDocument/2006/relationships/slide" Target="slides/slide57.xml"/><Relationship Id="rId95" Type="http://schemas.openxmlformats.org/officeDocument/2006/relationships/slide" Target="slides/slide62.xml"/><Relationship Id="rId22" Type="http://schemas.openxmlformats.org/officeDocument/2006/relationships/customXml" Target="../customXml/item22.xml"/><Relationship Id="rId27" Type="http://schemas.openxmlformats.org/officeDocument/2006/relationships/customXml" Target="../customXml/item27.xml"/><Relationship Id="rId43" Type="http://schemas.openxmlformats.org/officeDocument/2006/relationships/slide" Target="slides/slide10.xml"/><Relationship Id="rId48" Type="http://schemas.openxmlformats.org/officeDocument/2006/relationships/slide" Target="slides/slide15.xml"/><Relationship Id="rId64" Type="http://schemas.openxmlformats.org/officeDocument/2006/relationships/slide" Target="slides/slide31.xml"/><Relationship Id="rId69" Type="http://schemas.openxmlformats.org/officeDocument/2006/relationships/slide" Target="slides/slide36.xml"/><Relationship Id="rId113" Type="http://schemas.openxmlformats.org/officeDocument/2006/relationships/slide" Target="slides/slide80.xml"/><Relationship Id="rId118" Type="http://schemas.openxmlformats.org/officeDocument/2006/relationships/slide" Target="slides/slide85.xml"/><Relationship Id="rId134" Type="http://schemas.openxmlformats.org/officeDocument/2006/relationships/theme" Target="theme/theme1.xml"/><Relationship Id="rId80" Type="http://schemas.openxmlformats.org/officeDocument/2006/relationships/slide" Target="slides/slide47.xml"/><Relationship Id="rId85" Type="http://schemas.openxmlformats.org/officeDocument/2006/relationships/slide" Target="slides/slide52.xml"/><Relationship Id="rId12" Type="http://schemas.openxmlformats.org/officeDocument/2006/relationships/customXml" Target="../customXml/item12.xml"/><Relationship Id="rId17" Type="http://schemas.openxmlformats.org/officeDocument/2006/relationships/customXml" Target="../customXml/item17.xml"/><Relationship Id="rId33" Type="http://schemas.openxmlformats.org/officeDocument/2006/relationships/slideMaster" Target="slideMasters/slideMaster1.xml"/><Relationship Id="rId38" Type="http://schemas.openxmlformats.org/officeDocument/2006/relationships/slide" Target="slides/slide5.xml"/><Relationship Id="rId59" Type="http://schemas.openxmlformats.org/officeDocument/2006/relationships/slide" Target="slides/slide26.xml"/><Relationship Id="rId103" Type="http://schemas.openxmlformats.org/officeDocument/2006/relationships/slide" Target="slides/slide70.xml"/><Relationship Id="rId108" Type="http://schemas.openxmlformats.org/officeDocument/2006/relationships/slide" Target="slides/slide75.xml"/><Relationship Id="rId124" Type="http://schemas.openxmlformats.org/officeDocument/2006/relationships/slide" Target="slides/slide91.xml"/><Relationship Id="rId129" Type="http://schemas.openxmlformats.org/officeDocument/2006/relationships/slide" Target="slides/slide96.xml"/><Relationship Id="rId54" Type="http://schemas.openxmlformats.org/officeDocument/2006/relationships/slide" Target="slides/slide21.xml"/><Relationship Id="rId70" Type="http://schemas.openxmlformats.org/officeDocument/2006/relationships/slide" Target="slides/slide37.xml"/><Relationship Id="rId75" Type="http://schemas.openxmlformats.org/officeDocument/2006/relationships/slide" Target="slides/slide42.xml"/><Relationship Id="rId91" Type="http://schemas.openxmlformats.org/officeDocument/2006/relationships/slide" Target="slides/slide58.xml"/><Relationship Id="rId96" Type="http://schemas.openxmlformats.org/officeDocument/2006/relationships/slide" Target="slides/slide63.xml"/><Relationship Id="rId1" Type="http://schemas.openxmlformats.org/officeDocument/2006/relationships/customXml" Target="../customXml/item1.xml"/><Relationship Id="rId6" Type="http://schemas.openxmlformats.org/officeDocument/2006/relationships/customXml" Target="../customXml/item6.xml"/><Relationship Id="rId23" Type="http://schemas.openxmlformats.org/officeDocument/2006/relationships/customXml" Target="../customXml/item23.xml"/><Relationship Id="rId28" Type="http://schemas.openxmlformats.org/officeDocument/2006/relationships/customXml" Target="../customXml/item28.xml"/><Relationship Id="rId49" Type="http://schemas.openxmlformats.org/officeDocument/2006/relationships/slide" Target="slides/slide16.xml"/><Relationship Id="rId114" Type="http://schemas.openxmlformats.org/officeDocument/2006/relationships/slide" Target="slides/slide81.xml"/><Relationship Id="rId119" Type="http://schemas.openxmlformats.org/officeDocument/2006/relationships/slide" Target="slides/slide86.xml"/><Relationship Id="rId44" Type="http://schemas.openxmlformats.org/officeDocument/2006/relationships/slide" Target="slides/slide11.xml"/><Relationship Id="rId60" Type="http://schemas.openxmlformats.org/officeDocument/2006/relationships/slide" Target="slides/slide27.xml"/><Relationship Id="rId65" Type="http://schemas.openxmlformats.org/officeDocument/2006/relationships/slide" Target="slides/slide32.xml"/><Relationship Id="rId81" Type="http://schemas.openxmlformats.org/officeDocument/2006/relationships/slide" Target="slides/slide48.xml"/><Relationship Id="rId86" Type="http://schemas.openxmlformats.org/officeDocument/2006/relationships/slide" Target="slides/slide53.xml"/><Relationship Id="rId130" Type="http://schemas.openxmlformats.org/officeDocument/2006/relationships/slide" Target="slides/slide97.xml"/><Relationship Id="rId135" Type="http://schemas.openxmlformats.org/officeDocument/2006/relationships/tableStyles" Target="tableStyles.xml"/><Relationship Id="rId13" Type="http://schemas.openxmlformats.org/officeDocument/2006/relationships/customXml" Target="../customXml/item13.xml"/><Relationship Id="rId18" Type="http://schemas.openxmlformats.org/officeDocument/2006/relationships/customXml" Target="../customXml/item18.xml"/><Relationship Id="rId39" Type="http://schemas.openxmlformats.org/officeDocument/2006/relationships/slide" Target="slides/slide6.xml"/><Relationship Id="rId109" Type="http://schemas.openxmlformats.org/officeDocument/2006/relationships/slide" Target="slides/slide76.xml"/><Relationship Id="rId34" Type="http://schemas.openxmlformats.org/officeDocument/2006/relationships/slide" Target="slides/slide1.xml"/><Relationship Id="rId50" Type="http://schemas.openxmlformats.org/officeDocument/2006/relationships/slide" Target="slides/slide17.xml"/><Relationship Id="rId55" Type="http://schemas.openxmlformats.org/officeDocument/2006/relationships/slide" Target="slides/slide22.xml"/><Relationship Id="rId76" Type="http://schemas.openxmlformats.org/officeDocument/2006/relationships/slide" Target="slides/slide43.xml"/><Relationship Id="rId97" Type="http://schemas.openxmlformats.org/officeDocument/2006/relationships/slide" Target="slides/slide64.xml"/><Relationship Id="rId104" Type="http://schemas.openxmlformats.org/officeDocument/2006/relationships/slide" Target="slides/slide71.xml"/><Relationship Id="rId120" Type="http://schemas.openxmlformats.org/officeDocument/2006/relationships/slide" Target="slides/slide87.xml"/><Relationship Id="rId125" Type="http://schemas.openxmlformats.org/officeDocument/2006/relationships/slide" Target="slides/slide92.xml"/><Relationship Id="rId7" Type="http://schemas.openxmlformats.org/officeDocument/2006/relationships/customXml" Target="../customXml/item7.xml"/><Relationship Id="rId71" Type="http://schemas.openxmlformats.org/officeDocument/2006/relationships/slide" Target="slides/slide38.xml"/><Relationship Id="rId92" Type="http://schemas.openxmlformats.org/officeDocument/2006/relationships/slide" Target="slides/slide59.xml"/><Relationship Id="rId2" Type="http://schemas.openxmlformats.org/officeDocument/2006/relationships/customXml" Target="../customXml/item2.xml"/><Relationship Id="rId29" Type="http://schemas.openxmlformats.org/officeDocument/2006/relationships/customXml" Target="../customXml/item29.xml"/><Relationship Id="rId24" Type="http://schemas.openxmlformats.org/officeDocument/2006/relationships/customXml" Target="../customXml/item24.xml"/><Relationship Id="rId40" Type="http://schemas.openxmlformats.org/officeDocument/2006/relationships/slide" Target="slides/slide7.xml"/><Relationship Id="rId45" Type="http://schemas.openxmlformats.org/officeDocument/2006/relationships/slide" Target="slides/slide12.xml"/><Relationship Id="rId66" Type="http://schemas.openxmlformats.org/officeDocument/2006/relationships/slide" Target="slides/slide33.xml"/><Relationship Id="rId87" Type="http://schemas.openxmlformats.org/officeDocument/2006/relationships/slide" Target="slides/slide54.xml"/><Relationship Id="rId110" Type="http://schemas.openxmlformats.org/officeDocument/2006/relationships/slide" Target="slides/slide77.xml"/><Relationship Id="rId115" Type="http://schemas.openxmlformats.org/officeDocument/2006/relationships/slide" Target="slides/slide82.xml"/><Relationship Id="rId131" Type="http://schemas.openxmlformats.org/officeDocument/2006/relationships/notesMaster" Target="notesMasters/notesMaster1.xml"/><Relationship Id="rId61" Type="http://schemas.openxmlformats.org/officeDocument/2006/relationships/slide" Target="slides/slide28.xml"/><Relationship Id="rId82" Type="http://schemas.openxmlformats.org/officeDocument/2006/relationships/slide" Target="slides/slide49.xml"/><Relationship Id="rId19" Type="http://schemas.openxmlformats.org/officeDocument/2006/relationships/customXml" Target="../customXml/item19.xml"/><Relationship Id="rId14" Type="http://schemas.openxmlformats.org/officeDocument/2006/relationships/customXml" Target="../customXml/item14.xml"/><Relationship Id="rId30" Type="http://schemas.openxmlformats.org/officeDocument/2006/relationships/customXml" Target="../customXml/item30.xml"/><Relationship Id="rId35" Type="http://schemas.openxmlformats.org/officeDocument/2006/relationships/slide" Target="slides/slide2.xml"/><Relationship Id="rId56" Type="http://schemas.openxmlformats.org/officeDocument/2006/relationships/slide" Target="slides/slide23.xml"/><Relationship Id="rId77" Type="http://schemas.openxmlformats.org/officeDocument/2006/relationships/slide" Target="slides/slide44.xml"/><Relationship Id="rId100" Type="http://schemas.openxmlformats.org/officeDocument/2006/relationships/slide" Target="slides/slide67.xml"/><Relationship Id="rId105" Type="http://schemas.openxmlformats.org/officeDocument/2006/relationships/slide" Target="slides/slide72.xml"/><Relationship Id="rId126" Type="http://schemas.openxmlformats.org/officeDocument/2006/relationships/slide" Target="slides/slide93.xml"/><Relationship Id="rId8" Type="http://schemas.openxmlformats.org/officeDocument/2006/relationships/customXml" Target="../customXml/item8.xml"/><Relationship Id="rId51" Type="http://schemas.openxmlformats.org/officeDocument/2006/relationships/slide" Target="slides/slide18.xml"/><Relationship Id="rId72" Type="http://schemas.openxmlformats.org/officeDocument/2006/relationships/slide" Target="slides/slide39.xml"/><Relationship Id="rId93" Type="http://schemas.openxmlformats.org/officeDocument/2006/relationships/slide" Target="slides/slide60.xml"/><Relationship Id="rId98" Type="http://schemas.openxmlformats.org/officeDocument/2006/relationships/slide" Target="slides/slide65.xml"/><Relationship Id="rId121" Type="http://schemas.openxmlformats.org/officeDocument/2006/relationships/slide" Target="slides/slide88.xml"/><Relationship Id="rId3" Type="http://schemas.openxmlformats.org/officeDocument/2006/relationships/customXml" Target="../customXml/item3.xml"/><Relationship Id="rId25" Type="http://schemas.openxmlformats.org/officeDocument/2006/relationships/customXml" Target="../customXml/item25.xml"/><Relationship Id="rId46" Type="http://schemas.openxmlformats.org/officeDocument/2006/relationships/slide" Target="slides/slide13.xml"/><Relationship Id="rId67" Type="http://schemas.openxmlformats.org/officeDocument/2006/relationships/slide" Target="slides/slide34.xml"/><Relationship Id="rId116" Type="http://schemas.openxmlformats.org/officeDocument/2006/relationships/slide" Target="slides/slide83.xml"/><Relationship Id="rId20" Type="http://schemas.openxmlformats.org/officeDocument/2006/relationships/customXml" Target="../customXml/item20.xml"/><Relationship Id="rId41" Type="http://schemas.openxmlformats.org/officeDocument/2006/relationships/slide" Target="slides/slide8.xml"/><Relationship Id="rId62" Type="http://schemas.openxmlformats.org/officeDocument/2006/relationships/slide" Target="slides/slide29.xml"/><Relationship Id="rId83" Type="http://schemas.openxmlformats.org/officeDocument/2006/relationships/slide" Target="slides/slide50.xml"/><Relationship Id="rId88" Type="http://schemas.openxmlformats.org/officeDocument/2006/relationships/slide" Target="slides/slide55.xml"/><Relationship Id="rId111" Type="http://schemas.openxmlformats.org/officeDocument/2006/relationships/slide" Target="slides/slide78.xml"/><Relationship Id="rId132" Type="http://schemas.openxmlformats.org/officeDocument/2006/relationships/presProps" Target="presProps.xml"/><Relationship Id="rId15" Type="http://schemas.openxmlformats.org/officeDocument/2006/relationships/customXml" Target="../customXml/item15.xml"/><Relationship Id="rId36" Type="http://schemas.openxmlformats.org/officeDocument/2006/relationships/slide" Target="slides/slide3.xml"/><Relationship Id="rId57" Type="http://schemas.openxmlformats.org/officeDocument/2006/relationships/slide" Target="slides/slide24.xml"/><Relationship Id="rId106" Type="http://schemas.openxmlformats.org/officeDocument/2006/relationships/slide" Target="slides/slide73.xml"/><Relationship Id="rId127" Type="http://schemas.openxmlformats.org/officeDocument/2006/relationships/slide" Target="slides/slide94.xml"/><Relationship Id="rId10" Type="http://schemas.openxmlformats.org/officeDocument/2006/relationships/customXml" Target="../customXml/item10.xml"/><Relationship Id="rId31" Type="http://schemas.openxmlformats.org/officeDocument/2006/relationships/customXml" Target="../customXml/item31.xml"/><Relationship Id="rId52" Type="http://schemas.openxmlformats.org/officeDocument/2006/relationships/slide" Target="slides/slide19.xml"/><Relationship Id="rId73" Type="http://schemas.openxmlformats.org/officeDocument/2006/relationships/slide" Target="slides/slide40.xml"/><Relationship Id="rId78" Type="http://schemas.openxmlformats.org/officeDocument/2006/relationships/slide" Target="slides/slide45.xml"/><Relationship Id="rId94" Type="http://schemas.openxmlformats.org/officeDocument/2006/relationships/slide" Target="slides/slide61.xml"/><Relationship Id="rId99" Type="http://schemas.openxmlformats.org/officeDocument/2006/relationships/slide" Target="slides/slide66.xml"/><Relationship Id="rId101" Type="http://schemas.openxmlformats.org/officeDocument/2006/relationships/slide" Target="slides/slide68.xml"/><Relationship Id="rId122" Type="http://schemas.openxmlformats.org/officeDocument/2006/relationships/slide" Target="slides/slide89.xml"/><Relationship Id="rId4" Type="http://schemas.openxmlformats.org/officeDocument/2006/relationships/customXml" Target="../customXml/item4.xml"/><Relationship Id="rId9" Type="http://schemas.openxmlformats.org/officeDocument/2006/relationships/customXml" Target="../customXml/item9.xml"/><Relationship Id="rId26" Type="http://schemas.openxmlformats.org/officeDocument/2006/relationships/customXml" Target="../customXml/item26.xml"/><Relationship Id="rId47" Type="http://schemas.openxmlformats.org/officeDocument/2006/relationships/slide" Target="slides/slide14.xml"/><Relationship Id="rId68" Type="http://schemas.openxmlformats.org/officeDocument/2006/relationships/slide" Target="slides/slide35.xml"/><Relationship Id="rId89" Type="http://schemas.openxmlformats.org/officeDocument/2006/relationships/slide" Target="slides/slide56.xml"/><Relationship Id="rId112" Type="http://schemas.openxmlformats.org/officeDocument/2006/relationships/slide" Target="slides/slide79.xml"/><Relationship Id="rId133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>
                <a:latin typeface="Arial" panose="020B0604020202020204" pitchFamily="34" charset="0"/>
              </a:defRPr>
            </a:lvl1pPr>
          </a:lstStyle>
          <a:p>
            <a:endParaRPr lang="en-GB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>
                <a:latin typeface="Arial" panose="020B0604020202020204" pitchFamily="34" charset="0"/>
              </a:defRPr>
            </a:lvl1pPr>
          </a:lstStyle>
          <a:p>
            <a:fld id="{CD72A38B-F9FA-4036-A084-652409E98F08}" type="datetimeFigureOut">
              <a:rPr lang="en-GB"/>
              <a:pPr/>
              <a:t>24/04/2023</a:t>
            </a:fld>
            <a:endParaRPr lang="en-GB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GB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>
                <a:latin typeface="Arial" panose="020B0604020202020204" pitchFamily="34" charset="0"/>
              </a:defRPr>
            </a:lvl1pPr>
          </a:lstStyle>
          <a:p>
            <a:endParaRPr lang="en-GB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>
                <a:latin typeface="Arial" panose="020B0604020202020204" pitchFamily="34" charset="0"/>
              </a:defRPr>
            </a:lvl1pPr>
          </a:lstStyle>
          <a:p>
            <a:fld id="{49436F85-577F-4A92-A47F-D540A2BCC821}" type="slidenum">
              <a:rPr lang="en-GB"/>
              <a:pPr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37809116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dsholder til slidebille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Pladsholder til no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da-DK"/>
          </a:p>
        </p:txBody>
      </p:sp>
      <p:sp>
        <p:nvSpPr>
          <p:cNvPr id="4" name="Pladsholder til slidenumm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9436F85-577F-4A92-A47F-D540A2BCC821}" type="slidenum">
              <a:rPr lang="en-GB" smtClean="0"/>
              <a:pPr/>
              <a:t>1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920157672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dsholder til slidebille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Pladsholder til no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da-DK"/>
          </a:p>
        </p:txBody>
      </p:sp>
      <p:sp>
        <p:nvSpPr>
          <p:cNvPr id="4" name="Pladsholder til slidenumm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9436F85-577F-4A92-A47F-D540A2BCC821}" type="slidenum">
              <a:rPr lang="en-GB" smtClean="0"/>
              <a:pPr/>
              <a:t>2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55189651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emf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bin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bin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bin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bin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bin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Sort fors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Background">
            <a:extLst>
              <a:ext uri="{FF2B5EF4-FFF2-40B4-BE49-F238E27FC236}">
                <a16:creationId xmlns:a16="http://schemas.microsoft.com/office/drawing/2014/main" id="{BBCAF46D-9983-4AEE-9B8A-24654CDEDDB0}"/>
              </a:ext>
            </a:extLst>
          </p:cNvPr>
          <p:cNvSpPr/>
          <p:nvPr userDrawn="1"/>
        </p:nvSpPr>
        <p:spPr>
          <a:xfrm>
            <a:off x="0" y="0"/>
            <a:ext cx="12189600" cy="68580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tIns="72000" rIns="72000" bIns="72000" rtlCol="0" anchor="ctr"/>
          <a:lstStyle/>
          <a:p>
            <a:pPr algn="ctr"/>
            <a:endParaRPr lang="en-GB" sz="1600" dirty="0" err="1"/>
          </a:p>
        </p:txBody>
      </p:sp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>
          <a:xfrm>
            <a:off x="349384" y="1760373"/>
            <a:ext cx="10069011" cy="4070408"/>
          </a:xfrm>
        </p:spPr>
        <p:txBody>
          <a:bodyPr anchor="t" anchorCtr="0"/>
          <a:lstStyle>
            <a:lvl1pPr algn="l">
              <a:lnSpc>
                <a:spcPct val="90000"/>
              </a:lnSpc>
              <a:defRPr sz="9400">
                <a:solidFill>
                  <a:schemeClr val="bg1"/>
                </a:solidFill>
              </a:defRPr>
            </a:lvl1pPr>
          </a:lstStyle>
          <a:p>
            <a:r>
              <a:rPr lang="en-GB" dirty="0"/>
              <a:t>Klik for at tilføje overskrift</a:t>
            </a:r>
            <a:endParaRPr lang="en-GB"/>
          </a:p>
        </p:txBody>
      </p:sp>
      <p:sp>
        <p:nvSpPr>
          <p:cNvPr id="19" name="text" descr="{&quot;templafy&quot;:{&quot;id&quot;:&quot;9e66ba45-e00c-4751-bf02-a4956d240516&quot;}}" title="UserProfile.Institut.InstituteDCU_{{DocumentLanguage}}">
            <a:extLst>
              <a:ext uri="{FF2B5EF4-FFF2-40B4-BE49-F238E27FC236}">
                <a16:creationId xmlns:a16="http://schemas.microsoft.com/office/drawing/2014/main" id="{610DD8E7-635C-4517-8E21-65C3CB025FFE}"/>
              </a:ext>
            </a:extLst>
          </p:cNvPr>
          <p:cNvSpPr txBox="1">
            <a:spLocks/>
          </p:cNvSpPr>
          <p:nvPr userDrawn="1"/>
        </p:nvSpPr>
        <p:spPr>
          <a:xfrm>
            <a:off x="411163" y="450893"/>
            <a:ext cx="5684837" cy="284778"/>
          </a:xfrm>
          <a:prstGeom prst="rect">
            <a:avLst/>
          </a:prstGeom>
          <a:noFill/>
        </p:spPr>
        <p:txBody>
          <a:bodyPr wrap="square" lIns="10800" tIns="0" rIns="0" bIns="90000" anchor="b" anchorCtr="0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0"/>
              </a:spcBef>
              <a:buFont typeface="Arial" panose="020B0604020202020204" pitchFamily="34" charset="0"/>
              <a:buNone/>
              <a:defRPr sz="14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GB" dirty="0">
                <a:solidFill>
                  <a:schemeClr val="bg1"/>
                </a:solidFill>
              </a:rPr>
              <a:t>The Maersk Mc-Kinney Moller Institute</a:t>
            </a:r>
          </a:p>
        </p:txBody>
      </p:sp>
      <p:pic>
        <p:nvPicPr>
          <p:cNvPr id="7" name="Logo black">
            <a:extLst>
              <a:ext uri="{FF2B5EF4-FFF2-40B4-BE49-F238E27FC236}">
                <a16:creationId xmlns:a16="http://schemas.microsoft.com/office/drawing/2014/main" id="{E6E48129-FB3C-4F39-A5A1-63313B41D3C2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03200" y="6296400"/>
            <a:ext cx="786874" cy="212400"/>
          </a:xfrm>
          <a:prstGeom prst="rect">
            <a:avLst/>
          </a:prstGeom>
        </p:spPr>
      </p:pic>
      <p:sp>
        <p:nvSpPr>
          <p:cNvPr id="20" name="sdu.dk">
            <a:extLst>
              <a:ext uri="{FF2B5EF4-FFF2-40B4-BE49-F238E27FC236}">
                <a16:creationId xmlns:a16="http://schemas.microsoft.com/office/drawing/2014/main" id="{4B84D86E-3D20-4505-8DAD-8EB1F3E63B0A}"/>
              </a:ext>
            </a:extLst>
          </p:cNvPr>
          <p:cNvSpPr/>
          <p:nvPr userDrawn="1"/>
        </p:nvSpPr>
        <p:spPr>
          <a:xfrm rot="5400000">
            <a:off x="11480800" y="721379"/>
            <a:ext cx="914400" cy="376518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b" anchorCtr="0"/>
          <a:lstStyle/>
          <a:p>
            <a:pPr algn="l"/>
            <a:r>
              <a:rPr lang="en-GB" sz="1100" b="1" noProof="1">
                <a:solidFill>
                  <a:schemeClr val="bg1"/>
                </a:solidFill>
              </a:rPr>
              <a:t>sdu.dk</a:t>
            </a:r>
            <a:endParaRPr lang="en-GB"/>
          </a:p>
        </p:txBody>
      </p:sp>
      <p:sp>
        <p:nvSpPr>
          <p:cNvPr id="21" name="#sdudk">
            <a:extLst>
              <a:ext uri="{FF2B5EF4-FFF2-40B4-BE49-F238E27FC236}">
                <a16:creationId xmlns:a16="http://schemas.microsoft.com/office/drawing/2014/main" id="{B58A6A9A-5E98-43AC-8CA5-F6C4B0573364}"/>
              </a:ext>
            </a:extLst>
          </p:cNvPr>
          <p:cNvSpPr/>
          <p:nvPr userDrawn="1"/>
        </p:nvSpPr>
        <p:spPr>
          <a:xfrm rot="5400000">
            <a:off x="11482792" y="2027544"/>
            <a:ext cx="914400" cy="376518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b" anchorCtr="0"/>
          <a:lstStyle/>
          <a:p>
            <a:pPr algn="l"/>
            <a:r>
              <a:rPr lang="en-GB" sz="1100" b="1" noProof="1">
                <a:solidFill>
                  <a:schemeClr val="bg1"/>
                </a:solidFill>
              </a:rPr>
              <a:t>#sdudk</a:t>
            </a:r>
            <a:endParaRPr lang="en-GB"/>
          </a:p>
        </p:txBody>
      </p: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0C739632-1CD3-47C1-98D9-4B1B2253C7C9}"/>
              </a:ext>
            </a:extLst>
          </p:cNvPr>
          <p:cNvCxnSpPr>
            <a:cxnSpLocks/>
          </p:cNvCxnSpPr>
          <p:nvPr userDrawn="1"/>
        </p:nvCxnSpPr>
        <p:spPr>
          <a:xfrm>
            <a:off x="410400" y="715665"/>
            <a:ext cx="699211" cy="0"/>
          </a:xfrm>
          <a:prstGeom prst="line">
            <a:avLst/>
          </a:prstGeom>
          <a:ln w="3810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date" descr="{&quot;templafy&quot;:{&quot;id&quot;:&quot;e93eeae9-b581-4184-9cc7-9a0f9897d348&quot;}}" title="Form.Date">
            <a:extLst>
              <a:ext uri="{FF2B5EF4-FFF2-40B4-BE49-F238E27FC236}">
                <a16:creationId xmlns:a16="http://schemas.microsoft.com/office/drawing/2014/main" id="{10301B40-E355-4D99-B296-A15FB5BC3A4C}"/>
              </a:ext>
            </a:extLst>
          </p:cNvPr>
          <p:cNvSpPr/>
          <p:nvPr userDrawn="1"/>
        </p:nvSpPr>
        <p:spPr>
          <a:xfrm>
            <a:off x="9156032" y="6349384"/>
            <a:ext cx="2624806" cy="180085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t" anchorCtr="0"/>
          <a:lstStyle/>
          <a:p>
            <a:pPr algn="r"/>
            <a:r>
              <a:rPr lang="en-GB" sz="1200" b="0" dirty="0">
                <a:solidFill>
                  <a:schemeClr val="bg1"/>
                </a:solidFill>
              </a:rPr>
              <a:t>September 2020</a:t>
            </a:r>
          </a:p>
        </p:txBody>
      </p:sp>
      <p:sp>
        <p:nvSpPr>
          <p:cNvPr id="11" name="Date Placeholder 14">
            <a:extLst>
              <a:ext uri="{FF2B5EF4-FFF2-40B4-BE49-F238E27FC236}">
                <a16:creationId xmlns:a16="http://schemas.microsoft.com/office/drawing/2014/main" id="{D4E1389B-CA3B-4709-956D-F396D960BBC8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0" y="6912000"/>
            <a:ext cx="0" cy="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">
                <a:noFill/>
              </a:defRPr>
            </a:lvl1pPr>
          </a:lstStyle>
          <a:p>
            <a:fld id="{F1A13B18-F5ED-4611-8DBB-F05123AFBA22}" type="datetimeFigureOut">
              <a:rPr lang="en-GB" smtClean="0"/>
              <a:pPr/>
              <a:t>24/04/2023</a:t>
            </a:fld>
            <a:endParaRPr lang="en-GB" dirty="0"/>
          </a:p>
        </p:txBody>
      </p:sp>
      <p:sp>
        <p:nvSpPr>
          <p:cNvPr id="14" name="Date Placeholder 14">
            <a:extLst>
              <a:ext uri="{FF2B5EF4-FFF2-40B4-BE49-F238E27FC236}">
                <a16:creationId xmlns:a16="http://schemas.microsoft.com/office/drawing/2014/main" id="{8A94F1C1-AE36-4BBA-B958-8FC614A9472A}"/>
              </a:ext>
            </a:extLst>
          </p:cNvPr>
          <p:cNvSpPr txBox="1">
            <a:spLocks/>
          </p:cNvSpPr>
          <p:nvPr userDrawn="1"/>
        </p:nvSpPr>
        <p:spPr>
          <a:xfrm>
            <a:off x="0" y="6912000"/>
            <a:ext cx="0" cy="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l" defTabSz="914400" rtl="0" eaLnBrk="1" latinLnBrk="0" hangingPunct="1">
              <a:defRPr sz="100" kern="1200">
                <a:noFill/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F1A13B18-F5ED-4611-8DBB-F05123AFBA22}" type="datetimeFigureOut">
              <a:rPr lang="en-GB" smtClean="0"/>
              <a:pPr/>
              <a:t>24/04/2023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406752581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Hvid fors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>
          <a:xfrm>
            <a:off x="349384" y="1760373"/>
            <a:ext cx="10069011" cy="4070408"/>
          </a:xfrm>
        </p:spPr>
        <p:txBody>
          <a:bodyPr anchor="t" anchorCtr="0"/>
          <a:lstStyle>
            <a:lvl1pPr algn="l">
              <a:lnSpc>
                <a:spcPct val="90000"/>
              </a:lnSpc>
              <a:defRPr sz="9400">
                <a:solidFill>
                  <a:schemeClr val="tx1"/>
                </a:solidFill>
              </a:defRPr>
            </a:lvl1pPr>
          </a:lstStyle>
          <a:p>
            <a:r>
              <a:rPr lang="en-GB" dirty="0"/>
              <a:t>Klik for at tilføje overskrift</a:t>
            </a:r>
            <a:endParaRPr lang="en-GB"/>
          </a:p>
        </p:txBody>
      </p:sp>
      <p:sp>
        <p:nvSpPr>
          <p:cNvPr id="13" name="Date Placeholder 14">
            <a:extLst>
              <a:ext uri="{FF2B5EF4-FFF2-40B4-BE49-F238E27FC236}">
                <a16:creationId xmlns:a16="http://schemas.microsoft.com/office/drawing/2014/main" id="{5161ABAB-6DB4-433A-ACC8-A0EC0AACAD0C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0" y="6912000"/>
            <a:ext cx="0" cy="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">
                <a:noFill/>
              </a:defRPr>
            </a:lvl1pPr>
          </a:lstStyle>
          <a:p>
            <a:fld id="{F1A13B18-F5ED-4611-8DBB-F05123AFBA22}" type="datetimeFigureOut">
              <a:rPr lang="en-GB" smtClean="0"/>
              <a:pPr/>
              <a:t>24/04/2023</a:t>
            </a:fld>
            <a:endParaRPr lang="en-GB" dirty="0"/>
          </a:p>
        </p:txBody>
      </p:sp>
      <p:sp>
        <p:nvSpPr>
          <p:cNvPr id="14" name="Date Placeholder 14">
            <a:extLst>
              <a:ext uri="{FF2B5EF4-FFF2-40B4-BE49-F238E27FC236}">
                <a16:creationId xmlns:a16="http://schemas.microsoft.com/office/drawing/2014/main" id="{BC3A8B03-9EA5-416E-BD54-B87E6C4A6781}"/>
              </a:ext>
            </a:extLst>
          </p:cNvPr>
          <p:cNvSpPr txBox="1">
            <a:spLocks/>
          </p:cNvSpPr>
          <p:nvPr userDrawn="1"/>
        </p:nvSpPr>
        <p:spPr>
          <a:xfrm>
            <a:off x="0" y="6912000"/>
            <a:ext cx="0" cy="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l" defTabSz="914400" rtl="0" eaLnBrk="1" latinLnBrk="0" hangingPunct="1">
              <a:defRPr sz="100" kern="1200">
                <a:noFill/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F1A13B18-F5ED-4611-8DBB-F05123AFBA22}" type="datetimeFigureOut">
              <a:rPr lang="en-GB" smtClean="0"/>
              <a:pPr/>
              <a:t>24/04/2023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19033533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Breaker A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Picture Placeholder 3">
            <a:extLst>
              <a:ext uri="{FF2B5EF4-FFF2-40B4-BE49-F238E27FC236}">
                <a16:creationId xmlns:a16="http://schemas.microsoft.com/office/drawing/2014/main" id="{BAC5FF5C-5A1F-4EF8-85A8-E1370E4FA7C5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>
          <a:xfrm>
            <a:off x="6415848" y="1000443"/>
            <a:ext cx="4951428" cy="4841557"/>
          </a:xfrm>
        </p:spPr>
        <p:txBody>
          <a:bodyPr/>
          <a:lstStyle>
            <a:lvl1pPr marL="0" indent="0" algn="ctr">
              <a:buNone/>
              <a:defRPr sz="1200"/>
            </a:lvl1pPr>
          </a:lstStyle>
          <a:p>
            <a:r>
              <a:rPr lang="en-GB" dirty="0"/>
              <a:t>Vælg pladsholderen og indsæt billede via Templafy/Skyfish eller ikon eller logo via Templafy/Billeder</a:t>
            </a:r>
            <a:endParaRPr lang="en-GB"/>
          </a:p>
        </p:txBody>
      </p:sp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>
          <a:xfrm>
            <a:off x="414697" y="1700212"/>
            <a:ext cx="5367600" cy="4141787"/>
          </a:xfrm>
        </p:spPr>
        <p:txBody>
          <a:bodyPr anchor="t" anchorCtr="0"/>
          <a:lstStyle>
            <a:lvl1pPr algn="l">
              <a:lnSpc>
                <a:spcPct val="100000"/>
              </a:lnSpc>
              <a:defRPr sz="4400">
                <a:solidFill>
                  <a:schemeClr val="tx1"/>
                </a:solidFill>
              </a:defRPr>
            </a:lvl1pPr>
          </a:lstStyle>
          <a:p>
            <a:r>
              <a:rPr lang="en-GB" dirty="0"/>
              <a:t>Klik for at tilføje overskrift</a:t>
            </a:r>
            <a:endParaRPr lang="en-GB"/>
          </a:p>
        </p:txBody>
      </p:sp>
      <p:sp>
        <p:nvSpPr>
          <p:cNvPr id="19" name="text" descr="{&quot;templafy&quot;:{&quot;id&quot;:&quot;535c2e69-01e7-4dce-95a6-4de9d99d38ac&quot;}}" title="UserProfile.Institut.InstituteDCU_{{DocumentLanguage}}">
            <a:extLst>
              <a:ext uri="{FF2B5EF4-FFF2-40B4-BE49-F238E27FC236}">
                <a16:creationId xmlns:a16="http://schemas.microsoft.com/office/drawing/2014/main" id="{610DD8E7-635C-4517-8E21-65C3CB025FFE}"/>
              </a:ext>
            </a:extLst>
          </p:cNvPr>
          <p:cNvSpPr txBox="1">
            <a:spLocks/>
          </p:cNvSpPr>
          <p:nvPr userDrawn="1"/>
        </p:nvSpPr>
        <p:spPr>
          <a:xfrm>
            <a:off x="411163" y="450893"/>
            <a:ext cx="5684837" cy="284778"/>
          </a:xfrm>
          <a:prstGeom prst="rect">
            <a:avLst/>
          </a:prstGeom>
          <a:noFill/>
        </p:spPr>
        <p:txBody>
          <a:bodyPr wrap="square" lIns="10800" tIns="0" rIns="0" bIns="90000" anchor="b" anchorCtr="0">
            <a:sp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0"/>
              </a:spcBef>
              <a:buFont typeface="Arial" panose="020B0604020202020204" pitchFamily="34" charset="0"/>
              <a:buNone/>
              <a:defRPr sz="14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GB" dirty="0"/>
              <a:t>The Maersk Mc-Kinney Moller Institute</a:t>
            </a:r>
          </a:p>
        </p:txBody>
      </p:sp>
      <p:sp>
        <p:nvSpPr>
          <p:cNvPr id="20" name="sdu.dk">
            <a:extLst>
              <a:ext uri="{FF2B5EF4-FFF2-40B4-BE49-F238E27FC236}">
                <a16:creationId xmlns:a16="http://schemas.microsoft.com/office/drawing/2014/main" id="{4B84D86E-3D20-4505-8DAD-8EB1F3E63B0A}"/>
              </a:ext>
            </a:extLst>
          </p:cNvPr>
          <p:cNvSpPr/>
          <p:nvPr userDrawn="1"/>
        </p:nvSpPr>
        <p:spPr>
          <a:xfrm rot="5400000">
            <a:off x="11480800" y="721379"/>
            <a:ext cx="914400" cy="376518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b" anchorCtr="0"/>
          <a:lstStyle/>
          <a:p>
            <a:pPr algn="l"/>
            <a:r>
              <a:rPr lang="en-GB" sz="1100" b="1" noProof="1">
                <a:solidFill>
                  <a:schemeClr val="tx1"/>
                </a:solidFill>
              </a:rPr>
              <a:t>sdu.dk</a:t>
            </a:r>
            <a:endParaRPr lang="en-GB"/>
          </a:p>
        </p:txBody>
      </p:sp>
      <p:sp>
        <p:nvSpPr>
          <p:cNvPr id="21" name="#sdudk">
            <a:extLst>
              <a:ext uri="{FF2B5EF4-FFF2-40B4-BE49-F238E27FC236}">
                <a16:creationId xmlns:a16="http://schemas.microsoft.com/office/drawing/2014/main" id="{B58A6A9A-5E98-43AC-8CA5-F6C4B0573364}"/>
              </a:ext>
            </a:extLst>
          </p:cNvPr>
          <p:cNvSpPr/>
          <p:nvPr userDrawn="1"/>
        </p:nvSpPr>
        <p:spPr>
          <a:xfrm rot="5400000">
            <a:off x="11482792" y="2027544"/>
            <a:ext cx="914400" cy="376518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b" anchorCtr="0"/>
          <a:lstStyle/>
          <a:p>
            <a:pPr algn="l"/>
            <a:r>
              <a:rPr lang="en-GB" sz="1100" b="1" noProof="1">
                <a:solidFill>
                  <a:schemeClr val="tx1"/>
                </a:solidFill>
              </a:rPr>
              <a:t>#sdudk</a:t>
            </a:r>
            <a:endParaRPr lang="en-GB"/>
          </a:p>
        </p:txBody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EEFBD90C-157B-45E5-8A90-9560C86CAB4C}"/>
              </a:ext>
            </a:extLst>
          </p:cNvPr>
          <p:cNvCxnSpPr>
            <a:cxnSpLocks/>
          </p:cNvCxnSpPr>
          <p:nvPr userDrawn="1"/>
        </p:nvCxnSpPr>
        <p:spPr>
          <a:xfrm>
            <a:off x="410400" y="715665"/>
            <a:ext cx="699211" cy="0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date" descr="{&quot;templafy&quot;:{&quot;id&quot;:&quot;4580039a-6a0b-47c3-8582-fb9e2e105f97&quot;}}" title="Form.Date">
            <a:extLst>
              <a:ext uri="{FF2B5EF4-FFF2-40B4-BE49-F238E27FC236}">
                <a16:creationId xmlns:a16="http://schemas.microsoft.com/office/drawing/2014/main" id="{508E925B-663E-4A1A-8916-BC4FCFEA746C}"/>
              </a:ext>
            </a:extLst>
          </p:cNvPr>
          <p:cNvSpPr/>
          <p:nvPr userDrawn="1"/>
        </p:nvSpPr>
        <p:spPr>
          <a:xfrm>
            <a:off x="9156032" y="6349384"/>
            <a:ext cx="2624806" cy="180085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t" anchorCtr="0"/>
          <a:lstStyle/>
          <a:p>
            <a:pPr algn="r"/>
            <a:r>
              <a:rPr lang="en-GB" sz="1200" b="0" dirty="0">
                <a:solidFill>
                  <a:schemeClr val="tx1"/>
                </a:solidFill>
              </a:rPr>
              <a:t>September 2020</a:t>
            </a:r>
          </a:p>
        </p:txBody>
      </p:sp>
      <p:pic>
        <p:nvPicPr>
          <p:cNvPr id="13" name="Logo black">
            <a:extLst>
              <a:ext uri="{FF2B5EF4-FFF2-40B4-BE49-F238E27FC236}">
                <a16:creationId xmlns:a16="http://schemas.microsoft.com/office/drawing/2014/main" id="{8790A71A-B09B-4B5F-9D31-846A17201C9D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03346" y="6294893"/>
            <a:ext cx="784800" cy="211840"/>
          </a:xfrm>
          <a:prstGeom prst="rect">
            <a:avLst/>
          </a:prstGeom>
        </p:spPr>
      </p:pic>
      <p:sp>
        <p:nvSpPr>
          <p:cNvPr id="17" name="Date Placeholder 14">
            <a:extLst>
              <a:ext uri="{FF2B5EF4-FFF2-40B4-BE49-F238E27FC236}">
                <a16:creationId xmlns:a16="http://schemas.microsoft.com/office/drawing/2014/main" id="{D63CFED0-47FC-4852-81C1-6B705FD6417D}"/>
              </a:ext>
            </a:extLst>
          </p:cNvPr>
          <p:cNvSpPr txBox="1">
            <a:spLocks/>
          </p:cNvSpPr>
          <p:nvPr userDrawn="1"/>
        </p:nvSpPr>
        <p:spPr>
          <a:xfrm>
            <a:off x="0" y="6912000"/>
            <a:ext cx="0" cy="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l" defTabSz="914400" rtl="0" eaLnBrk="1" latinLnBrk="0" hangingPunct="1">
              <a:defRPr sz="100" kern="1200">
                <a:noFill/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F1A13B18-F5ED-4611-8DBB-F05123AFBA22}" type="datetimeFigureOut">
              <a:rPr lang="en-GB" smtClean="0"/>
              <a:pPr/>
              <a:t>24/04/2023</a:t>
            </a:fld>
            <a:endParaRPr lang="en-GB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2D2565F4-7FB3-4F2B-AED8-4859D42935AE}"/>
              </a:ext>
            </a:extLst>
          </p:cNvPr>
          <p:cNvSpPr txBox="1"/>
          <p:nvPr userDrawn="1"/>
        </p:nvSpPr>
        <p:spPr>
          <a:xfrm>
            <a:off x="0" y="-349741"/>
            <a:ext cx="11457183" cy="323165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en-GB" sz="1050" b="1" noProof="1"/>
              <a:t>Skift baggrundsfarve. </a:t>
            </a:r>
            <a:r>
              <a:rPr lang="en-GB" sz="1050" noProof="1"/>
              <a:t>Højreklik på slidet og vælg </a:t>
            </a:r>
            <a:r>
              <a:rPr lang="en-GB" sz="1050" b="1" noProof="1"/>
              <a:t>Formatér baggrund</a:t>
            </a:r>
            <a:r>
              <a:rPr lang="en-GB" sz="1050" noProof="1"/>
              <a:t>. Klik på </a:t>
            </a:r>
            <a:r>
              <a:rPr lang="en-GB" sz="1050" b="1" noProof="1"/>
              <a:t>Fyld farve </a:t>
            </a:r>
            <a:r>
              <a:rPr lang="en-GB" sz="1050" noProof="1"/>
              <a:t>i Formater baggrund vinduet og vælg farve fra øverste række i SDU’s farve palette eller fra den brugerdefinerede farvepalette</a:t>
            </a:r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540918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reaker B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>
          <a:xfrm>
            <a:off x="414697" y="1700212"/>
            <a:ext cx="5367600" cy="4141787"/>
          </a:xfrm>
        </p:spPr>
        <p:txBody>
          <a:bodyPr anchor="b" anchorCtr="0"/>
          <a:lstStyle>
            <a:lvl1pPr algn="l">
              <a:lnSpc>
                <a:spcPct val="100000"/>
              </a:lnSpc>
              <a:defRPr sz="4400">
                <a:solidFill>
                  <a:schemeClr val="tx1"/>
                </a:solidFill>
              </a:defRPr>
            </a:lvl1pPr>
          </a:lstStyle>
          <a:p>
            <a:r>
              <a:rPr lang="en-GB" dirty="0"/>
              <a:t>Klik for at tilføje overskrift</a:t>
            </a:r>
            <a:endParaRPr lang="en-GB"/>
          </a:p>
        </p:txBody>
      </p:sp>
      <p:sp>
        <p:nvSpPr>
          <p:cNvPr id="14" name="Picture Placeholder 3">
            <a:extLst>
              <a:ext uri="{FF2B5EF4-FFF2-40B4-BE49-F238E27FC236}">
                <a16:creationId xmlns:a16="http://schemas.microsoft.com/office/drawing/2014/main" id="{A915360E-F247-49FB-821B-5399F1326472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>
          <a:xfrm>
            <a:off x="6415848" y="1000443"/>
            <a:ext cx="4951428" cy="4841557"/>
          </a:xfrm>
        </p:spPr>
        <p:txBody>
          <a:bodyPr/>
          <a:lstStyle>
            <a:lvl1pPr marL="0" indent="0" algn="ctr">
              <a:buNone/>
              <a:defRPr sz="1200"/>
            </a:lvl1pPr>
          </a:lstStyle>
          <a:p>
            <a:r>
              <a:rPr lang="en-GB" dirty="0"/>
              <a:t>Vælg pladsholderen og indsæt billede via Templafy/Skyfish eller ikon eller logo via Templafy/Billeder</a:t>
            </a:r>
            <a:endParaRPr lang="en-GB"/>
          </a:p>
        </p:txBody>
      </p:sp>
      <p:sp>
        <p:nvSpPr>
          <p:cNvPr id="7" name="Date Placeholder 14">
            <a:extLst>
              <a:ext uri="{FF2B5EF4-FFF2-40B4-BE49-F238E27FC236}">
                <a16:creationId xmlns:a16="http://schemas.microsoft.com/office/drawing/2014/main" id="{FB068F22-0263-44BB-8333-C5643293F39A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0" y="6912000"/>
            <a:ext cx="0" cy="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">
                <a:noFill/>
              </a:defRPr>
            </a:lvl1pPr>
          </a:lstStyle>
          <a:p>
            <a:fld id="{F1A13B18-F5ED-4611-8DBB-F05123AFBA22}" type="datetimeFigureOut">
              <a:rPr lang="en-GB" smtClean="0"/>
              <a:pPr/>
              <a:t>24/04/2023</a:t>
            </a:fld>
            <a:endParaRPr lang="en-GB" dirty="0"/>
          </a:p>
        </p:txBody>
      </p:sp>
      <p:sp>
        <p:nvSpPr>
          <p:cNvPr id="8" name="Date Placeholder 14">
            <a:extLst>
              <a:ext uri="{FF2B5EF4-FFF2-40B4-BE49-F238E27FC236}">
                <a16:creationId xmlns:a16="http://schemas.microsoft.com/office/drawing/2014/main" id="{2D08A2CA-4B19-4B39-B540-F97244C446A4}"/>
              </a:ext>
            </a:extLst>
          </p:cNvPr>
          <p:cNvSpPr txBox="1">
            <a:spLocks/>
          </p:cNvSpPr>
          <p:nvPr userDrawn="1"/>
        </p:nvSpPr>
        <p:spPr>
          <a:xfrm>
            <a:off x="0" y="6912000"/>
            <a:ext cx="0" cy="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l" defTabSz="914400" rtl="0" eaLnBrk="1" latinLnBrk="0" hangingPunct="1">
              <a:defRPr sz="100" kern="1200">
                <a:noFill/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F1A13B18-F5ED-4611-8DBB-F05123AFBA22}" type="datetimeFigureOut">
              <a:rPr lang="en-GB" smtClean="0"/>
              <a:pPr/>
              <a:t>24/04/2023</a:t>
            </a:fld>
            <a:endParaRPr lang="en-GB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7EB9F81D-3EAD-42E8-88EC-432C25D7A8F9}"/>
              </a:ext>
            </a:extLst>
          </p:cNvPr>
          <p:cNvSpPr txBox="1"/>
          <p:nvPr userDrawn="1"/>
        </p:nvSpPr>
        <p:spPr>
          <a:xfrm>
            <a:off x="0" y="-349741"/>
            <a:ext cx="11457183" cy="323165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en-GB" sz="1050" b="1" noProof="1"/>
              <a:t>Skift baggrundsfarve. </a:t>
            </a:r>
            <a:r>
              <a:rPr lang="en-GB" sz="1050" noProof="1"/>
              <a:t>Højreklik på slidet og vælg </a:t>
            </a:r>
            <a:r>
              <a:rPr lang="en-GB" sz="1050" b="1" noProof="1"/>
              <a:t>Formatér baggrund</a:t>
            </a:r>
            <a:r>
              <a:rPr lang="en-GB" sz="1050" noProof="1"/>
              <a:t>. Klik på </a:t>
            </a:r>
            <a:r>
              <a:rPr lang="en-GB" sz="1050" b="1" noProof="1"/>
              <a:t>Fyld farve </a:t>
            </a:r>
            <a:r>
              <a:rPr lang="en-GB" sz="1050" noProof="1"/>
              <a:t>i Formater baggrund vinduet og vælg farve fra øverste række i SDU’s farve palette eller fra den brugerdefinerede farvepalette</a:t>
            </a:r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55003467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Overskrift og indhold 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>
          <a:xfrm>
            <a:off x="414697" y="1700212"/>
            <a:ext cx="5367600" cy="4141787"/>
          </a:xfrm>
        </p:spPr>
        <p:txBody>
          <a:bodyPr anchor="t" anchorCtr="0"/>
          <a:lstStyle>
            <a:lvl1pPr algn="l">
              <a:lnSpc>
                <a:spcPct val="100000"/>
              </a:lnSpc>
              <a:defRPr sz="3600">
                <a:solidFill>
                  <a:schemeClr val="tx1"/>
                </a:solidFill>
              </a:defRPr>
            </a:lvl1pPr>
          </a:lstStyle>
          <a:p>
            <a:r>
              <a:rPr lang="en-GB" dirty="0"/>
              <a:t>Klik for at tilføje overskrift</a:t>
            </a:r>
            <a:endParaRPr lang="en-GB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A9D41ADC-5992-4476-8E55-8A709AA1B4B5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6673356" y="1700212"/>
            <a:ext cx="4693920" cy="4141788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GB" dirty="0"/>
              <a:t>Klik for at tilføje tekst, klik ikon for at tilføje graf/tabel</a:t>
            </a:r>
            <a:endParaRPr lang="en-GB"/>
          </a:p>
          <a:p>
            <a:pPr lvl="1"/>
            <a:r>
              <a:rPr lang="en-GB" dirty="0"/>
              <a:t>Second </a:t>
            </a:r>
            <a:r>
              <a:rPr lang="en-GB" dirty="0" err="1"/>
              <a:t>level</a:t>
            </a:r>
            <a:endParaRPr lang="en-GB" dirty="0"/>
          </a:p>
          <a:p>
            <a:pPr lvl="2"/>
            <a:r>
              <a:rPr lang="en-GB" dirty="0"/>
              <a:t>Third </a:t>
            </a:r>
            <a:r>
              <a:rPr lang="en-GB" dirty="0" err="1"/>
              <a:t>level</a:t>
            </a:r>
            <a:endParaRPr lang="en-GB" dirty="0"/>
          </a:p>
          <a:p>
            <a:pPr lvl="3"/>
            <a:r>
              <a:rPr lang="en-GB" dirty="0" err="1"/>
              <a:t>Fourth</a:t>
            </a:r>
            <a:r>
              <a:rPr lang="en-GB" dirty="0"/>
              <a:t> </a:t>
            </a:r>
            <a:r>
              <a:rPr lang="en-GB" dirty="0" err="1"/>
              <a:t>level</a:t>
            </a:r>
            <a:endParaRPr lang="en-GB" dirty="0"/>
          </a:p>
          <a:p>
            <a:pPr lvl="4"/>
            <a:r>
              <a:rPr lang="en-GB" dirty="0"/>
              <a:t>Fifth </a:t>
            </a:r>
            <a:r>
              <a:rPr lang="en-GB" dirty="0" err="1"/>
              <a:t>level</a:t>
            </a:r>
            <a:endParaRPr lang="en-GB" dirty="0"/>
          </a:p>
        </p:txBody>
      </p:sp>
      <p:sp>
        <p:nvSpPr>
          <p:cNvPr id="10" name="Date Placeholder 14">
            <a:extLst>
              <a:ext uri="{FF2B5EF4-FFF2-40B4-BE49-F238E27FC236}">
                <a16:creationId xmlns:a16="http://schemas.microsoft.com/office/drawing/2014/main" id="{BBCDE8CE-8147-4B12-B358-7B7ACA92FFF2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0" y="6912000"/>
            <a:ext cx="0" cy="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">
                <a:noFill/>
              </a:defRPr>
            </a:lvl1pPr>
          </a:lstStyle>
          <a:p>
            <a:fld id="{F1A13B18-F5ED-4611-8DBB-F05123AFBA22}" type="datetimeFigureOut">
              <a:rPr lang="en-GB" smtClean="0"/>
              <a:pPr/>
              <a:t>24/04/2023</a:t>
            </a:fld>
            <a:endParaRPr lang="en-GB" dirty="0"/>
          </a:p>
        </p:txBody>
      </p:sp>
      <p:sp>
        <p:nvSpPr>
          <p:cNvPr id="11" name="Date Placeholder 14">
            <a:extLst>
              <a:ext uri="{FF2B5EF4-FFF2-40B4-BE49-F238E27FC236}">
                <a16:creationId xmlns:a16="http://schemas.microsoft.com/office/drawing/2014/main" id="{7ACE2053-07AA-42FA-A789-E1430CAF7988}"/>
              </a:ext>
            </a:extLst>
          </p:cNvPr>
          <p:cNvSpPr txBox="1">
            <a:spLocks/>
          </p:cNvSpPr>
          <p:nvPr userDrawn="1"/>
        </p:nvSpPr>
        <p:spPr>
          <a:xfrm>
            <a:off x="0" y="6912000"/>
            <a:ext cx="0" cy="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l" defTabSz="914400" rtl="0" eaLnBrk="1" latinLnBrk="0" hangingPunct="1">
              <a:defRPr sz="100" kern="1200">
                <a:noFill/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F1A13B18-F5ED-4611-8DBB-F05123AFBA22}" type="datetimeFigureOut">
              <a:rPr lang="en-GB" smtClean="0"/>
              <a:pPr/>
              <a:t>24/04/2023</a:t>
            </a:fld>
            <a:endParaRPr lang="en-GB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2BD490B9-04D5-4C98-9BAE-36CAE61DE349}"/>
              </a:ext>
            </a:extLst>
          </p:cNvPr>
          <p:cNvSpPr>
            <a:spLocks noGrp="1"/>
          </p:cNvSpPr>
          <p:nvPr>
            <p:ph type="ftr" sz="quarter" idx="14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BDCBB1C-1FE3-42F2-ACED-70B0664062BD}"/>
              </a:ext>
            </a:extLst>
          </p:cNvPr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fld id="{45D37B1E-C366-494F-A587-962AD9AABC83}" type="slidenum">
              <a:rPr lang="en-GB" smtClean="0"/>
              <a:pPr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2096849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Overskrift og indhold B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3CC1A9A-6ADC-4F72-A312-ED1DBEF01BE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10400" y="1028246"/>
            <a:ext cx="5366267" cy="1884283"/>
          </a:xfrm>
        </p:spPr>
        <p:txBody>
          <a:bodyPr/>
          <a:lstStyle>
            <a:lvl1pPr>
              <a:defRPr/>
            </a:lvl1pPr>
          </a:lstStyle>
          <a:p>
            <a:r>
              <a:rPr lang="en-GB" dirty="0"/>
              <a:t>Klik for at tilføje overskrift</a:t>
            </a:r>
            <a:endParaRPr lang="en-GB"/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C4256969-981A-4869-9324-B595DF89D12E}"/>
              </a:ext>
            </a:extLst>
          </p:cNvPr>
          <p:cNvSpPr>
            <a:spLocks noGrp="1"/>
          </p:cNvSpPr>
          <p:nvPr>
            <p:ph sz="quarter" idx="19" hasCustomPrompt="1"/>
          </p:nvPr>
        </p:nvSpPr>
        <p:spPr>
          <a:xfrm>
            <a:off x="6156000" y="1028246"/>
            <a:ext cx="5216400" cy="4825354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GB" dirty="0"/>
              <a:t>Klik for at tilføje tekst, klik ikon for at tilføje graf/tabel</a:t>
            </a:r>
            <a:endParaRPr lang="en-GB"/>
          </a:p>
          <a:p>
            <a:pPr lvl="1"/>
            <a:r>
              <a:rPr lang="en-GB" dirty="0"/>
              <a:t>Second </a:t>
            </a:r>
            <a:r>
              <a:rPr lang="en-GB" dirty="0" err="1"/>
              <a:t>level</a:t>
            </a:r>
            <a:endParaRPr lang="en-GB" dirty="0"/>
          </a:p>
          <a:p>
            <a:pPr lvl="2"/>
            <a:r>
              <a:rPr lang="en-GB" dirty="0"/>
              <a:t>Third </a:t>
            </a:r>
            <a:r>
              <a:rPr lang="en-GB" dirty="0" err="1"/>
              <a:t>level</a:t>
            </a:r>
            <a:endParaRPr lang="en-GB" dirty="0"/>
          </a:p>
          <a:p>
            <a:pPr lvl="3"/>
            <a:r>
              <a:rPr lang="en-GB" dirty="0" err="1"/>
              <a:t>Fourth</a:t>
            </a:r>
            <a:r>
              <a:rPr lang="en-GB" dirty="0"/>
              <a:t> </a:t>
            </a:r>
            <a:r>
              <a:rPr lang="en-GB" dirty="0" err="1"/>
              <a:t>level</a:t>
            </a:r>
            <a:endParaRPr lang="en-GB" dirty="0"/>
          </a:p>
          <a:p>
            <a:pPr lvl="4"/>
            <a:r>
              <a:rPr lang="en-GB" dirty="0"/>
              <a:t>Fifth </a:t>
            </a:r>
            <a:r>
              <a:rPr lang="en-GB" dirty="0" err="1"/>
              <a:t>level</a:t>
            </a:r>
            <a:endParaRPr lang="en-GB" dirty="0"/>
          </a:p>
        </p:txBody>
      </p:sp>
      <p:sp>
        <p:nvSpPr>
          <p:cNvPr id="16" name="sdu.dk">
            <a:extLst>
              <a:ext uri="{FF2B5EF4-FFF2-40B4-BE49-F238E27FC236}">
                <a16:creationId xmlns:a16="http://schemas.microsoft.com/office/drawing/2014/main" id="{406E07B7-D9E4-488D-BA7B-56AC0D1DDD05}"/>
              </a:ext>
            </a:extLst>
          </p:cNvPr>
          <p:cNvSpPr/>
          <p:nvPr userDrawn="1"/>
        </p:nvSpPr>
        <p:spPr>
          <a:xfrm rot="5400000">
            <a:off x="11480800" y="721379"/>
            <a:ext cx="914400" cy="376518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b" anchorCtr="0"/>
          <a:lstStyle/>
          <a:p>
            <a:pPr algn="l"/>
            <a:r>
              <a:rPr lang="en-GB" sz="1100" b="1" noProof="1">
                <a:solidFill>
                  <a:schemeClr val="tx1"/>
                </a:solidFill>
              </a:rPr>
              <a:t>sdu.dk</a:t>
            </a:r>
            <a:endParaRPr lang="en-GB"/>
          </a:p>
        </p:txBody>
      </p:sp>
      <p:sp>
        <p:nvSpPr>
          <p:cNvPr id="17" name="#sdudk">
            <a:extLst>
              <a:ext uri="{FF2B5EF4-FFF2-40B4-BE49-F238E27FC236}">
                <a16:creationId xmlns:a16="http://schemas.microsoft.com/office/drawing/2014/main" id="{CD1A1828-0ED2-4AFE-8C5E-683996CBAF9D}"/>
              </a:ext>
            </a:extLst>
          </p:cNvPr>
          <p:cNvSpPr/>
          <p:nvPr userDrawn="1"/>
        </p:nvSpPr>
        <p:spPr>
          <a:xfrm rot="5400000">
            <a:off x="11482792" y="2027544"/>
            <a:ext cx="914400" cy="376518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b" anchorCtr="0"/>
          <a:lstStyle/>
          <a:p>
            <a:pPr algn="l"/>
            <a:r>
              <a:rPr lang="en-GB" sz="1100" b="1" noProof="1">
                <a:solidFill>
                  <a:schemeClr val="tx1"/>
                </a:solidFill>
              </a:rPr>
              <a:t>#sdudk</a:t>
            </a:r>
            <a:endParaRPr lang="en-GB"/>
          </a:p>
        </p:txBody>
      </p:sp>
      <p:sp>
        <p:nvSpPr>
          <p:cNvPr id="19" name="date" descr="{&quot;templafy&quot;:{&quot;id&quot;:&quot;b451176b-5c0c-4d4d-9060-3837f3de11a8&quot;}}" title="Form.Date">
            <a:extLst>
              <a:ext uri="{FF2B5EF4-FFF2-40B4-BE49-F238E27FC236}">
                <a16:creationId xmlns:a16="http://schemas.microsoft.com/office/drawing/2014/main" id="{38150A77-BE4E-404D-B314-A1C41C791C1B}"/>
              </a:ext>
            </a:extLst>
          </p:cNvPr>
          <p:cNvSpPr/>
          <p:nvPr userDrawn="1"/>
        </p:nvSpPr>
        <p:spPr>
          <a:xfrm>
            <a:off x="9156032" y="6349384"/>
            <a:ext cx="2624806" cy="180085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t" anchorCtr="0"/>
          <a:lstStyle/>
          <a:p>
            <a:pPr algn="r"/>
            <a:r>
              <a:rPr lang="en-GB" sz="1200" b="0" dirty="0">
                <a:solidFill>
                  <a:schemeClr val="tx1"/>
                </a:solidFill>
              </a:rPr>
              <a:t>September 2020</a:t>
            </a:r>
          </a:p>
        </p:txBody>
      </p:sp>
      <p:sp>
        <p:nvSpPr>
          <p:cNvPr id="15" name="text" descr="{&quot;templafy&quot;:{&quot;id&quot;:&quot;c68689c9-e668-4c96-a109-f982a524f861&quot;}}" title="UserProfile.Institut.InstituteDCU_{{DocumentLanguage}}">
            <a:extLst>
              <a:ext uri="{FF2B5EF4-FFF2-40B4-BE49-F238E27FC236}">
                <a16:creationId xmlns:a16="http://schemas.microsoft.com/office/drawing/2014/main" id="{964E632B-B9F2-4547-AC03-2C579124053E}"/>
              </a:ext>
            </a:extLst>
          </p:cNvPr>
          <p:cNvSpPr txBox="1">
            <a:spLocks/>
          </p:cNvSpPr>
          <p:nvPr userDrawn="1"/>
        </p:nvSpPr>
        <p:spPr>
          <a:xfrm>
            <a:off x="411163" y="450893"/>
            <a:ext cx="5684837" cy="284778"/>
          </a:xfrm>
          <a:prstGeom prst="rect">
            <a:avLst/>
          </a:prstGeom>
          <a:noFill/>
        </p:spPr>
        <p:txBody>
          <a:bodyPr wrap="square" lIns="10800" tIns="0" rIns="0" bIns="90000" anchor="b" anchorCtr="0">
            <a:sp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0"/>
              </a:spcBef>
              <a:buFont typeface="Arial" panose="020B0604020202020204" pitchFamily="34" charset="0"/>
              <a:buNone/>
              <a:defRPr sz="14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GB" dirty="0"/>
              <a:t>The Maersk Mc-Kinney Moller Institute</a:t>
            </a:r>
          </a:p>
        </p:txBody>
      </p:sp>
      <p:cxnSp>
        <p:nvCxnSpPr>
          <p:cNvPr id="21" name="Straight Connector 20">
            <a:extLst>
              <a:ext uri="{FF2B5EF4-FFF2-40B4-BE49-F238E27FC236}">
                <a16:creationId xmlns:a16="http://schemas.microsoft.com/office/drawing/2014/main" id="{5D6B1FAA-D7ED-4C71-8DC4-E5439F01BCEB}"/>
              </a:ext>
            </a:extLst>
          </p:cNvPr>
          <p:cNvCxnSpPr>
            <a:cxnSpLocks/>
          </p:cNvCxnSpPr>
          <p:nvPr userDrawn="1"/>
        </p:nvCxnSpPr>
        <p:spPr>
          <a:xfrm>
            <a:off x="410400" y="715665"/>
            <a:ext cx="699211" cy="0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22" name="Logo black">
            <a:extLst>
              <a:ext uri="{FF2B5EF4-FFF2-40B4-BE49-F238E27FC236}">
                <a16:creationId xmlns:a16="http://schemas.microsoft.com/office/drawing/2014/main" id="{CAAF367F-3818-457C-9EE1-320E9050AEB6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03346" y="6294893"/>
            <a:ext cx="784800" cy="211840"/>
          </a:xfrm>
          <a:prstGeom prst="rect">
            <a:avLst/>
          </a:prstGeom>
        </p:spPr>
      </p:pic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C0F779A9-E4FE-4412-9D9E-BF5BF84D02AB}"/>
              </a:ext>
            </a:extLst>
          </p:cNvPr>
          <p:cNvSpPr>
            <a:spLocks noGrp="1"/>
          </p:cNvSpPr>
          <p:nvPr>
            <p:ph type="dt" sz="half" idx="20"/>
          </p:nvPr>
        </p:nvSpPr>
        <p:spPr/>
        <p:txBody>
          <a:bodyPr/>
          <a:lstStyle/>
          <a:p>
            <a:fld id="{F1A13B18-F5ED-4611-8DBB-F05123AFBA22}" type="datetimeFigureOut">
              <a:rPr lang="en-GB" smtClean="0"/>
              <a:pPr/>
              <a:t>24/04/2023</a:t>
            </a:fld>
            <a:endParaRPr lang="en-GB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96ECF2D-BB4C-4004-9F8E-08239A46461C}"/>
              </a:ext>
            </a:extLst>
          </p:cNvPr>
          <p:cNvSpPr>
            <a:spLocks noGrp="1"/>
          </p:cNvSpPr>
          <p:nvPr>
            <p:ph type="ftr" sz="quarter" idx="2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B5949DE-6D77-480D-A4A9-E2E53BE1CE80}"/>
              </a:ext>
            </a:extLst>
          </p:cNvPr>
          <p:cNvSpPr>
            <a:spLocks noGrp="1"/>
          </p:cNvSpPr>
          <p:nvPr>
            <p:ph type="sldNum" sz="quarter" idx="22"/>
          </p:nvPr>
        </p:nvSpPr>
        <p:spPr/>
        <p:txBody>
          <a:bodyPr/>
          <a:lstStyle/>
          <a:p>
            <a:fld id="{45D37B1E-C366-494F-A587-962AD9AABC83}" type="slidenum">
              <a:rPr lang="en-GB" smtClean="0"/>
              <a:pPr/>
              <a:t>‹#›</a:t>
            </a:fld>
            <a:endParaRPr lang="en-GB" dirty="0"/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E75150F5-CFA6-40F1-B2B7-79337C2232BB}"/>
              </a:ext>
            </a:extLst>
          </p:cNvPr>
          <p:cNvSpPr txBox="1"/>
          <p:nvPr userDrawn="1"/>
        </p:nvSpPr>
        <p:spPr>
          <a:xfrm>
            <a:off x="0" y="-349741"/>
            <a:ext cx="11457183" cy="323165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en-GB" sz="1050" b="1" noProof="1"/>
              <a:t>Skift baggrundsfarve. </a:t>
            </a:r>
            <a:r>
              <a:rPr lang="en-GB" sz="1050" noProof="1"/>
              <a:t>Højreklik på slidet og vælg </a:t>
            </a:r>
            <a:r>
              <a:rPr lang="en-GB" sz="1050" b="1" noProof="1"/>
              <a:t>Formatér baggrund</a:t>
            </a:r>
            <a:r>
              <a:rPr lang="en-GB" sz="1050" noProof="1"/>
              <a:t>. Klik på </a:t>
            </a:r>
            <a:r>
              <a:rPr lang="en-GB" sz="1050" b="1" noProof="1"/>
              <a:t>Fyld farve </a:t>
            </a:r>
            <a:r>
              <a:rPr lang="en-GB" sz="1050" noProof="1"/>
              <a:t>i Formater baggrund vinduet og vælg farve fra øverste række i SDU’s farve palette eller fra den brugerdefinerede farvepalette</a:t>
            </a:r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61771791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Overskrift og indhold C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>
          <a:xfrm>
            <a:off x="414696" y="999173"/>
            <a:ext cx="10952579" cy="701040"/>
          </a:xfrm>
        </p:spPr>
        <p:txBody>
          <a:bodyPr anchor="t" anchorCtr="0"/>
          <a:lstStyle>
            <a:lvl1pPr algn="l">
              <a:lnSpc>
                <a:spcPct val="100000"/>
              </a:lnSpc>
              <a:defRPr sz="3600">
                <a:solidFill>
                  <a:schemeClr val="tx1"/>
                </a:solidFill>
              </a:defRPr>
            </a:lvl1pPr>
          </a:lstStyle>
          <a:p>
            <a:r>
              <a:rPr lang="en-GB" dirty="0"/>
              <a:t>Klik for at tilføje overskrift</a:t>
            </a:r>
            <a:endParaRPr lang="en-GB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A9D41ADC-5992-4476-8E55-8A709AA1B4B5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414696" y="1989138"/>
            <a:ext cx="10952580" cy="3852862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GB" dirty="0"/>
              <a:t>Klik for at tilføje tekst, klik ikon for at tilføje graf/tabel</a:t>
            </a:r>
            <a:endParaRPr lang="en-GB"/>
          </a:p>
          <a:p>
            <a:pPr lvl="1"/>
            <a:r>
              <a:rPr lang="en-GB" dirty="0"/>
              <a:t>Second </a:t>
            </a:r>
            <a:r>
              <a:rPr lang="en-GB" dirty="0" err="1"/>
              <a:t>level</a:t>
            </a:r>
            <a:endParaRPr lang="en-GB" dirty="0"/>
          </a:p>
          <a:p>
            <a:pPr lvl="2"/>
            <a:r>
              <a:rPr lang="en-GB" dirty="0"/>
              <a:t>Third </a:t>
            </a:r>
            <a:r>
              <a:rPr lang="en-GB" dirty="0" err="1"/>
              <a:t>level</a:t>
            </a:r>
            <a:endParaRPr lang="en-GB" dirty="0"/>
          </a:p>
          <a:p>
            <a:pPr lvl="3"/>
            <a:r>
              <a:rPr lang="en-GB" dirty="0" err="1"/>
              <a:t>Fourth</a:t>
            </a:r>
            <a:r>
              <a:rPr lang="en-GB" dirty="0"/>
              <a:t> </a:t>
            </a:r>
            <a:r>
              <a:rPr lang="en-GB" dirty="0" err="1"/>
              <a:t>level</a:t>
            </a:r>
            <a:endParaRPr lang="en-GB" dirty="0"/>
          </a:p>
          <a:p>
            <a:pPr lvl="4"/>
            <a:r>
              <a:rPr lang="en-GB" dirty="0"/>
              <a:t>Fifth </a:t>
            </a:r>
            <a:r>
              <a:rPr lang="en-GB" dirty="0" err="1"/>
              <a:t>level</a:t>
            </a:r>
            <a:endParaRPr lang="en-GB" dirty="0"/>
          </a:p>
        </p:txBody>
      </p:sp>
      <p:sp>
        <p:nvSpPr>
          <p:cNvPr id="10" name="Date Placeholder 14">
            <a:extLst>
              <a:ext uri="{FF2B5EF4-FFF2-40B4-BE49-F238E27FC236}">
                <a16:creationId xmlns:a16="http://schemas.microsoft.com/office/drawing/2014/main" id="{BBCDE8CE-8147-4B12-B358-7B7ACA92FFF2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0" y="6912000"/>
            <a:ext cx="0" cy="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">
                <a:noFill/>
              </a:defRPr>
            </a:lvl1pPr>
          </a:lstStyle>
          <a:p>
            <a:fld id="{F1A13B18-F5ED-4611-8DBB-F05123AFBA22}" type="datetimeFigureOut">
              <a:rPr lang="en-GB" smtClean="0"/>
              <a:pPr/>
              <a:t>24/04/2023</a:t>
            </a:fld>
            <a:endParaRPr lang="en-GB" dirty="0"/>
          </a:p>
        </p:txBody>
      </p:sp>
      <p:sp>
        <p:nvSpPr>
          <p:cNvPr id="11" name="Date Placeholder 14">
            <a:extLst>
              <a:ext uri="{FF2B5EF4-FFF2-40B4-BE49-F238E27FC236}">
                <a16:creationId xmlns:a16="http://schemas.microsoft.com/office/drawing/2014/main" id="{7ACE2053-07AA-42FA-A789-E1430CAF7988}"/>
              </a:ext>
            </a:extLst>
          </p:cNvPr>
          <p:cNvSpPr txBox="1">
            <a:spLocks/>
          </p:cNvSpPr>
          <p:nvPr userDrawn="1"/>
        </p:nvSpPr>
        <p:spPr>
          <a:xfrm>
            <a:off x="0" y="6912000"/>
            <a:ext cx="0" cy="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l" defTabSz="914400" rtl="0" eaLnBrk="1" latinLnBrk="0" hangingPunct="1">
              <a:defRPr sz="100" kern="1200">
                <a:noFill/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F1A13B18-F5ED-4611-8DBB-F05123AFBA22}" type="datetimeFigureOut">
              <a:rPr lang="en-GB" smtClean="0"/>
              <a:pPr/>
              <a:t>24/04/2023</a:t>
            </a:fld>
            <a:endParaRPr lang="en-GB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2BD490B9-04D5-4C98-9BAE-36CAE61DE349}"/>
              </a:ext>
            </a:extLst>
          </p:cNvPr>
          <p:cNvSpPr>
            <a:spLocks noGrp="1"/>
          </p:cNvSpPr>
          <p:nvPr>
            <p:ph type="ftr" sz="quarter" idx="14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BDCBB1C-1FE3-42F2-ACED-70B0664062BD}"/>
              </a:ext>
            </a:extLst>
          </p:cNvPr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fld id="{45D37B1E-C366-494F-A587-962AD9AABC83}" type="slidenum">
              <a:rPr lang="en-GB" smtClean="0"/>
              <a:pPr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50139540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Indhold og teks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>
          <a:xfrm>
            <a:off x="6692202" y="1006605"/>
            <a:ext cx="4680000" cy="1938338"/>
          </a:xfrm>
        </p:spPr>
        <p:txBody>
          <a:bodyPr anchor="t" anchorCtr="0"/>
          <a:lstStyle>
            <a:lvl1pPr algn="l">
              <a:lnSpc>
                <a:spcPct val="100000"/>
              </a:lnSpc>
              <a:defRPr sz="3600">
                <a:solidFill>
                  <a:schemeClr val="tx1"/>
                </a:solidFill>
              </a:defRPr>
            </a:lvl1pPr>
          </a:lstStyle>
          <a:p>
            <a:r>
              <a:rPr lang="en-GB" dirty="0"/>
              <a:t>Klik for at tilføje overskrift</a:t>
            </a:r>
            <a:endParaRPr lang="en-GB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BCB99C08-64C3-4ADA-9CD2-FBE2ED8551F6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6692202" y="3387600"/>
            <a:ext cx="4680000" cy="2466000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GB" dirty="0"/>
              <a:t>Klik for at tilføje tekst</a:t>
            </a:r>
            <a:endParaRPr lang="en-GB"/>
          </a:p>
          <a:p>
            <a:pPr lvl="1"/>
            <a:r>
              <a:rPr lang="en-GB" dirty="0"/>
              <a:t>Second </a:t>
            </a:r>
            <a:r>
              <a:rPr lang="en-GB" dirty="0" err="1"/>
              <a:t>level</a:t>
            </a:r>
            <a:endParaRPr lang="en-GB" dirty="0"/>
          </a:p>
          <a:p>
            <a:pPr lvl="2"/>
            <a:r>
              <a:rPr lang="en-GB" dirty="0"/>
              <a:t>Third </a:t>
            </a:r>
            <a:r>
              <a:rPr lang="en-GB" dirty="0" err="1"/>
              <a:t>level</a:t>
            </a:r>
            <a:endParaRPr lang="en-GB" dirty="0"/>
          </a:p>
          <a:p>
            <a:pPr lvl="3"/>
            <a:r>
              <a:rPr lang="en-GB" dirty="0" err="1"/>
              <a:t>Fourth</a:t>
            </a:r>
            <a:r>
              <a:rPr lang="en-GB" dirty="0"/>
              <a:t> </a:t>
            </a:r>
            <a:r>
              <a:rPr lang="en-GB" dirty="0" err="1"/>
              <a:t>level</a:t>
            </a:r>
            <a:endParaRPr lang="en-GB" dirty="0"/>
          </a:p>
          <a:p>
            <a:pPr lvl="4"/>
            <a:r>
              <a:rPr lang="en-GB" dirty="0"/>
              <a:t>Fifth </a:t>
            </a:r>
            <a:r>
              <a:rPr lang="en-GB" dirty="0" err="1"/>
              <a:t>level</a:t>
            </a:r>
            <a:endParaRPr lang="en-GB" dirty="0"/>
          </a:p>
        </p:txBody>
      </p:sp>
      <p:sp>
        <p:nvSpPr>
          <p:cNvPr id="19" name="text" descr="{&quot;templafy&quot;:{&quot;id&quot;:&quot;f39ab476-473e-4cbc-a735-08e8467cfb7b&quot;}}" title="UserProfile.Institut.InstituteDCU_{{DocumentLanguage}}">
            <a:extLst>
              <a:ext uri="{FF2B5EF4-FFF2-40B4-BE49-F238E27FC236}">
                <a16:creationId xmlns:a16="http://schemas.microsoft.com/office/drawing/2014/main" id="{610DD8E7-635C-4517-8E21-65C3CB025FFE}"/>
              </a:ext>
            </a:extLst>
          </p:cNvPr>
          <p:cNvSpPr txBox="1">
            <a:spLocks/>
          </p:cNvSpPr>
          <p:nvPr userDrawn="1"/>
        </p:nvSpPr>
        <p:spPr>
          <a:xfrm>
            <a:off x="411163" y="450893"/>
            <a:ext cx="5684837" cy="284778"/>
          </a:xfrm>
          <a:prstGeom prst="rect">
            <a:avLst/>
          </a:prstGeom>
          <a:noFill/>
        </p:spPr>
        <p:txBody>
          <a:bodyPr wrap="square" lIns="10800" tIns="0" rIns="0" bIns="90000" anchor="b" anchorCtr="0">
            <a:sp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0"/>
              </a:spcBef>
              <a:buFont typeface="Arial" panose="020B0604020202020204" pitchFamily="34" charset="0"/>
              <a:buNone/>
              <a:defRPr sz="14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GB" dirty="0"/>
              <a:t>The Maersk Mc-Kinney Moller Institute</a:t>
            </a:r>
          </a:p>
        </p:txBody>
      </p:sp>
      <p:sp>
        <p:nvSpPr>
          <p:cNvPr id="20" name="sdu.dk">
            <a:extLst>
              <a:ext uri="{FF2B5EF4-FFF2-40B4-BE49-F238E27FC236}">
                <a16:creationId xmlns:a16="http://schemas.microsoft.com/office/drawing/2014/main" id="{4B84D86E-3D20-4505-8DAD-8EB1F3E63B0A}"/>
              </a:ext>
            </a:extLst>
          </p:cNvPr>
          <p:cNvSpPr/>
          <p:nvPr userDrawn="1"/>
        </p:nvSpPr>
        <p:spPr>
          <a:xfrm rot="5400000">
            <a:off x="11480800" y="721379"/>
            <a:ext cx="914400" cy="376518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b" anchorCtr="0"/>
          <a:lstStyle/>
          <a:p>
            <a:pPr algn="l"/>
            <a:r>
              <a:rPr lang="en-GB" sz="1100" b="1" noProof="1">
                <a:solidFill>
                  <a:schemeClr val="tx1"/>
                </a:solidFill>
              </a:rPr>
              <a:t>sdu.dk</a:t>
            </a:r>
            <a:endParaRPr lang="en-GB"/>
          </a:p>
        </p:txBody>
      </p:sp>
      <p:sp>
        <p:nvSpPr>
          <p:cNvPr id="21" name="#sdudk">
            <a:extLst>
              <a:ext uri="{FF2B5EF4-FFF2-40B4-BE49-F238E27FC236}">
                <a16:creationId xmlns:a16="http://schemas.microsoft.com/office/drawing/2014/main" id="{B58A6A9A-5E98-43AC-8CA5-F6C4B0573364}"/>
              </a:ext>
            </a:extLst>
          </p:cNvPr>
          <p:cNvSpPr/>
          <p:nvPr userDrawn="1"/>
        </p:nvSpPr>
        <p:spPr>
          <a:xfrm rot="5400000">
            <a:off x="11482792" y="2027544"/>
            <a:ext cx="914400" cy="376518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b" anchorCtr="0"/>
          <a:lstStyle/>
          <a:p>
            <a:pPr algn="l"/>
            <a:r>
              <a:rPr lang="en-GB" sz="1100" b="1" noProof="1">
                <a:solidFill>
                  <a:schemeClr val="tx1"/>
                </a:solidFill>
              </a:rPr>
              <a:t>#sdudk</a:t>
            </a:r>
            <a:endParaRPr lang="en-GB"/>
          </a:p>
        </p:txBody>
      </p: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ECEA2A3A-0B73-49AA-824B-85FAE9B16B10}"/>
              </a:ext>
            </a:extLst>
          </p:cNvPr>
          <p:cNvCxnSpPr>
            <a:cxnSpLocks/>
          </p:cNvCxnSpPr>
          <p:nvPr userDrawn="1"/>
        </p:nvCxnSpPr>
        <p:spPr>
          <a:xfrm>
            <a:off x="410400" y="715665"/>
            <a:ext cx="699211" cy="0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date" descr="{&quot;templafy&quot;:{&quot;id&quot;:&quot;8f4f5ab2-38ae-4794-9556-95edf115af0a&quot;}}" title="Form.Date">
            <a:extLst>
              <a:ext uri="{FF2B5EF4-FFF2-40B4-BE49-F238E27FC236}">
                <a16:creationId xmlns:a16="http://schemas.microsoft.com/office/drawing/2014/main" id="{6189AE65-D68D-4102-AA1D-2A3BCB6F21BF}"/>
              </a:ext>
            </a:extLst>
          </p:cNvPr>
          <p:cNvSpPr/>
          <p:nvPr userDrawn="1"/>
        </p:nvSpPr>
        <p:spPr>
          <a:xfrm>
            <a:off x="9156032" y="6349384"/>
            <a:ext cx="2624806" cy="180085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t" anchorCtr="0"/>
          <a:lstStyle/>
          <a:p>
            <a:pPr algn="r"/>
            <a:r>
              <a:rPr lang="en-GB" sz="1200" b="0" dirty="0">
                <a:solidFill>
                  <a:schemeClr val="tx1"/>
                </a:solidFill>
              </a:rPr>
              <a:t>September 2020</a:t>
            </a:r>
          </a:p>
        </p:txBody>
      </p:sp>
      <p:pic>
        <p:nvPicPr>
          <p:cNvPr id="16" name="Logo black">
            <a:extLst>
              <a:ext uri="{FF2B5EF4-FFF2-40B4-BE49-F238E27FC236}">
                <a16:creationId xmlns:a16="http://schemas.microsoft.com/office/drawing/2014/main" id="{B52757AD-346A-4AA0-A5D6-36F8B1FE4877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03346" y="6294893"/>
            <a:ext cx="784800" cy="211840"/>
          </a:xfrm>
          <a:prstGeom prst="rect">
            <a:avLst/>
          </a:prstGeom>
        </p:spPr>
      </p:pic>
      <p:sp>
        <p:nvSpPr>
          <p:cNvPr id="18" name="Date Placeholder 14">
            <a:extLst>
              <a:ext uri="{FF2B5EF4-FFF2-40B4-BE49-F238E27FC236}">
                <a16:creationId xmlns:a16="http://schemas.microsoft.com/office/drawing/2014/main" id="{A09FC7B4-885C-4F9D-BD71-AE2FBDB38698}"/>
              </a:ext>
            </a:extLst>
          </p:cNvPr>
          <p:cNvSpPr txBox="1">
            <a:spLocks/>
          </p:cNvSpPr>
          <p:nvPr userDrawn="1"/>
        </p:nvSpPr>
        <p:spPr>
          <a:xfrm>
            <a:off x="0" y="6912000"/>
            <a:ext cx="0" cy="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l" defTabSz="914400" rtl="0" eaLnBrk="1" latinLnBrk="0" hangingPunct="1">
              <a:defRPr sz="100" kern="1200">
                <a:noFill/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F1A13B18-F5ED-4611-8DBB-F05123AFBA22}" type="datetimeFigureOut">
              <a:rPr lang="en-GB" smtClean="0"/>
              <a:pPr/>
              <a:t>24/04/2023</a:t>
            </a:fld>
            <a:endParaRPr lang="en-GB" dirty="0"/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2B8FEE58-0FE9-4218-904C-188D46CD214D}"/>
              </a:ext>
            </a:extLst>
          </p:cNvPr>
          <p:cNvSpPr>
            <a:spLocks noGrp="1"/>
          </p:cNvSpPr>
          <p:nvPr>
            <p:ph sz="quarter" idx="15" hasCustomPrompt="1"/>
          </p:nvPr>
        </p:nvSpPr>
        <p:spPr>
          <a:xfrm>
            <a:off x="422432" y="1000443"/>
            <a:ext cx="5077365" cy="4853157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GB" dirty="0"/>
              <a:t>Klik for at tilføje tekst, klik ikon for at tilføje graf/tabel</a:t>
            </a:r>
            <a:endParaRPr lang="en-GB"/>
          </a:p>
          <a:p>
            <a:pPr lvl="1"/>
            <a:r>
              <a:rPr lang="en-GB" dirty="0"/>
              <a:t>Second </a:t>
            </a:r>
            <a:r>
              <a:rPr lang="en-GB" dirty="0" err="1"/>
              <a:t>level</a:t>
            </a:r>
            <a:endParaRPr lang="en-GB" dirty="0"/>
          </a:p>
          <a:p>
            <a:pPr lvl="2"/>
            <a:r>
              <a:rPr lang="en-GB" dirty="0"/>
              <a:t>Third </a:t>
            </a:r>
            <a:r>
              <a:rPr lang="en-GB" dirty="0" err="1"/>
              <a:t>level</a:t>
            </a:r>
            <a:endParaRPr lang="en-GB" dirty="0"/>
          </a:p>
          <a:p>
            <a:pPr lvl="3"/>
            <a:r>
              <a:rPr lang="en-GB" dirty="0" err="1"/>
              <a:t>Fourth</a:t>
            </a:r>
            <a:r>
              <a:rPr lang="en-GB" dirty="0"/>
              <a:t> </a:t>
            </a:r>
            <a:r>
              <a:rPr lang="en-GB" dirty="0" err="1"/>
              <a:t>level</a:t>
            </a:r>
            <a:endParaRPr lang="en-GB" dirty="0"/>
          </a:p>
          <a:p>
            <a:pPr lvl="4"/>
            <a:r>
              <a:rPr lang="en-GB" dirty="0"/>
              <a:t>Fifth </a:t>
            </a:r>
            <a:r>
              <a:rPr lang="en-GB" dirty="0" err="1"/>
              <a:t>level</a:t>
            </a:r>
            <a:endParaRPr lang="en-GB" dirty="0"/>
          </a:p>
        </p:txBody>
      </p:sp>
      <p:sp>
        <p:nvSpPr>
          <p:cNvPr id="13" name="Date Placeholder 12">
            <a:extLst>
              <a:ext uri="{FF2B5EF4-FFF2-40B4-BE49-F238E27FC236}">
                <a16:creationId xmlns:a16="http://schemas.microsoft.com/office/drawing/2014/main" id="{3F302217-B569-449A-8422-B6650C9BB084}"/>
              </a:ext>
            </a:extLst>
          </p:cNvPr>
          <p:cNvSpPr>
            <a:spLocks noGrp="1"/>
          </p:cNvSpPr>
          <p:nvPr>
            <p:ph type="dt" sz="half" idx="16"/>
          </p:nvPr>
        </p:nvSpPr>
        <p:spPr/>
        <p:txBody>
          <a:bodyPr/>
          <a:lstStyle/>
          <a:p>
            <a:fld id="{F1A13B18-F5ED-4611-8DBB-F05123AFBA22}" type="datetimeFigureOut">
              <a:rPr lang="en-GB" smtClean="0"/>
              <a:pPr/>
              <a:t>24/04/2023</a:t>
            </a:fld>
            <a:endParaRPr lang="en-GB" dirty="0"/>
          </a:p>
        </p:txBody>
      </p:sp>
      <p:sp>
        <p:nvSpPr>
          <p:cNvPr id="14" name="Footer Placeholder 13">
            <a:extLst>
              <a:ext uri="{FF2B5EF4-FFF2-40B4-BE49-F238E27FC236}">
                <a16:creationId xmlns:a16="http://schemas.microsoft.com/office/drawing/2014/main" id="{DF36464C-AEF7-4BFD-9A97-813102BCA484}"/>
              </a:ext>
            </a:extLst>
          </p:cNvPr>
          <p:cNvSpPr>
            <a:spLocks noGrp="1"/>
          </p:cNvSpPr>
          <p:nvPr>
            <p:ph type="ftr" sz="quarter" idx="17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24" name="Slide Number Placeholder 23">
            <a:extLst>
              <a:ext uri="{FF2B5EF4-FFF2-40B4-BE49-F238E27FC236}">
                <a16:creationId xmlns:a16="http://schemas.microsoft.com/office/drawing/2014/main" id="{58D7263E-B2E5-4CB9-9AAF-C0006E4A0400}"/>
              </a:ext>
            </a:extLst>
          </p:cNvPr>
          <p:cNvSpPr>
            <a:spLocks noGrp="1"/>
          </p:cNvSpPr>
          <p:nvPr>
            <p:ph type="sldNum" sz="quarter" idx="18"/>
          </p:nvPr>
        </p:nvSpPr>
        <p:spPr/>
        <p:txBody>
          <a:bodyPr/>
          <a:lstStyle/>
          <a:p>
            <a:fld id="{45D37B1E-C366-494F-A587-962AD9AABC83}" type="slidenum">
              <a:rPr lang="en-GB" smtClean="0"/>
              <a:pPr/>
              <a:t>‹#›</a:t>
            </a:fld>
            <a:endParaRPr lang="en-GB" dirty="0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1BBAA208-28D6-470D-B539-73F9AC20E86C}"/>
              </a:ext>
            </a:extLst>
          </p:cNvPr>
          <p:cNvSpPr txBox="1"/>
          <p:nvPr userDrawn="1"/>
        </p:nvSpPr>
        <p:spPr>
          <a:xfrm>
            <a:off x="0" y="-349741"/>
            <a:ext cx="11457183" cy="323165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en-GB" sz="1050" b="1" noProof="1"/>
              <a:t>Skift baggrundsfarve. </a:t>
            </a:r>
            <a:r>
              <a:rPr lang="en-GB" sz="1050" noProof="1"/>
              <a:t>Højreklik på slidet og vælg </a:t>
            </a:r>
            <a:r>
              <a:rPr lang="en-GB" sz="1050" b="1" noProof="1"/>
              <a:t>Formatér baggrund</a:t>
            </a:r>
            <a:r>
              <a:rPr lang="en-GB" sz="1050" noProof="1"/>
              <a:t>. Klik på </a:t>
            </a:r>
            <a:r>
              <a:rPr lang="en-GB" sz="1050" b="1" noProof="1"/>
              <a:t>Fyld farve </a:t>
            </a:r>
            <a:r>
              <a:rPr lang="en-GB" sz="1050" noProof="1"/>
              <a:t>i Formater baggrund vinduet og vælg farve fra øverste række i SDU’s farve palette eller fra den brugerdefinerede farvepalette</a:t>
            </a:r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7654432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ire indhol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13B9A67-E62D-400C-BC42-A3A96AAED25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10401" y="1028247"/>
            <a:ext cx="2502000" cy="432000"/>
          </a:xfrm>
        </p:spPr>
        <p:txBody>
          <a:bodyPr/>
          <a:lstStyle>
            <a:lvl1pPr>
              <a:lnSpc>
                <a:spcPct val="110000"/>
              </a:lnSpc>
              <a:defRPr sz="1200"/>
            </a:lvl1pPr>
          </a:lstStyle>
          <a:p>
            <a:r>
              <a:rPr lang="en-GB" noProof="0" dirty="0"/>
              <a:t>Klik for at tilføje underoverskrift</a:t>
            </a:r>
            <a:endParaRPr lang="en-GB"/>
          </a:p>
        </p:txBody>
      </p:sp>
      <p:sp>
        <p:nvSpPr>
          <p:cNvPr id="14" name="Content Placeholder 13">
            <a:extLst>
              <a:ext uri="{FF2B5EF4-FFF2-40B4-BE49-F238E27FC236}">
                <a16:creationId xmlns:a16="http://schemas.microsoft.com/office/drawing/2014/main" id="{E60E8CAC-51BD-4862-8B6E-BD3E315677C4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411163" y="1475354"/>
            <a:ext cx="2502000" cy="4366646"/>
          </a:xfrm>
        </p:spPr>
        <p:txBody>
          <a:bodyPr/>
          <a:lstStyle>
            <a:lvl1pPr>
              <a:defRPr sz="1200"/>
            </a:lvl1pPr>
            <a:lvl2pPr>
              <a:defRPr sz="1200"/>
            </a:lvl2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GB" noProof="0" dirty="0"/>
              <a:t>Klik for at tilføje tekst</a:t>
            </a:r>
            <a:endParaRPr lang="en-GB"/>
          </a:p>
          <a:p>
            <a:pPr lvl="1"/>
            <a:r>
              <a:rPr lang="en-GB" noProof="0" dirty="0"/>
              <a:t>Second </a:t>
            </a:r>
            <a:r>
              <a:rPr lang="en-GB" noProof="0" dirty="0" err="1"/>
              <a:t>level</a:t>
            </a:r>
            <a:endParaRPr lang="en-GB" noProof="0" dirty="0"/>
          </a:p>
          <a:p>
            <a:pPr lvl="2"/>
            <a:r>
              <a:rPr lang="en-GB" noProof="0" dirty="0"/>
              <a:t>Third </a:t>
            </a:r>
            <a:r>
              <a:rPr lang="en-GB" noProof="0" dirty="0" err="1"/>
              <a:t>level</a:t>
            </a:r>
            <a:endParaRPr lang="en-GB" noProof="0" dirty="0"/>
          </a:p>
          <a:p>
            <a:pPr lvl="3"/>
            <a:r>
              <a:rPr lang="en-GB" noProof="0" dirty="0" err="1"/>
              <a:t>Fourth</a:t>
            </a:r>
            <a:r>
              <a:rPr lang="en-GB" noProof="0" dirty="0"/>
              <a:t> </a:t>
            </a:r>
            <a:r>
              <a:rPr lang="en-GB" noProof="0" dirty="0" err="1"/>
              <a:t>level</a:t>
            </a:r>
            <a:endParaRPr lang="en-GB" noProof="0" dirty="0"/>
          </a:p>
          <a:p>
            <a:pPr lvl="4"/>
            <a:r>
              <a:rPr lang="en-GB" noProof="0" dirty="0"/>
              <a:t>Fifth </a:t>
            </a:r>
            <a:r>
              <a:rPr lang="en-GB" noProof="0" dirty="0" err="1"/>
              <a:t>level</a:t>
            </a:r>
            <a:endParaRPr lang="en-GB" noProof="0" dirty="0"/>
          </a:p>
        </p:txBody>
      </p:sp>
      <p:sp>
        <p:nvSpPr>
          <p:cNvPr id="15" name="Subtitle 2">
            <a:extLst>
              <a:ext uri="{FF2B5EF4-FFF2-40B4-BE49-F238E27FC236}">
                <a16:creationId xmlns:a16="http://schemas.microsoft.com/office/drawing/2014/main" id="{25135A09-8F8A-4D87-8C43-B3A0A80BE2F5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3273164" y="1028246"/>
            <a:ext cx="2502000" cy="432000"/>
          </a:xfrm>
        </p:spPr>
        <p:txBody>
          <a:bodyPr/>
          <a:lstStyle>
            <a:lvl1pPr marL="0" indent="0" algn="l">
              <a:buNone/>
              <a:defRPr sz="1200" b="1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 noProof="0" dirty="0"/>
              <a:t>Klik for at tilføje underoverskrift</a:t>
            </a:r>
            <a:endParaRPr lang="en-GB"/>
          </a:p>
        </p:txBody>
      </p:sp>
      <p:sp>
        <p:nvSpPr>
          <p:cNvPr id="17" name="Content Placeholder 16">
            <a:extLst>
              <a:ext uri="{FF2B5EF4-FFF2-40B4-BE49-F238E27FC236}">
                <a16:creationId xmlns:a16="http://schemas.microsoft.com/office/drawing/2014/main" id="{462D92C6-668E-491E-B394-72897FAB3085}"/>
              </a:ext>
            </a:extLst>
          </p:cNvPr>
          <p:cNvSpPr>
            <a:spLocks noGrp="1"/>
          </p:cNvSpPr>
          <p:nvPr>
            <p:ph sz="quarter" idx="14" hasCustomPrompt="1"/>
          </p:nvPr>
        </p:nvSpPr>
        <p:spPr>
          <a:xfrm>
            <a:off x="3273163" y="1475354"/>
            <a:ext cx="2502000" cy="4366646"/>
          </a:xfrm>
        </p:spPr>
        <p:txBody>
          <a:bodyPr/>
          <a:lstStyle>
            <a:lvl1pPr>
              <a:defRPr sz="1200"/>
            </a:lvl1pPr>
            <a:lvl2pPr>
              <a:defRPr sz="1200"/>
            </a:lvl2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GB" noProof="0" dirty="0"/>
              <a:t>Klik for at tilføje tekst</a:t>
            </a:r>
            <a:endParaRPr lang="en-GB"/>
          </a:p>
          <a:p>
            <a:pPr lvl="1"/>
            <a:r>
              <a:rPr lang="en-GB" noProof="0" dirty="0"/>
              <a:t>Second </a:t>
            </a:r>
            <a:r>
              <a:rPr lang="en-GB" noProof="0" dirty="0" err="1"/>
              <a:t>level</a:t>
            </a:r>
            <a:endParaRPr lang="en-GB" noProof="0" dirty="0"/>
          </a:p>
          <a:p>
            <a:pPr lvl="2"/>
            <a:r>
              <a:rPr lang="en-GB" noProof="0" dirty="0"/>
              <a:t>Third </a:t>
            </a:r>
            <a:r>
              <a:rPr lang="en-GB" noProof="0" dirty="0" err="1"/>
              <a:t>level</a:t>
            </a:r>
            <a:endParaRPr lang="en-GB" noProof="0" dirty="0"/>
          </a:p>
          <a:p>
            <a:pPr lvl="3"/>
            <a:r>
              <a:rPr lang="en-GB" noProof="0" dirty="0" err="1"/>
              <a:t>Fourth</a:t>
            </a:r>
            <a:r>
              <a:rPr lang="en-GB" noProof="0" dirty="0"/>
              <a:t> </a:t>
            </a:r>
            <a:r>
              <a:rPr lang="en-GB" noProof="0" dirty="0" err="1"/>
              <a:t>level</a:t>
            </a:r>
            <a:endParaRPr lang="en-GB" noProof="0" dirty="0"/>
          </a:p>
          <a:p>
            <a:pPr lvl="4"/>
            <a:r>
              <a:rPr lang="en-GB" noProof="0" dirty="0"/>
              <a:t>Fifth </a:t>
            </a:r>
            <a:r>
              <a:rPr lang="en-GB" noProof="0" dirty="0" err="1"/>
              <a:t>level</a:t>
            </a:r>
            <a:endParaRPr lang="en-GB" noProof="0" dirty="0"/>
          </a:p>
        </p:txBody>
      </p:sp>
      <p:sp>
        <p:nvSpPr>
          <p:cNvPr id="19" name="Text Placeholder 18">
            <a:extLst>
              <a:ext uri="{FF2B5EF4-FFF2-40B4-BE49-F238E27FC236}">
                <a16:creationId xmlns:a16="http://schemas.microsoft.com/office/drawing/2014/main" id="{C0F1B1F1-CA40-4EA4-AB68-69DBBD61ED9D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6135163" y="1028246"/>
            <a:ext cx="2502000" cy="432000"/>
          </a:xfrm>
        </p:spPr>
        <p:txBody>
          <a:bodyPr/>
          <a:lstStyle>
            <a:lvl1pPr marL="0" indent="0">
              <a:buNone/>
              <a:defRPr sz="1200" b="1"/>
            </a:lvl1pPr>
            <a:lvl2pPr marL="252000" indent="0">
              <a:buNone/>
              <a:defRPr/>
            </a:lvl2pPr>
          </a:lstStyle>
          <a:p>
            <a:pPr lvl="0"/>
            <a:r>
              <a:rPr lang="en-GB" noProof="0" dirty="0"/>
              <a:t>Klik for at tilføje underoverskrift</a:t>
            </a:r>
            <a:endParaRPr lang="en-GB"/>
          </a:p>
        </p:txBody>
      </p:sp>
      <p:sp>
        <p:nvSpPr>
          <p:cNvPr id="21" name="Content Placeholder 20">
            <a:extLst>
              <a:ext uri="{FF2B5EF4-FFF2-40B4-BE49-F238E27FC236}">
                <a16:creationId xmlns:a16="http://schemas.microsoft.com/office/drawing/2014/main" id="{3DBEE0FF-2C0E-499E-ACAF-B6F421AF13D5}"/>
              </a:ext>
            </a:extLst>
          </p:cNvPr>
          <p:cNvSpPr>
            <a:spLocks noGrp="1"/>
          </p:cNvSpPr>
          <p:nvPr>
            <p:ph sz="quarter" idx="16" hasCustomPrompt="1"/>
          </p:nvPr>
        </p:nvSpPr>
        <p:spPr>
          <a:xfrm>
            <a:off x="6135163" y="1475354"/>
            <a:ext cx="2502000" cy="4366646"/>
          </a:xfrm>
        </p:spPr>
        <p:txBody>
          <a:bodyPr/>
          <a:lstStyle>
            <a:lvl1pPr>
              <a:defRPr sz="1200"/>
            </a:lvl1pPr>
            <a:lvl2pPr>
              <a:defRPr sz="1200"/>
            </a:lvl2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GB" noProof="0" dirty="0"/>
              <a:t>Klik for at tilføje tekst</a:t>
            </a:r>
            <a:endParaRPr lang="en-GB"/>
          </a:p>
          <a:p>
            <a:pPr lvl="1"/>
            <a:r>
              <a:rPr lang="en-GB" noProof="0" dirty="0"/>
              <a:t>Second </a:t>
            </a:r>
            <a:r>
              <a:rPr lang="en-GB" noProof="0" dirty="0" err="1"/>
              <a:t>level</a:t>
            </a:r>
            <a:endParaRPr lang="en-GB" noProof="0" dirty="0"/>
          </a:p>
          <a:p>
            <a:pPr lvl="2"/>
            <a:r>
              <a:rPr lang="en-GB" noProof="0" dirty="0"/>
              <a:t>Third </a:t>
            </a:r>
            <a:r>
              <a:rPr lang="en-GB" noProof="0" dirty="0" err="1"/>
              <a:t>level</a:t>
            </a:r>
            <a:endParaRPr lang="en-GB" noProof="0" dirty="0"/>
          </a:p>
          <a:p>
            <a:pPr lvl="3"/>
            <a:r>
              <a:rPr lang="en-GB" noProof="0" dirty="0" err="1"/>
              <a:t>Fourth</a:t>
            </a:r>
            <a:r>
              <a:rPr lang="en-GB" noProof="0" dirty="0"/>
              <a:t> </a:t>
            </a:r>
            <a:r>
              <a:rPr lang="en-GB" noProof="0" dirty="0" err="1"/>
              <a:t>level</a:t>
            </a:r>
            <a:endParaRPr lang="en-GB" noProof="0" dirty="0"/>
          </a:p>
          <a:p>
            <a:pPr lvl="4"/>
            <a:r>
              <a:rPr lang="en-GB" noProof="0" dirty="0"/>
              <a:t>Fifth </a:t>
            </a:r>
            <a:r>
              <a:rPr lang="en-GB" noProof="0" dirty="0" err="1"/>
              <a:t>level</a:t>
            </a:r>
            <a:endParaRPr lang="en-GB" noProof="0" dirty="0"/>
          </a:p>
        </p:txBody>
      </p:sp>
      <p:sp>
        <p:nvSpPr>
          <p:cNvPr id="23" name="Text Placeholder 22">
            <a:extLst>
              <a:ext uri="{FF2B5EF4-FFF2-40B4-BE49-F238E27FC236}">
                <a16:creationId xmlns:a16="http://schemas.microsoft.com/office/drawing/2014/main" id="{F091117C-5AED-4416-88BA-F1C88ACD7A25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8997162" y="1028247"/>
            <a:ext cx="2502000" cy="432000"/>
          </a:xfrm>
        </p:spPr>
        <p:txBody>
          <a:bodyPr/>
          <a:lstStyle>
            <a:lvl1pPr marL="0" indent="0">
              <a:buNone/>
              <a:defRPr sz="1200" b="1"/>
            </a:lvl1pPr>
            <a:lvl2pPr marL="252000" indent="0">
              <a:buNone/>
              <a:defRPr/>
            </a:lvl2pPr>
          </a:lstStyle>
          <a:p>
            <a:pPr lvl="0"/>
            <a:r>
              <a:rPr lang="en-GB" noProof="0" dirty="0"/>
              <a:t>Klik for at tilføje underoverskrift</a:t>
            </a:r>
            <a:endParaRPr lang="en-GB"/>
          </a:p>
        </p:txBody>
      </p:sp>
      <p:sp>
        <p:nvSpPr>
          <p:cNvPr id="25" name="Content Placeholder 24">
            <a:extLst>
              <a:ext uri="{FF2B5EF4-FFF2-40B4-BE49-F238E27FC236}">
                <a16:creationId xmlns:a16="http://schemas.microsoft.com/office/drawing/2014/main" id="{C66F31E1-769E-4E9A-9DCC-2C64321A89C1}"/>
              </a:ext>
            </a:extLst>
          </p:cNvPr>
          <p:cNvSpPr>
            <a:spLocks noGrp="1"/>
          </p:cNvSpPr>
          <p:nvPr>
            <p:ph sz="quarter" idx="18" hasCustomPrompt="1"/>
          </p:nvPr>
        </p:nvSpPr>
        <p:spPr>
          <a:xfrm>
            <a:off x="8997161" y="1475354"/>
            <a:ext cx="2501999" cy="4366646"/>
          </a:xfrm>
        </p:spPr>
        <p:txBody>
          <a:bodyPr/>
          <a:lstStyle>
            <a:lvl1pPr>
              <a:defRPr sz="1200"/>
            </a:lvl1pPr>
            <a:lvl2pPr>
              <a:defRPr sz="1200"/>
            </a:lvl2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GB" noProof="0" dirty="0"/>
              <a:t>Klik for at tilføje tekst</a:t>
            </a:r>
            <a:endParaRPr lang="en-GB"/>
          </a:p>
          <a:p>
            <a:pPr lvl="1"/>
            <a:r>
              <a:rPr lang="en-GB" noProof="0" dirty="0"/>
              <a:t>Second </a:t>
            </a:r>
            <a:r>
              <a:rPr lang="en-GB" noProof="0" dirty="0" err="1"/>
              <a:t>level</a:t>
            </a:r>
            <a:endParaRPr lang="en-GB" noProof="0" dirty="0"/>
          </a:p>
          <a:p>
            <a:pPr lvl="2"/>
            <a:r>
              <a:rPr lang="en-GB" noProof="0" dirty="0"/>
              <a:t>Third </a:t>
            </a:r>
            <a:r>
              <a:rPr lang="en-GB" noProof="0" dirty="0" err="1"/>
              <a:t>level</a:t>
            </a:r>
            <a:endParaRPr lang="en-GB" noProof="0" dirty="0"/>
          </a:p>
          <a:p>
            <a:pPr lvl="3"/>
            <a:r>
              <a:rPr lang="en-GB" noProof="0" dirty="0" err="1"/>
              <a:t>Fourth</a:t>
            </a:r>
            <a:r>
              <a:rPr lang="en-GB" noProof="0" dirty="0"/>
              <a:t> </a:t>
            </a:r>
            <a:r>
              <a:rPr lang="en-GB" noProof="0" dirty="0" err="1"/>
              <a:t>level</a:t>
            </a:r>
            <a:endParaRPr lang="en-GB" noProof="0" dirty="0"/>
          </a:p>
          <a:p>
            <a:pPr lvl="4"/>
            <a:r>
              <a:rPr lang="en-GB" noProof="0" dirty="0"/>
              <a:t>Fifth </a:t>
            </a:r>
            <a:r>
              <a:rPr lang="en-GB" noProof="0" dirty="0" err="1"/>
              <a:t>level</a:t>
            </a:r>
            <a:endParaRPr lang="en-GB" noProof="0" dirty="0"/>
          </a:p>
        </p:txBody>
      </p:sp>
      <p:sp>
        <p:nvSpPr>
          <p:cNvPr id="28" name="Date Placeholder 14">
            <a:extLst>
              <a:ext uri="{FF2B5EF4-FFF2-40B4-BE49-F238E27FC236}">
                <a16:creationId xmlns:a16="http://schemas.microsoft.com/office/drawing/2014/main" id="{1DCD95D8-07B6-42C0-8767-A640B7CA8534}"/>
              </a:ext>
            </a:extLst>
          </p:cNvPr>
          <p:cNvSpPr txBox="1">
            <a:spLocks/>
          </p:cNvSpPr>
          <p:nvPr userDrawn="1"/>
        </p:nvSpPr>
        <p:spPr>
          <a:xfrm>
            <a:off x="0" y="6912000"/>
            <a:ext cx="0" cy="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l" defTabSz="914400" rtl="0" eaLnBrk="1" latinLnBrk="0" hangingPunct="1">
              <a:defRPr sz="100" kern="1200">
                <a:noFill/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F1A13B18-F5ED-4611-8DBB-F05123AFBA22}" type="datetimeFigureOut">
              <a:rPr lang="en-GB" smtClean="0"/>
              <a:pPr/>
              <a:t>24/04/2023</a:t>
            </a:fld>
            <a:endParaRPr lang="en-GB" dirty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E588C40-671D-463C-8463-D77B96C28D88}"/>
              </a:ext>
            </a:extLst>
          </p:cNvPr>
          <p:cNvSpPr>
            <a:spLocks noGrp="1"/>
          </p:cNvSpPr>
          <p:nvPr>
            <p:ph type="dt" sz="half" idx="19"/>
          </p:nvPr>
        </p:nvSpPr>
        <p:spPr/>
        <p:txBody>
          <a:bodyPr/>
          <a:lstStyle/>
          <a:p>
            <a:fld id="{F1A13B18-F5ED-4611-8DBB-F05123AFBA22}" type="datetimeFigureOut">
              <a:rPr lang="en-GB" smtClean="0"/>
              <a:pPr/>
              <a:t>24/04/2023</a:t>
            </a:fld>
            <a:endParaRPr lang="en-GB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846E2E0-2E23-491A-B165-353CDF3F79E2}"/>
              </a:ext>
            </a:extLst>
          </p:cNvPr>
          <p:cNvSpPr>
            <a:spLocks noGrp="1"/>
          </p:cNvSpPr>
          <p:nvPr>
            <p:ph type="ftr" sz="quarter" idx="20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5B93800-6F51-413B-BA21-0A9967FF3386}"/>
              </a:ext>
            </a:extLst>
          </p:cNvPr>
          <p:cNvSpPr>
            <a:spLocks noGrp="1"/>
          </p:cNvSpPr>
          <p:nvPr>
            <p:ph type="sldNum" sz="quarter" idx="21"/>
          </p:nvPr>
        </p:nvSpPr>
        <p:spPr/>
        <p:txBody>
          <a:bodyPr/>
          <a:lstStyle/>
          <a:p>
            <a:fld id="{45D37B1E-C366-494F-A587-962AD9AABC83}" type="slidenum">
              <a:rPr lang="en-GB" smtClean="0"/>
              <a:pPr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24195333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Billede og indhol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Pladsholder til billede 3"/>
          <p:cNvSpPr>
            <a:spLocks noGrp="1"/>
          </p:cNvSpPr>
          <p:nvPr>
            <p:ph type="pic" sz="quarter" idx="13" hasCustomPrompt="1"/>
          </p:nvPr>
        </p:nvSpPr>
        <p:spPr>
          <a:xfrm>
            <a:off x="0" y="0"/>
            <a:ext cx="6099300" cy="6858000"/>
          </a:xfrm>
          <a:solidFill>
            <a:schemeClr val="bg1"/>
          </a:solidFill>
        </p:spPr>
        <p:txBody>
          <a:bodyPr/>
          <a:lstStyle>
            <a:lvl1pPr marL="0" indent="0" algn="ctr">
              <a:buNone/>
              <a:defRPr sz="1200"/>
            </a:lvl1pPr>
          </a:lstStyle>
          <a:p>
            <a:r>
              <a:rPr lang="en-GB" dirty="0"/>
              <a:t>Vælg pladsholderen og indsæt billede via Templafy/Skyfish eller ikon eller logo via Templafy/Billeder</a:t>
            </a:r>
            <a:endParaRPr lang="en-GB"/>
          </a:p>
        </p:txBody>
      </p:sp>
      <p:sp>
        <p:nvSpPr>
          <p:cNvPr id="8" name="Titel 1"/>
          <p:cNvSpPr>
            <a:spLocks noGrp="1"/>
          </p:cNvSpPr>
          <p:nvPr>
            <p:ph type="title" hasCustomPrompt="1"/>
          </p:nvPr>
        </p:nvSpPr>
        <p:spPr>
          <a:xfrm>
            <a:off x="6692401" y="1076109"/>
            <a:ext cx="4680000" cy="1822734"/>
          </a:xfrm>
        </p:spPr>
        <p:txBody>
          <a:bodyPr/>
          <a:lstStyle>
            <a:lvl1pPr>
              <a:defRPr/>
            </a:lvl1pPr>
          </a:lstStyle>
          <a:p>
            <a:r>
              <a:rPr lang="en-GB" dirty="0"/>
              <a:t>Klik for at tilføje overskrift, maksimalt 3 linjer</a:t>
            </a:r>
            <a:endParaRPr lang="en-GB"/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C4256969-981A-4869-9324-B595DF89D12E}"/>
              </a:ext>
            </a:extLst>
          </p:cNvPr>
          <p:cNvSpPr>
            <a:spLocks noGrp="1"/>
          </p:cNvSpPr>
          <p:nvPr>
            <p:ph sz="quarter" idx="19" hasCustomPrompt="1"/>
          </p:nvPr>
        </p:nvSpPr>
        <p:spPr>
          <a:xfrm>
            <a:off x="6692400" y="3387600"/>
            <a:ext cx="4680000" cy="2466000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GB" dirty="0"/>
              <a:t>Klik for at tilføje tekst</a:t>
            </a:r>
            <a:endParaRPr lang="en-GB"/>
          </a:p>
          <a:p>
            <a:pPr lvl="1"/>
            <a:r>
              <a:rPr lang="en-GB" dirty="0"/>
              <a:t>Second </a:t>
            </a:r>
            <a:r>
              <a:rPr lang="en-GB" dirty="0" err="1"/>
              <a:t>level</a:t>
            </a:r>
            <a:endParaRPr lang="en-GB" dirty="0"/>
          </a:p>
          <a:p>
            <a:pPr lvl="2"/>
            <a:r>
              <a:rPr lang="en-GB" dirty="0"/>
              <a:t>Third </a:t>
            </a:r>
            <a:r>
              <a:rPr lang="en-GB" dirty="0" err="1"/>
              <a:t>level</a:t>
            </a:r>
            <a:endParaRPr lang="en-GB" dirty="0"/>
          </a:p>
          <a:p>
            <a:pPr lvl="3"/>
            <a:r>
              <a:rPr lang="en-GB" dirty="0" err="1"/>
              <a:t>Fourth</a:t>
            </a:r>
            <a:r>
              <a:rPr lang="en-GB" dirty="0"/>
              <a:t> </a:t>
            </a:r>
            <a:r>
              <a:rPr lang="en-GB" dirty="0" err="1"/>
              <a:t>level</a:t>
            </a:r>
            <a:endParaRPr lang="en-GB" dirty="0"/>
          </a:p>
          <a:p>
            <a:pPr lvl="4"/>
            <a:r>
              <a:rPr lang="en-GB" dirty="0"/>
              <a:t>Fifth </a:t>
            </a:r>
            <a:r>
              <a:rPr lang="en-GB" dirty="0" err="1"/>
              <a:t>level</a:t>
            </a:r>
            <a:endParaRPr lang="en-GB" dirty="0"/>
          </a:p>
        </p:txBody>
      </p:sp>
      <p:sp>
        <p:nvSpPr>
          <p:cNvPr id="14" name="text" descr="{&quot;templafy&quot;:{&quot;id&quot;:&quot;19392b15-c614-4755-aea8-28d38b6bbe91&quot;}}" title="UserProfile.Institut.InstituteDCU_{{DocumentLanguage}}">
            <a:extLst>
              <a:ext uri="{FF2B5EF4-FFF2-40B4-BE49-F238E27FC236}">
                <a16:creationId xmlns:a16="http://schemas.microsoft.com/office/drawing/2014/main" id="{060969B2-E177-4704-95D4-119A98BB90C5}"/>
              </a:ext>
            </a:extLst>
          </p:cNvPr>
          <p:cNvSpPr txBox="1">
            <a:spLocks/>
          </p:cNvSpPr>
          <p:nvPr userDrawn="1"/>
        </p:nvSpPr>
        <p:spPr>
          <a:xfrm>
            <a:off x="6692400" y="249585"/>
            <a:ext cx="4680000" cy="478677"/>
          </a:xfrm>
          <a:prstGeom prst="rect">
            <a:avLst/>
          </a:prstGeom>
          <a:noFill/>
        </p:spPr>
        <p:txBody>
          <a:bodyPr wrap="square" lIns="10800" tIns="0" rIns="0" bIns="90000" anchor="b" anchorCtr="0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0"/>
              </a:spcBef>
              <a:buFont typeface="Arial" panose="020B0604020202020204" pitchFamily="34" charset="0"/>
              <a:buNone/>
              <a:defRPr sz="14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GB" dirty="0"/>
              <a:t>The Maersk Mc-Kinney Moller Institute</a:t>
            </a:r>
          </a:p>
        </p:txBody>
      </p:sp>
      <p:sp>
        <p:nvSpPr>
          <p:cNvPr id="16" name="sdu.dk">
            <a:extLst>
              <a:ext uri="{FF2B5EF4-FFF2-40B4-BE49-F238E27FC236}">
                <a16:creationId xmlns:a16="http://schemas.microsoft.com/office/drawing/2014/main" id="{406E07B7-D9E4-488D-BA7B-56AC0D1DDD05}"/>
              </a:ext>
            </a:extLst>
          </p:cNvPr>
          <p:cNvSpPr/>
          <p:nvPr userDrawn="1"/>
        </p:nvSpPr>
        <p:spPr>
          <a:xfrm rot="5400000">
            <a:off x="11480800" y="721379"/>
            <a:ext cx="914400" cy="376518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b" anchorCtr="0"/>
          <a:lstStyle/>
          <a:p>
            <a:pPr algn="l"/>
            <a:r>
              <a:rPr lang="en-GB" sz="1100" b="1" noProof="1">
                <a:solidFill>
                  <a:schemeClr val="tx1"/>
                </a:solidFill>
              </a:rPr>
              <a:t>sdu.dk</a:t>
            </a:r>
            <a:endParaRPr lang="en-GB"/>
          </a:p>
        </p:txBody>
      </p:sp>
      <p:sp>
        <p:nvSpPr>
          <p:cNvPr id="17" name="#sdudk">
            <a:extLst>
              <a:ext uri="{FF2B5EF4-FFF2-40B4-BE49-F238E27FC236}">
                <a16:creationId xmlns:a16="http://schemas.microsoft.com/office/drawing/2014/main" id="{CD1A1828-0ED2-4AFE-8C5E-683996CBAF9D}"/>
              </a:ext>
            </a:extLst>
          </p:cNvPr>
          <p:cNvSpPr/>
          <p:nvPr userDrawn="1"/>
        </p:nvSpPr>
        <p:spPr>
          <a:xfrm rot="5400000">
            <a:off x="11482792" y="2027544"/>
            <a:ext cx="914400" cy="376518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b" anchorCtr="0"/>
          <a:lstStyle/>
          <a:p>
            <a:pPr algn="l"/>
            <a:r>
              <a:rPr lang="en-GB" sz="1100" b="1" noProof="1">
                <a:solidFill>
                  <a:schemeClr val="tx1"/>
                </a:solidFill>
              </a:rPr>
              <a:t>#sdudk</a:t>
            </a:r>
            <a:endParaRPr lang="en-GB"/>
          </a:p>
        </p:txBody>
      </p:sp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B68D6574-D545-4AC1-804C-76EBF3BEC544}"/>
              </a:ext>
            </a:extLst>
          </p:cNvPr>
          <p:cNvCxnSpPr>
            <a:cxnSpLocks/>
          </p:cNvCxnSpPr>
          <p:nvPr userDrawn="1"/>
        </p:nvCxnSpPr>
        <p:spPr>
          <a:xfrm>
            <a:off x="6691637" y="715665"/>
            <a:ext cx="699211" cy="0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date" descr="{&quot;templafy&quot;:{&quot;id&quot;:&quot;7c8a4e8f-f1eb-4af7-b254-c88f4a86ec48&quot;}}" title="Form.Date">
            <a:extLst>
              <a:ext uri="{FF2B5EF4-FFF2-40B4-BE49-F238E27FC236}">
                <a16:creationId xmlns:a16="http://schemas.microsoft.com/office/drawing/2014/main" id="{38150A77-BE4E-404D-B314-A1C41C791C1B}"/>
              </a:ext>
            </a:extLst>
          </p:cNvPr>
          <p:cNvSpPr/>
          <p:nvPr userDrawn="1"/>
        </p:nvSpPr>
        <p:spPr>
          <a:xfrm>
            <a:off x="9156032" y="6349384"/>
            <a:ext cx="2624806" cy="180085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t" anchorCtr="0"/>
          <a:lstStyle/>
          <a:p>
            <a:pPr algn="r"/>
            <a:r>
              <a:rPr lang="en-GB" sz="1200" b="0" dirty="0">
                <a:solidFill>
                  <a:schemeClr val="tx1"/>
                </a:solidFill>
              </a:rPr>
              <a:t>September 2020</a:t>
            </a:r>
          </a:p>
        </p:txBody>
      </p:sp>
      <p:pic>
        <p:nvPicPr>
          <p:cNvPr id="20" name="Logo black">
            <a:extLst>
              <a:ext uri="{FF2B5EF4-FFF2-40B4-BE49-F238E27FC236}">
                <a16:creationId xmlns:a16="http://schemas.microsoft.com/office/drawing/2014/main" id="{1421C492-A651-4EE4-BB8B-C6886E7B5C18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692400" y="6294893"/>
            <a:ext cx="784800" cy="211840"/>
          </a:xfrm>
          <a:prstGeom prst="rect">
            <a:avLst/>
          </a:prstGeom>
        </p:spPr>
      </p:pic>
      <p:sp>
        <p:nvSpPr>
          <p:cNvPr id="30" name="Date Placeholder 14">
            <a:extLst>
              <a:ext uri="{FF2B5EF4-FFF2-40B4-BE49-F238E27FC236}">
                <a16:creationId xmlns:a16="http://schemas.microsoft.com/office/drawing/2014/main" id="{2C4B35A0-F8F7-420F-9E06-CC0AAAA0B84F}"/>
              </a:ext>
            </a:extLst>
          </p:cNvPr>
          <p:cNvSpPr txBox="1">
            <a:spLocks/>
          </p:cNvSpPr>
          <p:nvPr userDrawn="1"/>
        </p:nvSpPr>
        <p:spPr>
          <a:xfrm>
            <a:off x="0" y="6912000"/>
            <a:ext cx="0" cy="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l" defTabSz="914400" rtl="0" eaLnBrk="1" latinLnBrk="0" hangingPunct="1">
              <a:defRPr sz="100" kern="1200">
                <a:noFill/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F1A13B18-F5ED-4611-8DBB-F05123AFBA22}" type="datetimeFigureOut">
              <a:rPr lang="en-GB" smtClean="0"/>
              <a:pPr/>
              <a:t>24/04/2023</a:t>
            </a:fld>
            <a:endParaRPr lang="en-GB" dirty="0"/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7C94981C-CC58-4018-9B19-5053EFA6B6A9}"/>
              </a:ext>
            </a:extLst>
          </p:cNvPr>
          <p:cNvSpPr txBox="1"/>
          <p:nvPr userDrawn="1"/>
        </p:nvSpPr>
        <p:spPr>
          <a:xfrm>
            <a:off x="0" y="-349741"/>
            <a:ext cx="11457183" cy="323165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en-GB" sz="1050" b="1" noProof="1"/>
              <a:t>Skift baggrundsfarve. </a:t>
            </a:r>
            <a:r>
              <a:rPr lang="en-GB" sz="1050" noProof="1"/>
              <a:t>Højreklik på slidet og vælg </a:t>
            </a:r>
            <a:r>
              <a:rPr lang="en-GB" sz="1050" b="1" noProof="1"/>
              <a:t>Formatér baggrund</a:t>
            </a:r>
            <a:r>
              <a:rPr lang="en-GB" sz="1050" noProof="1"/>
              <a:t>. Klik på </a:t>
            </a:r>
            <a:r>
              <a:rPr lang="en-GB" sz="1050" b="1" noProof="1"/>
              <a:t>Fyld farve </a:t>
            </a:r>
            <a:r>
              <a:rPr lang="en-GB" sz="1050" noProof="1"/>
              <a:t>i Formater baggrund vinduet og vælg farve fra øverste række i SDU’s farve palette eller fra den brugerdefinerede farvepalette</a:t>
            </a:r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307215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Billede og tekst (CV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el 1"/>
          <p:cNvSpPr>
            <a:spLocks noGrp="1"/>
          </p:cNvSpPr>
          <p:nvPr>
            <p:ph type="title" hasCustomPrompt="1"/>
          </p:nvPr>
        </p:nvSpPr>
        <p:spPr>
          <a:xfrm>
            <a:off x="6710399" y="1700213"/>
            <a:ext cx="4677070" cy="1436392"/>
          </a:xfrm>
        </p:spPr>
        <p:txBody>
          <a:bodyPr/>
          <a:lstStyle>
            <a:lvl1pPr>
              <a:defRPr sz="4800"/>
            </a:lvl1pPr>
          </a:lstStyle>
          <a:p>
            <a:r>
              <a:rPr lang="en-GB" dirty="0"/>
              <a:t>Overskrift i </a:t>
            </a:r>
            <a:r>
              <a:rPr lang="en-GB" dirty="0" err="1"/>
              <a:t>maks</a:t>
            </a:r>
            <a:r>
              <a:rPr lang="en-GB" dirty="0"/>
              <a:t> 2 linjer</a:t>
            </a:r>
            <a:endParaRPr lang="en-GB"/>
          </a:p>
        </p:txBody>
      </p:sp>
      <p:sp>
        <p:nvSpPr>
          <p:cNvPr id="15" name="Text Placeholder 4">
            <a:extLst>
              <a:ext uri="{FF2B5EF4-FFF2-40B4-BE49-F238E27FC236}">
                <a16:creationId xmlns:a16="http://schemas.microsoft.com/office/drawing/2014/main" id="{6FAAEFF0-FCE4-48D6-A0D1-A458F3CD3EB3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6692202" y="3387600"/>
            <a:ext cx="4680000" cy="2466000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GB" dirty="0"/>
              <a:t>Klik for at tilføje tekst</a:t>
            </a:r>
            <a:endParaRPr lang="en-GB"/>
          </a:p>
          <a:p>
            <a:pPr lvl="1"/>
            <a:r>
              <a:rPr lang="en-GB" dirty="0"/>
              <a:t>Second </a:t>
            </a:r>
            <a:r>
              <a:rPr lang="en-GB" dirty="0" err="1"/>
              <a:t>level</a:t>
            </a:r>
            <a:endParaRPr lang="en-GB" dirty="0"/>
          </a:p>
          <a:p>
            <a:pPr lvl="2"/>
            <a:r>
              <a:rPr lang="en-GB" dirty="0"/>
              <a:t>Third </a:t>
            </a:r>
            <a:r>
              <a:rPr lang="en-GB" dirty="0" err="1"/>
              <a:t>level</a:t>
            </a:r>
            <a:endParaRPr lang="en-GB" dirty="0"/>
          </a:p>
          <a:p>
            <a:pPr lvl="3"/>
            <a:r>
              <a:rPr lang="en-GB" dirty="0" err="1"/>
              <a:t>Fourth</a:t>
            </a:r>
            <a:r>
              <a:rPr lang="en-GB" dirty="0"/>
              <a:t> </a:t>
            </a:r>
            <a:r>
              <a:rPr lang="en-GB" dirty="0" err="1"/>
              <a:t>level</a:t>
            </a:r>
            <a:endParaRPr lang="en-GB" dirty="0"/>
          </a:p>
          <a:p>
            <a:pPr lvl="4"/>
            <a:r>
              <a:rPr lang="en-GB" dirty="0"/>
              <a:t>Fifth </a:t>
            </a:r>
            <a:r>
              <a:rPr lang="en-GB" dirty="0" err="1"/>
              <a:t>level</a:t>
            </a:r>
            <a:endParaRPr lang="en-GB" dirty="0"/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2F21E6D3-406B-4DA0-9B5A-6A2F208BAF71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6710399" y="452437"/>
            <a:ext cx="4659277" cy="790493"/>
          </a:xfrm>
        </p:spPr>
        <p:txBody>
          <a:bodyPr anchor="b" anchorCtr="0"/>
          <a:lstStyle>
            <a:lvl1pPr marL="0" indent="0">
              <a:buFont typeface="Arial" panose="020B0604020202020204" pitchFamily="34" charset="0"/>
              <a:buNone/>
              <a:defRPr/>
            </a:lvl1pPr>
          </a:lstStyle>
          <a:p>
            <a:pPr lvl="0"/>
            <a:r>
              <a:rPr lang="en-GB" dirty="0"/>
              <a:t>Klik for at indsætte tekst (f.eks. job titel)</a:t>
            </a:r>
            <a:endParaRPr lang="en-GB"/>
          </a:p>
        </p:txBody>
      </p:sp>
      <p:sp>
        <p:nvSpPr>
          <p:cNvPr id="10" name="Pladsholder til billede 3"/>
          <p:cNvSpPr>
            <a:spLocks noGrp="1"/>
          </p:cNvSpPr>
          <p:nvPr>
            <p:ph type="pic" sz="quarter" idx="13" hasCustomPrompt="1"/>
          </p:nvPr>
        </p:nvSpPr>
        <p:spPr>
          <a:xfrm>
            <a:off x="411163" y="1016000"/>
            <a:ext cx="4043879" cy="4804038"/>
          </a:xfrm>
          <a:noFill/>
        </p:spPr>
        <p:txBody>
          <a:bodyPr/>
          <a:lstStyle>
            <a:lvl1pPr marL="0" indent="0" algn="ctr">
              <a:buNone/>
              <a:defRPr sz="1100"/>
            </a:lvl1pPr>
          </a:lstStyle>
          <a:p>
            <a:r>
              <a:rPr lang="en-GB" dirty="0"/>
              <a:t>Vælg pladsholderen og indsæt billede via Templafy/Skyfish eller ikon eller logo via Templafy/Billeder</a:t>
            </a:r>
            <a:endParaRPr lang="en-GB"/>
          </a:p>
        </p:txBody>
      </p:sp>
      <p:sp>
        <p:nvSpPr>
          <p:cNvPr id="18" name="Date Placeholder 14">
            <a:extLst>
              <a:ext uri="{FF2B5EF4-FFF2-40B4-BE49-F238E27FC236}">
                <a16:creationId xmlns:a16="http://schemas.microsoft.com/office/drawing/2014/main" id="{4AC2696B-BD55-4932-A36E-BCC4318F22B0}"/>
              </a:ext>
            </a:extLst>
          </p:cNvPr>
          <p:cNvSpPr txBox="1">
            <a:spLocks/>
          </p:cNvSpPr>
          <p:nvPr userDrawn="1"/>
        </p:nvSpPr>
        <p:spPr>
          <a:xfrm>
            <a:off x="0" y="6912000"/>
            <a:ext cx="0" cy="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l" defTabSz="914400" rtl="0" eaLnBrk="1" latinLnBrk="0" hangingPunct="1">
              <a:defRPr sz="100" kern="1200">
                <a:noFill/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F1A13B18-F5ED-4611-8DBB-F05123AFBA22}" type="datetimeFigureOut">
              <a:rPr lang="en-GB" smtClean="0"/>
              <a:pPr/>
              <a:t>24/04/2023</a:t>
            </a:fld>
            <a:endParaRPr lang="en-GB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1591D0A-163E-46D9-B4AE-DA2791457328}"/>
              </a:ext>
            </a:extLst>
          </p:cNvPr>
          <p:cNvSpPr>
            <a:spLocks noGrp="1"/>
          </p:cNvSpPr>
          <p:nvPr>
            <p:ph type="dt" sz="half" idx="20"/>
          </p:nvPr>
        </p:nvSpPr>
        <p:spPr/>
        <p:txBody>
          <a:bodyPr/>
          <a:lstStyle/>
          <a:p>
            <a:fld id="{F1A13B18-F5ED-4611-8DBB-F05123AFBA22}" type="datetimeFigureOut">
              <a:rPr lang="en-GB" smtClean="0"/>
              <a:pPr/>
              <a:t>24/04/2023</a:t>
            </a:fld>
            <a:endParaRPr lang="en-GB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D31645F-3EEE-4ACC-9DE8-38B996FFAD12}"/>
              </a:ext>
            </a:extLst>
          </p:cNvPr>
          <p:cNvSpPr>
            <a:spLocks noGrp="1"/>
          </p:cNvSpPr>
          <p:nvPr>
            <p:ph type="ftr" sz="quarter" idx="2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11" name="Slide Number Placeholder 10">
            <a:extLst>
              <a:ext uri="{FF2B5EF4-FFF2-40B4-BE49-F238E27FC236}">
                <a16:creationId xmlns:a16="http://schemas.microsoft.com/office/drawing/2014/main" id="{DA9685AE-678B-466E-B97B-590BC795CFDA}"/>
              </a:ext>
            </a:extLst>
          </p:cNvPr>
          <p:cNvSpPr>
            <a:spLocks noGrp="1"/>
          </p:cNvSpPr>
          <p:nvPr>
            <p:ph type="sldNum" sz="quarter" idx="22"/>
          </p:nvPr>
        </p:nvSpPr>
        <p:spPr/>
        <p:txBody>
          <a:bodyPr/>
          <a:lstStyle/>
          <a:p>
            <a:fld id="{45D37B1E-C366-494F-A587-962AD9AABC83}" type="slidenum">
              <a:rPr lang="en-GB" smtClean="0"/>
              <a:pPr/>
              <a:t>‹#›</a:t>
            </a:fld>
            <a:endParaRPr lang="en-GB" dirty="0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4E308762-F27B-4C02-A3F6-050482784129}"/>
              </a:ext>
            </a:extLst>
          </p:cNvPr>
          <p:cNvSpPr txBox="1"/>
          <p:nvPr userDrawn="1"/>
        </p:nvSpPr>
        <p:spPr>
          <a:xfrm>
            <a:off x="0" y="-349741"/>
            <a:ext cx="11457183" cy="323165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en-GB" sz="1050" b="1" noProof="1"/>
              <a:t>Skift baggrundsfarve. </a:t>
            </a:r>
            <a:r>
              <a:rPr lang="en-GB" sz="1050" noProof="1"/>
              <a:t>Højreklik på slidet og vælg </a:t>
            </a:r>
            <a:r>
              <a:rPr lang="en-GB" sz="1050" b="1" noProof="1"/>
              <a:t>Formatér baggrund</a:t>
            </a:r>
            <a:r>
              <a:rPr lang="en-GB" sz="1050" noProof="1"/>
              <a:t>. Klik på </a:t>
            </a:r>
            <a:r>
              <a:rPr lang="en-GB" sz="1050" b="1" noProof="1"/>
              <a:t>Fyld farve </a:t>
            </a:r>
            <a:r>
              <a:rPr lang="en-GB" sz="1050" noProof="1"/>
              <a:t>i Formater baggrund vinduet og vælg farve fra øverste række i SDU’s farve palette eller fra den brugerdefinerede farvepalette</a:t>
            </a:r>
            <a:endParaRPr lang="en-GB"/>
          </a:p>
        </p:txBody>
      </p:sp>
      <p:pic>
        <p:nvPicPr>
          <p:cNvPr id="13" name="Logo black">
            <a:extLst>
              <a:ext uri="{FF2B5EF4-FFF2-40B4-BE49-F238E27FC236}">
                <a16:creationId xmlns:a16="http://schemas.microsoft.com/office/drawing/2014/main" id="{16CDF92D-C78F-4CBE-853B-4E3CD39D2A54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03346" y="6294893"/>
            <a:ext cx="784800" cy="211840"/>
          </a:xfrm>
          <a:prstGeom prst="rect">
            <a:avLst/>
          </a:prstGeom>
        </p:spPr>
      </p:pic>
      <p:sp>
        <p:nvSpPr>
          <p:cNvPr id="14" name="text" descr="{&quot;templafy&quot;:{&quot;id&quot;:&quot;c5e3364f-695b-4164-8ae0-df0baedf3be1&quot;}}" title="UserProfile.Institut.InstituteDCU_{{DocumentLanguage}}">
            <a:extLst>
              <a:ext uri="{FF2B5EF4-FFF2-40B4-BE49-F238E27FC236}">
                <a16:creationId xmlns:a16="http://schemas.microsoft.com/office/drawing/2014/main" id="{DF6D8BC8-E65A-425F-8A88-41B507F8A632}"/>
              </a:ext>
            </a:extLst>
          </p:cNvPr>
          <p:cNvSpPr txBox="1">
            <a:spLocks/>
          </p:cNvSpPr>
          <p:nvPr userDrawn="1"/>
        </p:nvSpPr>
        <p:spPr>
          <a:xfrm>
            <a:off x="411160" y="442422"/>
            <a:ext cx="6027347" cy="284778"/>
          </a:xfrm>
          <a:prstGeom prst="rect">
            <a:avLst/>
          </a:prstGeom>
          <a:noFill/>
        </p:spPr>
        <p:txBody>
          <a:bodyPr wrap="square" lIns="10800" tIns="0" rIns="0" bIns="90000" anchor="b" anchorCtr="0">
            <a:sp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0"/>
              </a:spcBef>
              <a:buFont typeface="Arial" panose="020B0604020202020204" pitchFamily="34" charset="0"/>
              <a:buNone/>
              <a:defRPr sz="14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GB"/>
              <a:t>The Maersk Mc-Kinney Moller Institute</a:t>
            </a:r>
          </a:p>
        </p:txBody>
      </p: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07D7BB8A-9FF7-4F5F-964E-11BE0AD89A9E}"/>
              </a:ext>
            </a:extLst>
          </p:cNvPr>
          <p:cNvCxnSpPr>
            <a:cxnSpLocks/>
          </p:cNvCxnSpPr>
          <p:nvPr userDrawn="1"/>
        </p:nvCxnSpPr>
        <p:spPr>
          <a:xfrm>
            <a:off x="410400" y="715665"/>
            <a:ext cx="699211" cy="0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Rectangle 16">
            <a:extLst>
              <a:ext uri="{FF2B5EF4-FFF2-40B4-BE49-F238E27FC236}">
                <a16:creationId xmlns:a16="http://schemas.microsoft.com/office/drawing/2014/main" id="{EA0D29C7-1B08-47AE-80F0-21F12DFA77CE}"/>
              </a:ext>
            </a:extLst>
          </p:cNvPr>
          <p:cNvSpPr/>
          <p:nvPr userDrawn="1"/>
        </p:nvSpPr>
        <p:spPr>
          <a:xfrm rot="5400000">
            <a:off x="11480800" y="721379"/>
            <a:ext cx="914400" cy="376518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b" anchorCtr="0"/>
          <a:lstStyle/>
          <a:p>
            <a:pPr algn="l"/>
            <a:r>
              <a:rPr lang="en-GB" sz="1100" b="1" noProof="1">
                <a:solidFill>
                  <a:schemeClr val="tx1"/>
                </a:solidFill>
              </a:rPr>
              <a:t>sdu.dk</a:t>
            </a:r>
            <a:endParaRPr lang="en-GB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BBE87218-65BF-484A-9BC3-CFE3F6FD4ECC}"/>
              </a:ext>
            </a:extLst>
          </p:cNvPr>
          <p:cNvSpPr/>
          <p:nvPr userDrawn="1"/>
        </p:nvSpPr>
        <p:spPr>
          <a:xfrm rot="5400000">
            <a:off x="11482792" y="2027544"/>
            <a:ext cx="914400" cy="376518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b" anchorCtr="0"/>
          <a:lstStyle/>
          <a:p>
            <a:pPr algn="l"/>
            <a:r>
              <a:rPr lang="en-GB" sz="1100" b="1" noProof="1">
                <a:solidFill>
                  <a:schemeClr val="tx1"/>
                </a:solidFill>
              </a:rPr>
              <a:t>#sdudk</a:t>
            </a:r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172234318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Overskrift og bille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>
          <a:xfrm>
            <a:off x="414697" y="1700212"/>
            <a:ext cx="5367600" cy="4141787"/>
          </a:xfrm>
        </p:spPr>
        <p:txBody>
          <a:bodyPr anchor="t" anchorCtr="0"/>
          <a:lstStyle>
            <a:lvl1pPr algn="l">
              <a:lnSpc>
                <a:spcPct val="100000"/>
              </a:lnSpc>
              <a:defRPr sz="3600">
                <a:solidFill>
                  <a:schemeClr val="tx1"/>
                </a:solidFill>
              </a:defRPr>
            </a:lvl1pPr>
          </a:lstStyle>
          <a:p>
            <a:r>
              <a:rPr lang="en-GB" dirty="0"/>
              <a:t>Klik for at tilføje overskrift</a:t>
            </a:r>
            <a:endParaRPr lang="en-GB"/>
          </a:p>
        </p:txBody>
      </p:sp>
      <p:sp>
        <p:nvSpPr>
          <p:cNvPr id="14" name="Picture Placeholder 3">
            <a:extLst>
              <a:ext uri="{FF2B5EF4-FFF2-40B4-BE49-F238E27FC236}">
                <a16:creationId xmlns:a16="http://schemas.microsoft.com/office/drawing/2014/main" id="{BAC5FF5C-5A1F-4EF8-85A8-E1370E4FA7C5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>
          <a:xfrm>
            <a:off x="6415848" y="1000443"/>
            <a:ext cx="4951428" cy="4841557"/>
          </a:xfrm>
        </p:spPr>
        <p:txBody>
          <a:bodyPr/>
          <a:lstStyle>
            <a:lvl1pPr marL="0" indent="0" algn="ctr">
              <a:buNone/>
              <a:defRPr sz="1400"/>
            </a:lvl1pPr>
          </a:lstStyle>
          <a:p>
            <a:r>
              <a:rPr lang="en-GB" dirty="0"/>
              <a:t>Vælg pladsholderen og indsæt billede via Templafy/Skyfish eller ikon eller logo via Templafy/Billeder</a:t>
            </a:r>
            <a:endParaRPr lang="en-GB"/>
          </a:p>
        </p:txBody>
      </p:sp>
      <p:sp>
        <p:nvSpPr>
          <p:cNvPr id="17" name="Date Placeholder 14">
            <a:extLst>
              <a:ext uri="{FF2B5EF4-FFF2-40B4-BE49-F238E27FC236}">
                <a16:creationId xmlns:a16="http://schemas.microsoft.com/office/drawing/2014/main" id="{360EC57D-D72D-43A3-90BC-3ACC9F8BC95A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0" y="6912000"/>
            <a:ext cx="0" cy="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">
                <a:noFill/>
              </a:defRPr>
            </a:lvl1pPr>
          </a:lstStyle>
          <a:p>
            <a:fld id="{F1A13B18-F5ED-4611-8DBB-F05123AFBA22}" type="datetimeFigureOut">
              <a:rPr lang="en-GB" smtClean="0"/>
              <a:pPr/>
              <a:t>24/04/2023</a:t>
            </a:fld>
            <a:endParaRPr lang="en-GB" dirty="0"/>
          </a:p>
        </p:txBody>
      </p:sp>
      <p:sp>
        <p:nvSpPr>
          <p:cNvPr id="18" name="Date Placeholder 14">
            <a:extLst>
              <a:ext uri="{FF2B5EF4-FFF2-40B4-BE49-F238E27FC236}">
                <a16:creationId xmlns:a16="http://schemas.microsoft.com/office/drawing/2014/main" id="{36B2A848-B2AD-472A-AC10-0002D162D52D}"/>
              </a:ext>
            </a:extLst>
          </p:cNvPr>
          <p:cNvSpPr txBox="1">
            <a:spLocks/>
          </p:cNvSpPr>
          <p:nvPr userDrawn="1"/>
        </p:nvSpPr>
        <p:spPr>
          <a:xfrm>
            <a:off x="0" y="6912000"/>
            <a:ext cx="0" cy="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l" defTabSz="914400" rtl="0" eaLnBrk="1" latinLnBrk="0" hangingPunct="1">
              <a:defRPr sz="100" kern="1200">
                <a:noFill/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F1A13B18-F5ED-4611-8DBB-F05123AFBA22}" type="datetimeFigureOut">
              <a:rPr lang="en-GB" smtClean="0"/>
              <a:pPr/>
              <a:t>24/04/2023</a:t>
            </a:fld>
            <a:endParaRPr lang="en-GB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2920C039-324F-433E-90A2-B9FAD2872EC2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17D6F82-73FC-4F13-BFEC-9200E77E1527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45D37B1E-C366-494F-A587-962AD9AABC83}" type="slidenum">
              <a:rPr lang="en-GB" smtClean="0"/>
              <a:pPr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918304048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ire ikon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Content Placeholder 8">
            <a:extLst>
              <a:ext uri="{FF2B5EF4-FFF2-40B4-BE49-F238E27FC236}">
                <a16:creationId xmlns:a16="http://schemas.microsoft.com/office/drawing/2014/main" id="{2FA71C01-3350-42F9-9392-0F3379095A93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2932902" y="1700213"/>
            <a:ext cx="936000" cy="936000"/>
          </a:xfrm>
        </p:spPr>
        <p:txBody>
          <a:bodyPr wrap="none"/>
          <a:lstStyle>
            <a:lvl1pPr marL="0" indent="0">
              <a:buNone/>
              <a:defRPr sz="1000"/>
            </a:lvl1pPr>
          </a:lstStyle>
          <a:p>
            <a:pPr lvl="0"/>
            <a:r>
              <a:rPr lang="en-GB" dirty="0"/>
              <a:t>Indsæt logo: Vælg pladsholderen, indsæt logo via Templafy/Billeder</a:t>
            </a:r>
            <a:endParaRPr lang="en-GB"/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C0A09C85-3CCC-44AB-A808-AA96845B1281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2932902" y="2733129"/>
            <a:ext cx="3564000" cy="756000"/>
          </a:xfrm>
        </p:spPr>
        <p:txBody>
          <a:bodyPr/>
          <a:lstStyle>
            <a:lvl1pPr marL="0" indent="0">
              <a:buFont typeface="Arial" panose="020B0604020202020204" pitchFamily="34" charset="0"/>
              <a:buChar char="​"/>
              <a:defRPr sz="2100" b="1"/>
            </a:lvl1pPr>
            <a:lvl2pPr marL="252000">
              <a:defRPr/>
            </a:lvl2pPr>
            <a:lvl3pPr marL="504000">
              <a:defRPr/>
            </a:lvl3pPr>
          </a:lstStyle>
          <a:p>
            <a:pPr lvl="0"/>
            <a:r>
              <a:rPr lang="en-GB"/>
              <a:t>Klik for at tilføje overskrift</a:t>
            </a:r>
          </a:p>
          <a:p>
            <a:pPr lvl="1"/>
            <a:r>
              <a:rPr lang="en-GB"/>
              <a:t>Second level</a:t>
            </a:r>
          </a:p>
          <a:p>
            <a:pPr lvl="2"/>
            <a:endParaRPr lang="en-GB" dirty="0"/>
          </a:p>
        </p:txBody>
      </p:sp>
      <p:sp>
        <p:nvSpPr>
          <p:cNvPr id="13" name="Content Placeholder 12">
            <a:extLst>
              <a:ext uri="{FF2B5EF4-FFF2-40B4-BE49-F238E27FC236}">
                <a16:creationId xmlns:a16="http://schemas.microsoft.com/office/drawing/2014/main" id="{3F35B7FD-E0E2-4581-BAC7-8858E530AFEA}"/>
              </a:ext>
            </a:extLst>
          </p:cNvPr>
          <p:cNvSpPr>
            <a:spLocks noGrp="1"/>
          </p:cNvSpPr>
          <p:nvPr>
            <p:ph sz="quarter" idx="15" hasCustomPrompt="1"/>
          </p:nvPr>
        </p:nvSpPr>
        <p:spPr>
          <a:xfrm>
            <a:off x="2934000" y="4012975"/>
            <a:ext cx="936000" cy="936000"/>
          </a:xfrm>
        </p:spPr>
        <p:txBody>
          <a:bodyPr wrap="none"/>
          <a:lstStyle>
            <a:lvl1pPr marL="0" indent="0">
              <a:buNone/>
              <a:defRPr sz="1000"/>
            </a:lvl1pPr>
          </a:lstStyle>
          <a:p>
            <a:pPr lvl="0"/>
            <a:r>
              <a:rPr lang="en-GB" dirty="0"/>
              <a:t>Indsæt logo: Vælg pladsholderen, indsæt logo via Templafy/Billeder</a:t>
            </a:r>
            <a:endParaRPr lang="en-GB"/>
          </a:p>
        </p:txBody>
      </p:sp>
      <p:sp>
        <p:nvSpPr>
          <p:cNvPr id="15" name="Text Placeholder 14">
            <a:extLst>
              <a:ext uri="{FF2B5EF4-FFF2-40B4-BE49-F238E27FC236}">
                <a16:creationId xmlns:a16="http://schemas.microsoft.com/office/drawing/2014/main" id="{52C92166-E723-47D5-9A87-3354EB28C43E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2932112" y="5093240"/>
            <a:ext cx="3564000" cy="756000"/>
          </a:xfrm>
        </p:spPr>
        <p:txBody>
          <a:bodyPr/>
          <a:lstStyle>
            <a:lvl1pPr marL="0" indent="0">
              <a:buFont typeface="Arial" panose="020B0604020202020204" pitchFamily="34" charset="0"/>
              <a:buChar char="​"/>
              <a:defRPr sz="2000" b="1"/>
            </a:lvl1pPr>
            <a:lvl2pPr marL="252000">
              <a:defRPr/>
            </a:lvl2pPr>
            <a:lvl3pPr marL="252000" indent="0">
              <a:buNone/>
              <a:defRPr/>
            </a:lvl3pPr>
          </a:lstStyle>
          <a:p>
            <a:pPr lvl="0"/>
            <a:r>
              <a:rPr lang="en-GB" dirty="0"/>
              <a:t>Klik for at </a:t>
            </a:r>
            <a:r>
              <a:rPr lang="en-GB"/>
              <a:t>tilføje overskrift</a:t>
            </a:r>
          </a:p>
          <a:p>
            <a:pPr lvl="1"/>
            <a:r>
              <a:rPr lang="en-GB"/>
              <a:t>Second level</a:t>
            </a:r>
            <a:endParaRPr lang="en-GB" dirty="0"/>
          </a:p>
        </p:txBody>
      </p:sp>
      <p:sp>
        <p:nvSpPr>
          <p:cNvPr id="17" name="Content Placeholder 16">
            <a:extLst>
              <a:ext uri="{FF2B5EF4-FFF2-40B4-BE49-F238E27FC236}">
                <a16:creationId xmlns:a16="http://schemas.microsoft.com/office/drawing/2014/main" id="{AE23DA26-37CC-4CA7-8253-FD9AB459D2EF}"/>
              </a:ext>
            </a:extLst>
          </p:cNvPr>
          <p:cNvSpPr>
            <a:spLocks noGrp="1"/>
          </p:cNvSpPr>
          <p:nvPr>
            <p:ph sz="quarter" idx="17" hasCustomPrompt="1"/>
          </p:nvPr>
        </p:nvSpPr>
        <p:spPr>
          <a:xfrm>
            <a:off x="7474740" y="1700213"/>
            <a:ext cx="936000" cy="936000"/>
          </a:xfrm>
        </p:spPr>
        <p:txBody>
          <a:bodyPr wrap="none"/>
          <a:lstStyle>
            <a:lvl1pPr marL="0" indent="0">
              <a:buNone/>
              <a:defRPr sz="1000"/>
            </a:lvl1pPr>
            <a:lvl2pPr marL="252000" indent="0">
              <a:buNone/>
              <a:defRPr sz="1000"/>
            </a:lvl2pPr>
          </a:lstStyle>
          <a:p>
            <a:pPr lvl="0"/>
            <a:r>
              <a:rPr lang="en-GB" dirty="0"/>
              <a:t>Indsæt logo: Vælg pladsholderen, indsæt logo via Templafy/Billeder</a:t>
            </a:r>
            <a:endParaRPr lang="en-GB"/>
          </a:p>
        </p:txBody>
      </p:sp>
      <p:sp>
        <p:nvSpPr>
          <p:cNvPr id="19" name="Text Placeholder 18">
            <a:extLst>
              <a:ext uri="{FF2B5EF4-FFF2-40B4-BE49-F238E27FC236}">
                <a16:creationId xmlns:a16="http://schemas.microsoft.com/office/drawing/2014/main" id="{62682726-03AB-4490-8664-993881FA0BB1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7459663" y="2732400"/>
            <a:ext cx="3564000" cy="756000"/>
          </a:xfrm>
        </p:spPr>
        <p:txBody>
          <a:bodyPr/>
          <a:lstStyle>
            <a:lvl1pPr marL="0" indent="0">
              <a:buFont typeface="Arial" panose="020B0604020202020204" pitchFamily="34" charset="0"/>
              <a:buChar char="​"/>
              <a:defRPr sz="2000" b="1"/>
            </a:lvl1pPr>
            <a:lvl2pPr marL="252000">
              <a:defRPr/>
            </a:lvl2pPr>
            <a:lvl3pPr marL="504000">
              <a:defRPr/>
            </a:lvl3pPr>
          </a:lstStyle>
          <a:p>
            <a:pPr lvl="0"/>
            <a:r>
              <a:rPr lang="en-GB" dirty="0"/>
              <a:t>Klik for at </a:t>
            </a:r>
            <a:r>
              <a:rPr lang="en-GB"/>
              <a:t>tilføje overskrift</a:t>
            </a:r>
          </a:p>
          <a:p>
            <a:pPr lvl="1"/>
            <a:r>
              <a:rPr lang="en-GB"/>
              <a:t>Second level</a:t>
            </a:r>
          </a:p>
          <a:p>
            <a:pPr lvl="2"/>
            <a:endParaRPr lang="en-GB" dirty="0"/>
          </a:p>
        </p:txBody>
      </p:sp>
      <p:sp>
        <p:nvSpPr>
          <p:cNvPr id="21" name="Content Placeholder 20">
            <a:extLst>
              <a:ext uri="{FF2B5EF4-FFF2-40B4-BE49-F238E27FC236}">
                <a16:creationId xmlns:a16="http://schemas.microsoft.com/office/drawing/2014/main" id="{762625AB-198B-4F37-9382-C78FD9118D5A}"/>
              </a:ext>
            </a:extLst>
          </p:cNvPr>
          <p:cNvSpPr>
            <a:spLocks noGrp="1"/>
          </p:cNvSpPr>
          <p:nvPr>
            <p:ph sz="quarter" idx="19" hasCustomPrompt="1"/>
          </p:nvPr>
        </p:nvSpPr>
        <p:spPr>
          <a:xfrm>
            <a:off x="7459663" y="4012975"/>
            <a:ext cx="936000" cy="936000"/>
          </a:xfrm>
        </p:spPr>
        <p:txBody>
          <a:bodyPr wrap="none"/>
          <a:lstStyle>
            <a:lvl1pPr marL="0" indent="0">
              <a:buNone/>
              <a:defRPr sz="1000"/>
            </a:lvl1pPr>
          </a:lstStyle>
          <a:p>
            <a:pPr lvl="0"/>
            <a:r>
              <a:rPr lang="en-GB" dirty="0"/>
              <a:t>Indsæt logo: Vælg pladsholderen, indsæt logo via Templafy/Billeder</a:t>
            </a:r>
            <a:endParaRPr lang="en-GB"/>
          </a:p>
        </p:txBody>
      </p:sp>
      <p:sp>
        <p:nvSpPr>
          <p:cNvPr id="23" name="Text Placeholder 22">
            <a:extLst>
              <a:ext uri="{FF2B5EF4-FFF2-40B4-BE49-F238E27FC236}">
                <a16:creationId xmlns:a16="http://schemas.microsoft.com/office/drawing/2014/main" id="{D8AE7F93-F2C6-4199-8D16-CFB4D977F63E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7473948" y="5093240"/>
            <a:ext cx="3564000" cy="756000"/>
          </a:xfrm>
        </p:spPr>
        <p:txBody>
          <a:bodyPr/>
          <a:lstStyle>
            <a:lvl1pPr marL="0" indent="0">
              <a:buFont typeface="Arial" panose="020B0604020202020204" pitchFamily="34" charset="0"/>
              <a:buChar char="​"/>
              <a:defRPr sz="2000" b="1"/>
            </a:lvl1pPr>
            <a:lvl2pPr marL="252000">
              <a:defRPr/>
            </a:lvl2pPr>
            <a:lvl3pPr marL="504000">
              <a:defRPr/>
            </a:lvl3pPr>
          </a:lstStyle>
          <a:p>
            <a:pPr lvl="0"/>
            <a:r>
              <a:rPr lang="en-GB" dirty="0"/>
              <a:t>Klik for at </a:t>
            </a:r>
            <a:r>
              <a:rPr lang="en-GB"/>
              <a:t>tilføje overskrift</a:t>
            </a:r>
          </a:p>
          <a:p>
            <a:pPr lvl="1"/>
            <a:r>
              <a:rPr lang="en-GB"/>
              <a:t>Second level</a:t>
            </a:r>
            <a:endParaRPr lang="en-GB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0C4D261F-AFF9-422D-9FB3-5AE92F19507E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1133E6A-A4F4-491B-846E-1DACC83D9BB7}"/>
              </a:ext>
            </a:extLst>
          </p:cNvPr>
          <p:cNvSpPr>
            <a:spLocks noGrp="1"/>
          </p:cNvSpPr>
          <p:nvPr>
            <p:ph type="dt" sz="half" idx="11"/>
          </p:nvPr>
        </p:nvSpPr>
        <p:spPr/>
        <p:txBody>
          <a:bodyPr/>
          <a:lstStyle/>
          <a:p>
            <a:fld id="{F1A13B18-F5ED-4611-8DBB-F05123AFBA22}" type="datetimeFigureOut">
              <a:rPr lang="en-GB" smtClean="0"/>
              <a:pPr/>
              <a:t>24/04/2023</a:t>
            </a:fld>
            <a:endParaRPr lang="en-GB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C38E8B2-EC82-4BE1-85C6-8F272596913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D37B1E-C366-494F-A587-962AD9AABC83}" type="slidenum">
              <a:rPr lang="en-GB" smtClean="0"/>
              <a:pPr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582921138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Overskrift og log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1">
            <a:extLst>
              <a:ext uri="{FF2B5EF4-FFF2-40B4-BE49-F238E27FC236}">
                <a16:creationId xmlns:a16="http://schemas.microsoft.com/office/drawing/2014/main" id="{56F8A6A9-890A-4EA2-8FA4-EA834B1A12F4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414697" y="1700212"/>
            <a:ext cx="5367600" cy="4141787"/>
          </a:xfrm>
        </p:spPr>
        <p:txBody>
          <a:bodyPr anchor="t" anchorCtr="0"/>
          <a:lstStyle>
            <a:lvl1pPr algn="l">
              <a:lnSpc>
                <a:spcPct val="100000"/>
              </a:lnSpc>
              <a:defRPr sz="3600">
                <a:solidFill>
                  <a:schemeClr val="tx1"/>
                </a:solidFill>
              </a:defRPr>
            </a:lvl1pPr>
          </a:lstStyle>
          <a:p>
            <a:r>
              <a:rPr lang="en-GB" dirty="0"/>
              <a:t>Klik for at tilføje overskrift</a:t>
            </a:r>
            <a:endParaRPr lang="en-GB"/>
          </a:p>
        </p:txBody>
      </p:sp>
      <p:sp>
        <p:nvSpPr>
          <p:cNvPr id="11" name="Date Placeholder 14">
            <a:extLst>
              <a:ext uri="{FF2B5EF4-FFF2-40B4-BE49-F238E27FC236}">
                <a16:creationId xmlns:a16="http://schemas.microsoft.com/office/drawing/2014/main" id="{705F52FC-7E26-46C0-8E8B-4445D500B9C7}"/>
              </a:ext>
            </a:extLst>
          </p:cNvPr>
          <p:cNvSpPr txBox="1">
            <a:spLocks/>
          </p:cNvSpPr>
          <p:nvPr userDrawn="1"/>
        </p:nvSpPr>
        <p:spPr>
          <a:xfrm>
            <a:off x="0" y="6912000"/>
            <a:ext cx="0" cy="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l" defTabSz="914400" rtl="0" eaLnBrk="1" latinLnBrk="0" hangingPunct="1">
              <a:defRPr sz="100" kern="1200">
                <a:noFill/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F1A13B18-F5ED-4611-8DBB-F05123AFBA22}" type="datetimeFigureOut">
              <a:rPr lang="en-GB" smtClean="0"/>
              <a:pPr/>
              <a:t>24/04/2023</a:t>
            </a:fld>
            <a:endParaRPr lang="en-GB" dirty="0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D01B1D99-4B52-4731-AEC4-C722464A7D1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A13B18-F5ED-4611-8DBB-F05123AFBA22}" type="datetimeFigureOut">
              <a:rPr lang="en-GB" smtClean="0"/>
              <a:pPr/>
              <a:t>24/04/2023</a:t>
            </a:fld>
            <a:endParaRPr lang="en-GB" dirty="0"/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F5FCEDFC-AE26-4F9F-9153-1837190678E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12" name="Slide Number Placeholder 11">
            <a:extLst>
              <a:ext uri="{FF2B5EF4-FFF2-40B4-BE49-F238E27FC236}">
                <a16:creationId xmlns:a16="http://schemas.microsoft.com/office/drawing/2014/main" id="{4B452C39-88DE-4155-8ED8-643714B1A9F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D37B1E-C366-494F-A587-962AD9AABC83}" type="slidenum">
              <a:rPr lang="en-GB" smtClean="0"/>
              <a:pPr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198522577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09600" y="1600201"/>
            <a:ext cx="10972800" cy="4525963"/>
          </a:xfrm>
          <a:prstGeom prst="rect">
            <a:avLst/>
          </a:prstGeom>
        </p:spPr>
        <p:txBody>
          <a:bodyPr/>
          <a:lstStyle>
            <a:lvl1pPr>
              <a:spcBef>
                <a:spcPts val="600"/>
              </a:spcBef>
              <a:spcAft>
                <a:spcPts val="600"/>
              </a:spcAft>
              <a:buFont typeface="Wingdings" charset="2"/>
              <a:buChar char="²"/>
              <a:defRPr sz="2400">
                <a:solidFill>
                  <a:srgbClr val="46424D"/>
                </a:solidFill>
                <a:latin typeface="Arial"/>
                <a:cs typeface="Arial"/>
              </a:defRPr>
            </a:lvl1pPr>
            <a:lvl2pPr>
              <a:spcBef>
                <a:spcPts val="300"/>
              </a:spcBef>
              <a:spcAft>
                <a:spcPts val="300"/>
              </a:spcAft>
              <a:buFont typeface="Wingdings" charset="2"/>
              <a:buChar char="§"/>
              <a:defRPr sz="2000">
                <a:solidFill>
                  <a:srgbClr val="46424D"/>
                </a:solidFill>
                <a:latin typeface="Arial"/>
                <a:cs typeface="Arial"/>
              </a:defRPr>
            </a:lvl2pPr>
            <a:lvl3pPr>
              <a:defRPr sz="1800">
                <a:solidFill>
                  <a:srgbClr val="46424D"/>
                </a:solidFill>
                <a:latin typeface="Arial"/>
                <a:cs typeface="Arial"/>
              </a:defRPr>
            </a:lvl3pPr>
            <a:lvl4pPr>
              <a:defRPr sz="1800">
                <a:solidFill>
                  <a:srgbClr val="46424D"/>
                </a:solidFill>
                <a:latin typeface="Arial"/>
                <a:cs typeface="Arial"/>
              </a:defRPr>
            </a:lvl4pPr>
            <a:lvl5pPr>
              <a:defRPr sz="1800">
                <a:solidFill>
                  <a:srgbClr val="46424D"/>
                </a:solidFill>
                <a:latin typeface="Arial"/>
                <a:cs typeface="Arial"/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/>
              <a:t>Chapter 1 Introduction</a:t>
            </a:r>
            <a:endParaRPr lang="en-US" dirty="0"/>
          </a:p>
        </p:txBody>
      </p:sp>
      <p:sp>
        <p:nvSpPr>
          <p:cNvPr id="8" name="Date Placeholder 7"/>
          <p:cNvSpPr>
            <a:spLocks noGrp="1"/>
          </p:cNvSpPr>
          <p:nvPr>
            <p:ph type="dt" sz="half" idx="11"/>
          </p:nvPr>
        </p:nvSpPr>
        <p:spPr/>
        <p:txBody>
          <a:bodyPr/>
          <a:lstStyle/>
          <a:p>
            <a:r>
              <a:rPr lang="en-GB"/>
              <a:t>30/10/2014</a:t>
            </a:r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5CD492-2BC6-F348-9965-EC1D86DF57A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58200315"/>
      </p:ext>
    </p:extLst>
  </p:cSld>
  <p:clrMapOvr>
    <a:masterClrMapping/>
  </p:clrMapOvr>
  <p:transition spd="med">
    <p:wipe dir="r"/>
  </p:transition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image" Target="../media/image1.bin"/><Relationship Id="rId2" Type="http://schemas.openxmlformats.org/officeDocument/2006/relationships/slideLayout" Target="../slideLayouts/slideLayout2.xml"/><Relationship Id="rId16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10400" y="1028247"/>
            <a:ext cx="11379347" cy="1602672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/>
          <a:p>
            <a:r>
              <a:rPr lang="en-GB" dirty="0"/>
              <a:t>Klik for at redigere i master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10400" y="3369040"/>
            <a:ext cx="11371905" cy="2472960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/>
          <a:p>
            <a:pPr lvl="0"/>
            <a:r>
              <a:rPr lang="en-GB" dirty="0"/>
              <a:t>Første niveau, bullet 16 </a:t>
            </a:r>
            <a:r>
              <a:rPr lang="en-GB" dirty="0" err="1"/>
              <a:t>pkt</a:t>
            </a:r>
            <a:endParaRPr lang="en-GB" dirty="0"/>
          </a:p>
          <a:p>
            <a:pPr lvl="1"/>
            <a:r>
              <a:rPr lang="en-GB" dirty="0"/>
              <a:t>Andet niveau, bullet 14 </a:t>
            </a:r>
            <a:r>
              <a:rPr lang="en-GB" dirty="0" err="1"/>
              <a:t>pkt</a:t>
            </a:r>
            <a:endParaRPr lang="en-GB" dirty="0"/>
          </a:p>
          <a:p>
            <a:pPr lvl="2"/>
            <a:r>
              <a:rPr lang="en-GB" dirty="0"/>
              <a:t>Tredje niveau, bullet 12 </a:t>
            </a:r>
            <a:r>
              <a:rPr lang="en-GB" dirty="0" err="1"/>
              <a:t>pkt</a:t>
            </a:r>
            <a:endParaRPr lang="en-GB" dirty="0"/>
          </a:p>
          <a:p>
            <a:pPr lvl="3"/>
            <a:r>
              <a:rPr lang="en-GB" dirty="0"/>
              <a:t>Fjerde niveau, Header bold 16 </a:t>
            </a:r>
            <a:r>
              <a:rPr lang="en-GB" dirty="0" err="1"/>
              <a:t>pkt</a:t>
            </a:r>
            <a:endParaRPr lang="en-GB" dirty="0"/>
          </a:p>
          <a:p>
            <a:pPr lvl="4"/>
            <a:r>
              <a:rPr lang="en-GB" dirty="0"/>
              <a:t>Femte niveau, Body </a:t>
            </a:r>
            <a:r>
              <a:rPr lang="en-GB" dirty="0" err="1"/>
              <a:t>regular</a:t>
            </a:r>
            <a:r>
              <a:rPr lang="en-GB" dirty="0"/>
              <a:t> 16 </a:t>
            </a:r>
            <a:r>
              <a:rPr lang="en-GB" dirty="0" err="1"/>
              <a:t>pkt</a:t>
            </a:r>
            <a:endParaRPr lang="en-GB" dirty="0"/>
          </a:p>
          <a:p>
            <a:pPr lvl="5"/>
            <a:r>
              <a:rPr lang="en-GB" dirty="0"/>
              <a:t>Sjette niveau, bullet 12 </a:t>
            </a:r>
            <a:r>
              <a:rPr lang="en-GB" dirty="0" err="1"/>
              <a:t>pkt</a:t>
            </a:r>
            <a:endParaRPr lang="en-GB" dirty="0"/>
          </a:p>
          <a:p>
            <a:pPr lvl="6"/>
            <a:r>
              <a:rPr lang="en-GB" dirty="0"/>
              <a:t>Syvende niveau, bullet 12 </a:t>
            </a:r>
            <a:r>
              <a:rPr lang="en-GB" dirty="0" err="1"/>
              <a:t>pkt</a:t>
            </a:r>
            <a:r>
              <a:rPr lang="en-GB" dirty="0"/>
              <a:t> (indryk 1 gang)</a:t>
            </a:r>
            <a:endParaRPr lang="en-GB"/>
          </a:p>
          <a:p>
            <a:pPr lvl="7"/>
            <a:r>
              <a:rPr lang="en-GB" dirty="0"/>
              <a:t>Ottende niveau, Header bold, 12 </a:t>
            </a:r>
            <a:r>
              <a:rPr lang="en-GB" dirty="0" err="1"/>
              <a:t>pkt</a:t>
            </a:r>
            <a:endParaRPr lang="en-GB" dirty="0"/>
          </a:p>
          <a:p>
            <a:pPr lvl="8"/>
            <a:r>
              <a:rPr lang="en-GB" dirty="0"/>
              <a:t>Niende niveau, Body </a:t>
            </a:r>
            <a:r>
              <a:rPr lang="en-GB" dirty="0" err="1"/>
              <a:t>regular</a:t>
            </a:r>
            <a:r>
              <a:rPr lang="en-GB" dirty="0"/>
              <a:t>, 12 </a:t>
            </a:r>
            <a:r>
              <a:rPr lang="en-GB" dirty="0" err="1"/>
              <a:t>pkt</a:t>
            </a:r>
            <a:endParaRPr lang="en-GB" dirty="0"/>
          </a:p>
        </p:txBody>
      </p:sp>
      <p:sp>
        <p:nvSpPr>
          <p:cNvPr id="5" name="OFF_institute"/>
          <p:cNvSpPr>
            <a:spLocks noGrp="1"/>
          </p:cNvSpPr>
          <p:nvPr>
            <p:ph type="ftr" sz="quarter" idx="3"/>
          </p:nvPr>
        </p:nvSpPr>
        <p:spPr>
          <a:xfrm>
            <a:off x="6915600" y="6376129"/>
            <a:ext cx="2240432" cy="180000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>
            <a:lvl1pPr algn="r">
              <a:defRPr sz="1000" b="0" cap="none" baseline="0">
                <a:solidFill>
                  <a:schemeClr val="tx1"/>
                </a:solidFill>
              </a:defRPr>
            </a:lvl1pPr>
          </a:lstStyle>
          <a:p>
            <a:endParaRPr lang="en-GB" dirty="0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D9C3F3D4-B958-489D-8401-2859D15536DE}"/>
              </a:ext>
            </a:extLst>
          </p:cNvPr>
          <p:cNvSpPr/>
          <p:nvPr userDrawn="1"/>
        </p:nvSpPr>
        <p:spPr>
          <a:xfrm rot="5400000">
            <a:off x="11480800" y="721379"/>
            <a:ext cx="914400" cy="376518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b" anchorCtr="0"/>
          <a:lstStyle/>
          <a:p>
            <a:pPr algn="l"/>
            <a:r>
              <a:rPr lang="en-GB" sz="1100" b="1" noProof="1">
                <a:solidFill>
                  <a:schemeClr val="tx1"/>
                </a:solidFill>
              </a:rPr>
              <a:t>sdu.dk</a:t>
            </a:r>
            <a:endParaRPr lang="en-GB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EDAD2A31-35D3-4D5D-AA2D-C72C49CA7FB0}"/>
              </a:ext>
            </a:extLst>
          </p:cNvPr>
          <p:cNvSpPr/>
          <p:nvPr userDrawn="1"/>
        </p:nvSpPr>
        <p:spPr>
          <a:xfrm rot="5400000">
            <a:off x="11482792" y="2027544"/>
            <a:ext cx="914400" cy="376518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b" anchorCtr="0"/>
          <a:lstStyle/>
          <a:p>
            <a:pPr algn="l"/>
            <a:r>
              <a:rPr lang="en-GB" sz="1100" b="1" noProof="1">
                <a:solidFill>
                  <a:schemeClr val="tx1"/>
                </a:solidFill>
              </a:rPr>
              <a:t>#sdudk</a:t>
            </a:r>
            <a:endParaRPr lang="en-GB"/>
          </a:p>
        </p:txBody>
      </p:sp>
      <p:sp>
        <p:nvSpPr>
          <p:cNvPr id="15" name="Date Placeholder 14">
            <a:extLst>
              <a:ext uri="{FF2B5EF4-FFF2-40B4-BE49-F238E27FC236}">
                <a16:creationId xmlns:a16="http://schemas.microsoft.com/office/drawing/2014/main" id="{A56ADEC3-98E1-4CEA-9AF5-46F4CDD2FA7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0" y="6912000"/>
            <a:ext cx="0" cy="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">
                <a:noFill/>
              </a:defRPr>
            </a:lvl1pPr>
          </a:lstStyle>
          <a:p>
            <a:fld id="{F1A13B18-F5ED-4611-8DBB-F05123AFBA22}" type="datetimeFigureOut">
              <a:rPr lang="en-GB" smtClean="0"/>
              <a:pPr/>
              <a:t>24/04/2023</a:t>
            </a:fld>
            <a:endParaRPr lang="en-GB" dirty="0"/>
          </a:p>
        </p:txBody>
      </p:sp>
      <p:pic>
        <p:nvPicPr>
          <p:cNvPr id="25" name="Logo black">
            <a:extLst>
              <a:ext uri="{FF2B5EF4-FFF2-40B4-BE49-F238E27FC236}">
                <a16:creationId xmlns:a16="http://schemas.microsoft.com/office/drawing/2014/main" id="{860AC4C2-E6D6-4DCE-950A-C298C0AE9B87}"/>
              </a:ext>
            </a:extLst>
          </p:cNvPr>
          <p:cNvPicPr>
            <a:picLocks noChangeAspect="1"/>
          </p:cNvPicPr>
          <p:nvPr userDrawn="1"/>
        </p:nvPicPr>
        <p:blipFill>
          <a:blip r:embed="rId1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03346" y="6294893"/>
            <a:ext cx="784800" cy="211840"/>
          </a:xfrm>
          <a:prstGeom prst="rect">
            <a:avLst/>
          </a:prstGeom>
        </p:spPr>
      </p:pic>
      <p:cxnSp>
        <p:nvCxnSpPr>
          <p:cNvPr id="27" name="Straight Connector 26">
            <a:extLst>
              <a:ext uri="{FF2B5EF4-FFF2-40B4-BE49-F238E27FC236}">
                <a16:creationId xmlns:a16="http://schemas.microsoft.com/office/drawing/2014/main" id="{C6C4C210-3CAD-4E96-8F10-9CD4863FC9B7}"/>
              </a:ext>
            </a:extLst>
          </p:cNvPr>
          <p:cNvCxnSpPr>
            <a:cxnSpLocks/>
          </p:cNvCxnSpPr>
          <p:nvPr userDrawn="1"/>
        </p:nvCxnSpPr>
        <p:spPr>
          <a:xfrm>
            <a:off x="410400" y="715665"/>
            <a:ext cx="699211" cy="0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8" name="date" descr="{&quot;templafy&quot;:{&quot;id&quot;:&quot;d572fa25-8edd-43b8-9b55-27d872b6b1fc&quot;}}" title="Form.Date">
            <a:extLst>
              <a:ext uri="{FF2B5EF4-FFF2-40B4-BE49-F238E27FC236}">
                <a16:creationId xmlns:a16="http://schemas.microsoft.com/office/drawing/2014/main" id="{8A346F21-C2D9-45A4-B26D-7DDC2CEB9FB7}"/>
              </a:ext>
            </a:extLst>
          </p:cNvPr>
          <p:cNvSpPr/>
          <p:nvPr userDrawn="1"/>
        </p:nvSpPr>
        <p:spPr>
          <a:xfrm>
            <a:off x="9156032" y="6349384"/>
            <a:ext cx="2624806" cy="180085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t" anchorCtr="0"/>
          <a:lstStyle/>
          <a:p>
            <a:pPr algn="r"/>
            <a:r>
              <a:rPr lang="en-GB" sz="1200" b="0" dirty="0">
                <a:solidFill>
                  <a:schemeClr val="tx1"/>
                </a:solidFill>
              </a:rPr>
              <a:t>September 2020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0" y="6912000"/>
            <a:ext cx="0" cy="0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>
            <a:lvl1pPr algn="ctr">
              <a:defRPr sz="100">
                <a:noFill/>
              </a:defRPr>
            </a:lvl1pPr>
          </a:lstStyle>
          <a:p>
            <a:fld id="{45D37B1E-C366-494F-A587-962AD9AABC83}" type="slidenum">
              <a:rPr lang="en-GB" smtClean="0"/>
              <a:pPr/>
              <a:t>‹#›</a:t>
            </a:fld>
            <a:endParaRPr lang="en-GB" dirty="0"/>
          </a:p>
        </p:txBody>
      </p:sp>
      <p:sp>
        <p:nvSpPr>
          <p:cNvPr id="18" name="Date Placeholder 14">
            <a:extLst>
              <a:ext uri="{FF2B5EF4-FFF2-40B4-BE49-F238E27FC236}">
                <a16:creationId xmlns:a16="http://schemas.microsoft.com/office/drawing/2014/main" id="{7DF98717-AAEA-4E2B-96B8-AAAFF896C0EA}"/>
              </a:ext>
            </a:extLst>
          </p:cNvPr>
          <p:cNvSpPr txBox="1">
            <a:spLocks/>
          </p:cNvSpPr>
          <p:nvPr userDrawn="1"/>
        </p:nvSpPr>
        <p:spPr>
          <a:xfrm>
            <a:off x="0" y="6912000"/>
            <a:ext cx="0" cy="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l" defTabSz="914400" rtl="0" eaLnBrk="1" latinLnBrk="0" hangingPunct="1">
              <a:defRPr sz="100" kern="1200">
                <a:noFill/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F1A13B18-F5ED-4611-8DBB-F05123AFBA22}" type="datetimeFigureOut">
              <a:rPr lang="en-GB" smtClean="0"/>
              <a:pPr/>
              <a:t>24/04/2023</a:t>
            </a:fld>
            <a:endParaRPr lang="en-GB" dirty="0"/>
          </a:p>
        </p:txBody>
      </p:sp>
      <p:sp>
        <p:nvSpPr>
          <p:cNvPr id="13" name="text" descr="{&quot;templafy&quot;:{&quot;id&quot;:&quot;bbb50dc8-a7c0-4554-930d-663460fed123&quot;}}" title="UserProfile.Institut.InstituteDCU_{{DocumentLanguage}}">
            <a:extLst>
              <a:ext uri="{FF2B5EF4-FFF2-40B4-BE49-F238E27FC236}">
                <a16:creationId xmlns:a16="http://schemas.microsoft.com/office/drawing/2014/main" id="{125E96D5-3BB9-422E-861E-C7C7A150AD68}"/>
              </a:ext>
            </a:extLst>
          </p:cNvPr>
          <p:cNvSpPr txBox="1">
            <a:spLocks/>
          </p:cNvSpPr>
          <p:nvPr userDrawn="1"/>
        </p:nvSpPr>
        <p:spPr>
          <a:xfrm>
            <a:off x="411163" y="450893"/>
            <a:ext cx="5684837" cy="284778"/>
          </a:xfrm>
          <a:prstGeom prst="rect">
            <a:avLst/>
          </a:prstGeom>
          <a:noFill/>
        </p:spPr>
        <p:txBody>
          <a:bodyPr wrap="square" lIns="10800" tIns="0" rIns="0" bIns="90000" anchor="b" anchorCtr="0">
            <a:sp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0"/>
              </a:spcBef>
              <a:buFont typeface="Arial" panose="020B0604020202020204" pitchFamily="34" charset="0"/>
              <a:buNone/>
              <a:defRPr sz="14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GB" dirty="0"/>
              <a:t>The Maersk Mc-Kinney Moller Institute</a:t>
            </a:r>
          </a:p>
        </p:txBody>
      </p:sp>
    </p:spTree>
    <p:extLst>
      <p:ext uri="{BB962C8B-B14F-4D97-AF65-F5344CB8AC3E}">
        <p14:creationId xmlns:p14="http://schemas.microsoft.com/office/powerpoint/2010/main" val="214352210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9" r:id="rId1"/>
    <p:sldLayoutId id="2147483681" r:id="rId2"/>
    <p:sldLayoutId id="2147483680" r:id="rId3"/>
    <p:sldLayoutId id="2147483688" r:id="rId4"/>
    <p:sldLayoutId id="2147483690" r:id="rId5"/>
    <p:sldLayoutId id="2147483686" r:id="rId6"/>
    <p:sldLayoutId id="2147483692" r:id="rId7"/>
    <p:sldLayoutId id="2147483682" r:id="rId8"/>
    <p:sldLayoutId id="2147483689" r:id="rId9"/>
    <p:sldLayoutId id="2147483676" r:id="rId10"/>
    <p:sldLayoutId id="2147483654" r:id="rId11"/>
    <p:sldLayoutId id="2147483685" r:id="rId12"/>
    <p:sldLayoutId id="2147483691" r:id="rId13"/>
    <p:sldLayoutId id="2147483662" r:id="rId14"/>
    <p:sldLayoutId id="2147483693" r:id="rId15"/>
  </p:sldLayoutIdLst>
  <p:hf hdr="0"/>
  <p:txStyles>
    <p:titleStyle>
      <a:lvl1pPr algn="l" defTabSz="914400" rtl="0" eaLnBrk="1" latinLnBrk="0" hangingPunct="1">
        <a:lnSpc>
          <a:spcPct val="97000"/>
        </a:lnSpc>
        <a:spcBef>
          <a:spcPct val="0"/>
        </a:spcBef>
        <a:buNone/>
        <a:tabLst>
          <a:tab pos="1438275" algn="l"/>
        </a:tabLst>
        <a:defRPr sz="3600" b="1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52000" indent="-252000" algn="l" defTabSz="914400" rtl="0" eaLnBrk="1" latinLnBrk="0" hangingPunct="1">
        <a:lnSpc>
          <a:spcPct val="110000"/>
        </a:lnSpc>
        <a:spcBef>
          <a:spcPts val="0"/>
        </a:spcBef>
        <a:buFont typeface="Wingdings" panose="05000000000000000000" pitchFamily="2" charset="2"/>
        <a:buChar char=""/>
        <a:defRPr sz="1600" kern="1200">
          <a:solidFill>
            <a:schemeClr val="tx1"/>
          </a:solidFill>
          <a:latin typeface="+mn-lt"/>
          <a:ea typeface="+mn-ea"/>
          <a:cs typeface="+mn-cs"/>
        </a:defRPr>
      </a:lvl1pPr>
      <a:lvl2pPr marL="504000" indent="-252000" algn="l" defTabSz="914400" rtl="0" eaLnBrk="1" latinLnBrk="0" hangingPunct="1">
        <a:lnSpc>
          <a:spcPct val="110000"/>
        </a:lnSpc>
        <a:spcBef>
          <a:spcPts val="0"/>
        </a:spcBef>
        <a:buFont typeface="Wingdings" panose="05000000000000000000" pitchFamily="2" charset="2"/>
        <a:buChar char="à"/>
        <a:defRPr sz="1400" kern="1200">
          <a:solidFill>
            <a:schemeClr val="tx1"/>
          </a:solidFill>
          <a:latin typeface="+mn-lt"/>
          <a:ea typeface="+mn-ea"/>
          <a:cs typeface="+mn-cs"/>
        </a:defRPr>
      </a:lvl2pPr>
      <a:lvl3pPr marL="756000" indent="-252000" algn="l" defTabSz="914400" rtl="0" eaLnBrk="1" latinLnBrk="0" hangingPunct="1">
        <a:lnSpc>
          <a:spcPct val="110000"/>
        </a:lnSpc>
        <a:spcBef>
          <a:spcPts val="0"/>
        </a:spcBef>
        <a:buFont typeface="Wingdings" panose="05000000000000000000" pitchFamily="2" charset="2"/>
        <a:buChar char="à"/>
        <a:defRPr sz="1200" kern="1200">
          <a:solidFill>
            <a:schemeClr val="tx1"/>
          </a:solidFill>
          <a:latin typeface="+mn-lt"/>
          <a:ea typeface="+mn-ea"/>
          <a:cs typeface="+mn-cs"/>
        </a:defRPr>
      </a:lvl3pPr>
      <a:lvl4pPr marL="0" indent="0" algn="l" defTabSz="914400" rtl="0" eaLnBrk="1" latinLnBrk="0" hangingPunct="1">
        <a:lnSpc>
          <a:spcPct val="110000"/>
        </a:lnSpc>
        <a:spcBef>
          <a:spcPts val="0"/>
        </a:spcBef>
        <a:spcAft>
          <a:spcPts val="1200"/>
        </a:spcAft>
        <a:buFont typeface="Arial" panose="020B0604020202020204" pitchFamily="34" charset="0"/>
        <a:buChar char="​"/>
        <a:defRPr sz="1600" b="1" kern="1200">
          <a:solidFill>
            <a:schemeClr val="tx1"/>
          </a:solidFill>
          <a:latin typeface="+mn-lt"/>
          <a:ea typeface="+mn-ea"/>
          <a:cs typeface="+mn-cs"/>
        </a:defRPr>
      </a:lvl4pPr>
      <a:lvl5pPr marL="0" indent="0" algn="l" defTabSz="914400" rtl="0" eaLnBrk="1" latinLnBrk="0" hangingPunct="1">
        <a:lnSpc>
          <a:spcPct val="110000"/>
        </a:lnSpc>
        <a:spcBef>
          <a:spcPts val="0"/>
        </a:spcBef>
        <a:buFont typeface="Arial" panose="020B0604020202020204" pitchFamily="34" charset="0"/>
        <a:buChar char="​"/>
        <a:defRPr sz="1600" kern="1200" baseline="0">
          <a:solidFill>
            <a:schemeClr val="tx1"/>
          </a:solidFill>
          <a:latin typeface="+mn-lt"/>
          <a:ea typeface="+mn-ea"/>
          <a:cs typeface="+mn-cs"/>
        </a:defRPr>
      </a:lvl5pPr>
      <a:lvl6pPr marL="252000" indent="-252000" algn="l" defTabSz="914400" rtl="0" eaLnBrk="1" latinLnBrk="0" hangingPunct="1">
        <a:lnSpc>
          <a:spcPct val="110000"/>
        </a:lnSpc>
        <a:spcBef>
          <a:spcPts val="0"/>
        </a:spcBef>
        <a:buFont typeface="Wingdings" panose="05000000000000000000" pitchFamily="2" charset="2"/>
        <a:buChar char="à"/>
        <a:defRPr sz="1200" kern="1200" baseline="0">
          <a:solidFill>
            <a:schemeClr val="tx1"/>
          </a:solidFill>
          <a:latin typeface="+mn-lt"/>
          <a:ea typeface="+mn-ea"/>
          <a:cs typeface="+mn-cs"/>
        </a:defRPr>
      </a:lvl6pPr>
      <a:lvl7pPr marL="504000" indent="-252000" algn="l" defTabSz="914400" rtl="0" eaLnBrk="1" latinLnBrk="0" hangingPunct="1">
        <a:lnSpc>
          <a:spcPct val="110000"/>
        </a:lnSpc>
        <a:spcBef>
          <a:spcPts val="0"/>
        </a:spcBef>
        <a:buFont typeface="Wingdings" panose="05000000000000000000" pitchFamily="2" charset="2"/>
        <a:buChar char="à"/>
        <a:defRPr sz="1200" kern="1200">
          <a:solidFill>
            <a:schemeClr val="tx1"/>
          </a:solidFill>
          <a:latin typeface="+mn-lt"/>
          <a:ea typeface="+mn-ea"/>
          <a:cs typeface="+mn-cs"/>
        </a:defRPr>
      </a:lvl7pPr>
      <a:lvl8pPr marL="0" indent="0" algn="l" defTabSz="914400" rtl="0" eaLnBrk="1" latinLnBrk="0" hangingPunct="1">
        <a:lnSpc>
          <a:spcPct val="110000"/>
        </a:lnSpc>
        <a:spcBef>
          <a:spcPts val="0"/>
        </a:spcBef>
        <a:spcAft>
          <a:spcPts val="1200"/>
        </a:spcAft>
        <a:buFont typeface="Arial" panose="020B0604020202020204" pitchFamily="34" charset="0"/>
        <a:buChar char="​"/>
        <a:defRPr sz="1200" b="1" kern="1200">
          <a:solidFill>
            <a:schemeClr val="tx1"/>
          </a:solidFill>
          <a:latin typeface="+mn-lt"/>
          <a:ea typeface="+mn-ea"/>
          <a:cs typeface="+mn-cs"/>
        </a:defRPr>
      </a:lvl8pPr>
      <a:lvl9pPr marL="0" indent="0" algn="l" defTabSz="914400" rtl="0" eaLnBrk="1" latinLnBrk="0" hangingPunct="1">
        <a:lnSpc>
          <a:spcPct val="110000"/>
        </a:lnSpc>
        <a:spcBef>
          <a:spcPts val="0"/>
        </a:spcBef>
        <a:buFont typeface="Arial" panose="020B0604020202020204" pitchFamily="34" charset="0"/>
        <a:buChar char="​"/>
        <a:defRPr sz="12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3" orient="horz" pos="285" userDrawn="1">
          <p15:clr>
            <a:srgbClr val="F26B43"/>
          </p15:clr>
        </p15:guide>
        <p15:guide id="4" orient="horz" pos="1071" userDrawn="1">
          <p15:clr>
            <a:srgbClr val="F26B43"/>
          </p15:clr>
        </p15:guide>
        <p15:guide id="5" pos="259" userDrawn="1">
          <p15:clr>
            <a:srgbClr val="F26B43"/>
          </p15:clr>
        </p15:guide>
        <p15:guide id="6" pos="7421" userDrawn="1">
          <p15:clr>
            <a:srgbClr val="F26B43"/>
          </p15:clr>
        </p15:guide>
        <p15:guide id="7" orient="horz" pos="1253" userDrawn="1">
          <p15:clr>
            <a:srgbClr val="F26B43"/>
          </p15:clr>
        </p15:guide>
        <p15:guide id="8" orient="horz" pos="3680" userDrawn="1">
          <p15:clr>
            <a:srgbClr val="F26B43"/>
          </p15:clr>
        </p15:guide>
        <p15:guide id="9" orient="horz" pos="3916" userDrawn="1">
          <p15:clr>
            <a:srgbClr val="F26B43"/>
          </p15:clr>
        </p15:guide>
        <p15:guide id="10" orient="horz" pos="4094" userDrawn="1">
          <p15:clr>
            <a:srgbClr val="F26B43"/>
          </p15:clr>
        </p15:guide>
        <p15:guide id="11" pos="545" userDrawn="1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tags" Target="../tags/tag1.xml"/><Relationship Id="rId2" Type="http://schemas.openxmlformats.org/officeDocument/2006/relationships/customXml" Target="../../customXml/item19.xml"/><Relationship Id="rId1" Type="http://schemas.openxmlformats.org/officeDocument/2006/relationships/customXml" Target="../../customXml/item2.xml"/><Relationship Id="rId6" Type="http://schemas.openxmlformats.org/officeDocument/2006/relationships/image" Target="../media/image3.png"/><Relationship Id="rId5" Type="http://schemas.openxmlformats.org/officeDocument/2006/relationships/notesSlide" Target="../notesSlides/notesSlide1.xml"/><Relationship Id="rId4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tags" Target="../tags/tag2.xml"/><Relationship Id="rId2" Type="http://schemas.openxmlformats.org/officeDocument/2006/relationships/customXml" Target="../../customXml/item10.xml"/><Relationship Id="rId1" Type="http://schemas.openxmlformats.org/officeDocument/2006/relationships/customXml" Target="../../customXml/item9.xml"/><Relationship Id="rId5" Type="http://schemas.openxmlformats.org/officeDocument/2006/relationships/notesSlide" Target="../notesSlides/notesSlide2.xml"/><Relationship Id="rId4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5.xml"/></Relationships>
</file>

<file path=ppt/slides/_rels/slide9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5.xml"/></Relationships>
</file>

<file path=ppt/slides/_rels/slide9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E28E1C76-9E48-DB9C-8DDF-10E0E3296B1D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E4E3E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tIns="72000" rIns="72000" bIns="72000" rtlCol="0" anchor="ctr"/>
          <a:lstStyle/>
          <a:p>
            <a:pPr algn="ctr"/>
            <a:endParaRPr lang="en-DK" sz="1600" dirty="0" err="1"/>
          </a:p>
        </p:txBody>
      </p:sp>
      <p:sp>
        <p:nvSpPr>
          <p:cNvPr id="8" name="Pladsholder til slidenummer 7"/>
          <p:cNvSpPr>
            <a:spLocks noGrp="1"/>
          </p:cNvSpPr>
          <p:nvPr>
            <p:ph type="sldNum" sz="quarter" idx="4294967295"/>
          </p:nvPr>
        </p:nvSpPr>
        <p:spPr>
          <a:xfrm>
            <a:off x="0" y="6912000"/>
            <a:ext cx="0" cy="0"/>
          </a:xfrm>
        </p:spPr>
        <p:txBody>
          <a:bodyPr/>
          <a:lstStyle/>
          <a:p>
            <a:fld id="{45D37B1E-C366-494F-A587-962AD9AABC83}" type="slidenum">
              <a:rPr lang="en-GB"/>
              <a:pPr/>
              <a:t>1</a:t>
            </a:fld>
            <a:endParaRPr lang="en-GB" dirty="0"/>
          </a:p>
        </p:txBody>
      </p:sp>
      <p:pic>
        <p:nvPicPr>
          <p:cNvPr id="1026" name="Picture 2" descr="Billede">
            <a:extLst>
              <a:ext uri="{FF2B5EF4-FFF2-40B4-BE49-F238E27FC236}">
                <a16:creationId xmlns:a16="http://schemas.microsoft.com/office/drawing/2014/main" id="{3BC26C7F-AEF1-6C7D-F639-24E5DCC5A13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121050" y="-124540"/>
            <a:ext cx="12434099" cy="710708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custDataLst>
      <p:custData r:id="rId1"/>
      <p:custData r:id="rId2"/>
      <p:tags r:id="rId3"/>
    </p:custDataLst>
    <p:extLst>
      <p:ext uri="{BB962C8B-B14F-4D97-AF65-F5344CB8AC3E}">
        <p14:creationId xmlns:p14="http://schemas.microsoft.com/office/powerpoint/2010/main" val="15050169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DDB5404-88DD-4C7D-B8CA-E07E973EF1F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49384" y="1694793"/>
            <a:ext cx="11842616" cy="4135987"/>
          </a:xfrm>
        </p:spPr>
        <p:txBody>
          <a:bodyPr/>
          <a:lstStyle/>
          <a:p>
            <a:br>
              <a:rPr lang="en-GB" sz="2800" dirty="0">
                <a:latin typeface="Consolas" panose="020B0609020204030204" pitchFamily="49" charset="0"/>
              </a:rPr>
            </a:br>
            <a:br>
              <a:rPr lang="en-GB" sz="2800" dirty="0">
                <a:latin typeface="Consolas" panose="020B0609020204030204" pitchFamily="49" charset="0"/>
              </a:rPr>
            </a:br>
            <a:br>
              <a:rPr lang="en-GB" sz="4400" dirty="0">
                <a:latin typeface="Consolas" panose="020B0609020204030204" pitchFamily="49" charset="0"/>
              </a:rPr>
            </a:br>
            <a:br>
              <a:rPr lang="en-GB" sz="4400" dirty="0">
                <a:latin typeface="Consolas" panose="020B0609020204030204" pitchFamily="49" charset="0"/>
              </a:rPr>
            </a:br>
            <a:r>
              <a:rPr lang="en-GB" sz="4400" dirty="0">
                <a:latin typeface="Consolas" panose="020B0609020204030204" pitchFamily="49" charset="0"/>
              </a:rPr>
              <a:t>Code Quality &amp; Testing</a:t>
            </a:r>
            <a:br>
              <a:rPr lang="en-GB" sz="4400" dirty="0">
                <a:latin typeface="Consolas" panose="020B0609020204030204" pitchFamily="49" charset="0"/>
              </a:rPr>
            </a:br>
            <a:br>
              <a:rPr lang="en-GB" sz="4400" dirty="0">
                <a:latin typeface="Consolas" panose="020B0609020204030204" pitchFamily="49" charset="0"/>
              </a:rPr>
            </a:br>
            <a:r>
              <a:rPr lang="en-GB" sz="4400" dirty="0">
                <a:latin typeface="Consolas" panose="020B0609020204030204" pitchFamily="49" charset="0"/>
              </a:rPr>
              <a:t>by Henrik Lange Bendixen</a:t>
            </a:r>
          </a:p>
        </p:txBody>
      </p:sp>
      <p:sp>
        <p:nvSpPr>
          <p:cNvPr id="8" name="Pladsholder til slidenummer 7"/>
          <p:cNvSpPr>
            <a:spLocks noGrp="1"/>
          </p:cNvSpPr>
          <p:nvPr>
            <p:ph type="sldNum" sz="quarter" idx="4294967295"/>
          </p:nvPr>
        </p:nvSpPr>
        <p:spPr>
          <a:xfrm>
            <a:off x="0" y="6912000"/>
            <a:ext cx="0" cy="0"/>
          </a:xfrm>
        </p:spPr>
        <p:txBody>
          <a:bodyPr/>
          <a:lstStyle/>
          <a:p>
            <a:fld id="{45D37B1E-C366-494F-A587-962AD9AABC83}" type="slidenum">
              <a:rPr lang="en-GB"/>
              <a:pPr/>
              <a:t>2</a:t>
            </a:fld>
            <a:endParaRPr lang="en-GB" dirty="0"/>
          </a:p>
        </p:txBody>
      </p:sp>
    </p:spTree>
    <p:custDataLst>
      <p:custData r:id="rId1"/>
      <p:custData r:id="rId2"/>
      <p:tags r:id="rId3"/>
    </p:custDataLst>
    <p:extLst>
      <p:ext uri="{BB962C8B-B14F-4D97-AF65-F5344CB8AC3E}">
        <p14:creationId xmlns:p14="http://schemas.microsoft.com/office/powerpoint/2010/main" val="409678060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8956252-E632-DA56-61F9-AC93032F7A11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DK" dirty="0"/>
              <a:t>Agenda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5C3CB33-39F3-4F23-39A4-E317DDBB79AC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414696" y="1700213"/>
            <a:ext cx="10952580" cy="4501804"/>
          </a:xfrm>
        </p:spPr>
        <p:txBody>
          <a:bodyPr/>
          <a:lstStyle/>
          <a:p>
            <a:r>
              <a:rPr lang="en-GB" dirty="0">
                <a:latin typeface="Helvetica Neue" panose="02000503000000020004" pitchFamily="2" charset="0"/>
              </a:rPr>
              <a:t>Test &amp; Planning strategy</a:t>
            </a:r>
          </a:p>
          <a:p>
            <a:endParaRPr lang="en-GB" dirty="0">
              <a:effectLst/>
              <a:latin typeface="Helvetica Neue" panose="02000503000000020004" pitchFamily="2" charset="0"/>
            </a:endParaRPr>
          </a:p>
          <a:p>
            <a:r>
              <a:rPr lang="en-GB" dirty="0">
                <a:latin typeface="Helvetica Neue" panose="02000503000000020004" pitchFamily="2" charset="0"/>
              </a:rPr>
              <a:t>General Testing methods</a:t>
            </a:r>
          </a:p>
          <a:p>
            <a:pPr lvl="1"/>
            <a:r>
              <a:rPr lang="en-GB" dirty="0">
                <a:effectLst/>
                <a:latin typeface="Helvetica Neue" panose="02000503000000020004" pitchFamily="2" charset="0"/>
              </a:rPr>
              <a:t>Acceptance Test</a:t>
            </a:r>
          </a:p>
          <a:p>
            <a:pPr lvl="1"/>
            <a:r>
              <a:rPr lang="en-GB" dirty="0">
                <a:latin typeface="Helvetica Neue" panose="02000503000000020004" pitchFamily="2" charset="0"/>
              </a:rPr>
              <a:t>Usability Test</a:t>
            </a:r>
          </a:p>
          <a:p>
            <a:pPr lvl="1"/>
            <a:r>
              <a:rPr lang="en-GB" dirty="0">
                <a:effectLst/>
                <a:latin typeface="Helvetica Neue" panose="02000503000000020004" pitchFamily="2" charset="0"/>
              </a:rPr>
              <a:t>Unit Test</a:t>
            </a:r>
          </a:p>
          <a:p>
            <a:pPr lvl="1"/>
            <a:r>
              <a:rPr lang="en-GB" dirty="0">
                <a:latin typeface="Helvetica Neue" panose="02000503000000020004" pitchFamily="2" charset="0"/>
              </a:rPr>
              <a:t>End to end test</a:t>
            </a:r>
          </a:p>
          <a:p>
            <a:pPr lvl="1"/>
            <a:r>
              <a:rPr lang="en-GB" dirty="0">
                <a:effectLst/>
                <a:latin typeface="Helvetica Neue" panose="02000503000000020004" pitchFamily="2" charset="0"/>
              </a:rPr>
              <a:t>Security  Test</a:t>
            </a:r>
          </a:p>
          <a:p>
            <a:pPr lvl="1"/>
            <a:r>
              <a:rPr lang="en-GB" dirty="0">
                <a:latin typeface="Helvetica Neue" panose="02000503000000020004" pitchFamily="2" charset="0"/>
              </a:rPr>
              <a:t>Performance test</a:t>
            </a:r>
          </a:p>
          <a:p>
            <a:pPr lvl="1"/>
            <a:endParaRPr lang="en-GB" dirty="0">
              <a:effectLst/>
              <a:latin typeface="Helvetica Neue" panose="02000503000000020004" pitchFamily="2" charset="0"/>
            </a:endParaRPr>
          </a:p>
          <a:p>
            <a:r>
              <a:rPr lang="en-GB" dirty="0">
                <a:latin typeface="Helvetica Neue" panose="02000503000000020004" pitchFamily="2" charset="0"/>
              </a:rPr>
              <a:t>Web Application test</a:t>
            </a:r>
          </a:p>
          <a:p>
            <a:pPr lvl="1"/>
            <a:r>
              <a:rPr lang="en-GB" dirty="0">
                <a:effectLst/>
                <a:latin typeface="Helvetica Neue" panose="02000503000000020004" pitchFamily="2" charset="0"/>
              </a:rPr>
              <a:t>End to end test</a:t>
            </a:r>
          </a:p>
          <a:p>
            <a:pPr lvl="1"/>
            <a:r>
              <a:rPr lang="en-GB" dirty="0">
                <a:latin typeface="Helvetica Neue" panose="02000503000000020004" pitchFamily="2" charset="0"/>
              </a:rPr>
              <a:t>API testing</a:t>
            </a:r>
            <a:endParaRPr lang="en-GB" dirty="0">
              <a:effectLst/>
              <a:latin typeface="Helvetica Neue" panose="02000503000000020004" pitchFamily="2" charset="0"/>
            </a:endParaRPr>
          </a:p>
          <a:p>
            <a:pPr lvl="1"/>
            <a:r>
              <a:rPr lang="en-GB" dirty="0">
                <a:latin typeface="Helvetica Neue" panose="02000503000000020004" pitchFamily="2" charset="0"/>
              </a:rPr>
              <a:t>Accessibility testing</a:t>
            </a:r>
          </a:p>
          <a:p>
            <a:pPr lvl="1"/>
            <a:endParaRPr lang="en-GB" dirty="0">
              <a:effectLst/>
              <a:latin typeface="Helvetica Neue" panose="02000503000000020004" pitchFamily="2" charset="0"/>
            </a:endParaRPr>
          </a:p>
          <a:p>
            <a:r>
              <a:rPr lang="en-GB" dirty="0">
                <a:latin typeface="Helvetica Neue" panose="02000503000000020004" pitchFamily="2" charset="0"/>
              </a:rPr>
              <a:t>Code Quality Control</a:t>
            </a:r>
            <a:endParaRPr lang="en-GB" dirty="0">
              <a:effectLst/>
              <a:latin typeface="Helvetica Neue" panose="02000503000000020004" pitchFamily="2" charset="0"/>
            </a:endParaRPr>
          </a:p>
          <a:p>
            <a:r>
              <a:rPr lang="en-GB" dirty="0">
                <a:latin typeface="Helvetica Neue" panose="02000503000000020004" pitchFamily="2" charset="0"/>
              </a:rPr>
              <a:t>Test Driven Development</a:t>
            </a:r>
            <a:endParaRPr lang="en-GB" dirty="0">
              <a:effectLst/>
              <a:latin typeface="Helvetica Neue" panose="02000503000000020004" pitchFamily="2" charset="0"/>
            </a:endParaRP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1427F25-92F7-5773-B3BF-8DA005E8C7A4}"/>
              </a:ext>
            </a:extLst>
          </p:cNvPr>
          <p:cNvSpPr>
            <a:spLocks noGrp="1"/>
          </p:cNvSpPr>
          <p:nvPr>
            <p:ph type="dt" sz="half" idx="2"/>
          </p:nvPr>
        </p:nvSpPr>
        <p:spPr/>
        <p:txBody>
          <a:bodyPr/>
          <a:lstStyle/>
          <a:p>
            <a:fld id="{9758CFD2-EED9-094E-A03F-EA9F2E90BA47}" type="datetime1">
              <a:rPr lang="en-GB" smtClean="0"/>
              <a:t>24/04/2023</a:t>
            </a:fld>
            <a:endParaRPr lang="en-GB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CE0CE83-EE4B-E6A8-9E39-6151E9B7A3D0}"/>
              </a:ext>
            </a:extLst>
          </p:cNvPr>
          <p:cNvSpPr>
            <a:spLocks noGrp="1"/>
          </p:cNvSpPr>
          <p:nvPr>
            <p:ph type="ftr" sz="quarter" idx="14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0A348C8-720C-8945-C2AE-DE0866455033}"/>
              </a:ext>
            </a:extLst>
          </p:cNvPr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fld id="{45D37B1E-C366-494F-A587-962AD9AABC83}" type="slidenum">
              <a:rPr lang="en-GB" smtClean="0"/>
              <a:pPr/>
              <a:t>3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44741012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9CBBB199-CEE7-4207-9B94-FABE54697AB5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da-DK" dirty="0"/>
              <a:t>Learning </a:t>
            </a:r>
            <a:r>
              <a:rPr lang="da-DK" dirty="0" err="1"/>
              <a:t>objective</a:t>
            </a:r>
            <a:endParaRPr lang="da-DK" dirty="0"/>
          </a:p>
        </p:txBody>
      </p:sp>
      <p:sp>
        <p:nvSpPr>
          <p:cNvPr id="4" name="Pladsholder til dato 3">
            <a:extLst>
              <a:ext uri="{FF2B5EF4-FFF2-40B4-BE49-F238E27FC236}">
                <a16:creationId xmlns:a16="http://schemas.microsoft.com/office/drawing/2014/main" id="{DF6BBC47-AF93-4B51-BB19-37E8FA70A1FC}"/>
              </a:ext>
            </a:extLst>
          </p:cNvPr>
          <p:cNvSpPr>
            <a:spLocks noGrp="1"/>
          </p:cNvSpPr>
          <p:nvPr>
            <p:ph type="dt" sz="half" idx="2"/>
          </p:nvPr>
        </p:nvSpPr>
        <p:spPr/>
        <p:txBody>
          <a:bodyPr/>
          <a:lstStyle/>
          <a:p>
            <a:fld id="{1D326F97-033E-40DE-A683-79560FFFFEF4}" type="datetime1">
              <a:rPr lang="en-GB" smtClean="0"/>
              <a:t>24/04/2023</a:t>
            </a:fld>
            <a:endParaRPr lang="en-GB" dirty="0"/>
          </a:p>
        </p:txBody>
      </p:sp>
      <p:sp>
        <p:nvSpPr>
          <p:cNvPr id="5" name="Pladsholder til sidefod 4">
            <a:extLst>
              <a:ext uri="{FF2B5EF4-FFF2-40B4-BE49-F238E27FC236}">
                <a16:creationId xmlns:a16="http://schemas.microsoft.com/office/drawing/2014/main" id="{0A4065D9-777F-4BC2-8DA9-0E100CD3446A}"/>
              </a:ext>
            </a:extLst>
          </p:cNvPr>
          <p:cNvSpPr>
            <a:spLocks noGrp="1"/>
          </p:cNvSpPr>
          <p:nvPr>
            <p:ph type="ftr" sz="quarter" idx="14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6" name="Pladsholder til slidenummer 5">
            <a:extLst>
              <a:ext uri="{FF2B5EF4-FFF2-40B4-BE49-F238E27FC236}">
                <a16:creationId xmlns:a16="http://schemas.microsoft.com/office/drawing/2014/main" id="{1971CA48-5488-429E-869D-06623C5E5997}"/>
              </a:ext>
            </a:extLst>
          </p:cNvPr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fld id="{45D37B1E-C366-494F-A587-962AD9AABC83}" type="slidenum">
              <a:rPr lang="en-GB" smtClean="0"/>
              <a:pPr/>
              <a:t>4</a:t>
            </a:fld>
            <a:endParaRPr lang="en-GB" dirty="0"/>
          </a:p>
        </p:txBody>
      </p:sp>
      <p:sp>
        <p:nvSpPr>
          <p:cNvPr id="10" name="Content Placeholder 9">
            <a:extLst>
              <a:ext uri="{FF2B5EF4-FFF2-40B4-BE49-F238E27FC236}">
                <a16:creationId xmlns:a16="http://schemas.microsoft.com/office/drawing/2014/main" id="{040613FC-F94A-0712-DF75-092CF5474396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414696" y="1989138"/>
            <a:ext cx="10952578" cy="3852862"/>
          </a:xfrm>
        </p:spPr>
        <p:txBody>
          <a:bodyPr/>
          <a:lstStyle/>
          <a:p>
            <a:r>
              <a:rPr lang="en-DK" dirty="0"/>
              <a:t>After this lecture, you should be able to plan the required testing level for a given software application.</a:t>
            </a:r>
          </a:p>
        </p:txBody>
      </p:sp>
    </p:spTree>
    <p:extLst>
      <p:ext uri="{BB962C8B-B14F-4D97-AF65-F5344CB8AC3E}">
        <p14:creationId xmlns:p14="http://schemas.microsoft.com/office/powerpoint/2010/main" val="10645489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552FF25E-24BF-4225-87AB-B2869F94CB2B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da-DK"/>
          </a:p>
        </p:txBody>
      </p:sp>
      <p:sp>
        <p:nvSpPr>
          <p:cNvPr id="3" name="Pladsholder til dato 2">
            <a:extLst>
              <a:ext uri="{FF2B5EF4-FFF2-40B4-BE49-F238E27FC236}">
                <a16:creationId xmlns:a16="http://schemas.microsoft.com/office/drawing/2014/main" id="{4C93D788-8D9D-4045-B518-6692018D89DE}"/>
              </a:ext>
            </a:extLst>
          </p:cNvPr>
          <p:cNvSpPr>
            <a:spLocks noGrp="1"/>
          </p:cNvSpPr>
          <p:nvPr>
            <p:ph type="dt" sz="half" idx="2"/>
          </p:nvPr>
        </p:nvSpPr>
        <p:spPr/>
        <p:txBody>
          <a:bodyPr/>
          <a:lstStyle/>
          <a:p>
            <a:fld id="{B4C4C6FD-8607-43FF-8BC8-950EFB970BA3}" type="datetime1">
              <a:rPr lang="en-GB" smtClean="0"/>
              <a:t>24/04/2023</a:t>
            </a:fld>
            <a:endParaRPr lang="en-GB" dirty="0"/>
          </a:p>
        </p:txBody>
      </p:sp>
      <p:sp>
        <p:nvSpPr>
          <p:cNvPr id="4" name="Rektangel 3">
            <a:extLst>
              <a:ext uri="{FF2B5EF4-FFF2-40B4-BE49-F238E27FC236}">
                <a16:creationId xmlns:a16="http://schemas.microsoft.com/office/drawing/2014/main" id="{F994D39F-0217-4BCC-AD0B-429E7605B2F1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tIns="72000" rIns="72000" bIns="72000" rtlCol="0" anchor="ctr"/>
          <a:lstStyle/>
          <a:p>
            <a:pPr algn="ctr"/>
            <a:r>
              <a:rPr lang="da-DK" sz="2800" b="1" dirty="0"/>
              <a:t>Code </a:t>
            </a:r>
            <a:r>
              <a:rPr lang="da-DK" sz="2800" b="1" dirty="0" err="1"/>
              <a:t>Quality</a:t>
            </a:r>
            <a:r>
              <a:rPr lang="da-DK" sz="2800" b="1" dirty="0"/>
              <a:t> in Software Engineering</a:t>
            </a:r>
          </a:p>
        </p:txBody>
      </p:sp>
    </p:spTree>
    <p:extLst>
      <p:ext uri="{BB962C8B-B14F-4D97-AF65-F5344CB8AC3E}">
        <p14:creationId xmlns:p14="http://schemas.microsoft.com/office/powerpoint/2010/main" val="113186902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9CBBB199-CEE7-4207-9B94-FABE54697AB5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da-DK" dirty="0"/>
              <a:t>Software Engineering </a:t>
            </a:r>
            <a:r>
              <a:rPr lang="da-DK" dirty="0" err="1"/>
              <a:t>Process</a:t>
            </a:r>
            <a:endParaRPr lang="da-DK" dirty="0"/>
          </a:p>
        </p:txBody>
      </p:sp>
      <p:sp>
        <p:nvSpPr>
          <p:cNvPr id="4" name="Pladsholder til dato 3">
            <a:extLst>
              <a:ext uri="{FF2B5EF4-FFF2-40B4-BE49-F238E27FC236}">
                <a16:creationId xmlns:a16="http://schemas.microsoft.com/office/drawing/2014/main" id="{DF6BBC47-AF93-4B51-BB19-37E8FA70A1FC}"/>
              </a:ext>
            </a:extLst>
          </p:cNvPr>
          <p:cNvSpPr>
            <a:spLocks noGrp="1"/>
          </p:cNvSpPr>
          <p:nvPr>
            <p:ph type="dt" sz="half" idx="2"/>
          </p:nvPr>
        </p:nvSpPr>
        <p:spPr/>
        <p:txBody>
          <a:bodyPr/>
          <a:lstStyle/>
          <a:p>
            <a:fld id="{1D326F97-033E-40DE-A683-79560FFFFEF4}" type="datetime1">
              <a:rPr lang="en-GB" smtClean="0"/>
              <a:t>24/04/2023</a:t>
            </a:fld>
            <a:endParaRPr lang="en-GB" dirty="0"/>
          </a:p>
        </p:txBody>
      </p:sp>
      <p:sp>
        <p:nvSpPr>
          <p:cNvPr id="5" name="Pladsholder til sidefod 4">
            <a:extLst>
              <a:ext uri="{FF2B5EF4-FFF2-40B4-BE49-F238E27FC236}">
                <a16:creationId xmlns:a16="http://schemas.microsoft.com/office/drawing/2014/main" id="{0A4065D9-777F-4BC2-8DA9-0E100CD3446A}"/>
              </a:ext>
            </a:extLst>
          </p:cNvPr>
          <p:cNvSpPr>
            <a:spLocks noGrp="1"/>
          </p:cNvSpPr>
          <p:nvPr>
            <p:ph type="ftr" sz="quarter" idx="14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6" name="Pladsholder til slidenummer 5">
            <a:extLst>
              <a:ext uri="{FF2B5EF4-FFF2-40B4-BE49-F238E27FC236}">
                <a16:creationId xmlns:a16="http://schemas.microsoft.com/office/drawing/2014/main" id="{1971CA48-5488-429E-869D-06623C5E5997}"/>
              </a:ext>
            </a:extLst>
          </p:cNvPr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fld id="{45D37B1E-C366-494F-A587-962AD9AABC83}" type="slidenum">
              <a:rPr lang="en-GB" smtClean="0"/>
              <a:pPr/>
              <a:t>6</a:t>
            </a:fld>
            <a:endParaRPr lang="en-GB" dirty="0"/>
          </a:p>
        </p:txBody>
      </p:sp>
      <p:sp>
        <p:nvSpPr>
          <p:cNvPr id="10" name="Content Placeholder 9">
            <a:extLst>
              <a:ext uri="{FF2B5EF4-FFF2-40B4-BE49-F238E27FC236}">
                <a16:creationId xmlns:a16="http://schemas.microsoft.com/office/drawing/2014/main" id="{040613FC-F94A-0712-DF75-092CF5474396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414696" y="1989138"/>
            <a:ext cx="10952578" cy="3852862"/>
          </a:xfrm>
        </p:spPr>
        <p:txBody>
          <a:bodyPr/>
          <a:lstStyle/>
          <a:p>
            <a:r>
              <a:rPr lang="en-DK" dirty="0"/>
              <a:t>Quality is built into a lot of steps in software engineering</a:t>
            </a:r>
          </a:p>
          <a:p>
            <a:r>
              <a:rPr lang="en-DK" dirty="0"/>
              <a:t>We typically spend a lot more time testing our code than writing it</a:t>
            </a:r>
          </a:p>
          <a:p>
            <a:endParaRPr lang="en-DK" dirty="0"/>
          </a:p>
          <a:p>
            <a:r>
              <a:rPr lang="en-DK" dirty="0"/>
              <a:t>Software engineering revolves around REQUIREMENTS</a:t>
            </a:r>
          </a:p>
          <a:p>
            <a:endParaRPr lang="en-DK" dirty="0"/>
          </a:p>
          <a:p>
            <a:r>
              <a:rPr lang="en-DK" dirty="0"/>
              <a:t>Requirements are written as part of an agreement</a:t>
            </a:r>
          </a:p>
          <a:p>
            <a:r>
              <a:rPr lang="en-DK" dirty="0"/>
              <a:t>Requirements are either written in the form os user stories or use cases, or related to them</a:t>
            </a:r>
          </a:p>
          <a:p>
            <a:pPr lvl="1"/>
            <a:r>
              <a:rPr lang="en-DK" dirty="0"/>
              <a:t>Functional requirements typically have their own user stories</a:t>
            </a:r>
          </a:p>
          <a:p>
            <a:pPr lvl="1"/>
            <a:r>
              <a:rPr lang="en-DK" dirty="0"/>
              <a:t>Non-functional requirements are often part of a series of user stories or included in the “Definition of Done”</a:t>
            </a:r>
          </a:p>
          <a:p>
            <a:pPr lvl="1"/>
            <a:endParaRPr lang="en-DK" dirty="0"/>
          </a:p>
          <a:p>
            <a:r>
              <a:rPr lang="en-DK" dirty="0"/>
              <a:t>So we write requirements, implement requirements, test requirements</a:t>
            </a:r>
          </a:p>
          <a:p>
            <a:r>
              <a:rPr lang="en-DK" dirty="0"/>
              <a:t>When the test is “accepted” for all requirements, the project is done</a:t>
            </a:r>
          </a:p>
          <a:p>
            <a:pPr lvl="1"/>
            <a:endParaRPr lang="en-DK" dirty="0"/>
          </a:p>
          <a:p>
            <a:endParaRPr lang="en-DK" dirty="0"/>
          </a:p>
        </p:txBody>
      </p:sp>
    </p:spTree>
    <p:extLst>
      <p:ext uri="{BB962C8B-B14F-4D97-AF65-F5344CB8AC3E}">
        <p14:creationId xmlns:p14="http://schemas.microsoft.com/office/powerpoint/2010/main" val="75948786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9CBBB199-CEE7-4207-9B94-FABE54697AB5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da-DK" dirty="0"/>
              <a:t>Software Engineering </a:t>
            </a:r>
            <a:r>
              <a:rPr lang="da-DK" dirty="0" err="1"/>
              <a:t>Process</a:t>
            </a:r>
            <a:endParaRPr lang="da-DK" dirty="0"/>
          </a:p>
        </p:txBody>
      </p:sp>
      <p:sp>
        <p:nvSpPr>
          <p:cNvPr id="4" name="Pladsholder til dato 3">
            <a:extLst>
              <a:ext uri="{FF2B5EF4-FFF2-40B4-BE49-F238E27FC236}">
                <a16:creationId xmlns:a16="http://schemas.microsoft.com/office/drawing/2014/main" id="{DF6BBC47-AF93-4B51-BB19-37E8FA70A1FC}"/>
              </a:ext>
            </a:extLst>
          </p:cNvPr>
          <p:cNvSpPr>
            <a:spLocks noGrp="1"/>
          </p:cNvSpPr>
          <p:nvPr>
            <p:ph type="dt" sz="half" idx="2"/>
          </p:nvPr>
        </p:nvSpPr>
        <p:spPr/>
        <p:txBody>
          <a:bodyPr/>
          <a:lstStyle/>
          <a:p>
            <a:fld id="{1D326F97-033E-40DE-A683-79560FFFFEF4}" type="datetime1">
              <a:rPr lang="en-GB" smtClean="0"/>
              <a:t>24/04/2023</a:t>
            </a:fld>
            <a:endParaRPr lang="en-GB" dirty="0"/>
          </a:p>
        </p:txBody>
      </p:sp>
      <p:sp>
        <p:nvSpPr>
          <p:cNvPr id="5" name="Pladsholder til sidefod 4">
            <a:extLst>
              <a:ext uri="{FF2B5EF4-FFF2-40B4-BE49-F238E27FC236}">
                <a16:creationId xmlns:a16="http://schemas.microsoft.com/office/drawing/2014/main" id="{0A4065D9-777F-4BC2-8DA9-0E100CD3446A}"/>
              </a:ext>
            </a:extLst>
          </p:cNvPr>
          <p:cNvSpPr>
            <a:spLocks noGrp="1"/>
          </p:cNvSpPr>
          <p:nvPr>
            <p:ph type="ftr" sz="quarter" idx="14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6" name="Pladsholder til slidenummer 5">
            <a:extLst>
              <a:ext uri="{FF2B5EF4-FFF2-40B4-BE49-F238E27FC236}">
                <a16:creationId xmlns:a16="http://schemas.microsoft.com/office/drawing/2014/main" id="{1971CA48-5488-429E-869D-06623C5E5997}"/>
              </a:ext>
            </a:extLst>
          </p:cNvPr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fld id="{45D37B1E-C366-494F-A587-962AD9AABC83}" type="slidenum">
              <a:rPr lang="en-GB" smtClean="0"/>
              <a:pPr/>
              <a:t>7</a:t>
            </a:fld>
            <a:endParaRPr lang="en-GB" dirty="0"/>
          </a:p>
        </p:txBody>
      </p:sp>
      <p:sp>
        <p:nvSpPr>
          <p:cNvPr id="10" name="Content Placeholder 9">
            <a:extLst>
              <a:ext uri="{FF2B5EF4-FFF2-40B4-BE49-F238E27FC236}">
                <a16:creationId xmlns:a16="http://schemas.microsoft.com/office/drawing/2014/main" id="{040613FC-F94A-0712-DF75-092CF5474396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414696" y="1989138"/>
            <a:ext cx="10952578" cy="3852862"/>
          </a:xfrm>
        </p:spPr>
        <p:txBody>
          <a:bodyPr/>
          <a:lstStyle/>
          <a:p>
            <a:r>
              <a:rPr lang="en-DK" dirty="0"/>
              <a:t>The engineering process has the following steps:</a:t>
            </a:r>
          </a:p>
          <a:p>
            <a:pPr lvl="1"/>
            <a:r>
              <a:rPr lang="en-DK" dirty="0"/>
              <a:t>Analysis, Design, Build, Test, Deploy, Implement</a:t>
            </a:r>
          </a:p>
          <a:p>
            <a:pPr lvl="1"/>
            <a:endParaRPr lang="en-DK" dirty="0"/>
          </a:p>
          <a:p>
            <a:r>
              <a:rPr lang="en-DK" dirty="0"/>
              <a:t>Even though one phase is named “testing”, test is done in all phases!</a:t>
            </a:r>
          </a:p>
          <a:p>
            <a:pPr lvl="1"/>
            <a:r>
              <a:rPr lang="en-DK" dirty="0"/>
              <a:t>Analysis: What are we going to build (and for who – and what is the criticality of correctness = what is the required quality level)</a:t>
            </a:r>
          </a:p>
          <a:p>
            <a:pPr lvl="1"/>
            <a:r>
              <a:rPr lang="en-DK" dirty="0"/>
              <a:t>Design: How are we going to build it (and how are we going to test it?)</a:t>
            </a:r>
          </a:p>
          <a:p>
            <a:pPr lvl="1"/>
            <a:r>
              <a:rPr lang="en-DK" dirty="0"/>
              <a:t>Build: We actually build and test it</a:t>
            </a:r>
          </a:p>
          <a:p>
            <a:pPr lvl="1"/>
            <a:r>
              <a:rPr lang="en-DK" dirty="0"/>
              <a:t>Test: We test it beyond the test performed by the developer</a:t>
            </a:r>
          </a:p>
          <a:p>
            <a:pPr lvl="1"/>
            <a:r>
              <a:rPr lang="en-DK" dirty="0"/>
              <a:t>Deploy: We smoketest the code deployed before implementing, and typically do 2 weeks of hypercare (error response)</a:t>
            </a:r>
          </a:p>
          <a:p>
            <a:pPr lvl="1"/>
            <a:r>
              <a:rPr lang="en-DK" dirty="0"/>
              <a:t>Implement: We teach the users how to use it (early use can be used as test if monitored)</a:t>
            </a:r>
          </a:p>
          <a:p>
            <a:endParaRPr lang="en-DK" dirty="0"/>
          </a:p>
        </p:txBody>
      </p:sp>
    </p:spTree>
    <p:extLst>
      <p:ext uri="{BB962C8B-B14F-4D97-AF65-F5344CB8AC3E}">
        <p14:creationId xmlns:p14="http://schemas.microsoft.com/office/powerpoint/2010/main" val="36394451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9CBBB199-CEE7-4207-9B94-FABE54697AB5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da-DK" dirty="0"/>
              <a:t>Software Engineering </a:t>
            </a:r>
            <a:r>
              <a:rPr lang="da-DK" dirty="0" err="1"/>
              <a:t>Process</a:t>
            </a:r>
            <a:endParaRPr lang="da-DK" dirty="0"/>
          </a:p>
        </p:txBody>
      </p:sp>
      <p:sp>
        <p:nvSpPr>
          <p:cNvPr id="4" name="Pladsholder til dato 3">
            <a:extLst>
              <a:ext uri="{FF2B5EF4-FFF2-40B4-BE49-F238E27FC236}">
                <a16:creationId xmlns:a16="http://schemas.microsoft.com/office/drawing/2014/main" id="{DF6BBC47-AF93-4B51-BB19-37E8FA70A1FC}"/>
              </a:ext>
            </a:extLst>
          </p:cNvPr>
          <p:cNvSpPr>
            <a:spLocks noGrp="1"/>
          </p:cNvSpPr>
          <p:nvPr>
            <p:ph type="dt" sz="half" idx="2"/>
          </p:nvPr>
        </p:nvSpPr>
        <p:spPr/>
        <p:txBody>
          <a:bodyPr/>
          <a:lstStyle/>
          <a:p>
            <a:fld id="{1D326F97-033E-40DE-A683-79560FFFFEF4}" type="datetime1">
              <a:rPr lang="en-GB" smtClean="0"/>
              <a:t>24/04/2023</a:t>
            </a:fld>
            <a:endParaRPr lang="en-GB" dirty="0"/>
          </a:p>
        </p:txBody>
      </p:sp>
      <p:sp>
        <p:nvSpPr>
          <p:cNvPr id="5" name="Pladsholder til sidefod 4">
            <a:extLst>
              <a:ext uri="{FF2B5EF4-FFF2-40B4-BE49-F238E27FC236}">
                <a16:creationId xmlns:a16="http://schemas.microsoft.com/office/drawing/2014/main" id="{0A4065D9-777F-4BC2-8DA9-0E100CD3446A}"/>
              </a:ext>
            </a:extLst>
          </p:cNvPr>
          <p:cNvSpPr>
            <a:spLocks noGrp="1"/>
          </p:cNvSpPr>
          <p:nvPr>
            <p:ph type="ftr" sz="quarter" idx="14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6" name="Pladsholder til slidenummer 5">
            <a:extLst>
              <a:ext uri="{FF2B5EF4-FFF2-40B4-BE49-F238E27FC236}">
                <a16:creationId xmlns:a16="http://schemas.microsoft.com/office/drawing/2014/main" id="{1971CA48-5488-429E-869D-06623C5E5997}"/>
              </a:ext>
            </a:extLst>
          </p:cNvPr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fld id="{45D37B1E-C366-494F-A587-962AD9AABC83}" type="slidenum">
              <a:rPr lang="en-GB" smtClean="0"/>
              <a:pPr/>
              <a:t>8</a:t>
            </a:fld>
            <a:endParaRPr lang="en-GB" dirty="0"/>
          </a:p>
        </p:txBody>
      </p:sp>
      <p:sp>
        <p:nvSpPr>
          <p:cNvPr id="10" name="Content Placeholder 9">
            <a:extLst>
              <a:ext uri="{FF2B5EF4-FFF2-40B4-BE49-F238E27FC236}">
                <a16:creationId xmlns:a16="http://schemas.microsoft.com/office/drawing/2014/main" id="{040613FC-F94A-0712-DF75-092CF5474396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414696" y="1989138"/>
            <a:ext cx="10952578" cy="4120000"/>
          </a:xfrm>
        </p:spPr>
        <p:txBody>
          <a:bodyPr/>
          <a:lstStyle/>
          <a:p>
            <a:r>
              <a:rPr lang="en-DK" dirty="0"/>
              <a:t>Testing a user story (US). In this example, the user story is the requirement itself.</a:t>
            </a:r>
          </a:p>
          <a:p>
            <a:endParaRPr lang="en-DK" dirty="0"/>
          </a:p>
          <a:p>
            <a:r>
              <a:rPr lang="en-DK" dirty="0"/>
              <a:t>US </a:t>
            </a:r>
            <a:r>
              <a:rPr lang="en-GB" dirty="0"/>
              <a:t>is written and meets definition of ready (</a:t>
            </a:r>
            <a:r>
              <a:rPr lang="en-GB" dirty="0" err="1"/>
              <a:t>DoR</a:t>
            </a:r>
            <a:r>
              <a:rPr lang="en-GB" dirty="0"/>
              <a:t>)</a:t>
            </a:r>
          </a:p>
          <a:p>
            <a:r>
              <a:rPr lang="en-DK" dirty="0"/>
              <a:t>US has a series of Acceptance Criteria</a:t>
            </a:r>
          </a:p>
          <a:p>
            <a:r>
              <a:rPr lang="en-DK" dirty="0"/>
              <a:t>US must meet Definition of Done (DoD)</a:t>
            </a:r>
          </a:p>
          <a:p>
            <a:r>
              <a:rPr lang="en-DK" dirty="0"/>
              <a:t>As code is implemented it is continuously tested locally</a:t>
            </a:r>
          </a:p>
          <a:p>
            <a:r>
              <a:rPr lang="en-DK" dirty="0"/>
              <a:t>Code must include unit tests</a:t>
            </a:r>
          </a:p>
          <a:p>
            <a:pPr lvl="1"/>
            <a:r>
              <a:rPr lang="en-DK" dirty="0"/>
              <a:t>Code might be implemented using Test Driven Development (TDD)</a:t>
            </a:r>
          </a:p>
          <a:p>
            <a:r>
              <a:rPr lang="en-DK" dirty="0"/>
              <a:t>When code works locally, it is tested by a pipeline</a:t>
            </a:r>
          </a:p>
          <a:p>
            <a:r>
              <a:rPr lang="en-DK" dirty="0"/>
              <a:t>When the pipeline approves the code, it is reviewed by a peer developer</a:t>
            </a:r>
          </a:p>
          <a:p>
            <a:r>
              <a:rPr lang="en-DK" dirty="0"/>
              <a:t>Once approved, the developer tests it on a testing environment</a:t>
            </a:r>
          </a:p>
          <a:p>
            <a:r>
              <a:rPr lang="en-DK" dirty="0"/>
              <a:t>After developer test, a peer developer or dedicated tester tests it</a:t>
            </a:r>
          </a:p>
          <a:p>
            <a:r>
              <a:rPr lang="en-DK" dirty="0"/>
              <a:t>Then, a less technical business developer tests it</a:t>
            </a:r>
          </a:p>
          <a:p>
            <a:r>
              <a:rPr lang="en-DK" dirty="0"/>
              <a:t>Once the release is ready, regression testing is done</a:t>
            </a:r>
          </a:p>
          <a:p>
            <a:r>
              <a:rPr lang="en-DK" dirty="0"/>
              <a:t>Once the code is deployed to production, it is tested by real users</a:t>
            </a:r>
          </a:p>
        </p:txBody>
      </p:sp>
    </p:spTree>
    <p:extLst>
      <p:ext uri="{BB962C8B-B14F-4D97-AF65-F5344CB8AC3E}">
        <p14:creationId xmlns:p14="http://schemas.microsoft.com/office/powerpoint/2010/main" val="199152539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9CBBB199-CEE7-4207-9B94-FABE54697AB5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da-DK" dirty="0"/>
              <a:t>Software Engineering </a:t>
            </a:r>
            <a:r>
              <a:rPr lang="da-DK" dirty="0" err="1"/>
              <a:t>Process</a:t>
            </a:r>
            <a:endParaRPr lang="da-DK" dirty="0"/>
          </a:p>
        </p:txBody>
      </p:sp>
      <p:sp>
        <p:nvSpPr>
          <p:cNvPr id="4" name="Pladsholder til dato 3">
            <a:extLst>
              <a:ext uri="{FF2B5EF4-FFF2-40B4-BE49-F238E27FC236}">
                <a16:creationId xmlns:a16="http://schemas.microsoft.com/office/drawing/2014/main" id="{DF6BBC47-AF93-4B51-BB19-37E8FA70A1FC}"/>
              </a:ext>
            </a:extLst>
          </p:cNvPr>
          <p:cNvSpPr>
            <a:spLocks noGrp="1"/>
          </p:cNvSpPr>
          <p:nvPr>
            <p:ph type="dt" sz="half" idx="2"/>
          </p:nvPr>
        </p:nvSpPr>
        <p:spPr/>
        <p:txBody>
          <a:bodyPr/>
          <a:lstStyle/>
          <a:p>
            <a:fld id="{1D326F97-033E-40DE-A683-79560FFFFEF4}" type="datetime1">
              <a:rPr lang="en-GB" smtClean="0"/>
              <a:t>24/04/2023</a:t>
            </a:fld>
            <a:endParaRPr lang="en-GB" dirty="0"/>
          </a:p>
        </p:txBody>
      </p:sp>
      <p:sp>
        <p:nvSpPr>
          <p:cNvPr id="5" name="Pladsholder til sidefod 4">
            <a:extLst>
              <a:ext uri="{FF2B5EF4-FFF2-40B4-BE49-F238E27FC236}">
                <a16:creationId xmlns:a16="http://schemas.microsoft.com/office/drawing/2014/main" id="{0A4065D9-777F-4BC2-8DA9-0E100CD3446A}"/>
              </a:ext>
            </a:extLst>
          </p:cNvPr>
          <p:cNvSpPr>
            <a:spLocks noGrp="1"/>
          </p:cNvSpPr>
          <p:nvPr>
            <p:ph type="ftr" sz="quarter" idx="14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6" name="Pladsholder til slidenummer 5">
            <a:extLst>
              <a:ext uri="{FF2B5EF4-FFF2-40B4-BE49-F238E27FC236}">
                <a16:creationId xmlns:a16="http://schemas.microsoft.com/office/drawing/2014/main" id="{1971CA48-5488-429E-869D-06623C5E5997}"/>
              </a:ext>
            </a:extLst>
          </p:cNvPr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fld id="{45D37B1E-C366-494F-A587-962AD9AABC83}" type="slidenum">
              <a:rPr lang="en-GB" smtClean="0"/>
              <a:pPr/>
              <a:t>9</a:t>
            </a:fld>
            <a:endParaRPr lang="en-GB" dirty="0"/>
          </a:p>
        </p:txBody>
      </p:sp>
      <p:sp>
        <p:nvSpPr>
          <p:cNvPr id="10" name="Content Placeholder 9">
            <a:extLst>
              <a:ext uri="{FF2B5EF4-FFF2-40B4-BE49-F238E27FC236}">
                <a16:creationId xmlns:a16="http://schemas.microsoft.com/office/drawing/2014/main" id="{040613FC-F94A-0712-DF75-092CF5474396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414696" y="1989138"/>
            <a:ext cx="10952578" cy="4120000"/>
          </a:xfrm>
        </p:spPr>
        <p:txBody>
          <a:bodyPr/>
          <a:lstStyle/>
          <a:p>
            <a:r>
              <a:rPr lang="en-DK" dirty="0"/>
              <a:t>We model the software along the way to increase likelihood of passing tests fast:</a:t>
            </a:r>
          </a:p>
          <a:p>
            <a:endParaRPr lang="en-DK" dirty="0"/>
          </a:p>
          <a:p>
            <a:r>
              <a:rPr lang="da-DK" dirty="0" err="1"/>
              <a:t>We</a:t>
            </a:r>
            <a:r>
              <a:rPr lang="da-DK" dirty="0"/>
              <a:t> </a:t>
            </a:r>
            <a:r>
              <a:rPr lang="da-DK" dirty="0" err="1"/>
              <a:t>draw</a:t>
            </a:r>
            <a:r>
              <a:rPr lang="da-DK" dirty="0"/>
              <a:t> user interfaces </a:t>
            </a:r>
            <a:r>
              <a:rPr lang="da-DK" dirty="0" err="1"/>
              <a:t>before</a:t>
            </a:r>
            <a:r>
              <a:rPr lang="da-DK" dirty="0"/>
              <a:t> </a:t>
            </a:r>
            <a:r>
              <a:rPr lang="da-DK" dirty="0" err="1"/>
              <a:t>we</a:t>
            </a:r>
            <a:r>
              <a:rPr lang="da-DK" dirty="0"/>
              <a:t> </a:t>
            </a:r>
            <a:r>
              <a:rPr lang="da-DK" dirty="0" err="1"/>
              <a:t>implement</a:t>
            </a:r>
            <a:r>
              <a:rPr lang="da-DK" dirty="0"/>
              <a:t> </a:t>
            </a:r>
            <a:r>
              <a:rPr lang="da-DK" dirty="0" err="1"/>
              <a:t>them</a:t>
            </a:r>
            <a:endParaRPr lang="da-DK" dirty="0"/>
          </a:p>
          <a:p>
            <a:r>
              <a:rPr lang="da-DK" dirty="0" err="1"/>
              <a:t>We</a:t>
            </a:r>
            <a:r>
              <a:rPr lang="da-DK" dirty="0"/>
              <a:t> </a:t>
            </a:r>
            <a:r>
              <a:rPr lang="da-DK" dirty="0" err="1"/>
              <a:t>make</a:t>
            </a:r>
            <a:r>
              <a:rPr lang="da-DK" dirty="0"/>
              <a:t> prototypes and run user tests on </a:t>
            </a:r>
            <a:r>
              <a:rPr lang="da-DK" dirty="0" err="1"/>
              <a:t>them</a:t>
            </a:r>
            <a:endParaRPr lang="da-DK" dirty="0"/>
          </a:p>
          <a:p>
            <a:r>
              <a:rPr lang="da-DK" dirty="0" err="1"/>
              <a:t>We</a:t>
            </a:r>
            <a:r>
              <a:rPr lang="da-DK" dirty="0"/>
              <a:t> </a:t>
            </a:r>
            <a:r>
              <a:rPr lang="da-DK" dirty="0" err="1"/>
              <a:t>use</a:t>
            </a:r>
            <a:r>
              <a:rPr lang="da-DK" dirty="0"/>
              <a:t> UML models to </a:t>
            </a:r>
            <a:r>
              <a:rPr lang="da-DK" dirty="0" err="1"/>
              <a:t>explain</a:t>
            </a:r>
            <a:r>
              <a:rPr lang="da-DK" dirty="0"/>
              <a:t> </a:t>
            </a:r>
            <a:r>
              <a:rPr lang="da-DK" dirty="0" err="1"/>
              <a:t>our</a:t>
            </a:r>
            <a:r>
              <a:rPr lang="da-DK" dirty="0"/>
              <a:t> </a:t>
            </a:r>
            <a:r>
              <a:rPr lang="da-DK" dirty="0" err="1"/>
              <a:t>implementation</a:t>
            </a:r>
            <a:r>
              <a:rPr lang="da-DK" dirty="0"/>
              <a:t> plan</a:t>
            </a:r>
          </a:p>
          <a:p>
            <a:pPr lvl="1"/>
            <a:r>
              <a:rPr lang="da-DK" dirty="0"/>
              <a:t>Non-</a:t>
            </a:r>
            <a:r>
              <a:rPr lang="da-DK" dirty="0" err="1"/>
              <a:t>technicals</a:t>
            </a:r>
            <a:r>
              <a:rPr lang="da-DK" dirty="0"/>
              <a:t> </a:t>
            </a:r>
            <a:r>
              <a:rPr lang="da-DK" dirty="0" err="1"/>
              <a:t>might</a:t>
            </a:r>
            <a:r>
              <a:rPr lang="da-DK" dirty="0"/>
              <a:t> </a:t>
            </a:r>
            <a:r>
              <a:rPr lang="da-DK" dirty="0" err="1"/>
              <a:t>be</a:t>
            </a:r>
            <a:r>
              <a:rPr lang="da-DK" dirty="0"/>
              <a:t> </a:t>
            </a:r>
            <a:r>
              <a:rPr lang="da-DK" dirty="0" err="1"/>
              <a:t>able</a:t>
            </a:r>
            <a:r>
              <a:rPr lang="da-DK" dirty="0"/>
              <a:t> to </a:t>
            </a:r>
            <a:r>
              <a:rPr lang="da-DK" dirty="0" err="1"/>
              <a:t>follow</a:t>
            </a:r>
            <a:r>
              <a:rPr lang="da-DK" dirty="0"/>
              <a:t> </a:t>
            </a:r>
            <a:r>
              <a:rPr lang="da-DK" dirty="0" err="1"/>
              <a:t>any</a:t>
            </a:r>
            <a:r>
              <a:rPr lang="da-DK" dirty="0"/>
              <a:t> </a:t>
            </a:r>
            <a:r>
              <a:rPr lang="da-DK" dirty="0" err="1"/>
              <a:t>number</a:t>
            </a:r>
            <a:r>
              <a:rPr lang="da-DK" dirty="0"/>
              <a:t> of </a:t>
            </a:r>
            <a:r>
              <a:rPr lang="da-DK" dirty="0" err="1"/>
              <a:t>these</a:t>
            </a:r>
            <a:r>
              <a:rPr lang="da-DK" dirty="0"/>
              <a:t>:</a:t>
            </a:r>
          </a:p>
          <a:p>
            <a:pPr lvl="2"/>
            <a:r>
              <a:rPr lang="da-DK" dirty="0" err="1"/>
              <a:t>Requirements</a:t>
            </a:r>
            <a:r>
              <a:rPr lang="da-DK" dirty="0"/>
              <a:t> List</a:t>
            </a:r>
          </a:p>
          <a:p>
            <a:pPr lvl="2"/>
            <a:r>
              <a:rPr lang="da-DK" dirty="0"/>
              <a:t>Component &amp; </a:t>
            </a:r>
            <a:r>
              <a:rPr lang="da-DK" dirty="0" err="1"/>
              <a:t>Context</a:t>
            </a:r>
            <a:r>
              <a:rPr lang="da-DK" dirty="0"/>
              <a:t> Diagrams</a:t>
            </a:r>
          </a:p>
          <a:p>
            <a:pPr lvl="2"/>
            <a:r>
              <a:rPr lang="da-DK" dirty="0"/>
              <a:t>Class Diagrams &amp; Data Models</a:t>
            </a:r>
          </a:p>
          <a:p>
            <a:pPr lvl="2"/>
            <a:r>
              <a:rPr lang="da-DK" dirty="0" err="1"/>
              <a:t>Sequence</a:t>
            </a:r>
            <a:r>
              <a:rPr lang="da-DK" dirty="0"/>
              <a:t> Diagrams &amp; State Machines</a:t>
            </a:r>
          </a:p>
          <a:p>
            <a:pPr lvl="2"/>
            <a:r>
              <a:rPr lang="da-DK" dirty="0" err="1"/>
              <a:t>Pseudo</a:t>
            </a:r>
            <a:r>
              <a:rPr lang="da-DK" dirty="0"/>
              <a:t> Code</a:t>
            </a:r>
          </a:p>
          <a:p>
            <a:pPr lvl="2"/>
            <a:r>
              <a:rPr lang="da-DK" dirty="0" err="1"/>
              <a:t>Behaviour</a:t>
            </a:r>
            <a:r>
              <a:rPr lang="da-DK" dirty="0"/>
              <a:t> Driven Development </a:t>
            </a:r>
            <a:r>
              <a:rPr lang="da-DK" dirty="0" err="1"/>
              <a:t>code</a:t>
            </a:r>
            <a:endParaRPr lang="da-DK" dirty="0"/>
          </a:p>
          <a:p>
            <a:endParaRPr lang="da-DK" dirty="0"/>
          </a:p>
          <a:p>
            <a:r>
              <a:rPr lang="da-DK" dirty="0" err="1"/>
              <a:t>These</a:t>
            </a:r>
            <a:r>
              <a:rPr lang="da-DK" dirty="0"/>
              <a:t> steps </a:t>
            </a:r>
            <a:r>
              <a:rPr lang="da-DK" dirty="0" err="1"/>
              <a:t>will</a:t>
            </a:r>
            <a:r>
              <a:rPr lang="da-DK" dirty="0"/>
              <a:t> </a:t>
            </a:r>
            <a:r>
              <a:rPr lang="da-DK" dirty="0" err="1"/>
              <a:t>slowly</a:t>
            </a:r>
            <a:r>
              <a:rPr lang="da-DK" dirty="0"/>
              <a:t> </a:t>
            </a:r>
            <a:r>
              <a:rPr lang="da-DK" dirty="0" err="1"/>
              <a:t>add</a:t>
            </a:r>
            <a:r>
              <a:rPr lang="da-DK" dirty="0"/>
              <a:t> </a:t>
            </a:r>
            <a:r>
              <a:rPr lang="da-DK" dirty="0" err="1"/>
              <a:t>complexity</a:t>
            </a:r>
            <a:r>
              <a:rPr lang="da-DK" dirty="0"/>
              <a:t> </a:t>
            </a:r>
            <a:r>
              <a:rPr lang="da-DK" dirty="0" err="1"/>
              <a:t>until</a:t>
            </a:r>
            <a:r>
              <a:rPr lang="da-DK" dirty="0"/>
              <a:t> </a:t>
            </a:r>
            <a:r>
              <a:rPr lang="da-DK" dirty="0" err="1"/>
              <a:t>requirement</a:t>
            </a:r>
            <a:r>
              <a:rPr lang="da-DK" dirty="0"/>
              <a:t> has </a:t>
            </a:r>
            <a:r>
              <a:rPr lang="da-DK" dirty="0" err="1"/>
              <a:t>become</a:t>
            </a:r>
            <a:r>
              <a:rPr lang="da-DK" dirty="0"/>
              <a:t> </a:t>
            </a:r>
            <a:r>
              <a:rPr lang="da-DK" dirty="0" err="1"/>
              <a:t>code</a:t>
            </a:r>
            <a:r>
              <a:rPr lang="da-DK" dirty="0"/>
              <a:t>, </a:t>
            </a:r>
            <a:r>
              <a:rPr lang="da-DK" dirty="0" err="1"/>
              <a:t>while</a:t>
            </a:r>
            <a:r>
              <a:rPr lang="da-DK" dirty="0"/>
              <a:t> </a:t>
            </a:r>
            <a:r>
              <a:rPr lang="da-DK" dirty="0" err="1"/>
              <a:t>keeping</a:t>
            </a:r>
            <a:r>
              <a:rPr lang="da-DK" dirty="0"/>
              <a:t> </a:t>
            </a:r>
            <a:r>
              <a:rPr lang="da-DK" dirty="0" err="1"/>
              <a:t>sentiment</a:t>
            </a:r>
            <a:r>
              <a:rPr lang="da-DK" dirty="0"/>
              <a:t> clear at all steps</a:t>
            </a:r>
          </a:p>
          <a:p>
            <a:r>
              <a:rPr lang="da-DK" dirty="0"/>
              <a:t>Good </a:t>
            </a:r>
            <a:r>
              <a:rPr lang="da-DK" dirty="0" err="1"/>
              <a:t>code</a:t>
            </a:r>
            <a:r>
              <a:rPr lang="da-DK" dirty="0"/>
              <a:t> </a:t>
            </a:r>
            <a:r>
              <a:rPr lang="da-DK" dirty="0" err="1"/>
              <a:t>can</a:t>
            </a:r>
            <a:r>
              <a:rPr lang="da-DK" dirty="0"/>
              <a:t> </a:t>
            </a:r>
            <a:r>
              <a:rPr lang="da-DK" dirty="0" err="1"/>
              <a:t>be</a:t>
            </a:r>
            <a:r>
              <a:rPr lang="da-DK" dirty="0"/>
              <a:t> </a:t>
            </a:r>
            <a:r>
              <a:rPr lang="da-DK" dirty="0" err="1"/>
              <a:t>read</a:t>
            </a:r>
            <a:r>
              <a:rPr lang="da-DK" dirty="0"/>
              <a:t> by a non-</a:t>
            </a:r>
            <a:r>
              <a:rPr lang="da-DK" dirty="0" err="1"/>
              <a:t>technical</a:t>
            </a:r>
            <a:r>
              <a:rPr lang="da-DK" dirty="0"/>
              <a:t> </a:t>
            </a:r>
            <a:r>
              <a:rPr lang="da-DK" dirty="0" err="1"/>
              <a:t>client</a:t>
            </a:r>
            <a:r>
              <a:rPr lang="da-DK" dirty="0"/>
              <a:t> (on the </a:t>
            </a:r>
            <a:r>
              <a:rPr lang="da-DK" dirty="0" err="1"/>
              <a:t>surface</a:t>
            </a:r>
            <a:r>
              <a:rPr lang="da-DK" dirty="0"/>
              <a:t>)</a:t>
            </a:r>
            <a:endParaRPr lang="en-DK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5B8BC056-BEF2-F628-BEB2-7248D115E335}"/>
              </a:ext>
            </a:extLst>
          </p:cNvPr>
          <p:cNvSpPr txBox="1"/>
          <p:nvPr/>
        </p:nvSpPr>
        <p:spPr>
          <a:xfrm>
            <a:off x="2842328" y="5914464"/>
            <a:ext cx="6097314" cy="923330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</p:spPr>
        <p:txBody>
          <a:bodyPr wrap="square">
            <a:spAutoFit/>
          </a:bodyPr>
          <a:lstStyle/>
          <a:p>
            <a:r>
              <a:rPr lang="en-GB" b="0" dirty="0">
                <a:solidFill>
                  <a:srgbClr val="C586C0"/>
                </a:solidFill>
                <a:effectLst/>
                <a:latin typeface="Menlo" panose="020B0609030804020204" pitchFamily="49" charset="0"/>
              </a:rPr>
              <a:t>if</a:t>
            </a:r>
            <a:r>
              <a:rPr lang="en-GB" b="0" dirty="0">
                <a:solidFill>
                  <a:srgbClr val="D4D4D4"/>
                </a:solidFill>
                <a:effectLst/>
                <a:latin typeface="Menlo" panose="020B0609030804020204" pitchFamily="49" charset="0"/>
              </a:rPr>
              <a:t>(</a:t>
            </a:r>
            <a:r>
              <a:rPr lang="en-GB" b="0" dirty="0" err="1">
                <a:solidFill>
                  <a:srgbClr val="9CDCFE"/>
                </a:solidFill>
                <a:effectLst/>
                <a:latin typeface="Menlo" panose="020B0609030804020204" pitchFamily="49" charset="0"/>
              </a:rPr>
              <a:t>parent</a:t>
            </a:r>
            <a:r>
              <a:rPr lang="en-GB" b="0" dirty="0" err="1">
                <a:solidFill>
                  <a:srgbClr val="D4D4D4"/>
                </a:solidFill>
                <a:effectLst/>
                <a:latin typeface="Menlo" panose="020B0609030804020204" pitchFamily="49" charset="0"/>
              </a:rPr>
              <a:t>.</a:t>
            </a:r>
            <a:r>
              <a:rPr lang="en-GB" b="0" dirty="0" err="1">
                <a:solidFill>
                  <a:srgbClr val="DCDCAA"/>
                </a:solidFill>
                <a:effectLst/>
                <a:latin typeface="Menlo" panose="020B0609030804020204" pitchFamily="49" charset="0"/>
              </a:rPr>
              <a:t>lets</a:t>
            </a:r>
            <a:r>
              <a:rPr lang="en-GB" b="0" dirty="0">
                <a:solidFill>
                  <a:srgbClr val="D4D4D4"/>
                </a:solidFill>
                <a:effectLst/>
                <a:latin typeface="Menlo" panose="020B0609030804020204" pitchFamily="49" charset="0"/>
              </a:rPr>
              <a:t>(</a:t>
            </a:r>
            <a:r>
              <a:rPr lang="en-GB" b="0" dirty="0">
                <a:solidFill>
                  <a:srgbClr val="9CDCFE"/>
                </a:solidFill>
                <a:effectLst/>
                <a:latin typeface="Menlo" panose="020B0609030804020204" pitchFamily="49" charset="0"/>
              </a:rPr>
              <a:t>child</a:t>
            </a:r>
            <a:r>
              <a:rPr lang="en-GB" b="0" dirty="0">
                <a:solidFill>
                  <a:srgbClr val="D4D4D4"/>
                </a:solidFill>
                <a:effectLst/>
                <a:latin typeface="Menlo" panose="020B0609030804020204" pitchFamily="49" charset="0"/>
              </a:rPr>
              <a:t>, </a:t>
            </a:r>
            <a:r>
              <a:rPr lang="en-GB" b="0" dirty="0" err="1">
                <a:solidFill>
                  <a:srgbClr val="9CDCFE"/>
                </a:solidFill>
                <a:effectLst/>
                <a:latin typeface="Menlo" panose="020B0609030804020204" pitchFamily="49" charset="0"/>
              </a:rPr>
              <a:t>stayUpLate</a:t>
            </a:r>
            <a:r>
              <a:rPr lang="en-GB" b="0" dirty="0">
                <a:solidFill>
                  <a:srgbClr val="D4D4D4"/>
                </a:solidFill>
                <a:effectLst/>
                <a:latin typeface="Menlo" panose="020B0609030804020204" pitchFamily="49" charset="0"/>
              </a:rPr>
              <a:t>)) {</a:t>
            </a:r>
          </a:p>
          <a:p>
            <a:r>
              <a:rPr lang="en-GB" b="0" dirty="0">
                <a:solidFill>
                  <a:srgbClr val="9CDCFE"/>
                </a:solidFill>
                <a:effectLst/>
                <a:latin typeface="Menlo" panose="020B0609030804020204" pitchFamily="49" charset="0"/>
              </a:rPr>
              <a:t>  </a:t>
            </a:r>
            <a:r>
              <a:rPr lang="en-GB" b="0" dirty="0" err="1">
                <a:solidFill>
                  <a:srgbClr val="9CDCFE"/>
                </a:solidFill>
                <a:effectLst/>
                <a:latin typeface="Menlo" panose="020B0609030804020204" pitchFamily="49" charset="0"/>
              </a:rPr>
              <a:t>microvawe</a:t>
            </a:r>
            <a:r>
              <a:rPr lang="en-GB" b="0" dirty="0" err="1">
                <a:solidFill>
                  <a:srgbClr val="D4D4D4"/>
                </a:solidFill>
                <a:effectLst/>
                <a:latin typeface="Menlo" panose="020B0609030804020204" pitchFamily="49" charset="0"/>
              </a:rPr>
              <a:t>.</a:t>
            </a:r>
            <a:r>
              <a:rPr lang="en-GB" b="0" dirty="0" err="1">
                <a:solidFill>
                  <a:srgbClr val="DCDCAA"/>
                </a:solidFill>
                <a:effectLst/>
                <a:latin typeface="Menlo" panose="020B0609030804020204" pitchFamily="49" charset="0"/>
              </a:rPr>
              <a:t>popcorn</a:t>
            </a:r>
            <a:r>
              <a:rPr lang="en-GB" b="0" dirty="0">
                <a:solidFill>
                  <a:srgbClr val="D4D4D4"/>
                </a:solidFill>
                <a:effectLst/>
                <a:latin typeface="Menlo" panose="020B0609030804020204" pitchFamily="49" charset="0"/>
              </a:rPr>
              <a:t>();</a:t>
            </a:r>
          </a:p>
          <a:p>
            <a:r>
              <a:rPr lang="en-GB" b="0" dirty="0">
                <a:solidFill>
                  <a:srgbClr val="D4D4D4"/>
                </a:solidFill>
                <a:effectLst/>
                <a:latin typeface="Menlo" panose="020B0609030804020204" pitchFamily="49" charset="0"/>
              </a:rPr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355418848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552FF25E-24BF-4225-87AB-B2869F94CB2B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da-DK"/>
          </a:p>
        </p:txBody>
      </p:sp>
      <p:sp>
        <p:nvSpPr>
          <p:cNvPr id="3" name="Pladsholder til dato 2">
            <a:extLst>
              <a:ext uri="{FF2B5EF4-FFF2-40B4-BE49-F238E27FC236}">
                <a16:creationId xmlns:a16="http://schemas.microsoft.com/office/drawing/2014/main" id="{4C93D788-8D9D-4045-B518-6692018D89DE}"/>
              </a:ext>
            </a:extLst>
          </p:cNvPr>
          <p:cNvSpPr>
            <a:spLocks noGrp="1"/>
          </p:cNvSpPr>
          <p:nvPr>
            <p:ph type="dt" sz="half" idx="2"/>
          </p:nvPr>
        </p:nvSpPr>
        <p:spPr/>
        <p:txBody>
          <a:bodyPr/>
          <a:lstStyle/>
          <a:p>
            <a:fld id="{B4C4C6FD-8607-43FF-8BC8-950EFB970BA3}" type="datetime1">
              <a:rPr lang="en-GB" smtClean="0"/>
              <a:t>24/04/2023</a:t>
            </a:fld>
            <a:endParaRPr lang="en-GB" dirty="0"/>
          </a:p>
        </p:txBody>
      </p:sp>
      <p:sp>
        <p:nvSpPr>
          <p:cNvPr id="4" name="Rektangel 3">
            <a:extLst>
              <a:ext uri="{FF2B5EF4-FFF2-40B4-BE49-F238E27FC236}">
                <a16:creationId xmlns:a16="http://schemas.microsoft.com/office/drawing/2014/main" id="{F994D39F-0217-4BCC-AD0B-429E7605B2F1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tIns="72000" rIns="72000" bIns="72000" rtlCol="0" anchor="ctr"/>
          <a:lstStyle/>
          <a:p>
            <a:pPr algn="ctr"/>
            <a:r>
              <a:rPr lang="da-DK" sz="2800" b="1" dirty="0"/>
              <a:t>Test </a:t>
            </a:r>
            <a:r>
              <a:rPr lang="da-DK" sz="2800" b="1" dirty="0" err="1"/>
              <a:t>planning</a:t>
            </a:r>
            <a:r>
              <a:rPr lang="da-DK" sz="2800" b="1" dirty="0"/>
              <a:t> and </a:t>
            </a:r>
            <a:r>
              <a:rPr lang="da-DK" sz="2800" b="1" dirty="0" err="1"/>
              <a:t>strategy</a:t>
            </a:r>
            <a:endParaRPr lang="da-DK" sz="2800" b="1" dirty="0"/>
          </a:p>
        </p:txBody>
      </p:sp>
    </p:spTree>
    <p:extLst>
      <p:ext uri="{BB962C8B-B14F-4D97-AF65-F5344CB8AC3E}">
        <p14:creationId xmlns:p14="http://schemas.microsoft.com/office/powerpoint/2010/main" val="377422428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9CBBB199-CEE7-4207-9B94-FABE54697AB5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da-DK" dirty="0"/>
              <a:t>Test plan</a:t>
            </a:r>
          </a:p>
        </p:txBody>
      </p:sp>
      <p:sp>
        <p:nvSpPr>
          <p:cNvPr id="4" name="Pladsholder til dato 3">
            <a:extLst>
              <a:ext uri="{FF2B5EF4-FFF2-40B4-BE49-F238E27FC236}">
                <a16:creationId xmlns:a16="http://schemas.microsoft.com/office/drawing/2014/main" id="{DF6BBC47-AF93-4B51-BB19-37E8FA70A1FC}"/>
              </a:ext>
            </a:extLst>
          </p:cNvPr>
          <p:cNvSpPr>
            <a:spLocks noGrp="1"/>
          </p:cNvSpPr>
          <p:nvPr>
            <p:ph type="dt" sz="half" idx="2"/>
          </p:nvPr>
        </p:nvSpPr>
        <p:spPr/>
        <p:txBody>
          <a:bodyPr/>
          <a:lstStyle/>
          <a:p>
            <a:fld id="{1D326F97-033E-40DE-A683-79560FFFFEF4}" type="datetime1">
              <a:rPr lang="en-GB" smtClean="0"/>
              <a:t>24/04/2023</a:t>
            </a:fld>
            <a:endParaRPr lang="en-GB" dirty="0"/>
          </a:p>
        </p:txBody>
      </p:sp>
      <p:sp>
        <p:nvSpPr>
          <p:cNvPr id="5" name="Pladsholder til sidefod 4">
            <a:extLst>
              <a:ext uri="{FF2B5EF4-FFF2-40B4-BE49-F238E27FC236}">
                <a16:creationId xmlns:a16="http://schemas.microsoft.com/office/drawing/2014/main" id="{0A4065D9-777F-4BC2-8DA9-0E100CD3446A}"/>
              </a:ext>
            </a:extLst>
          </p:cNvPr>
          <p:cNvSpPr>
            <a:spLocks noGrp="1"/>
          </p:cNvSpPr>
          <p:nvPr>
            <p:ph type="ftr" sz="quarter" idx="14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6" name="Pladsholder til slidenummer 5">
            <a:extLst>
              <a:ext uri="{FF2B5EF4-FFF2-40B4-BE49-F238E27FC236}">
                <a16:creationId xmlns:a16="http://schemas.microsoft.com/office/drawing/2014/main" id="{1971CA48-5488-429E-869D-06623C5E5997}"/>
              </a:ext>
            </a:extLst>
          </p:cNvPr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fld id="{45D37B1E-C366-494F-A587-962AD9AABC83}" type="slidenum">
              <a:rPr lang="en-GB" smtClean="0"/>
              <a:pPr/>
              <a:t>11</a:t>
            </a:fld>
            <a:endParaRPr lang="en-GB" dirty="0"/>
          </a:p>
        </p:txBody>
      </p:sp>
      <p:sp>
        <p:nvSpPr>
          <p:cNvPr id="10" name="Content Placeholder 9">
            <a:extLst>
              <a:ext uri="{FF2B5EF4-FFF2-40B4-BE49-F238E27FC236}">
                <a16:creationId xmlns:a16="http://schemas.microsoft.com/office/drawing/2014/main" id="{040613FC-F94A-0712-DF75-092CF5474396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414696" y="1989138"/>
            <a:ext cx="10952578" cy="4120000"/>
          </a:xfrm>
        </p:spPr>
        <p:txBody>
          <a:bodyPr/>
          <a:lstStyle/>
          <a:p>
            <a:r>
              <a:rPr lang="da-DK" dirty="0" err="1"/>
              <a:t>Different</a:t>
            </a:r>
            <a:r>
              <a:rPr lang="da-DK" dirty="0"/>
              <a:t> </a:t>
            </a:r>
            <a:r>
              <a:rPr lang="da-DK" dirty="0" err="1"/>
              <a:t>projects</a:t>
            </a:r>
            <a:r>
              <a:rPr lang="da-DK" dirty="0"/>
              <a:t> </a:t>
            </a:r>
            <a:r>
              <a:rPr lang="da-DK" dirty="0" err="1"/>
              <a:t>will</a:t>
            </a:r>
            <a:r>
              <a:rPr lang="da-DK" dirty="0"/>
              <a:t> </a:t>
            </a:r>
            <a:r>
              <a:rPr lang="da-DK" dirty="0" err="1"/>
              <a:t>require</a:t>
            </a:r>
            <a:r>
              <a:rPr lang="da-DK" dirty="0"/>
              <a:t> </a:t>
            </a:r>
            <a:r>
              <a:rPr lang="da-DK" dirty="0" err="1"/>
              <a:t>different</a:t>
            </a:r>
            <a:r>
              <a:rPr lang="da-DK" dirty="0"/>
              <a:t> </a:t>
            </a:r>
            <a:r>
              <a:rPr lang="da-DK" dirty="0" err="1"/>
              <a:t>levels</a:t>
            </a:r>
            <a:r>
              <a:rPr lang="da-DK" dirty="0"/>
              <a:t> of </a:t>
            </a:r>
            <a:r>
              <a:rPr lang="da-DK" dirty="0" err="1"/>
              <a:t>quality</a:t>
            </a:r>
            <a:endParaRPr lang="da-DK" dirty="0"/>
          </a:p>
          <a:p>
            <a:r>
              <a:rPr lang="da-DK" dirty="0" err="1"/>
              <a:t>Higher</a:t>
            </a:r>
            <a:r>
              <a:rPr lang="da-DK" dirty="0"/>
              <a:t> software </a:t>
            </a:r>
            <a:r>
              <a:rPr lang="da-DK" dirty="0" err="1"/>
              <a:t>quality</a:t>
            </a:r>
            <a:r>
              <a:rPr lang="da-DK" dirty="0"/>
              <a:t> </a:t>
            </a:r>
            <a:r>
              <a:rPr lang="da-DK" dirty="0" err="1"/>
              <a:t>takes</a:t>
            </a:r>
            <a:r>
              <a:rPr lang="da-DK" dirty="0"/>
              <a:t> longer time to </a:t>
            </a:r>
            <a:r>
              <a:rPr lang="da-DK" dirty="0" err="1"/>
              <a:t>implement</a:t>
            </a:r>
            <a:r>
              <a:rPr lang="da-DK" dirty="0"/>
              <a:t> and test</a:t>
            </a:r>
          </a:p>
          <a:p>
            <a:r>
              <a:rPr lang="da-DK" dirty="0"/>
              <a:t>No software is </a:t>
            </a:r>
            <a:r>
              <a:rPr lang="da-DK" dirty="0" err="1"/>
              <a:t>perfect</a:t>
            </a:r>
            <a:endParaRPr lang="da-DK" dirty="0"/>
          </a:p>
          <a:p>
            <a:endParaRPr lang="da-DK" dirty="0"/>
          </a:p>
          <a:p>
            <a:r>
              <a:rPr lang="da-DK" dirty="0"/>
              <a:t>To provide a proper plan, </a:t>
            </a:r>
            <a:r>
              <a:rPr lang="da-DK" dirty="0" err="1"/>
              <a:t>you</a:t>
            </a:r>
            <a:r>
              <a:rPr lang="da-DK" dirty="0"/>
              <a:t> </a:t>
            </a:r>
            <a:r>
              <a:rPr lang="da-DK" dirty="0" err="1"/>
              <a:t>need</a:t>
            </a:r>
            <a:r>
              <a:rPr lang="da-DK" dirty="0"/>
              <a:t> to </a:t>
            </a:r>
            <a:r>
              <a:rPr lang="da-DK" dirty="0" err="1"/>
              <a:t>qauge</a:t>
            </a:r>
            <a:r>
              <a:rPr lang="da-DK" dirty="0"/>
              <a:t> the potential problems of </a:t>
            </a:r>
            <a:r>
              <a:rPr lang="da-DK" dirty="0" err="1"/>
              <a:t>faulty</a:t>
            </a:r>
            <a:r>
              <a:rPr lang="da-DK" dirty="0"/>
              <a:t> </a:t>
            </a:r>
            <a:r>
              <a:rPr lang="da-DK" dirty="0" err="1"/>
              <a:t>outcomes</a:t>
            </a:r>
            <a:endParaRPr lang="da-DK" dirty="0"/>
          </a:p>
          <a:p>
            <a:endParaRPr lang="da-DK" dirty="0"/>
          </a:p>
          <a:p>
            <a:endParaRPr lang="en-DK" dirty="0"/>
          </a:p>
        </p:txBody>
      </p:sp>
    </p:spTree>
    <p:extLst>
      <p:ext uri="{BB962C8B-B14F-4D97-AF65-F5344CB8AC3E}">
        <p14:creationId xmlns:p14="http://schemas.microsoft.com/office/powerpoint/2010/main" val="64797092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9CBBB199-CEE7-4207-9B94-FABE54697AB5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da-DK" dirty="0" err="1"/>
              <a:t>Creating</a:t>
            </a:r>
            <a:r>
              <a:rPr lang="da-DK" dirty="0"/>
              <a:t> a Test Plan - Step by Step Guide</a:t>
            </a:r>
          </a:p>
        </p:txBody>
      </p:sp>
      <p:sp>
        <p:nvSpPr>
          <p:cNvPr id="4" name="Pladsholder til dato 3">
            <a:extLst>
              <a:ext uri="{FF2B5EF4-FFF2-40B4-BE49-F238E27FC236}">
                <a16:creationId xmlns:a16="http://schemas.microsoft.com/office/drawing/2014/main" id="{DF6BBC47-AF93-4B51-BB19-37E8FA70A1FC}"/>
              </a:ext>
            </a:extLst>
          </p:cNvPr>
          <p:cNvSpPr>
            <a:spLocks noGrp="1"/>
          </p:cNvSpPr>
          <p:nvPr>
            <p:ph type="dt" sz="half" idx="2"/>
          </p:nvPr>
        </p:nvSpPr>
        <p:spPr/>
        <p:txBody>
          <a:bodyPr/>
          <a:lstStyle/>
          <a:p>
            <a:fld id="{1D326F97-033E-40DE-A683-79560FFFFEF4}" type="datetime1">
              <a:rPr lang="en-GB" smtClean="0"/>
              <a:t>24/04/2023</a:t>
            </a:fld>
            <a:endParaRPr lang="en-GB" dirty="0"/>
          </a:p>
        </p:txBody>
      </p:sp>
      <p:sp>
        <p:nvSpPr>
          <p:cNvPr id="5" name="Pladsholder til sidefod 4">
            <a:extLst>
              <a:ext uri="{FF2B5EF4-FFF2-40B4-BE49-F238E27FC236}">
                <a16:creationId xmlns:a16="http://schemas.microsoft.com/office/drawing/2014/main" id="{0A4065D9-777F-4BC2-8DA9-0E100CD3446A}"/>
              </a:ext>
            </a:extLst>
          </p:cNvPr>
          <p:cNvSpPr>
            <a:spLocks noGrp="1"/>
          </p:cNvSpPr>
          <p:nvPr>
            <p:ph type="ftr" sz="quarter" idx="14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6" name="Pladsholder til slidenummer 5">
            <a:extLst>
              <a:ext uri="{FF2B5EF4-FFF2-40B4-BE49-F238E27FC236}">
                <a16:creationId xmlns:a16="http://schemas.microsoft.com/office/drawing/2014/main" id="{1971CA48-5488-429E-869D-06623C5E5997}"/>
              </a:ext>
            </a:extLst>
          </p:cNvPr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fld id="{45D37B1E-C366-494F-A587-962AD9AABC83}" type="slidenum">
              <a:rPr lang="en-GB" smtClean="0"/>
              <a:pPr/>
              <a:t>12</a:t>
            </a:fld>
            <a:endParaRPr lang="en-GB" dirty="0"/>
          </a:p>
        </p:txBody>
      </p:sp>
      <p:sp>
        <p:nvSpPr>
          <p:cNvPr id="10" name="Content Placeholder 9">
            <a:extLst>
              <a:ext uri="{FF2B5EF4-FFF2-40B4-BE49-F238E27FC236}">
                <a16:creationId xmlns:a16="http://schemas.microsoft.com/office/drawing/2014/main" id="{040613FC-F94A-0712-DF75-092CF5474396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414696" y="1560443"/>
            <a:ext cx="10952578" cy="4548695"/>
          </a:xfrm>
        </p:spPr>
        <p:txBody>
          <a:bodyPr/>
          <a:lstStyle/>
          <a:p>
            <a:r>
              <a:rPr lang="da-DK" sz="1800" dirty="0"/>
              <a:t>Understand </a:t>
            </a:r>
            <a:r>
              <a:rPr lang="da-DK" sz="1800" dirty="0" err="1"/>
              <a:t>project</a:t>
            </a:r>
            <a:r>
              <a:rPr lang="da-DK" sz="1800" dirty="0"/>
              <a:t> </a:t>
            </a:r>
            <a:r>
              <a:rPr lang="da-DK" sz="1800" dirty="0" err="1"/>
              <a:t>requirements</a:t>
            </a:r>
            <a:r>
              <a:rPr lang="da-DK" sz="1800" dirty="0"/>
              <a:t> and </a:t>
            </a:r>
            <a:r>
              <a:rPr lang="da-DK" sz="1800" dirty="0" err="1"/>
              <a:t>objectives</a:t>
            </a:r>
            <a:endParaRPr lang="da-DK" sz="1800" dirty="0"/>
          </a:p>
          <a:p>
            <a:pPr lvl="1"/>
            <a:r>
              <a:rPr lang="da-DK" sz="1200" dirty="0"/>
              <a:t>Review </a:t>
            </a:r>
            <a:r>
              <a:rPr lang="da-DK" sz="1200" dirty="0" err="1"/>
              <a:t>project</a:t>
            </a:r>
            <a:r>
              <a:rPr lang="da-DK" sz="1200" dirty="0"/>
              <a:t> </a:t>
            </a:r>
            <a:r>
              <a:rPr lang="da-DK" sz="1200" dirty="0" err="1"/>
              <a:t>documentation</a:t>
            </a:r>
            <a:r>
              <a:rPr lang="da-DK" sz="1200" dirty="0"/>
              <a:t>, user </a:t>
            </a:r>
            <a:r>
              <a:rPr lang="da-DK" sz="1200" dirty="0" err="1"/>
              <a:t>stories</a:t>
            </a:r>
            <a:r>
              <a:rPr lang="da-DK" sz="1200" dirty="0"/>
              <a:t>, and </a:t>
            </a:r>
            <a:r>
              <a:rPr lang="da-DK" sz="1200" dirty="0" err="1"/>
              <a:t>specifications</a:t>
            </a:r>
            <a:endParaRPr lang="da-DK" sz="1200" dirty="0"/>
          </a:p>
          <a:p>
            <a:pPr lvl="1"/>
            <a:r>
              <a:rPr lang="da-DK" sz="1200" dirty="0"/>
              <a:t>Consult with stakeholders to </a:t>
            </a:r>
            <a:r>
              <a:rPr lang="da-DK" sz="1200" dirty="0" err="1"/>
              <a:t>clarify</a:t>
            </a:r>
            <a:r>
              <a:rPr lang="da-DK" sz="1200" dirty="0"/>
              <a:t> </a:t>
            </a:r>
            <a:r>
              <a:rPr lang="da-DK" sz="1200" dirty="0" err="1"/>
              <a:t>expectations</a:t>
            </a:r>
            <a:endParaRPr lang="da-DK" sz="1200" dirty="0"/>
          </a:p>
          <a:p>
            <a:pPr lvl="1"/>
            <a:endParaRPr lang="da-DK" sz="1200" dirty="0"/>
          </a:p>
          <a:p>
            <a:r>
              <a:rPr lang="da-DK" sz="1800" dirty="0" err="1"/>
              <a:t>Define</a:t>
            </a:r>
            <a:r>
              <a:rPr lang="da-DK" sz="1800" dirty="0"/>
              <a:t> test </a:t>
            </a:r>
            <a:r>
              <a:rPr lang="da-DK" sz="1800" dirty="0" err="1"/>
              <a:t>objectives</a:t>
            </a:r>
            <a:r>
              <a:rPr lang="da-DK" sz="1800" dirty="0"/>
              <a:t> and </a:t>
            </a:r>
            <a:r>
              <a:rPr lang="da-DK" sz="1800" dirty="0" err="1"/>
              <a:t>scope</a:t>
            </a:r>
            <a:endParaRPr lang="da-DK" sz="1800" dirty="0"/>
          </a:p>
          <a:p>
            <a:pPr lvl="1"/>
            <a:r>
              <a:rPr lang="da-DK" sz="1200" dirty="0" err="1"/>
              <a:t>Establish</a:t>
            </a:r>
            <a:r>
              <a:rPr lang="da-DK" sz="1200" dirty="0"/>
              <a:t> the purpose of </a:t>
            </a:r>
            <a:r>
              <a:rPr lang="da-DK" sz="1200" dirty="0" err="1"/>
              <a:t>testing</a:t>
            </a:r>
            <a:r>
              <a:rPr lang="da-DK" sz="1200" dirty="0"/>
              <a:t> (</a:t>
            </a:r>
            <a:r>
              <a:rPr lang="da-DK" sz="1200" dirty="0" err="1"/>
              <a:t>e.g</a:t>
            </a:r>
            <a:r>
              <a:rPr lang="da-DK" sz="1200" dirty="0"/>
              <a:t>., </a:t>
            </a:r>
            <a:r>
              <a:rPr lang="da-DK" sz="1200" dirty="0" err="1"/>
              <a:t>validate</a:t>
            </a:r>
            <a:r>
              <a:rPr lang="da-DK" sz="1200" dirty="0"/>
              <a:t> </a:t>
            </a:r>
            <a:r>
              <a:rPr lang="da-DK" sz="1200" dirty="0" err="1"/>
              <a:t>functionality</a:t>
            </a:r>
            <a:r>
              <a:rPr lang="da-DK" sz="1200" dirty="0"/>
              <a:t>, </a:t>
            </a:r>
            <a:r>
              <a:rPr lang="da-DK" sz="1200" dirty="0" err="1"/>
              <a:t>improve</a:t>
            </a:r>
            <a:r>
              <a:rPr lang="da-DK" sz="1200" dirty="0"/>
              <a:t> </a:t>
            </a:r>
            <a:r>
              <a:rPr lang="da-DK" sz="1200" dirty="0" err="1"/>
              <a:t>quality</a:t>
            </a:r>
            <a:r>
              <a:rPr lang="da-DK" sz="1200" dirty="0"/>
              <a:t>, </a:t>
            </a:r>
            <a:r>
              <a:rPr lang="da-DK" sz="1200" dirty="0" err="1"/>
              <a:t>identify</a:t>
            </a:r>
            <a:r>
              <a:rPr lang="da-DK" sz="1200" dirty="0"/>
              <a:t> </a:t>
            </a:r>
            <a:r>
              <a:rPr lang="da-DK" sz="1200" dirty="0" err="1"/>
              <a:t>defects</a:t>
            </a:r>
            <a:r>
              <a:rPr lang="da-DK" sz="1200" dirty="0"/>
              <a:t>)</a:t>
            </a:r>
          </a:p>
          <a:p>
            <a:pPr lvl="1"/>
            <a:r>
              <a:rPr lang="da-DK" sz="1200" dirty="0" err="1"/>
              <a:t>Determine</a:t>
            </a:r>
            <a:r>
              <a:rPr lang="da-DK" sz="1200" dirty="0"/>
              <a:t> </a:t>
            </a:r>
            <a:r>
              <a:rPr lang="da-DK" sz="1200" dirty="0" err="1"/>
              <a:t>which</a:t>
            </a:r>
            <a:r>
              <a:rPr lang="da-DK" sz="1200" dirty="0"/>
              <a:t> parts of the </a:t>
            </a:r>
            <a:r>
              <a:rPr lang="da-DK" sz="1200" dirty="0" err="1"/>
              <a:t>application</a:t>
            </a:r>
            <a:r>
              <a:rPr lang="da-DK" sz="1200" dirty="0"/>
              <a:t> </a:t>
            </a:r>
            <a:r>
              <a:rPr lang="da-DK" sz="1200" dirty="0" err="1"/>
              <a:t>will</a:t>
            </a:r>
            <a:r>
              <a:rPr lang="da-DK" sz="1200" dirty="0"/>
              <a:t> </a:t>
            </a:r>
            <a:r>
              <a:rPr lang="da-DK" sz="1200" dirty="0" err="1"/>
              <a:t>be</a:t>
            </a:r>
            <a:r>
              <a:rPr lang="da-DK" sz="1200" dirty="0"/>
              <a:t> </a:t>
            </a:r>
            <a:r>
              <a:rPr lang="da-DK" sz="1200" dirty="0" err="1"/>
              <a:t>tested</a:t>
            </a:r>
            <a:r>
              <a:rPr lang="da-DK" sz="1200" dirty="0"/>
              <a:t> and </a:t>
            </a:r>
            <a:r>
              <a:rPr lang="da-DK" sz="1200" dirty="0" err="1"/>
              <a:t>which</a:t>
            </a:r>
            <a:r>
              <a:rPr lang="da-DK" sz="1200" dirty="0"/>
              <a:t> </a:t>
            </a:r>
            <a:r>
              <a:rPr lang="da-DK" sz="1200" dirty="0" err="1"/>
              <a:t>will</a:t>
            </a:r>
            <a:r>
              <a:rPr lang="da-DK" sz="1200" dirty="0"/>
              <a:t> </a:t>
            </a:r>
            <a:r>
              <a:rPr lang="da-DK" sz="1200" dirty="0" err="1"/>
              <a:t>be</a:t>
            </a:r>
            <a:r>
              <a:rPr lang="da-DK" sz="1200" dirty="0"/>
              <a:t> </a:t>
            </a:r>
            <a:r>
              <a:rPr lang="da-DK" sz="1200" dirty="0" err="1"/>
              <a:t>excluded</a:t>
            </a:r>
            <a:endParaRPr lang="da-DK" sz="1200" dirty="0"/>
          </a:p>
          <a:p>
            <a:endParaRPr lang="da-DK" sz="1800" dirty="0"/>
          </a:p>
          <a:p>
            <a:r>
              <a:rPr lang="da-DK" sz="1800" dirty="0" err="1"/>
              <a:t>Identify</a:t>
            </a:r>
            <a:r>
              <a:rPr lang="da-DK" sz="1800" dirty="0"/>
              <a:t> test </a:t>
            </a:r>
            <a:r>
              <a:rPr lang="da-DK" sz="1800" dirty="0" err="1"/>
              <a:t>levels</a:t>
            </a:r>
            <a:r>
              <a:rPr lang="da-DK" sz="1800" dirty="0"/>
              <a:t> and types</a:t>
            </a:r>
          </a:p>
          <a:p>
            <a:pPr lvl="1"/>
            <a:r>
              <a:rPr lang="da-DK" sz="1200" dirty="0" err="1"/>
              <a:t>Decide</a:t>
            </a:r>
            <a:r>
              <a:rPr lang="da-DK" sz="1200" dirty="0"/>
              <a:t> on the </a:t>
            </a:r>
            <a:r>
              <a:rPr lang="da-DK" sz="1200" dirty="0" err="1"/>
              <a:t>appropriate</a:t>
            </a:r>
            <a:r>
              <a:rPr lang="da-DK" sz="1200" dirty="0"/>
              <a:t> </a:t>
            </a:r>
            <a:r>
              <a:rPr lang="da-DK" sz="1200" dirty="0" err="1"/>
              <a:t>testing</a:t>
            </a:r>
            <a:r>
              <a:rPr lang="da-DK" sz="1200" dirty="0"/>
              <a:t> </a:t>
            </a:r>
            <a:r>
              <a:rPr lang="da-DK" sz="1200" dirty="0" err="1"/>
              <a:t>levels</a:t>
            </a:r>
            <a:r>
              <a:rPr lang="da-DK" sz="1200" dirty="0"/>
              <a:t> (unit, integration, system, </a:t>
            </a:r>
            <a:r>
              <a:rPr lang="da-DK" sz="1200" dirty="0" err="1"/>
              <a:t>acceptance</a:t>
            </a:r>
            <a:r>
              <a:rPr lang="da-DK" sz="1200" dirty="0"/>
              <a:t>)</a:t>
            </a:r>
          </a:p>
          <a:p>
            <a:pPr lvl="1"/>
            <a:r>
              <a:rPr lang="da-DK" sz="1200" dirty="0"/>
              <a:t>Select the </a:t>
            </a:r>
            <a:r>
              <a:rPr lang="da-DK" sz="1200" dirty="0" err="1"/>
              <a:t>necessary</a:t>
            </a:r>
            <a:r>
              <a:rPr lang="da-DK" sz="1200" dirty="0"/>
              <a:t> </a:t>
            </a:r>
            <a:r>
              <a:rPr lang="da-DK" sz="1200" dirty="0" err="1"/>
              <a:t>testing</a:t>
            </a:r>
            <a:r>
              <a:rPr lang="da-DK" sz="1200" dirty="0"/>
              <a:t> types (</a:t>
            </a:r>
            <a:r>
              <a:rPr lang="da-DK" sz="1200" dirty="0" err="1"/>
              <a:t>functional</a:t>
            </a:r>
            <a:r>
              <a:rPr lang="da-DK" sz="1200" dirty="0"/>
              <a:t>, non-</a:t>
            </a:r>
            <a:r>
              <a:rPr lang="da-DK" sz="1200" dirty="0" err="1"/>
              <a:t>functional</a:t>
            </a:r>
            <a:r>
              <a:rPr lang="da-DK" sz="1200" dirty="0"/>
              <a:t>, manual, </a:t>
            </a:r>
            <a:r>
              <a:rPr lang="da-DK" sz="1200" dirty="0" err="1"/>
              <a:t>automated</a:t>
            </a:r>
            <a:r>
              <a:rPr lang="da-DK" sz="1200" dirty="0"/>
              <a:t>)</a:t>
            </a:r>
          </a:p>
          <a:p>
            <a:endParaRPr lang="da-DK" sz="1800" dirty="0"/>
          </a:p>
          <a:p>
            <a:r>
              <a:rPr lang="da-DK" sz="1800" dirty="0" err="1"/>
              <a:t>Establish</a:t>
            </a:r>
            <a:r>
              <a:rPr lang="da-DK" sz="1800" dirty="0"/>
              <a:t> test </a:t>
            </a:r>
            <a:r>
              <a:rPr lang="da-DK" sz="1800" dirty="0" err="1"/>
              <a:t>environment</a:t>
            </a:r>
            <a:r>
              <a:rPr lang="da-DK" sz="1800" dirty="0"/>
              <a:t> and </a:t>
            </a:r>
            <a:r>
              <a:rPr lang="da-DK" sz="1800" dirty="0" err="1"/>
              <a:t>tool</a:t>
            </a:r>
            <a:r>
              <a:rPr lang="da-DK" sz="1800" dirty="0"/>
              <a:t> </a:t>
            </a:r>
            <a:r>
              <a:rPr lang="da-DK" sz="1800" dirty="0" err="1"/>
              <a:t>requirements</a:t>
            </a:r>
            <a:endParaRPr lang="da-DK" sz="1800" dirty="0"/>
          </a:p>
          <a:p>
            <a:pPr lvl="1"/>
            <a:r>
              <a:rPr lang="da-DK" sz="1200" dirty="0" err="1"/>
              <a:t>Identify</a:t>
            </a:r>
            <a:r>
              <a:rPr lang="da-DK" sz="1200" dirty="0"/>
              <a:t> hardware, software, and </a:t>
            </a:r>
            <a:r>
              <a:rPr lang="da-DK" sz="1200" dirty="0" err="1"/>
              <a:t>network</a:t>
            </a:r>
            <a:r>
              <a:rPr lang="da-DK" sz="1200" dirty="0"/>
              <a:t> </a:t>
            </a:r>
            <a:r>
              <a:rPr lang="da-DK" sz="1200" dirty="0" err="1"/>
              <a:t>configurations</a:t>
            </a:r>
            <a:r>
              <a:rPr lang="da-DK" sz="1200" dirty="0"/>
              <a:t> </a:t>
            </a:r>
            <a:r>
              <a:rPr lang="da-DK" sz="1200" dirty="0" err="1"/>
              <a:t>needed</a:t>
            </a:r>
            <a:r>
              <a:rPr lang="da-DK" sz="1200" dirty="0"/>
              <a:t> for </a:t>
            </a:r>
            <a:r>
              <a:rPr lang="da-DK" sz="1200" dirty="0" err="1"/>
              <a:t>testing</a:t>
            </a:r>
            <a:endParaRPr lang="da-DK" sz="1200" dirty="0"/>
          </a:p>
          <a:p>
            <a:pPr lvl="1"/>
            <a:r>
              <a:rPr lang="da-DK" sz="1200" dirty="0" err="1"/>
              <a:t>Choose</a:t>
            </a:r>
            <a:r>
              <a:rPr lang="da-DK" sz="1200" dirty="0"/>
              <a:t> </a:t>
            </a:r>
            <a:r>
              <a:rPr lang="da-DK" sz="1200" dirty="0" err="1"/>
              <a:t>appropriate</a:t>
            </a:r>
            <a:r>
              <a:rPr lang="da-DK" sz="1200" dirty="0"/>
              <a:t> </a:t>
            </a:r>
            <a:r>
              <a:rPr lang="da-DK" sz="1200" dirty="0" err="1"/>
              <a:t>testing</a:t>
            </a:r>
            <a:r>
              <a:rPr lang="da-DK" sz="1200" dirty="0"/>
              <a:t> </a:t>
            </a:r>
            <a:r>
              <a:rPr lang="da-DK" sz="1200" dirty="0" err="1"/>
              <a:t>tools</a:t>
            </a:r>
            <a:r>
              <a:rPr lang="da-DK" sz="1200" dirty="0"/>
              <a:t> and frameworks</a:t>
            </a:r>
          </a:p>
          <a:p>
            <a:endParaRPr lang="da-DK" sz="1800" dirty="0"/>
          </a:p>
          <a:p>
            <a:r>
              <a:rPr lang="da-DK" sz="1800" dirty="0" err="1"/>
              <a:t>Define</a:t>
            </a:r>
            <a:r>
              <a:rPr lang="da-DK" sz="1800" dirty="0"/>
              <a:t> test </a:t>
            </a:r>
            <a:r>
              <a:rPr lang="da-DK" sz="1800" dirty="0" err="1"/>
              <a:t>deliverables</a:t>
            </a:r>
            <a:r>
              <a:rPr lang="da-DK" sz="1800" dirty="0"/>
              <a:t> and </a:t>
            </a:r>
            <a:r>
              <a:rPr lang="da-DK" sz="1800" dirty="0" err="1"/>
              <a:t>documentation</a:t>
            </a:r>
            <a:endParaRPr lang="da-DK" sz="1800" dirty="0"/>
          </a:p>
          <a:p>
            <a:pPr lvl="1"/>
            <a:r>
              <a:rPr lang="da-DK" sz="1200" dirty="0" err="1"/>
              <a:t>Determine</a:t>
            </a:r>
            <a:r>
              <a:rPr lang="da-DK" sz="1200" dirty="0"/>
              <a:t> </a:t>
            </a:r>
            <a:r>
              <a:rPr lang="da-DK" sz="1200" dirty="0" err="1"/>
              <a:t>what</a:t>
            </a:r>
            <a:r>
              <a:rPr lang="da-DK" sz="1200" dirty="0"/>
              <a:t> </a:t>
            </a:r>
            <a:r>
              <a:rPr lang="da-DK" sz="1200" dirty="0" err="1"/>
              <a:t>documents</a:t>
            </a:r>
            <a:r>
              <a:rPr lang="da-DK" sz="1200" dirty="0"/>
              <a:t> </a:t>
            </a:r>
            <a:r>
              <a:rPr lang="da-DK" sz="1200" dirty="0" err="1"/>
              <a:t>will</a:t>
            </a:r>
            <a:r>
              <a:rPr lang="da-DK" sz="1200" dirty="0"/>
              <a:t> </a:t>
            </a:r>
            <a:r>
              <a:rPr lang="da-DK" sz="1200" dirty="0" err="1"/>
              <a:t>be</a:t>
            </a:r>
            <a:r>
              <a:rPr lang="da-DK" sz="1200" dirty="0"/>
              <a:t> </a:t>
            </a:r>
            <a:r>
              <a:rPr lang="da-DK" sz="1200" dirty="0" err="1"/>
              <a:t>produced</a:t>
            </a:r>
            <a:r>
              <a:rPr lang="da-DK" sz="1200" dirty="0"/>
              <a:t> </a:t>
            </a:r>
            <a:r>
              <a:rPr lang="da-DK" sz="1200" dirty="0" err="1"/>
              <a:t>during</a:t>
            </a:r>
            <a:r>
              <a:rPr lang="da-DK" sz="1200" dirty="0"/>
              <a:t> the </a:t>
            </a:r>
            <a:r>
              <a:rPr lang="da-DK" sz="1200" dirty="0" err="1"/>
              <a:t>testing</a:t>
            </a:r>
            <a:r>
              <a:rPr lang="da-DK" sz="1200" dirty="0"/>
              <a:t> </a:t>
            </a:r>
            <a:r>
              <a:rPr lang="da-DK" sz="1200" dirty="0" err="1"/>
              <a:t>process</a:t>
            </a:r>
            <a:r>
              <a:rPr lang="da-DK" sz="1200" dirty="0"/>
              <a:t> (</a:t>
            </a:r>
            <a:r>
              <a:rPr lang="da-DK" sz="1200" dirty="0" err="1"/>
              <a:t>e.g</a:t>
            </a:r>
            <a:r>
              <a:rPr lang="da-DK" sz="1200" dirty="0"/>
              <a:t>., test plan, test cases, test scripts, </a:t>
            </a:r>
            <a:r>
              <a:rPr lang="da-DK" sz="1200" dirty="0" err="1"/>
              <a:t>defect</a:t>
            </a:r>
            <a:r>
              <a:rPr lang="da-DK" sz="1200" dirty="0"/>
              <a:t> </a:t>
            </a:r>
            <a:r>
              <a:rPr lang="da-DK" sz="1200" dirty="0" err="1"/>
              <a:t>reports</a:t>
            </a:r>
            <a:r>
              <a:rPr lang="da-DK" sz="1200" dirty="0"/>
              <a:t>)</a:t>
            </a:r>
          </a:p>
          <a:p>
            <a:pPr lvl="1"/>
            <a:r>
              <a:rPr lang="da-DK" sz="1200" dirty="0" err="1"/>
              <a:t>Establish</a:t>
            </a:r>
            <a:r>
              <a:rPr lang="da-DK" sz="1200" dirty="0"/>
              <a:t> a standard format for </a:t>
            </a:r>
            <a:r>
              <a:rPr lang="da-DK" sz="1200" dirty="0" err="1"/>
              <a:t>documentation</a:t>
            </a:r>
            <a:endParaRPr lang="en-DK" sz="1200" dirty="0"/>
          </a:p>
        </p:txBody>
      </p:sp>
    </p:spTree>
    <p:extLst>
      <p:ext uri="{BB962C8B-B14F-4D97-AF65-F5344CB8AC3E}">
        <p14:creationId xmlns:p14="http://schemas.microsoft.com/office/powerpoint/2010/main" val="412146952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9CBBB199-CEE7-4207-9B94-FABE54697AB5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da-DK" dirty="0" err="1"/>
              <a:t>Creating</a:t>
            </a:r>
            <a:r>
              <a:rPr lang="da-DK" dirty="0"/>
              <a:t> a Test Plan - Step by Step Guide</a:t>
            </a:r>
          </a:p>
        </p:txBody>
      </p:sp>
      <p:sp>
        <p:nvSpPr>
          <p:cNvPr id="4" name="Pladsholder til dato 3">
            <a:extLst>
              <a:ext uri="{FF2B5EF4-FFF2-40B4-BE49-F238E27FC236}">
                <a16:creationId xmlns:a16="http://schemas.microsoft.com/office/drawing/2014/main" id="{DF6BBC47-AF93-4B51-BB19-37E8FA70A1FC}"/>
              </a:ext>
            </a:extLst>
          </p:cNvPr>
          <p:cNvSpPr>
            <a:spLocks noGrp="1"/>
          </p:cNvSpPr>
          <p:nvPr>
            <p:ph type="dt" sz="half" idx="2"/>
          </p:nvPr>
        </p:nvSpPr>
        <p:spPr/>
        <p:txBody>
          <a:bodyPr/>
          <a:lstStyle/>
          <a:p>
            <a:fld id="{1D326F97-033E-40DE-A683-79560FFFFEF4}" type="datetime1">
              <a:rPr lang="en-GB" smtClean="0"/>
              <a:t>24/04/2023</a:t>
            </a:fld>
            <a:endParaRPr lang="en-GB" dirty="0"/>
          </a:p>
        </p:txBody>
      </p:sp>
      <p:sp>
        <p:nvSpPr>
          <p:cNvPr id="5" name="Pladsholder til sidefod 4">
            <a:extLst>
              <a:ext uri="{FF2B5EF4-FFF2-40B4-BE49-F238E27FC236}">
                <a16:creationId xmlns:a16="http://schemas.microsoft.com/office/drawing/2014/main" id="{0A4065D9-777F-4BC2-8DA9-0E100CD3446A}"/>
              </a:ext>
            </a:extLst>
          </p:cNvPr>
          <p:cNvSpPr>
            <a:spLocks noGrp="1"/>
          </p:cNvSpPr>
          <p:nvPr>
            <p:ph type="ftr" sz="quarter" idx="14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6" name="Pladsholder til slidenummer 5">
            <a:extLst>
              <a:ext uri="{FF2B5EF4-FFF2-40B4-BE49-F238E27FC236}">
                <a16:creationId xmlns:a16="http://schemas.microsoft.com/office/drawing/2014/main" id="{1971CA48-5488-429E-869D-06623C5E5997}"/>
              </a:ext>
            </a:extLst>
          </p:cNvPr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fld id="{45D37B1E-C366-494F-A587-962AD9AABC83}" type="slidenum">
              <a:rPr lang="en-GB" smtClean="0"/>
              <a:pPr/>
              <a:t>13</a:t>
            </a:fld>
            <a:endParaRPr lang="en-GB" dirty="0"/>
          </a:p>
        </p:txBody>
      </p:sp>
      <p:sp>
        <p:nvSpPr>
          <p:cNvPr id="10" name="Content Placeholder 9">
            <a:extLst>
              <a:ext uri="{FF2B5EF4-FFF2-40B4-BE49-F238E27FC236}">
                <a16:creationId xmlns:a16="http://schemas.microsoft.com/office/drawing/2014/main" id="{040613FC-F94A-0712-DF75-092CF5474396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414696" y="1510748"/>
            <a:ext cx="10952578" cy="4598390"/>
          </a:xfrm>
        </p:spPr>
        <p:txBody>
          <a:bodyPr/>
          <a:lstStyle/>
          <a:p>
            <a:r>
              <a:rPr lang="da-DK" dirty="0" err="1"/>
              <a:t>Allocate</a:t>
            </a:r>
            <a:r>
              <a:rPr lang="da-DK" dirty="0"/>
              <a:t> </a:t>
            </a:r>
            <a:r>
              <a:rPr lang="da-DK" dirty="0" err="1"/>
              <a:t>roles</a:t>
            </a:r>
            <a:r>
              <a:rPr lang="da-DK" dirty="0"/>
              <a:t> and </a:t>
            </a:r>
            <a:r>
              <a:rPr lang="da-DK" dirty="0" err="1"/>
              <a:t>responsibilities</a:t>
            </a:r>
            <a:endParaRPr lang="da-DK" dirty="0"/>
          </a:p>
          <a:p>
            <a:pPr lvl="1"/>
            <a:r>
              <a:rPr lang="da-DK" dirty="0" err="1"/>
              <a:t>Assign</a:t>
            </a:r>
            <a:r>
              <a:rPr lang="da-DK" dirty="0"/>
              <a:t> </a:t>
            </a:r>
            <a:r>
              <a:rPr lang="da-DK" dirty="0" err="1"/>
              <a:t>testing</a:t>
            </a:r>
            <a:r>
              <a:rPr lang="da-DK" dirty="0"/>
              <a:t> tasks to team </a:t>
            </a:r>
            <a:r>
              <a:rPr lang="da-DK" dirty="0" err="1"/>
              <a:t>members</a:t>
            </a:r>
            <a:r>
              <a:rPr lang="da-DK" dirty="0"/>
              <a:t> </a:t>
            </a:r>
            <a:r>
              <a:rPr lang="da-DK" dirty="0" err="1"/>
              <a:t>based</a:t>
            </a:r>
            <a:r>
              <a:rPr lang="da-DK" dirty="0"/>
              <a:t> on </a:t>
            </a:r>
            <a:r>
              <a:rPr lang="da-DK" dirty="0" err="1"/>
              <a:t>expertise</a:t>
            </a:r>
            <a:r>
              <a:rPr lang="da-DK" dirty="0"/>
              <a:t> and </a:t>
            </a:r>
            <a:r>
              <a:rPr lang="da-DK" dirty="0" err="1"/>
              <a:t>availability</a:t>
            </a:r>
            <a:endParaRPr lang="da-DK" dirty="0"/>
          </a:p>
          <a:p>
            <a:pPr lvl="1"/>
            <a:r>
              <a:rPr lang="da-DK" dirty="0" err="1"/>
              <a:t>Ensure</a:t>
            </a:r>
            <a:r>
              <a:rPr lang="da-DK" dirty="0"/>
              <a:t> clear </a:t>
            </a:r>
            <a:r>
              <a:rPr lang="da-DK" dirty="0" err="1"/>
              <a:t>communication</a:t>
            </a:r>
            <a:r>
              <a:rPr lang="da-DK" dirty="0"/>
              <a:t> and </a:t>
            </a:r>
            <a:r>
              <a:rPr lang="da-DK" dirty="0" err="1"/>
              <a:t>collaboration</a:t>
            </a:r>
            <a:r>
              <a:rPr lang="da-DK" dirty="0"/>
              <a:t> </a:t>
            </a:r>
            <a:r>
              <a:rPr lang="da-DK" dirty="0" err="1"/>
              <a:t>among</a:t>
            </a:r>
            <a:r>
              <a:rPr lang="da-DK" dirty="0"/>
              <a:t> the team</a:t>
            </a:r>
          </a:p>
          <a:p>
            <a:endParaRPr lang="da-DK" dirty="0"/>
          </a:p>
          <a:p>
            <a:r>
              <a:rPr lang="da-DK" dirty="0" err="1"/>
              <a:t>Develop</a:t>
            </a:r>
            <a:r>
              <a:rPr lang="da-DK" dirty="0"/>
              <a:t> a test </a:t>
            </a:r>
            <a:r>
              <a:rPr lang="da-DK" dirty="0" err="1"/>
              <a:t>schedule</a:t>
            </a:r>
            <a:r>
              <a:rPr lang="da-DK" dirty="0"/>
              <a:t> and </a:t>
            </a:r>
            <a:r>
              <a:rPr lang="da-DK" dirty="0" err="1"/>
              <a:t>estimate</a:t>
            </a:r>
            <a:r>
              <a:rPr lang="da-DK" dirty="0"/>
              <a:t> </a:t>
            </a:r>
            <a:r>
              <a:rPr lang="da-DK" dirty="0" err="1"/>
              <a:t>resources</a:t>
            </a:r>
            <a:endParaRPr lang="da-DK" dirty="0"/>
          </a:p>
          <a:p>
            <a:pPr lvl="1"/>
            <a:r>
              <a:rPr lang="da-DK" dirty="0"/>
              <a:t>Plan </a:t>
            </a:r>
            <a:r>
              <a:rPr lang="da-DK" dirty="0" err="1"/>
              <a:t>testing</a:t>
            </a:r>
            <a:r>
              <a:rPr lang="da-DK" dirty="0"/>
              <a:t> </a:t>
            </a:r>
            <a:r>
              <a:rPr lang="da-DK" dirty="0" err="1"/>
              <a:t>activities</a:t>
            </a:r>
            <a:r>
              <a:rPr lang="da-DK" dirty="0"/>
              <a:t> in </a:t>
            </a:r>
            <a:r>
              <a:rPr lang="da-DK" dirty="0" err="1"/>
              <a:t>accordance</a:t>
            </a:r>
            <a:r>
              <a:rPr lang="da-DK" dirty="0"/>
              <a:t> with </a:t>
            </a:r>
            <a:r>
              <a:rPr lang="da-DK" dirty="0" err="1"/>
              <a:t>project</a:t>
            </a:r>
            <a:r>
              <a:rPr lang="da-DK" dirty="0"/>
              <a:t> </a:t>
            </a:r>
            <a:r>
              <a:rPr lang="da-DK" dirty="0" err="1"/>
              <a:t>milestones</a:t>
            </a:r>
            <a:endParaRPr lang="da-DK" dirty="0"/>
          </a:p>
          <a:p>
            <a:pPr lvl="1"/>
            <a:r>
              <a:rPr lang="da-DK" dirty="0" err="1"/>
              <a:t>Estimate</a:t>
            </a:r>
            <a:r>
              <a:rPr lang="da-DK" dirty="0"/>
              <a:t> time, budget, and </a:t>
            </a:r>
            <a:r>
              <a:rPr lang="da-DK" dirty="0" err="1"/>
              <a:t>personnel</a:t>
            </a:r>
            <a:r>
              <a:rPr lang="da-DK" dirty="0"/>
              <a:t> </a:t>
            </a:r>
            <a:r>
              <a:rPr lang="da-DK" dirty="0" err="1"/>
              <a:t>required</a:t>
            </a:r>
            <a:r>
              <a:rPr lang="da-DK" dirty="0"/>
              <a:t> for </a:t>
            </a:r>
            <a:r>
              <a:rPr lang="da-DK" dirty="0" err="1"/>
              <a:t>testing</a:t>
            </a:r>
            <a:endParaRPr lang="da-DK" dirty="0"/>
          </a:p>
          <a:p>
            <a:endParaRPr lang="da-DK" dirty="0"/>
          </a:p>
          <a:p>
            <a:r>
              <a:rPr lang="da-DK" dirty="0" err="1"/>
              <a:t>Establish</a:t>
            </a:r>
            <a:r>
              <a:rPr lang="da-DK" dirty="0"/>
              <a:t> </a:t>
            </a:r>
            <a:r>
              <a:rPr lang="da-DK" dirty="0" err="1"/>
              <a:t>risk</a:t>
            </a:r>
            <a:r>
              <a:rPr lang="da-DK" dirty="0"/>
              <a:t> management and </a:t>
            </a:r>
            <a:r>
              <a:rPr lang="da-DK" dirty="0" err="1"/>
              <a:t>mitigation</a:t>
            </a:r>
            <a:r>
              <a:rPr lang="da-DK" dirty="0"/>
              <a:t> plans</a:t>
            </a:r>
          </a:p>
          <a:p>
            <a:pPr lvl="1"/>
            <a:r>
              <a:rPr lang="da-DK" dirty="0" err="1"/>
              <a:t>Identify</a:t>
            </a:r>
            <a:r>
              <a:rPr lang="da-DK" dirty="0"/>
              <a:t> potential </a:t>
            </a:r>
            <a:r>
              <a:rPr lang="da-DK" dirty="0" err="1"/>
              <a:t>risks</a:t>
            </a:r>
            <a:r>
              <a:rPr lang="da-DK" dirty="0"/>
              <a:t> </a:t>
            </a:r>
            <a:r>
              <a:rPr lang="da-DK" dirty="0" err="1"/>
              <a:t>associated</a:t>
            </a:r>
            <a:r>
              <a:rPr lang="da-DK" dirty="0"/>
              <a:t> with </a:t>
            </a:r>
            <a:r>
              <a:rPr lang="da-DK" dirty="0" err="1"/>
              <a:t>testing</a:t>
            </a:r>
            <a:endParaRPr lang="da-DK" dirty="0"/>
          </a:p>
          <a:p>
            <a:pPr lvl="1"/>
            <a:r>
              <a:rPr lang="da-DK" dirty="0" err="1"/>
              <a:t>Develop</a:t>
            </a:r>
            <a:r>
              <a:rPr lang="da-DK" dirty="0"/>
              <a:t> </a:t>
            </a:r>
            <a:r>
              <a:rPr lang="da-DK" dirty="0" err="1"/>
              <a:t>contingency</a:t>
            </a:r>
            <a:r>
              <a:rPr lang="da-DK" dirty="0"/>
              <a:t> plans to </a:t>
            </a:r>
            <a:r>
              <a:rPr lang="da-DK" dirty="0" err="1"/>
              <a:t>address</a:t>
            </a:r>
            <a:r>
              <a:rPr lang="da-DK" dirty="0"/>
              <a:t> </a:t>
            </a:r>
            <a:r>
              <a:rPr lang="da-DK" dirty="0" err="1"/>
              <a:t>these</a:t>
            </a:r>
            <a:r>
              <a:rPr lang="da-DK" dirty="0"/>
              <a:t> </a:t>
            </a:r>
            <a:r>
              <a:rPr lang="da-DK" dirty="0" err="1"/>
              <a:t>risks</a:t>
            </a:r>
            <a:endParaRPr lang="da-DK" dirty="0"/>
          </a:p>
          <a:p>
            <a:endParaRPr lang="da-DK" dirty="0"/>
          </a:p>
          <a:p>
            <a:r>
              <a:rPr lang="da-DK" dirty="0" err="1"/>
              <a:t>Determine</a:t>
            </a:r>
            <a:r>
              <a:rPr lang="da-DK" dirty="0"/>
              <a:t> </a:t>
            </a:r>
            <a:r>
              <a:rPr lang="da-DK" dirty="0" err="1"/>
              <a:t>entry</a:t>
            </a:r>
            <a:r>
              <a:rPr lang="da-DK" dirty="0"/>
              <a:t> and exit </a:t>
            </a:r>
            <a:r>
              <a:rPr lang="da-DK" dirty="0" err="1"/>
              <a:t>criteria</a:t>
            </a:r>
            <a:r>
              <a:rPr lang="da-DK" dirty="0"/>
              <a:t> for </a:t>
            </a:r>
            <a:r>
              <a:rPr lang="da-DK" dirty="0" err="1"/>
              <a:t>each</a:t>
            </a:r>
            <a:r>
              <a:rPr lang="da-DK" dirty="0"/>
              <a:t> test </a:t>
            </a:r>
            <a:r>
              <a:rPr lang="da-DK" dirty="0" err="1"/>
              <a:t>phase</a:t>
            </a:r>
            <a:endParaRPr lang="da-DK" dirty="0"/>
          </a:p>
          <a:p>
            <a:pPr lvl="1"/>
            <a:r>
              <a:rPr lang="da-DK" dirty="0" err="1"/>
              <a:t>Define</a:t>
            </a:r>
            <a:r>
              <a:rPr lang="da-DK" dirty="0"/>
              <a:t> the </a:t>
            </a:r>
            <a:r>
              <a:rPr lang="da-DK" dirty="0" err="1"/>
              <a:t>conditions</a:t>
            </a:r>
            <a:r>
              <a:rPr lang="da-DK" dirty="0"/>
              <a:t> </a:t>
            </a:r>
            <a:r>
              <a:rPr lang="da-DK" dirty="0" err="1"/>
              <a:t>that</a:t>
            </a:r>
            <a:r>
              <a:rPr lang="da-DK" dirty="0"/>
              <a:t> must </a:t>
            </a:r>
            <a:r>
              <a:rPr lang="da-DK" dirty="0" err="1"/>
              <a:t>be</a:t>
            </a:r>
            <a:r>
              <a:rPr lang="da-DK" dirty="0"/>
              <a:t> </a:t>
            </a:r>
            <a:r>
              <a:rPr lang="da-DK" dirty="0" err="1"/>
              <a:t>met</a:t>
            </a:r>
            <a:r>
              <a:rPr lang="da-DK" dirty="0"/>
              <a:t> </a:t>
            </a:r>
            <a:r>
              <a:rPr lang="da-DK" dirty="0" err="1"/>
              <a:t>before</a:t>
            </a:r>
            <a:r>
              <a:rPr lang="da-DK" dirty="0"/>
              <a:t> </a:t>
            </a:r>
            <a:r>
              <a:rPr lang="da-DK" dirty="0" err="1"/>
              <a:t>starting</a:t>
            </a:r>
            <a:r>
              <a:rPr lang="da-DK" dirty="0"/>
              <a:t> and </a:t>
            </a:r>
            <a:r>
              <a:rPr lang="da-DK" dirty="0" err="1"/>
              <a:t>ending</a:t>
            </a:r>
            <a:r>
              <a:rPr lang="da-DK" dirty="0"/>
              <a:t> </a:t>
            </a:r>
            <a:r>
              <a:rPr lang="da-DK" dirty="0" err="1"/>
              <a:t>each</a:t>
            </a:r>
            <a:r>
              <a:rPr lang="da-DK" dirty="0"/>
              <a:t> </a:t>
            </a:r>
            <a:r>
              <a:rPr lang="da-DK" dirty="0" err="1"/>
              <a:t>testing</a:t>
            </a:r>
            <a:r>
              <a:rPr lang="da-DK" dirty="0"/>
              <a:t> </a:t>
            </a:r>
            <a:r>
              <a:rPr lang="da-DK" dirty="0" err="1"/>
              <a:t>phase</a:t>
            </a:r>
            <a:endParaRPr lang="da-DK" dirty="0"/>
          </a:p>
          <a:p>
            <a:pPr lvl="1"/>
            <a:r>
              <a:rPr lang="da-DK" dirty="0" err="1"/>
              <a:t>Ensure</a:t>
            </a:r>
            <a:r>
              <a:rPr lang="da-DK" dirty="0"/>
              <a:t> </a:t>
            </a:r>
            <a:r>
              <a:rPr lang="da-DK" dirty="0" err="1"/>
              <a:t>that</a:t>
            </a:r>
            <a:r>
              <a:rPr lang="da-DK" dirty="0"/>
              <a:t> </a:t>
            </a:r>
            <a:r>
              <a:rPr lang="da-DK" dirty="0" err="1"/>
              <a:t>testing</a:t>
            </a:r>
            <a:r>
              <a:rPr lang="da-DK" dirty="0"/>
              <a:t> </a:t>
            </a:r>
            <a:r>
              <a:rPr lang="da-DK" dirty="0" err="1"/>
              <a:t>progresses</a:t>
            </a:r>
            <a:r>
              <a:rPr lang="da-DK" dirty="0"/>
              <a:t> </a:t>
            </a:r>
            <a:r>
              <a:rPr lang="da-DK" dirty="0" err="1"/>
              <a:t>smoothly</a:t>
            </a:r>
            <a:r>
              <a:rPr lang="da-DK" dirty="0"/>
              <a:t> and </a:t>
            </a:r>
            <a:r>
              <a:rPr lang="da-DK" dirty="0" err="1"/>
              <a:t>consistently</a:t>
            </a:r>
            <a:endParaRPr lang="da-DK" dirty="0"/>
          </a:p>
          <a:p>
            <a:endParaRPr lang="da-DK" dirty="0"/>
          </a:p>
          <a:p>
            <a:r>
              <a:rPr lang="da-DK" dirty="0"/>
              <a:t>Plan for test </a:t>
            </a:r>
            <a:r>
              <a:rPr lang="da-DK" dirty="0" err="1"/>
              <a:t>maintenance</a:t>
            </a:r>
            <a:r>
              <a:rPr lang="da-DK" dirty="0"/>
              <a:t> and </a:t>
            </a:r>
            <a:r>
              <a:rPr lang="da-DK" dirty="0" err="1"/>
              <a:t>continuous</a:t>
            </a:r>
            <a:r>
              <a:rPr lang="da-DK" dirty="0"/>
              <a:t> </a:t>
            </a:r>
            <a:r>
              <a:rPr lang="da-DK" dirty="0" err="1"/>
              <a:t>improvement</a:t>
            </a:r>
            <a:endParaRPr lang="da-DK" dirty="0"/>
          </a:p>
          <a:p>
            <a:pPr lvl="1"/>
            <a:r>
              <a:rPr lang="da-DK" dirty="0" err="1"/>
              <a:t>Establish</a:t>
            </a:r>
            <a:r>
              <a:rPr lang="da-DK" dirty="0"/>
              <a:t> a </a:t>
            </a:r>
            <a:r>
              <a:rPr lang="da-DK" dirty="0" err="1"/>
              <a:t>process</a:t>
            </a:r>
            <a:r>
              <a:rPr lang="da-DK" dirty="0"/>
              <a:t> for </a:t>
            </a:r>
            <a:r>
              <a:rPr lang="da-DK" dirty="0" err="1"/>
              <a:t>updating</a:t>
            </a:r>
            <a:r>
              <a:rPr lang="da-DK" dirty="0"/>
              <a:t> and </a:t>
            </a:r>
            <a:r>
              <a:rPr lang="da-DK" dirty="0" err="1"/>
              <a:t>refining</a:t>
            </a:r>
            <a:r>
              <a:rPr lang="da-DK" dirty="0"/>
              <a:t> test cases as </a:t>
            </a:r>
            <a:r>
              <a:rPr lang="da-DK" dirty="0" err="1"/>
              <a:t>requirements</a:t>
            </a:r>
            <a:r>
              <a:rPr lang="da-DK" dirty="0"/>
              <a:t> </a:t>
            </a:r>
            <a:r>
              <a:rPr lang="da-DK" dirty="0" err="1"/>
              <a:t>change</a:t>
            </a:r>
            <a:endParaRPr lang="da-DK" dirty="0"/>
          </a:p>
          <a:p>
            <a:pPr lvl="1"/>
            <a:r>
              <a:rPr lang="da-DK" dirty="0" err="1"/>
              <a:t>Continuously</a:t>
            </a:r>
            <a:r>
              <a:rPr lang="da-DK" dirty="0"/>
              <a:t> </a:t>
            </a:r>
            <a:r>
              <a:rPr lang="da-DK" dirty="0" err="1"/>
              <a:t>evaluate</a:t>
            </a:r>
            <a:r>
              <a:rPr lang="da-DK" dirty="0"/>
              <a:t> and </a:t>
            </a:r>
            <a:r>
              <a:rPr lang="da-DK" dirty="0" err="1"/>
              <a:t>improve</a:t>
            </a:r>
            <a:r>
              <a:rPr lang="da-DK" dirty="0"/>
              <a:t> </a:t>
            </a:r>
            <a:r>
              <a:rPr lang="da-DK" dirty="0" err="1"/>
              <a:t>testing</a:t>
            </a:r>
            <a:r>
              <a:rPr lang="da-DK" dirty="0"/>
              <a:t> practices and </a:t>
            </a:r>
            <a:r>
              <a:rPr lang="da-DK" dirty="0" err="1"/>
              <a:t>methodologies</a:t>
            </a:r>
            <a:endParaRPr lang="en-DK" sz="900" dirty="0"/>
          </a:p>
        </p:txBody>
      </p:sp>
    </p:spTree>
    <p:extLst>
      <p:ext uri="{BB962C8B-B14F-4D97-AF65-F5344CB8AC3E}">
        <p14:creationId xmlns:p14="http://schemas.microsoft.com/office/powerpoint/2010/main" val="1891609449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552FF25E-24BF-4225-87AB-B2869F94CB2B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da-DK"/>
          </a:p>
        </p:txBody>
      </p:sp>
      <p:sp>
        <p:nvSpPr>
          <p:cNvPr id="3" name="Pladsholder til dato 2">
            <a:extLst>
              <a:ext uri="{FF2B5EF4-FFF2-40B4-BE49-F238E27FC236}">
                <a16:creationId xmlns:a16="http://schemas.microsoft.com/office/drawing/2014/main" id="{4C93D788-8D9D-4045-B518-6692018D89DE}"/>
              </a:ext>
            </a:extLst>
          </p:cNvPr>
          <p:cNvSpPr>
            <a:spLocks noGrp="1"/>
          </p:cNvSpPr>
          <p:nvPr>
            <p:ph type="dt" sz="half" idx="2"/>
          </p:nvPr>
        </p:nvSpPr>
        <p:spPr/>
        <p:txBody>
          <a:bodyPr/>
          <a:lstStyle/>
          <a:p>
            <a:fld id="{B4C4C6FD-8607-43FF-8BC8-950EFB970BA3}" type="datetime1">
              <a:rPr lang="en-GB" smtClean="0"/>
              <a:t>24/04/2023</a:t>
            </a:fld>
            <a:endParaRPr lang="en-GB" dirty="0"/>
          </a:p>
        </p:txBody>
      </p:sp>
      <p:sp>
        <p:nvSpPr>
          <p:cNvPr id="4" name="Rektangel 3">
            <a:extLst>
              <a:ext uri="{FF2B5EF4-FFF2-40B4-BE49-F238E27FC236}">
                <a16:creationId xmlns:a16="http://schemas.microsoft.com/office/drawing/2014/main" id="{F994D39F-0217-4BCC-AD0B-429E7605B2F1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accent3">
              <a:lumMod val="50000"/>
            </a:schemeClr>
          </a:solidFill>
          <a:ln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tIns="72000" rIns="72000" bIns="72000" rtlCol="0" anchor="ctr"/>
          <a:lstStyle/>
          <a:p>
            <a:pPr algn="ctr"/>
            <a:r>
              <a:rPr lang="da-DK" sz="2800" b="1" dirty="0"/>
              <a:t>Case: </a:t>
            </a:r>
            <a:r>
              <a:rPr lang="da-DK" sz="2800" b="1" dirty="0" err="1"/>
              <a:t>Simplified</a:t>
            </a:r>
            <a:r>
              <a:rPr lang="da-DK" sz="2800" b="1" dirty="0"/>
              <a:t> Education System</a:t>
            </a:r>
          </a:p>
          <a:p>
            <a:pPr algn="ctr"/>
            <a:endParaRPr lang="da-DK" sz="2800" b="1" dirty="0"/>
          </a:p>
          <a:p>
            <a:pPr algn="ctr"/>
            <a:r>
              <a:rPr lang="da-DK" i="1" dirty="0"/>
              <a:t>A simple </a:t>
            </a:r>
            <a:r>
              <a:rPr lang="da-DK" i="1" dirty="0" err="1"/>
              <a:t>education</a:t>
            </a:r>
            <a:r>
              <a:rPr lang="da-DK" i="1" dirty="0"/>
              <a:t> system </a:t>
            </a:r>
            <a:r>
              <a:rPr lang="da-DK" i="1" dirty="0" err="1"/>
              <a:t>where</a:t>
            </a:r>
            <a:r>
              <a:rPr lang="da-DK" i="1" dirty="0"/>
              <a:t> administrators </a:t>
            </a:r>
            <a:r>
              <a:rPr lang="da-DK" i="1" dirty="0" err="1"/>
              <a:t>can</a:t>
            </a:r>
            <a:r>
              <a:rPr lang="da-DK" i="1" dirty="0"/>
              <a:t> </a:t>
            </a:r>
            <a:r>
              <a:rPr lang="da-DK" i="1" dirty="0" err="1"/>
              <a:t>create</a:t>
            </a:r>
            <a:r>
              <a:rPr lang="da-DK" i="1" dirty="0"/>
              <a:t> </a:t>
            </a:r>
            <a:r>
              <a:rPr lang="da-DK" i="1" dirty="0" err="1"/>
              <a:t>courses</a:t>
            </a:r>
            <a:r>
              <a:rPr lang="da-DK" i="1" dirty="0"/>
              <a:t> and </a:t>
            </a:r>
            <a:r>
              <a:rPr lang="da-DK" i="1" dirty="0" err="1"/>
              <a:t>assign</a:t>
            </a:r>
            <a:r>
              <a:rPr lang="da-DK" i="1" dirty="0"/>
              <a:t> </a:t>
            </a:r>
            <a:r>
              <a:rPr lang="da-DK" i="1" dirty="0" err="1"/>
              <a:t>teachers</a:t>
            </a:r>
            <a:r>
              <a:rPr lang="da-DK" i="1" dirty="0"/>
              <a:t> and students to it, </a:t>
            </a:r>
            <a:r>
              <a:rPr lang="da-DK" i="1" dirty="0" err="1"/>
              <a:t>teachers</a:t>
            </a:r>
            <a:r>
              <a:rPr lang="da-DK" i="1" dirty="0"/>
              <a:t> </a:t>
            </a:r>
            <a:r>
              <a:rPr lang="da-DK" i="1" dirty="0" err="1"/>
              <a:t>can</a:t>
            </a:r>
            <a:r>
              <a:rPr lang="da-DK" i="1" dirty="0"/>
              <a:t> upload </a:t>
            </a:r>
            <a:r>
              <a:rPr lang="da-DK" i="1" dirty="0" err="1"/>
              <a:t>material</a:t>
            </a:r>
            <a:r>
              <a:rPr lang="da-DK" i="1" dirty="0"/>
              <a:t> to a </a:t>
            </a:r>
            <a:r>
              <a:rPr lang="da-DK" i="1" dirty="0" err="1"/>
              <a:t>course</a:t>
            </a:r>
            <a:r>
              <a:rPr lang="da-DK" i="1" dirty="0"/>
              <a:t> </a:t>
            </a:r>
            <a:r>
              <a:rPr lang="da-DK" i="1" dirty="0" err="1"/>
              <a:t>they</a:t>
            </a:r>
            <a:r>
              <a:rPr lang="da-DK" i="1" dirty="0"/>
              <a:t> </a:t>
            </a:r>
            <a:r>
              <a:rPr lang="da-DK" i="1" dirty="0" err="1"/>
              <a:t>are</a:t>
            </a:r>
            <a:r>
              <a:rPr lang="da-DK" i="1" dirty="0"/>
              <a:t> </a:t>
            </a:r>
            <a:r>
              <a:rPr lang="da-DK" i="1" dirty="0" err="1"/>
              <a:t>enrolled</a:t>
            </a:r>
            <a:r>
              <a:rPr lang="da-DK" i="1" dirty="0"/>
              <a:t> in by the administrator, and the students </a:t>
            </a:r>
            <a:r>
              <a:rPr lang="da-DK" i="1" dirty="0" err="1"/>
              <a:t>can</a:t>
            </a:r>
            <a:r>
              <a:rPr lang="da-DK" i="1" dirty="0"/>
              <a:t> download </a:t>
            </a:r>
            <a:r>
              <a:rPr lang="da-DK" i="1" dirty="0" err="1"/>
              <a:t>material</a:t>
            </a:r>
            <a:r>
              <a:rPr lang="da-DK" i="1" dirty="0"/>
              <a:t> from the </a:t>
            </a:r>
            <a:r>
              <a:rPr lang="da-DK" i="1" dirty="0" err="1"/>
              <a:t>courses</a:t>
            </a:r>
            <a:r>
              <a:rPr lang="da-DK" i="1" dirty="0"/>
              <a:t> </a:t>
            </a:r>
            <a:r>
              <a:rPr lang="da-DK" i="1" dirty="0" err="1"/>
              <a:t>they</a:t>
            </a:r>
            <a:r>
              <a:rPr lang="da-DK" i="1" dirty="0"/>
              <a:t> </a:t>
            </a:r>
            <a:r>
              <a:rPr lang="da-DK" i="1" dirty="0" err="1"/>
              <a:t>are</a:t>
            </a:r>
            <a:r>
              <a:rPr lang="da-DK" i="1" dirty="0"/>
              <a:t> </a:t>
            </a:r>
            <a:r>
              <a:rPr lang="da-DK" i="1" dirty="0" err="1"/>
              <a:t>enrolled</a:t>
            </a:r>
            <a:r>
              <a:rPr lang="da-DK" i="1" dirty="0"/>
              <a:t> in by the administrator</a:t>
            </a:r>
            <a:endParaRPr lang="da-DK" sz="2800" i="1" dirty="0"/>
          </a:p>
        </p:txBody>
      </p:sp>
    </p:spTree>
    <p:extLst>
      <p:ext uri="{BB962C8B-B14F-4D97-AF65-F5344CB8AC3E}">
        <p14:creationId xmlns:p14="http://schemas.microsoft.com/office/powerpoint/2010/main" val="1836147908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9CBBB199-CEE7-4207-9B94-FABE54697AB5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da-DK" dirty="0" err="1"/>
              <a:t>Example</a:t>
            </a:r>
            <a:r>
              <a:rPr lang="da-DK" dirty="0"/>
              <a:t> Test Plan - Simple Education System</a:t>
            </a:r>
          </a:p>
        </p:txBody>
      </p:sp>
      <p:sp>
        <p:nvSpPr>
          <p:cNvPr id="4" name="Pladsholder til dato 3">
            <a:extLst>
              <a:ext uri="{FF2B5EF4-FFF2-40B4-BE49-F238E27FC236}">
                <a16:creationId xmlns:a16="http://schemas.microsoft.com/office/drawing/2014/main" id="{DF6BBC47-AF93-4B51-BB19-37E8FA70A1FC}"/>
              </a:ext>
            </a:extLst>
          </p:cNvPr>
          <p:cNvSpPr>
            <a:spLocks noGrp="1"/>
          </p:cNvSpPr>
          <p:nvPr>
            <p:ph type="dt" sz="half" idx="2"/>
          </p:nvPr>
        </p:nvSpPr>
        <p:spPr/>
        <p:txBody>
          <a:bodyPr/>
          <a:lstStyle/>
          <a:p>
            <a:fld id="{1D326F97-033E-40DE-A683-79560FFFFEF4}" type="datetime1">
              <a:rPr lang="en-GB" smtClean="0"/>
              <a:t>24/04/2023</a:t>
            </a:fld>
            <a:endParaRPr lang="en-GB" dirty="0"/>
          </a:p>
        </p:txBody>
      </p:sp>
      <p:sp>
        <p:nvSpPr>
          <p:cNvPr id="5" name="Pladsholder til sidefod 4">
            <a:extLst>
              <a:ext uri="{FF2B5EF4-FFF2-40B4-BE49-F238E27FC236}">
                <a16:creationId xmlns:a16="http://schemas.microsoft.com/office/drawing/2014/main" id="{0A4065D9-777F-4BC2-8DA9-0E100CD3446A}"/>
              </a:ext>
            </a:extLst>
          </p:cNvPr>
          <p:cNvSpPr>
            <a:spLocks noGrp="1"/>
          </p:cNvSpPr>
          <p:nvPr>
            <p:ph type="ftr" sz="quarter" idx="14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6" name="Pladsholder til slidenummer 5">
            <a:extLst>
              <a:ext uri="{FF2B5EF4-FFF2-40B4-BE49-F238E27FC236}">
                <a16:creationId xmlns:a16="http://schemas.microsoft.com/office/drawing/2014/main" id="{1971CA48-5488-429E-869D-06623C5E5997}"/>
              </a:ext>
            </a:extLst>
          </p:cNvPr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fld id="{45D37B1E-C366-494F-A587-962AD9AABC83}" type="slidenum">
              <a:rPr lang="en-GB" smtClean="0"/>
              <a:pPr/>
              <a:t>15</a:t>
            </a:fld>
            <a:endParaRPr lang="en-GB" dirty="0"/>
          </a:p>
        </p:txBody>
      </p:sp>
      <p:sp>
        <p:nvSpPr>
          <p:cNvPr id="10" name="Content Placeholder 9">
            <a:extLst>
              <a:ext uri="{FF2B5EF4-FFF2-40B4-BE49-F238E27FC236}">
                <a16:creationId xmlns:a16="http://schemas.microsoft.com/office/drawing/2014/main" id="{040613FC-F94A-0712-DF75-092CF5474396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414696" y="1700213"/>
            <a:ext cx="10952578" cy="4598390"/>
          </a:xfrm>
        </p:spPr>
        <p:txBody>
          <a:bodyPr/>
          <a:lstStyle/>
          <a:p>
            <a:r>
              <a:rPr lang="da-DK" dirty="0" err="1"/>
              <a:t>Introduction</a:t>
            </a:r>
            <a:endParaRPr lang="da-DK" dirty="0"/>
          </a:p>
          <a:p>
            <a:pPr lvl="1"/>
            <a:r>
              <a:rPr lang="da-DK" dirty="0"/>
              <a:t>Overview of the </a:t>
            </a:r>
            <a:r>
              <a:rPr lang="da-DK" dirty="0" err="1"/>
              <a:t>education</a:t>
            </a:r>
            <a:r>
              <a:rPr lang="da-DK" dirty="0"/>
              <a:t> system</a:t>
            </a:r>
          </a:p>
          <a:p>
            <a:pPr lvl="1"/>
            <a:r>
              <a:rPr lang="da-DK" dirty="0"/>
              <a:t>Purpose of </a:t>
            </a:r>
            <a:r>
              <a:rPr lang="da-DK" dirty="0" err="1"/>
              <a:t>testing</a:t>
            </a:r>
            <a:r>
              <a:rPr lang="da-DK" dirty="0"/>
              <a:t>: </a:t>
            </a:r>
            <a:r>
              <a:rPr lang="da-DK" dirty="0" err="1"/>
              <a:t>Ensure</a:t>
            </a:r>
            <a:r>
              <a:rPr lang="da-DK" dirty="0"/>
              <a:t> </a:t>
            </a:r>
            <a:r>
              <a:rPr lang="da-DK" dirty="0" err="1"/>
              <a:t>that</a:t>
            </a:r>
            <a:r>
              <a:rPr lang="da-DK" dirty="0"/>
              <a:t> administrators, </a:t>
            </a:r>
            <a:r>
              <a:rPr lang="da-DK" dirty="0" err="1"/>
              <a:t>teachers</a:t>
            </a:r>
            <a:r>
              <a:rPr lang="da-DK" dirty="0"/>
              <a:t>, and students </a:t>
            </a:r>
            <a:r>
              <a:rPr lang="da-DK" dirty="0" err="1"/>
              <a:t>can</a:t>
            </a:r>
            <a:r>
              <a:rPr lang="da-DK" dirty="0"/>
              <a:t> </a:t>
            </a:r>
            <a:r>
              <a:rPr lang="da-DK" dirty="0" err="1"/>
              <a:t>effectively</a:t>
            </a:r>
            <a:r>
              <a:rPr lang="da-DK" dirty="0"/>
              <a:t> </a:t>
            </a:r>
            <a:r>
              <a:rPr lang="da-DK" dirty="0" err="1"/>
              <a:t>use</a:t>
            </a:r>
            <a:r>
              <a:rPr lang="da-DK" dirty="0"/>
              <a:t> the system as </a:t>
            </a:r>
            <a:r>
              <a:rPr lang="da-DK" dirty="0" err="1"/>
              <a:t>intended</a:t>
            </a:r>
            <a:endParaRPr lang="da-DK" dirty="0"/>
          </a:p>
          <a:p>
            <a:endParaRPr lang="da-DK" dirty="0"/>
          </a:p>
          <a:p>
            <a:r>
              <a:rPr lang="da-DK" dirty="0"/>
              <a:t>Test </a:t>
            </a:r>
            <a:r>
              <a:rPr lang="da-DK" dirty="0" err="1"/>
              <a:t>Objectives</a:t>
            </a:r>
            <a:endParaRPr lang="da-DK" dirty="0"/>
          </a:p>
          <a:p>
            <a:pPr lvl="1"/>
            <a:r>
              <a:rPr lang="da-DK" dirty="0" err="1"/>
              <a:t>Validate</a:t>
            </a:r>
            <a:r>
              <a:rPr lang="da-DK" dirty="0"/>
              <a:t> </a:t>
            </a:r>
            <a:r>
              <a:rPr lang="da-DK" dirty="0" err="1"/>
              <a:t>that</a:t>
            </a:r>
            <a:r>
              <a:rPr lang="da-DK" dirty="0"/>
              <a:t> administrators </a:t>
            </a:r>
            <a:r>
              <a:rPr lang="da-DK" dirty="0" err="1"/>
              <a:t>can</a:t>
            </a:r>
            <a:r>
              <a:rPr lang="da-DK" dirty="0"/>
              <a:t> </a:t>
            </a:r>
            <a:r>
              <a:rPr lang="da-DK" dirty="0" err="1"/>
              <a:t>create</a:t>
            </a:r>
            <a:r>
              <a:rPr lang="da-DK" dirty="0"/>
              <a:t> </a:t>
            </a:r>
            <a:r>
              <a:rPr lang="da-DK" dirty="0" err="1"/>
              <a:t>courses</a:t>
            </a:r>
            <a:r>
              <a:rPr lang="da-DK" dirty="0"/>
              <a:t> and </a:t>
            </a:r>
            <a:r>
              <a:rPr lang="da-DK" dirty="0" err="1"/>
              <a:t>assign</a:t>
            </a:r>
            <a:r>
              <a:rPr lang="da-DK" dirty="0"/>
              <a:t> </a:t>
            </a:r>
            <a:r>
              <a:rPr lang="da-DK" dirty="0" err="1"/>
              <a:t>teachers</a:t>
            </a:r>
            <a:r>
              <a:rPr lang="da-DK" dirty="0"/>
              <a:t> and students</a:t>
            </a:r>
          </a:p>
          <a:p>
            <a:pPr lvl="1"/>
            <a:r>
              <a:rPr lang="da-DK" dirty="0" err="1"/>
              <a:t>Verify</a:t>
            </a:r>
            <a:r>
              <a:rPr lang="da-DK" dirty="0"/>
              <a:t> </a:t>
            </a:r>
            <a:r>
              <a:rPr lang="da-DK" dirty="0" err="1"/>
              <a:t>that</a:t>
            </a:r>
            <a:r>
              <a:rPr lang="da-DK" dirty="0"/>
              <a:t> </a:t>
            </a:r>
            <a:r>
              <a:rPr lang="da-DK" dirty="0" err="1"/>
              <a:t>teachers</a:t>
            </a:r>
            <a:r>
              <a:rPr lang="da-DK" dirty="0"/>
              <a:t> </a:t>
            </a:r>
            <a:r>
              <a:rPr lang="da-DK" dirty="0" err="1"/>
              <a:t>can</a:t>
            </a:r>
            <a:r>
              <a:rPr lang="da-DK" dirty="0"/>
              <a:t> upload </a:t>
            </a:r>
            <a:r>
              <a:rPr lang="da-DK" dirty="0" err="1"/>
              <a:t>course</a:t>
            </a:r>
            <a:r>
              <a:rPr lang="da-DK" dirty="0"/>
              <a:t> </a:t>
            </a:r>
            <a:r>
              <a:rPr lang="da-DK" dirty="0" err="1"/>
              <a:t>materials</a:t>
            </a:r>
            <a:endParaRPr lang="da-DK" dirty="0"/>
          </a:p>
          <a:p>
            <a:pPr lvl="1"/>
            <a:r>
              <a:rPr lang="da-DK" dirty="0" err="1"/>
              <a:t>Ensure</a:t>
            </a:r>
            <a:r>
              <a:rPr lang="da-DK" dirty="0"/>
              <a:t> </a:t>
            </a:r>
            <a:r>
              <a:rPr lang="da-DK" dirty="0" err="1"/>
              <a:t>that</a:t>
            </a:r>
            <a:r>
              <a:rPr lang="da-DK" dirty="0"/>
              <a:t> students </a:t>
            </a:r>
            <a:r>
              <a:rPr lang="da-DK" dirty="0" err="1"/>
              <a:t>can</a:t>
            </a:r>
            <a:r>
              <a:rPr lang="da-DK" dirty="0"/>
              <a:t> download </a:t>
            </a:r>
            <a:r>
              <a:rPr lang="da-DK" dirty="0" err="1"/>
              <a:t>materials</a:t>
            </a:r>
            <a:r>
              <a:rPr lang="da-DK" dirty="0"/>
              <a:t> from </a:t>
            </a:r>
            <a:r>
              <a:rPr lang="da-DK" dirty="0" err="1"/>
              <a:t>their</a:t>
            </a:r>
            <a:r>
              <a:rPr lang="da-DK" dirty="0"/>
              <a:t> </a:t>
            </a:r>
            <a:r>
              <a:rPr lang="da-DK" dirty="0" err="1"/>
              <a:t>assigned</a:t>
            </a:r>
            <a:r>
              <a:rPr lang="da-DK" dirty="0"/>
              <a:t> </a:t>
            </a:r>
            <a:r>
              <a:rPr lang="da-DK" dirty="0" err="1"/>
              <a:t>courses</a:t>
            </a:r>
            <a:endParaRPr lang="da-DK" dirty="0"/>
          </a:p>
          <a:p>
            <a:endParaRPr lang="da-DK" dirty="0"/>
          </a:p>
          <a:p>
            <a:r>
              <a:rPr lang="da-DK" dirty="0"/>
              <a:t>Test </a:t>
            </a:r>
            <a:r>
              <a:rPr lang="da-DK" dirty="0" err="1"/>
              <a:t>Scope</a:t>
            </a:r>
            <a:endParaRPr lang="da-DK" dirty="0"/>
          </a:p>
          <a:p>
            <a:pPr lvl="1"/>
            <a:r>
              <a:rPr lang="da-DK" dirty="0"/>
              <a:t>In-</a:t>
            </a:r>
            <a:r>
              <a:rPr lang="da-DK" dirty="0" err="1"/>
              <a:t>scope</a:t>
            </a:r>
            <a:r>
              <a:rPr lang="da-DK" dirty="0"/>
              <a:t>: Course </a:t>
            </a:r>
            <a:r>
              <a:rPr lang="da-DK" dirty="0" err="1"/>
              <a:t>creation</a:t>
            </a:r>
            <a:r>
              <a:rPr lang="da-DK" dirty="0"/>
              <a:t>, user </a:t>
            </a:r>
            <a:r>
              <a:rPr lang="da-DK" dirty="0" err="1"/>
              <a:t>assignment</a:t>
            </a:r>
            <a:r>
              <a:rPr lang="da-DK" dirty="0"/>
              <a:t>, </a:t>
            </a:r>
            <a:r>
              <a:rPr lang="da-DK" dirty="0" err="1"/>
              <a:t>material</a:t>
            </a:r>
            <a:r>
              <a:rPr lang="da-DK" dirty="0"/>
              <a:t> upload, </a:t>
            </a:r>
            <a:r>
              <a:rPr lang="da-DK" dirty="0" err="1"/>
              <a:t>material</a:t>
            </a:r>
            <a:r>
              <a:rPr lang="da-DK" dirty="0"/>
              <a:t> download</a:t>
            </a:r>
          </a:p>
          <a:p>
            <a:pPr lvl="1"/>
            <a:r>
              <a:rPr lang="da-DK" dirty="0"/>
              <a:t>Out of </a:t>
            </a:r>
            <a:r>
              <a:rPr lang="da-DK" dirty="0" err="1"/>
              <a:t>scope</a:t>
            </a:r>
            <a:r>
              <a:rPr lang="da-DK" dirty="0"/>
              <a:t>: User </a:t>
            </a:r>
            <a:r>
              <a:rPr lang="da-DK" dirty="0" err="1"/>
              <a:t>authentication</a:t>
            </a:r>
            <a:r>
              <a:rPr lang="da-DK" dirty="0"/>
              <a:t>, </a:t>
            </a:r>
            <a:r>
              <a:rPr lang="da-DK" dirty="0" err="1"/>
              <a:t>advanced</a:t>
            </a:r>
            <a:r>
              <a:rPr lang="da-DK" dirty="0"/>
              <a:t> </a:t>
            </a:r>
            <a:r>
              <a:rPr lang="da-DK" dirty="0" err="1"/>
              <a:t>course</a:t>
            </a:r>
            <a:r>
              <a:rPr lang="da-DK" dirty="0"/>
              <a:t> management features</a:t>
            </a:r>
          </a:p>
          <a:p>
            <a:endParaRPr lang="da-DK" dirty="0"/>
          </a:p>
          <a:p>
            <a:r>
              <a:rPr lang="da-DK" dirty="0"/>
              <a:t>Test Levels and Types</a:t>
            </a:r>
          </a:p>
          <a:p>
            <a:pPr lvl="1"/>
            <a:r>
              <a:rPr lang="da-DK" dirty="0"/>
              <a:t>Integration </a:t>
            </a:r>
            <a:r>
              <a:rPr lang="da-DK" dirty="0" err="1"/>
              <a:t>testing</a:t>
            </a:r>
            <a:r>
              <a:rPr lang="da-DK" dirty="0"/>
              <a:t>: </a:t>
            </a:r>
            <a:r>
              <a:rPr lang="da-DK" dirty="0" err="1"/>
              <a:t>Verify</a:t>
            </a:r>
            <a:r>
              <a:rPr lang="da-DK" dirty="0"/>
              <a:t> </a:t>
            </a:r>
            <a:r>
              <a:rPr lang="da-DK" dirty="0" err="1"/>
              <a:t>that</a:t>
            </a:r>
            <a:r>
              <a:rPr lang="da-DK" dirty="0"/>
              <a:t> </a:t>
            </a:r>
            <a:r>
              <a:rPr lang="da-DK" dirty="0" err="1"/>
              <a:t>different</a:t>
            </a:r>
            <a:r>
              <a:rPr lang="da-DK" dirty="0"/>
              <a:t> </a:t>
            </a:r>
            <a:r>
              <a:rPr lang="da-DK" dirty="0" err="1"/>
              <a:t>modules</a:t>
            </a:r>
            <a:r>
              <a:rPr lang="da-DK" dirty="0"/>
              <a:t> </a:t>
            </a:r>
            <a:r>
              <a:rPr lang="da-DK" dirty="0" err="1"/>
              <a:t>work</a:t>
            </a:r>
            <a:r>
              <a:rPr lang="da-DK" dirty="0"/>
              <a:t> </a:t>
            </a:r>
            <a:r>
              <a:rPr lang="da-DK" dirty="0" err="1"/>
              <a:t>together</a:t>
            </a:r>
            <a:r>
              <a:rPr lang="da-DK" dirty="0"/>
              <a:t> as </a:t>
            </a:r>
            <a:r>
              <a:rPr lang="da-DK" dirty="0" err="1"/>
              <a:t>expected</a:t>
            </a:r>
            <a:endParaRPr lang="da-DK" dirty="0"/>
          </a:p>
          <a:p>
            <a:pPr lvl="1"/>
            <a:r>
              <a:rPr lang="da-DK" dirty="0"/>
              <a:t>System </a:t>
            </a:r>
            <a:r>
              <a:rPr lang="da-DK" dirty="0" err="1"/>
              <a:t>testing</a:t>
            </a:r>
            <a:r>
              <a:rPr lang="da-DK" dirty="0"/>
              <a:t>: </a:t>
            </a:r>
            <a:r>
              <a:rPr lang="da-DK" dirty="0" err="1"/>
              <a:t>Validate</a:t>
            </a:r>
            <a:r>
              <a:rPr lang="da-DK" dirty="0"/>
              <a:t> the </a:t>
            </a:r>
            <a:r>
              <a:rPr lang="da-DK" dirty="0" err="1"/>
              <a:t>complete</a:t>
            </a:r>
            <a:r>
              <a:rPr lang="da-DK" dirty="0"/>
              <a:t> system </a:t>
            </a:r>
            <a:r>
              <a:rPr lang="da-DK" dirty="0" err="1"/>
              <a:t>functionality</a:t>
            </a:r>
            <a:endParaRPr lang="da-DK" dirty="0"/>
          </a:p>
          <a:p>
            <a:pPr lvl="1"/>
            <a:r>
              <a:rPr lang="da-DK" dirty="0" err="1"/>
              <a:t>Usability</a:t>
            </a:r>
            <a:r>
              <a:rPr lang="da-DK" dirty="0"/>
              <a:t> </a:t>
            </a:r>
            <a:r>
              <a:rPr lang="da-DK" dirty="0" err="1"/>
              <a:t>testing</a:t>
            </a:r>
            <a:r>
              <a:rPr lang="da-DK" dirty="0"/>
              <a:t>: </a:t>
            </a:r>
            <a:r>
              <a:rPr lang="da-DK" dirty="0" err="1"/>
              <a:t>Assess</a:t>
            </a:r>
            <a:r>
              <a:rPr lang="da-DK" dirty="0"/>
              <a:t> user interface and user </a:t>
            </a:r>
            <a:r>
              <a:rPr lang="da-DK" dirty="0" err="1"/>
              <a:t>experience</a:t>
            </a:r>
            <a:endParaRPr lang="da-DK" dirty="0"/>
          </a:p>
          <a:p>
            <a:endParaRPr lang="da-DK" dirty="0"/>
          </a:p>
          <a:p>
            <a:endParaRPr lang="en-DK" sz="700" dirty="0"/>
          </a:p>
        </p:txBody>
      </p:sp>
    </p:spTree>
    <p:extLst>
      <p:ext uri="{BB962C8B-B14F-4D97-AF65-F5344CB8AC3E}">
        <p14:creationId xmlns:p14="http://schemas.microsoft.com/office/powerpoint/2010/main" val="1961329123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9CBBB199-CEE7-4207-9B94-FABE54697AB5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da-DK" dirty="0" err="1"/>
              <a:t>Example</a:t>
            </a:r>
            <a:r>
              <a:rPr lang="da-DK" dirty="0"/>
              <a:t> Test Plan - Simple Education System</a:t>
            </a:r>
          </a:p>
        </p:txBody>
      </p:sp>
      <p:sp>
        <p:nvSpPr>
          <p:cNvPr id="4" name="Pladsholder til dato 3">
            <a:extLst>
              <a:ext uri="{FF2B5EF4-FFF2-40B4-BE49-F238E27FC236}">
                <a16:creationId xmlns:a16="http://schemas.microsoft.com/office/drawing/2014/main" id="{DF6BBC47-AF93-4B51-BB19-37E8FA70A1FC}"/>
              </a:ext>
            </a:extLst>
          </p:cNvPr>
          <p:cNvSpPr>
            <a:spLocks noGrp="1"/>
          </p:cNvSpPr>
          <p:nvPr>
            <p:ph type="dt" sz="half" idx="2"/>
          </p:nvPr>
        </p:nvSpPr>
        <p:spPr/>
        <p:txBody>
          <a:bodyPr/>
          <a:lstStyle/>
          <a:p>
            <a:fld id="{1D326F97-033E-40DE-A683-79560FFFFEF4}" type="datetime1">
              <a:rPr lang="en-GB" smtClean="0"/>
              <a:t>24/04/2023</a:t>
            </a:fld>
            <a:endParaRPr lang="en-GB" dirty="0"/>
          </a:p>
        </p:txBody>
      </p:sp>
      <p:sp>
        <p:nvSpPr>
          <p:cNvPr id="5" name="Pladsholder til sidefod 4">
            <a:extLst>
              <a:ext uri="{FF2B5EF4-FFF2-40B4-BE49-F238E27FC236}">
                <a16:creationId xmlns:a16="http://schemas.microsoft.com/office/drawing/2014/main" id="{0A4065D9-777F-4BC2-8DA9-0E100CD3446A}"/>
              </a:ext>
            </a:extLst>
          </p:cNvPr>
          <p:cNvSpPr>
            <a:spLocks noGrp="1"/>
          </p:cNvSpPr>
          <p:nvPr>
            <p:ph type="ftr" sz="quarter" idx="14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6" name="Pladsholder til slidenummer 5">
            <a:extLst>
              <a:ext uri="{FF2B5EF4-FFF2-40B4-BE49-F238E27FC236}">
                <a16:creationId xmlns:a16="http://schemas.microsoft.com/office/drawing/2014/main" id="{1971CA48-5488-429E-869D-06623C5E5997}"/>
              </a:ext>
            </a:extLst>
          </p:cNvPr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fld id="{45D37B1E-C366-494F-A587-962AD9AABC83}" type="slidenum">
              <a:rPr lang="en-GB" smtClean="0"/>
              <a:pPr/>
              <a:t>16</a:t>
            </a:fld>
            <a:endParaRPr lang="en-GB" dirty="0"/>
          </a:p>
        </p:txBody>
      </p:sp>
      <p:sp>
        <p:nvSpPr>
          <p:cNvPr id="10" name="Content Placeholder 9">
            <a:extLst>
              <a:ext uri="{FF2B5EF4-FFF2-40B4-BE49-F238E27FC236}">
                <a16:creationId xmlns:a16="http://schemas.microsoft.com/office/drawing/2014/main" id="{040613FC-F94A-0712-DF75-092CF5474396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414696" y="1700213"/>
            <a:ext cx="10952578" cy="4598390"/>
          </a:xfrm>
        </p:spPr>
        <p:txBody>
          <a:bodyPr/>
          <a:lstStyle/>
          <a:p>
            <a:r>
              <a:rPr lang="da-DK" dirty="0"/>
              <a:t>Test Environment and Tools</a:t>
            </a:r>
          </a:p>
          <a:p>
            <a:pPr lvl="1"/>
            <a:r>
              <a:rPr lang="da-DK" dirty="0"/>
              <a:t>Test </a:t>
            </a:r>
            <a:r>
              <a:rPr lang="da-DK" dirty="0" err="1"/>
              <a:t>environment</a:t>
            </a:r>
            <a:r>
              <a:rPr lang="da-DK" dirty="0"/>
              <a:t>: Web </a:t>
            </a:r>
            <a:r>
              <a:rPr lang="da-DK" dirty="0" err="1"/>
              <a:t>application</a:t>
            </a:r>
            <a:r>
              <a:rPr lang="da-DK" dirty="0"/>
              <a:t> running on a </a:t>
            </a:r>
            <a:r>
              <a:rPr lang="da-DK" dirty="0" err="1"/>
              <a:t>staging</a:t>
            </a:r>
            <a:r>
              <a:rPr lang="da-DK" dirty="0"/>
              <a:t> server</a:t>
            </a:r>
          </a:p>
          <a:p>
            <a:pPr lvl="1"/>
            <a:r>
              <a:rPr lang="da-DK" dirty="0"/>
              <a:t>Tools: </a:t>
            </a:r>
            <a:r>
              <a:rPr lang="da-DK" dirty="0" err="1"/>
              <a:t>Selenium</a:t>
            </a:r>
            <a:r>
              <a:rPr lang="da-DK" dirty="0"/>
              <a:t> for end-to-end </a:t>
            </a:r>
            <a:r>
              <a:rPr lang="da-DK" dirty="0" err="1"/>
              <a:t>testing</a:t>
            </a:r>
            <a:r>
              <a:rPr lang="da-DK" dirty="0"/>
              <a:t>, </a:t>
            </a:r>
            <a:r>
              <a:rPr lang="da-DK" dirty="0" err="1"/>
              <a:t>JMeter</a:t>
            </a:r>
            <a:r>
              <a:rPr lang="da-DK" dirty="0"/>
              <a:t> for performance </a:t>
            </a:r>
            <a:r>
              <a:rPr lang="da-DK" dirty="0" err="1"/>
              <a:t>testing</a:t>
            </a:r>
            <a:r>
              <a:rPr lang="da-DK" dirty="0"/>
              <a:t>, </a:t>
            </a:r>
            <a:r>
              <a:rPr lang="da-DK" dirty="0" err="1"/>
              <a:t>Wave</a:t>
            </a:r>
            <a:r>
              <a:rPr lang="da-DK" dirty="0"/>
              <a:t> for </a:t>
            </a:r>
            <a:r>
              <a:rPr lang="da-DK" dirty="0" err="1"/>
              <a:t>accessibility</a:t>
            </a:r>
            <a:r>
              <a:rPr lang="da-DK" dirty="0"/>
              <a:t> </a:t>
            </a:r>
            <a:r>
              <a:rPr lang="da-DK" dirty="0" err="1"/>
              <a:t>testing</a:t>
            </a:r>
            <a:endParaRPr lang="da-DK" dirty="0"/>
          </a:p>
          <a:p>
            <a:endParaRPr lang="da-DK" dirty="0"/>
          </a:p>
          <a:p>
            <a:r>
              <a:rPr lang="da-DK" dirty="0"/>
              <a:t>Test </a:t>
            </a:r>
            <a:r>
              <a:rPr lang="da-DK" dirty="0" err="1"/>
              <a:t>Deliverables</a:t>
            </a:r>
            <a:endParaRPr lang="da-DK" dirty="0"/>
          </a:p>
          <a:p>
            <a:pPr lvl="1"/>
            <a:r>
              <a:rPr lang="da-DK" dirty="0"/>
              <a:t>Test plan </a:t>
            </a:r>
            <a:r>
              <a:rPr lang="da-DK" dirty="0" err="1"/>
              <a:t>document</a:t>
            </a:r>
            <a:endParaRPr lang="da-DK" dirty="0"/>
          </a:p>
          <a:p>
            <a:pPr lvl="1"/>
            <a:r>
              <a:rPr lang="da-DK" dirty="0"/>
              <a:t>Test cases and test scripts</a:t>
            </a:r>
          </a:p>
          <a:p>
            <a:pPr lvl="1"/>
            <a:r>
              <a:rPr lang="da-DK" dirty="0" err="1"/>
              <a:t>Defect</a:t>
            </a:r>
            <a:r>
              <a:rPr lang="da-DK" dirty="0"/>
              <a:t> </a:t>
            </a:r>
            <a:r>
              <a:rPr lang="da-DK" dirty="0" err="1"/>
              <a:t>reports</a:t>
            </a:r>
            <a:endParaRPr lang="da-DK" dirty="0"/>
          </a:p>
          <a:p>
            <a:pPr lvl="1"/>
            <a:r>
              <a:rPr lang="da-DK" dirty="0"/>
              <a:t>Test summary </a:t>
            </a:r>
            <a:r>
              <a:rPr lang="da-DK" dirty="0" err="1"/>
              <a:t>report</a:t>
            </a:r>
            <a:endParaRPr lang="da-DK" dirty="0"/>
          </a:p>
          <a:p>
            <a:endParaRPr lang="da-DK" dirty="0"/>
          </a:p>
          <a:p>
            <a:r>
              <a:rPr lang="da-DK" dirty="0"/>
              <a:t>Test Schedule</a:t>
            </a:r>
          </a:p>
          <a:p>
            <a:pPr lvl="1"/>
            <a:r>
              <a:rPr lang="da-DK" dirty="0"/>
              <a:t>Test </a:t>
            </a:r>
            <a:r>
              <a:rPr lang="da-DK" dirty="0" err="1"/>
              <a:t>preparation</a:t>
            </a:r>
            <a:r>
              <a:rPr lang="da-DK" dirty="0"/>
              <a:t>: 1 </a:t>
            </a:r>
            <a:r>
              <a:rPr lang="da-DK" dirty="0" err="1"/>
              <a:t>week</a:t>
            </a:r>
            <a:endParaRPr lang="da-DK" dirty="0"/>
          </a:p>
          <a:p>
            <a:pPr lvl="1"/>
            <a:r>
              <a:rPr lang="da-DK" dirty="0"/>
              <a:t>Test </a:t>
            </a:r>
            <a:r>
              <a:rPr lang="da-DK" dirty="0" err="1"/>
              <a:t>execution</a:t>
            </a:r>
            <a:r>
              <a:rPr lang="da-DK" dirty="0"/>
              <a:t>: 2 </a:t>
            </a:r>
            <a:r>
              <a:rPr lang="da-DK" dirty="0" err="1"/>
              <a:t>weeks</a:t>
            </a:r>
            <a:endParaRPr lang="da-DK" dirty="0"/>
          </a:p>
          <a:p>
            <a:pPr lvl="1"/>
            <a:r>
              <a:rPr lang="da-DK" dirty="0"/>
              <a:t>Test </a:t>
            </a:r>
            <a:r>
              <a:rPr lang="da-DK" dirty="0" err="1"/>
              <a:t>completion</a:t>
            </a:r>
            <a:r>
              <a:rPr lang="da-DK" dirty="0"/>
              <a:t> and </a:t>
            </a:r>
            <a:r>
              <a:rPr lang="da-DK" dirty="0" err="1"/>
              <a:t>reporting</a:t>
            </a:r>
            <a:r>
              <a:rPr lang="da-DK" dirty="0"/>
              <a:t>: 1 </a:t>
            </a:r>
            <a:r>
              <a:rPr lang="da-DK" dirty="0" err="1"/>
              <a:t>week</a:t>
            </a:r>
            <a:endParaRPr lang="da-DK" dirty="0"/>
          </a:p>
          <a:p>
            <a:endParaRPr lang="da-DK" dirty="0"/>
          </a:p>
          <a:p>
            <a:r>
              <a:rPr lang="da-DK" dirty="0" err="1"/>
              <a:t>Entry</a:t>
            </a:r>
            <a:r>
              <a:rPr lang="da-DK" dirty="0"/>
              <a:t> and Exit </a:t>
            </a:r>
            <a:r>
              <a:rPr lang="da-DK" dirty="0" err="1"/>
              <a:t>Criteria</a:t>
            </a:r>
            <a:endParaRPr lang="da-DK" dirty="0"/>
          </a:p>
          <a:p>
            <a:pPr lvl="1"/>
            <a:r>
              <a:rPr lang="da-DK" dirty="0" err="1"/>
              <a:t>Entry</a:t>
            </a:r>
            <a:r>
              <a:rPr lang="da-DK" dirty="0"/>
              <a:t> </a:t>
            </a:r>
            <a:r>
              <a:rPr lang="da-DK" dirty="0" err="1"/>
              <a:t>criteria</a:t>
            </a:r>
            <a:r>
              <a:rPr lang="da-DK" dirty="0"/>
              <a:t>: </a:t>
            </a:r>
            <a:r>
              <a:rPr lang="da-DK" dirty="0" err="1"/>
              <a:t>Requirements</a:t>
            </a:r>
            <a:r>
              <a:rPr lang="da-DK" dirty="0"/>
              <a:t> </a:t>
            </a:r>
            <a:r>
              <a:rPr lang="da-DK" dirty="0" err="1"/>
              <a:t>are</a:t>
            </a:r>
            <a:r>
              <a:rPr lang="da-DK" dirty="0"/>
              <a:t> </a:t>
            </a:r>
            <a:r>
              <a:rPr lang="da-DK" dirty="0" err="1"/>
              <a:t>finalized</a:t>
            </a:r>
            <a:r>
              <a:rPr lang="da-DK" dirty="0"/>
              <a:t>, test </a:t>
            </a:r>
            <a:r>
              <a:rPr lang="da-DK" dirty="0" err="1"/>
              <a:t>environment</a:t>
            </a:r>
            <a:r>
              <a:rPr lang="da-DK" dirty="0"/>
              <a:t> is set up, test cases </a:t>
            </a:r>
            <a:r>
              <a:rPr lang="da-DK" dirty="0" err="1"/>
              <a:t>are</a:t>
            </a:r>
            <a:r>
              <a:rPr lang="da-DK" dirty="0"/>
              <a:t> </a:t>
            </a:r>
            <a:r>
              <a:rPr lang="da-DK" dirty="0" err="1"/>
              <a:t>ready</a:t>
            </a:r>
            <a:endParaRPr lang="da-DK" dirty="0"/>
          </a:p>
          <a:p>
            <a:pPr lvl="1"/>
            <a:r>
              <a:rPr lang="da-DK" dirty="0"/>
              <a:t>Exit </a:t>
            </a:r>
            <a:r>
              <a:rPr lang="da-DK" dirty="0" err="1"/>
              <a:t>criteria</a:t>
            </a:r>
            <a:r>
              <a:rPr lang="da-DK" dirty="0"/>
              <a:t>: All test cases have </a:t>
            </a:r>
            <a:r>
              <a:rPr lang="da-DK" dirty="0" err="1"/>
              <a:t>been</a:t>
            </a:r>
            <a:r>
              <a:rPr lang="da-DK" dirty="0"/>
              <a:t> </a:t>
            </a:r>
            <a:r>
              <a:rPr lang="da-DK" dirty="0" err="1"/>
              <a:t>executed</a:t>
            </a:r>
            <a:r>
              <a:rPr lang="da-DK" dirty="0"/>
              <a:t>, all </a:t>
            </a:r>
            <a:r>
              <a:rPr lang="da-DK" dirty="0" err="1"/>
              <a:t>critical</a:t>
            </a:r>
            <a:r>
              <a:rPr lang="da-DK" dirty="0"/>
              <a:t> </a:t>
            </a:r>
            <a:r>
              <a:rPr lang="da-DK" dirty="0" err="1"/>
              <a:t>defects</a:t>
            </a:r>
            <a:r>
              <a:rPr lang="da-DK" dirty="0"/>
              <a:t> </a:t>
            </a:r>
            <a:r>
              <a:rPr lang="da-DK" dirty="0" err="1"/>
              <a:t>are</a:t>
            </a:r>
            <a:r>
              <a:rPr lang="da-DK" dirty="0"/>
              <a:t> </a:t>
            </a:r>
            <a:r>
              <a:rPr lang="da-DK" dirty="0" err="1"/>
              <a:t>resolved</a:t>
            </a:r>
            <a:r>
              <a:rPr lang="da-DK" dirty="0"/>
              <a:t>, test summary </a:t>
            </a:r>
            <a:r>
              <a:rPr lang="da-DK" dirty="0" err="1"/>
              <a:t>report</a:t>
            </a:r>
            <a:r>
              <a:rPr lang="da-DK" dirty="0"/>
              <a:t> is </a:t>
            </a:r>
            <a:r>
              <a:rPr lang="da-DK" dirty="0" err="1"/>
              <a:t>completed</a:t>
            </a:r>
            <a:endParaRPr lang="da-DK" dirty="0"/>
          </a:p>
        </p:txBody>
      </p:sp>
    </p:spTree>
    <p:extLst>
      <p:ext uri="{BB962C8B-B14F-4D97-AF65-F5344CB8AC3E}">
        <p14:creationId xmlns:p14="http://schemas.microsoft.com/office/powerpoint/2010/main" val="1939321278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9CBBB199-CEE7-4207-9B94-FABE54697AB5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da-DK" dirty="0" err="1"/>
              <a:t>Example</a:t>
            </a:r>
            <a:r>
              <a:rPr lang="da-DK" dirty="0"/>
              <a:t> Test Plan - Simple Education System</a:t>
            </a:r>
          </a:p>
        </p:txBody>
      </p:sp>
      <p:sp>
        <p:nvSpPr>
          <p:cNvPr id="4" name="Pladsholder til dato 3">
            <a:extLst>
              <a:ext uri="{FF2B5EF4-FFF2-40B4-BE49-F238E27FC236}">
                <a16:creationId xmlns:a16="http://schemas.microsoft.com/office/drawing/2014/main" id="{DF6BBC47-AF93-4B51-BB19-37E8FA70A1FC}"/>
              </a:ext>
            </a:extLst>
          </p:cNvPr>
          <p:cNvSpPr>
            <a:spLocks noGrp="1"/>
          </p:cNvSpPr>
          <p:nvPr>
            <p:ph type="dt" sz="half" idx="2"/>
          </p:nvPr>
        </p:nvSpPr>
        <p:spPr/>
        <p:txBody>
          <a:bodyPr/>
          <a:lstStyle/>
          <a:p>
            <a:fld id="{1D326F97-033E-40DE-A683-79560FFFFEF4}" type="datetime1">
              <a:rPr lang="en-GB" smtClean="0"/>
              <a:t>24/04/2023</a:t>
            </a:fld>
            <a:endParaRPr lang="en-GB" dirty="0"/>
          </a:p>
        </p:txBody>
      </p:sp>
      <p:sp>
        <p:nvSpPr>
          <p:cNvPr id="5" name="Pladsholder til sidefod 4">
            <a:extLst>
              <a:ext uri="{FF2B5EF4-FFF2-40B4-BE49-F238E27FC236}">
                <a16:creationId xmlns:a16="http://schemas.microsoft.com/office/drawing/2014/main" id="{0A4065D9-777F-4BC2-8DA9-0E100CD3446A}"/>
              </a:ext>
            </a:extLst>
          </p:cNvPr>
          <p:cNvSpPr>
            <a:spLocks noGrp="1"/>
          </p:cNvSpPr>
          <p:nvPr>
            <p:ph type="ftr" sz="quarter" idx="14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6" name="Pladsholder til slidenummer 5">
            <a:extLst>
              <a:ext uri="{FF2B5EF4-FFF2-40B4-BE49-F238E27FC236}">
                <a16:creationId xmlns:a16="http://schemas.microsoft.com/office/drawing/2014/main" id="{1971CA48-5488-429E-869D-06623C5E5997}"/>
              </a:ext>
            </a:extLst>
          </p:cNvPr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fld id="{45D37B1E-C366-494F-A587-962AD9AABC83}" type="slidenum">
              <a:rPr lang="en-GB" smtClean="0"/>
              <a:pPr/>
              <a:t>17</a:t>
            </a:fld>
            <a:endParaRPr lang="en-GB" dirty="0"/>
          </a:p>
        </p:txBody>
      </p:sp>
      <p:sp>
        <p:nvSpPr>
          <p:cNvPr id="10" name="Content Placeholder 9">
            <a:extLst>
              <a:ext uri="{FF2B5EF4-FFF2-40B4-BE49-F238E27FC236}">
                <a16:creationId xmlns:a16="http://schemas.microsoft.com/office/drawing/2014/main" id="{040613FC-F94A-0712-DF75-092CF5474396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414696" y="1510748"/>
            <a:ext cx="10952578" cy="4598390"/>
          </a:xfrm>
        </p:spPr>
        <p:txBody>
          <a:bodyPr/>
          <a:lstStyle/>
          <a:p>
            <a:endParaRPr lang="da-DK" dirty="0"/>
          </a:p>
          <a:p>
            <a:r>
              <a:rPr lang="da-DK" dirty="0"/>
              <a:t>Test Resources</a:t>
            </a:r>
          </a:p>
          <a:p>
            <a:pPr lvl="1"/>
            <a:r>
              <a:rPr lang="da-DK" dirty="0"/>
              <a:t>Test team: 1 test </a:t>
            </a:r>
            <a:r>
              <a:rPr lang="da-DK" dirty="0" err="1"/>
              <a:t>lead</a:t>
            </a:r>
            <a:r>
              <a:rPr lang="da-DK" dirty="0"/>
              <a:t>, 2 test </a:t>
            </a:r>
            <a:r>
              <a:rPr lang="da-DK" dirty="0" err="1"/>
              <a:t>engineers</a:t>
            </a:r>
            <a:endParaRPr lang="da-DK" dirty="0"/>
          </a:p>
          <a:p>
            <a:pPr lvl="1"/>
            <a:r>
              <a:rPr lang="da-DK" dirty="0"/>
              <a:t>Hardware and software </a:t>
            </a:r>
            <a:r>
              <a:rPr lang="da-DK" dirty="0" err="1"/>
              <a:t>resources</a:t>
            </a:r>
            <a:r>
              <a:rPr lang="da-DK" dirty="0"/>
              <a:t>: </a:t>
            </a:r>
            <a:r>
              <a:rPr lang="da-DK" dirty="0" err="1"/>
              <a:t>Staging</a:t>
            </a:r>
            <a:r>
              <a:rPr lang="da-DK" dirty="0"/>
              <a:t> server, </a:t>
            </a:r>
            <a:r>
              <a:rPr lang="da-DK" dirty="0" err="1"/>
              <a:t>testing</a:t>
            </a:r>
            <a:r>
              <a:rPr lang="da-DK" dirty="0"/>
              <a:t> </a:t>
            </a:r>
            <a:r>
              <a:rPr lang="da-DK" dirty="0" err="1"/>
              <a:t>tools</a:t>
            </a:r>
            <a:endParaRPr lang="da-DK" dirty="0"/>
          </a:p>
          <a:p>
            <a:endParaRPr lang="da-DK" dirty="0"/>
          </a:p>
          <a:p>
            <a:r>
              <a:rPr lang="da-DK" dirty="0"/>
              <a:t>Risk Management</a:t>
            </a:r>
          </a:p>
          <a:p>
            <a:pPr lvl="1"/>
            <a:r>
              <a:rPr lang="da-DK" dirty="0"/>
              <a:t>Potential </a:t>
            </a:r>
            <a:r>
              <a:rPr lang="da-DK" dirty="0" err="1"/>
              <a:t>risks</a:t>
            </a:r>
            <a:r>
              <a:rPr lang="da-DK" dirty="0"/>
              <a:t>: </a:t>
            </a:r>
            <a:r>
              <a:rPr lang="da-DK" dirty="0" err="1"/>
              <a:t>Delay</a:t>
            </a:r>
            <a:r>
              <a:rPr lang="da-DK" dirty="0"/>
              <a:t> in </a:t>
            </a:r>
            <a:r>
              <a:rPr lang="da-DK" dirty="0" err="1"/>
              <a:t>requirement</a:t>
            </a:r>
            <a:r>
              <a:rPr lang="da-DK" dirty="0"/>
              <a:t> </a:t>
            </a:r>
            <a:r>
              <a:rPr lang="da-DK" dirty="0" err="1"/>
              <a:t>finalization</a:t>
            </a:r>
            <a:r>
              <a:rPr lang="da-DK" dirty="0"/>
              <a:t>, </a:t>
            </a:r>
            <a:r>
              <a:rPr lang="da-DK" dirty="0" err="1"/>
              <a:t>unexpected</a:t>
            </a:r>
            <a:r>
              <a:rPr lang="da-DK" dirty="0"/>
              <a:t> </a:t>
            </a:r>
            <a:r>
              <a:rPr lang="da-DK" dirty="0" err="1"/>
              <a:t>defects</a:t>
            </a:r>
            <a:r>
              <a:rPr lang="da-DK" dirty="0"/>
              <a:t>, </a:t>
            </a:r>
            <a:r>
              <a:rPr lang="da-DK" dirty="0" err="1"/>
              <a:t>resource</a:t>
            </a:r>
            <a:r>
              <a:rPr lang="da-DK" dirty="0"/>
              <a:t> </a:t>
            </a:r>
            <a:r>
              <a:rPr lang="da-DK" dirty="0" err="1"/>
              <a:t>unavailability</a:t>
            </a:r>
            <a:endParaRPr lang="da-DK" dirty="0"/>
          </a:p>
          <a:p>
            <a:pPr lvl="1"/>
            <a:r>
              <a:rPr lang="da-DK" dirty="0" err="1"/>
              <a:t>Mitigation</a:t>
            </a:r>
            <a:r>
              <a:rPr lang="da-DK" dirty="0"/>
              <a:t> </a:t>
            </a:r>
            <a:r>
              <a:rPr lang="da-DK" dirty="0" err="1"/>
              <a:t>strategies</a:t>
            </a:r>
            <a:r>
              <a:rPr lang="da-DK" dirty="0"/>
              <a:t>: </a:t>
            </a:r>
            <a:r>
              <a:rPr lang="da-DK" dirty="0" err="1"/>
              <a:t>Regular</a:t>
            </a:r>
            <a:r>
              <a:rPr lang="da-DK" dirty="0"/>
              <a:t> </a:t>
            </a:r>
            <a:r>
              <a:rPr lang="da-DK" dirty="0" err="1"/>
              <a:t>communication</a:t>
            </a:r>
            <a:r>
              <a:rPr lang="da-DK" dirty="0"/>
              <a:t> with stakeholders, efficient </a:t>
            </a:r>
            <a:r>
              <a:rPr lang="da-DK" dirty="0" err="1"/>
              <a:t>defect</a:t>
            </a:r>
            <a:r>
              <a:rPr lang="da-DK" dirty="0"/>
              <a:t> </a:t>
            </a:r>
            <a:r>
              <a:rPr lang="da-DK" dirty="0" err="1"/>
              <a:t>tracking</a:t>
            </a:r>
            <a:r>
              <a:rPr lang="da-DK" dirty="0"/>
              <a:t>, backup </a:t>
            </a:r>
            <a:r>
              <a:rPr lang="da-DK" dirty="0" err="1"/>
              <a:t>resources</a:t>
            </a:r>
            <a:endParaRPr lang="en-DK" sz="700" dirty="0"/>
          </a:p>
        </p:txBody>
      </p:sp>
    </p:spTree>
    <p:extLst>
      <p:ext uri="{BB962C8B-B14F-4D97-AF65-F5344CB8AC3E}">
        <p14:creationId xmlns:p14="http://schemas.microsoft.com/office/powerpoint/2010/main" val="3096078958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552FF25E-24BF-4225-87AB-B2869F94CB2B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da-DK"/>
          </a:p>
        </p:txBody>
      </p:sp>
      <p:sp>
        <p:nvSpPr>
          <p:cNvPr id="3" name="Pladsholder til dato 2">
            <a:extLst>
              <a:ext uri="{FF2B5EF4-FFF2-40B4-BE49-F238E27FC236}">
                <a16:creationId xmlns:a16="http://schemas.microsoft.com/office/drawing/2014/main" id="{4C93D788-8D9D-4045-B518-6692018D89DE}"/>
              </a:ext>
            </a:extLst>
          </p:cNvPr>
          <p:cNvSpPr>
            <a:spLocks noGrp="1"/>
          </p:cNvSpPr>
          <p:nvPr>
            <p:ph type="dt" sz="half" idx="2"/>
          </p:nvPr>
        </p:nvSpPr>
        <p:spPr/>
        <p:txBody>
          <a:bodyPr/>
          <a:lstStyle/>
          <a:p>
            <a:fld id="{B4C4C6FD-8607-43FF-8BC8-950EFB970BA3}" type="datetime1">
              <a:rPr lang="en-GB" smtClean="0"/>
              <a:t>24/04/2023</a:t>
            </a:fld>
            <a:endParaRPr lang="en-GB" dirty="0"/>
          </a:p>
        </p:txBody>
      </p:sp>
      <p:sp>
        <p:nvSpPr>
          <p:cNvPr id="4" name="Rektangel 3">
            <a:extLst>
              <a:ext uri="{FF2B5EF4-FFF2-40B4-BE49-F238E27FC236}">
                <a16:creationId xmlns:a16="http://schemas.microsoft.com/office/drawing/2014/main" id="{F994D39F-0217-4BCC-AD0B-429E7605B2F1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tIns="72000" rIns="72000" bIns="72000" rtlCol="0" anchor="ctr"/>
          <a:lstStyle/>
          <a:p>
            <a:pPr algn="ctr"/>
            <a:r>
              <a:rPr lang="da-DK" sz="2800" b="1" dirty="0"/>
              <a:t>General </a:t>
            </a:r>
            <a:r>
              <a:rPr lang="da-DK" sz="2800" b="1" dirty="0" err="1"/>
              <a:t>Testing</a:t>
            </a:r>
            <a:r>
              <a:rPr lang="da-DK" sz="2800" b="1" dirty="0"/>
              <a:t> Methods</a:t>
            </a:r>
          </a:p>
        </p:txBody>
      </p:sp>
    </p:spTree>
    <p:extLst>
      <p:ext uri="{BB962C8B-B14F-4D97-AF65-F5344CB8AC3E}">
        <p14:creationId xmlns:p14="http://schemas.microsoft.com/office/powerpoint/2010/main" val="1851137927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552FF25E-24BF-4225-87AB-B2869F94CB2B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da-DK"/>
          </a:p>
        </p:txBody>
      </p:sp>
      <p:sp>
        <p:nvSpPr>
          <p:cNvPr id="3" name="Pladsholder til dato 2">
            <a:extLst>
              <a:ext uri="{FF2B5EF4-FFF2-40B4-BE49-F238E27FC236}">
                <a16:creationId xmlns:a16="http://schemas.microsoft.com/office/drawing/2014/main" id="{4C93D788-8D9D-4045-B518-6692018D89DE}"/>
              </a:ext>
            </a:extLst>
          </p:cNvPr>
          <p:cNvSpPr>
            <a:spLocks noGrp="1"/>
          </p:cNvSpPr>
          <p:nvPr>
            <p:ph type="dt" sz="half" idx="2"/>
          </p:nvPr>
        </p:nvSpPr>
        <p:spPr/>
        <p:txBody>
          <a:bodyPr/>
          <a:lstStyle/>
          <a:p>
            <a:fld id="{B4C4C6FD-8607-43FF-8BC8-950EFB970BA3}" type="datetime1">
              <a:rPr lang="en-GB" smtClean="0"/>
              <a:t>24/04/2023</a:t>
            </a:fld>
            <a:endParaRPr lang="en-GB" dirty="0"/>
          </a:p>
        </p:txBody>
      </p:sp>
      <p:sp>
        <p:nvSpPr>
          <p:cNvPr id="4" name="Rektangel 3">
            <a:extLst>
              <a:ext uri="{FF2B5EF4-FFF2-40B4-BE49-F238E27FC236}">
                <a16:creationId xmlns:a16="http://schemas.microsoft.com/office/drawing/2014/main" id="{F994D39F-0217-4BCC-AD0B-429E7605B2F1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2">
              <a:lumMod val="60000"/>
              <a:lumOff val="40000"/>
            </a:schemeClr>
          </a:solidFill>
          <a:ln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tIns="72000" rIns="72000" bIns="72000" rtlCol="0" anchor="ctr"/>
          <a:lstStyle/>
          <a:p>
            <a:pPr algn="ctr"/>
            <a:r>
              <a:rPr lang="da-DK" sz="2800" b="1" dirty="0" err="1"/>
              <a:t>Acceptance</a:t>
            </a:r>
            <a:r>
              <a:rPr lang="da-DK" sz="2800" b="1" dirty="0"/>
              <a:t> </a:t>
            </a:r>
            <a:r>
              <a:rPr lang="da-DK" sz="2800" b="1" dirty="0" err="1"/>
              <a:t>Testing</a:t>
            </a:r>
            <a:endParaRPr lang="da-DK" sz="2800" b="1" dirty="0"/>
          </a:p>
        </p:txBody>
      </p:sp>
    </p:spTree>
    <p:extLst>
      <p:ext uri="{BB962C8B-B14F-4D97-AF65-F5344CB8AC3E}">
        <p14:creationId xmlns:p14="http://schemas.microsoft.com/office/powerpoint/2010/main" val="2613200746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9CBBB199-CEE7-4207-9B94-FABE54697AB5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da-DK" dirty="0" err="1"/>
              <a:t>Acceptance</a:t>
            </a:r>
            <a:r>
              <a:rPr lang="da-DK" dirty="0"/>
              <a:t> </a:t>
            </a:r>
            <a:r>
              <a:rPr lang="da-DK" dirty="0" err="1"/>
              <a:t>Testing</a:t>
            </a:r>
            <a:r>
              <a:rPr lang="da-DK" dirty="0"/>
              <a:t> with User </a:t>
            </a:r>
            <a:r>
              <a:rPr lang="da-DK" dirty="0" err="1"/>
              <a:t>Stories</a:t>
            </a:r>
            <a:endParaRPr lang="da-DK" dirty="0"/>
          </a:p>
        </p:txBody>
      </p:sp>
      <p:sp>
        <p:nvSpPr>
          <p:cNvPr id="4" name="Pladsholder til dato 3">
            <a:extLst>
              <a:ext uri="{FF2B5EF4-FFF2-40B4-BE49-F238E27FC236}">
                <a16:creationId xmlns:a16="http://schemas.microsoft.com/office/drawing/2014/main" id="{DF6BBC47-AF93-4B51-BB19-37E8FA70A1FC}"/>
              </a:ext>
            </a:extLst>
          </p:cNvPr>
          <p:cNvSpPr>
            <a:spLocks noGrp="1"/>
          </p:cNvSpPr>
          <p:nvPr>
            <p:ph type="dt" sz="half" idx="2"/>
          </p:nvPr>
        </p:nvSpPr>
        <p:spPr/>
        <p:txBody>
          <a:bodyPr/>
          <a:lstStyle/>
          <a:p>
            <a:fld id="{1D326F97-033E-40DE-A683-79560FFFFEF4}" type="datetime1">
              <a:rPr lang="en-GB" smtClean="0"/>
              <a:t>24/04/2023</a:t>
            </a:fld>
            <a:endParaRPr lang="en-GB" dirty="0"/>
          </a:p>
        </p:txBody>
      </p:sp>
      <p:sp>
        <p:nvSpPr>
          <p:cNvPr id="5" name="Pladsholder til sidefod 4">
            <a:extLst>
              <a:ext uri="{FF2B5EF4-FFF2-40B4-BE49-F238E27FC236}">
                <a16:creationId xmlns:a16="http://schemas.microsoft.com/office/drawing/2014/main" id="{0A4065D9-777F-4BC2-8DA9-0E100CD3446A}"/>
              </a:ext>
            </a:extLst>
          </p:cNvPr>
          <p:cNvSpPr>
            <a:spLocks noGrp="1"/>
          </p:cNvSpPr>
          <p:nvPr>
            <p:ph type="ftr" sz="quarter" idx="14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6" name="Pladsholder til slidenummer 5">
            <a:extLst>
              <a:ext uri="{FF2B5EF4-FFF2-40B4-BE49-F238E27FC236}">
                <a16:creationId xmlns:a16="http://schemas.microsoft.com/office/drawing/2014/main" id="{1971CA48-5488-429E-869D-06623C5E5997}"/>
              </a:ext>
            </a:extLst>
          </p:cNvPr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fld id="{45D37B1E-C366-494F-A587-962AD9AABC83}" type="slidenum">
              <a:rPr lang="en-GB" smtClean="0"/>
              <a:pPr/>
              <a:t>20</a:t>
            </a:fld>
            <a:endParaRPr lang="en-GB" dirty="0"/>
          </a:p>
        </p:txBody>
      </p:sp>
      <p:sp>
        <p:nvSpPr>
          <p:cNvPr id="10" name="Content Placeholder 9">
            <a:extLst>
              <a:ext uri="{FF2B5EF4-FFF2-40B4-BE49-F238E27FC236}">
                <a16:creationId xmlns:a16="http://schemas.microsoft.com/office/drawing/2014/main" id="{040613FC-F94A-0712-DF75-092CF5474396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414696" y="1908312"/>
            <a:ext cx="10952578" cy="4200825"/>
          </a:xfrm>
        </p:spPr>
        <p:txBody>
          <a:bodyPr/>
          <a:lstStyle/>
          <a:p>
            <a:r>
              <a:rPr lang="da-DK" dirty="0"/>
              <a:t>Purpose: </a:t>
            </a:r>
            <a:r>
              <a:rPr lang="da-DK" dirty="0" err="1"/>
              <a:t>Validates</a:t>
            </a:r>
            <a:r>
              <a:rPr lang="da-DK" dirty="0"/>
              <a:t> </a:t>
            </a:r>
            <a:r>
              <a:rPr lang="da-DK" dirty="0" err="1"/>
              <a:t>that</a:t>
            </a:r>
            <a:r>
              <a:rPr lang="da-DK" dirty="0"/>
              <a:t> the system </a:t>
            </a:r>
            <a:r>
              <a:rPr lang="da-DK" dirty="0" err="1"/>
              <a:t>meets</a:t>
            </a:r>
            <a:r>
              <a:rPr lang="da-DK" dirty="0"/>
              <a:t> user </a:t>
            </a:r>
            <a:r>
              <a:rPr lang="da-DK" dirty="0" err="1"/>
              <a:t>requirements</a:t>
            </a:r>
            <a:r>
              <a:rPr lang="da-DK" dirty="0"/>
              <a:t> and is </a:t>
            </a:r>
            <a:r>
              <a:rPr lang="da-DK" dirty="0" err="1"/>
              <a:t>ready</a:t>
            </a:r>
            <a:r>
              <a:rPr lang="da-DK" dirty="0"/>
              <a:t> for </a:t>
            </a:r>
            <a:r>
              <a:rPr lang="da-DK" dirty="0" err="1"/>
              <a:t>deployment</a:t>
            </a:r>
            <a:endParaRPr lang="da-DK" dirty="0"/>
          </a:p>
          <a:p>
            <a:r>
              <a:rPr lang="da-DK" dirty="0"/>
              <a:t>User </a:t>
            </a:r>
            <a:r>
              <a:rPr lang="da-DK" dirty="0" err="1"/>
              <a:t>stories</a:t>
            </a:r>
            <a:r>
              <a:rPr lang="da-DK" dirty="0"/>
              <a:t>: </a:t>
            </a:r>
            <a:r>
              <a:rPr lang="da-DK" dirty="0" err="1"/>
              <a:t>Descriptions</a:t>
            </a:r>
            <a:r>
              <a:rPr lang="da-DK" dirty="0"/>
              <a:t> of </a:t>
            </a:r>
            <a:r>
              <a:rPr lang="da-DK" dirty="0" err="1"/>
              <a:t>desired</a:t>
            </a:r>
            <a:r>
              <a:rPr lang="da-DK" dirty="0"/>
              <a:t> features from the </a:t>
            </a:r>
            <a:r>
              <a:rPr lang="da-DK" dirty="0" err="1"/>
              <a:t>perspective</a:t>
            </a:r>
            <a:r>
              <a:rPr lang="da-DK" dirty="0"/>
              <a:t> of end-users, </a:t>
            </a:r>
            <a:r>
              <a:rPr lang="da-DK" dirty="0" err="1"/>
              <a:t>including</a:t>
            </a:r>
            <a:r>
              <a:rPr lang="da-DK" dirty="0"/>
              <a:t> </a:t>
            </a:r>
            <a:r>
              <a:rPr lang="da-DK" dirty="0" err="1"/>
              <a:t>specific</a:t>
            </a:r>
            <a:r>
              <a:rPr lang="da-DK" dirty="0"/>
              <a:t> </a:t>
            </a:r>
            <a:r>
              <a:rPr lang="da-DK" dirty="0" err="1"/>
              <a:t>acceptance</a:t>
            </a:r>
            <a:r>
              <a:rPr lang="da-DK" dirty="0"/>
              <a:t> </a:t>
            </a:r>
            <a:r>
              <a:rPr lang="da-DK" dirty="0" err="1"/>
              <a:t>criteria</a:t>
            </a:r>
            <a:endParaRPr lang="en-DK" sz="700" dirty="0"/>
          </a:p>
        </p:txBody>
      </p:sp>
    </p:spTree>
    <p:extLst>
      <p:ext uri="{BB962C8B-B14F-4D97-AF65-F5344CB8AC3E}">
        <p14:creationId xmlns:p14="http://schemas.microsoft.com/office/powerpoint/2010/main" val="1319612501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9CBBB199-CEE7-4207-9B94-FABE54697AB5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da-DK" dirty="0" err="1"/>
              <a:t>Acceptance</a:t>
            </a:r>
            <a:r>
              <a:rPr lang="da-DK" dirty="0"/>
              <a:t> </a:t>
            </a:r>
            <a:r>
              <a:rPr lang="da-DK" dirty="0" err="1"/>
              <a:t>Testing</a:t>
            </a:r>
            <a:r>
              <a:rPr lang="da-DK" dirty="0"/>
              <a:t> with User </a:t>
            </a:r>
            <a:r>
              <a:rPr lang="da-DK" dirty="0" err="1"/>
              <a:t>Stories</a:t>
            </a:r>
            <a:endParaRPr lang="da-DK" dirty="0"/>
          </a:p>
        </p:txBody>
      </p:sp>
      <p:sp>
        <p:nvSpPr>
          <p:cNvPr id="4" name="Pladsholder til dato 3">
            <a:extLst>
              <a:ext uri="{FF2B5EF4-FFF2-40B4-BE49-F238E27FC236}">
                <a16:creationId xmlns:a16="http://schemas.microsoft.com/office/drawing/2014/main" id="{DF6BBC47-AF93-4B51-BB19-37E8FA70A1FC}"/>
              </a:ext>
            </a:extLst>
          </p:cNvPr>
          <p:cNvSpPr>
            <a:spLocks noGrp="1"/>
          </p:cNvSpPr>
          <p:nvPr>
            <p:ph type="dt" sz="half" idx="2"/>
          </p:nvPr>
        </p:nvSpPr>
        <p:spPr/>
        <p:txBody>
          <a:bodyPr/>
          <a:lstStyle/>
          <a:p>
            <a:fld id="{1D326F97-033E-40DE-A683-79560FFFFEF4}" type="datetime1">
              <a:rPr lang="en-GB" smtClean="0"/>
              <a:t>24/04/2023</a:t>
            </a:fld>
            <a:endParaRPr lang="en-GB" dirty="0"/>
          </a:p>
        </p:txBody>
      </p:sp>
      <p:sp>
        <p:nvSpPr>
          <p:cNvPr id="5" name="Pladsholder til sidefod 4">
            <a:extLst>
              <a:ext uri="{FF2B5EF4-FFF2-40B4-BE49-F238E27FC236}">
                <a16:creationId xmlns:a16="http://schemas.microsoft.com/office/drawing/2014/main" id="{0A4065D9-777F-4BC2-8DA9-0E100CD3446A}"/>
              </a:ext>
            </a:extLst>
          </p:cNvPr>
          <p:cNvSpPr>
            <a:spLocks noGrp="1"/>
          </p:cNvSpPr>
          <p:nvPr>
            <p:ph type="ftr" sz="quarter" idx="14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6" name="Pladsholder til slidenummer 5">
            <a:extLst>
              <a:ext uri="{FF2B5EF4-FFF2-40B4-BE49-F238E27FC236}">
                <a16:creationId xmlns:a16="http://schemas.microsoft.com/office/drawing/2014/main" id="{1971CA48-5488-429E-869D-06623C5E5997}"/>
              </a:ext>
            </a:extLst>
          </p:cNvPr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fld id="{45D37B1E-C366-494F-A587-962AD9AABC83}" type="slidenum">
              <a:rPr lang="en-GB" smtClean="0"/>
              <a:pPr/>
              <a:t>21</a:t>
            </a:fld>
            <a:endParaRPr lang="en-GB" dirty="0"/>
          </a:p>
        </p:txBody>
      </p:sp>
      <p:sp>
        <p:nvSpPr>
          <p:cNvPr id="10" name="Content Placeholder 9">
            <a:extLst>
              <a:ext uri="{FF2B5EF4-FFF2-40B4-BE49-F238E27FC236}">
                <a16:creationId xmlns:a16="http://schemas.microsoft.com/office/drawing/2014/main" id="{040613FC-F94A-0712-DF75-092CF5474396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414696" y="1818860"/>
            <a:ext cx="10952578" cy="4290277"/>
          </a:xfrm>
        </p:spPr>
        <p:txBody>
          <a:bodyPr/>
          <a:lstStyle/>
          <a:p>
            <a:r>
              <a:rPr lang="da-DK" dirty="0" err="1"/>
              <a:t>Process</a:t>
            </a:r>
            <a:endParaRPr lang="da-DK" dirty="0"/>
          </a:p>
          <a:p>
            <a:endParaRPr lang="da-DK" dirty="0"/>
          </a:p>
          <a:p>
            <a:r>
              <a:rPr lang="da-DK" dirty="0"/>
              <a:t>Review user </a:t>
            </a:r>
            <a:r>
              <a:rPr lang="da-DK" dirty="0" err="1"/>
              <a:t>stories</a:t>
            </a:r>
            <a:r>
              <a:rPr lang="da-DK" dirty="0"/>
              <a:t> and </a:t>
            </a:r>
            <a:r>
              <a:rPr lang="da-DK" dirty="0" err="1"/>
              <a:t>acceptance</a:t>
            </a:r>
            <a:r>
              <a:rPr lang="da-DK" dirty="0"/>
              <a:t> </a:t>
            </a:r>
            <a:r>
              <a:rPr lang="da-DK" dirty="0" err="1"/>
              <a:t>criteria</a:t>
            </a:r>
            <a:r>
              <a:rPr lang="da-DK" dirty="0"/>
              <a:t>: Understand the </a:t>
            </a:r>
            <a:r>
              <a:rPr lang="da-DK" dirty="0" err="1"/>
              <a:t>desired</a:t>
            </a:r>
            <a:r>
              <a:rPr lang="da-DK" dirty="0"/>
              <a:t> </a:t>
            </a:r>
            <a:r>
              <a:rPr lang="da-DK" dirty="0" err="1"/>
              <a:t>functionality</a:t>
            </a:r>
            <a:r>
              <a:rPr lang="da-DK" dirty="0"/>
              <a:t> and </a:t>
            </a:r>
            <a:r>
              <a:rPr lang="da-DK" dirty="0" err="1"/>
              <a:t>expected</a:t>
            </a:r>
            <a:r>
              <a:rPr lang="da-DK" dirty="0"/>
              <a:t> </a:t>
            </a:r>
            <a:r>
              <a:rPr lang="da-DK" dirty="0" err="1"/>
              <a:t>outcomes</a:t>
            </a:r>
            <a:endParaRPr lang="da-DK" dirty="0"/>
          </a:p>
          <a:p>
            <a:r>
              <a:rPr lang="da-DK" dirty="0" err="1"/>
              <a:t>Create</a:t>
            </a:r>
            <a:r>
              <a:rPr lang="da-DK" dirty="0"/>
              <a:t> test cases: Design test cases </a:t>
            </a:r>
            <a:r>
              <a:rPr lang="da-DK" dirty="0" err="1"/>
              <a:t>based</a:t>
            </a:r>
            <a:r>
              <a:rPr lang="da-DK" dirty="0"/>
              <a:t> on </a:t>
            </a:r>
            <a:r>
              <a:rPr lang="da-DK" dirty="0" err="1"/>
              <a:t>acceptance</a:t>
            </a:r>
            <a:r>
              <a:rPr lang="da-DK" dirty="0"/>
              <a:t> </a:t>
            </a:r>
            <a:r>
              <a:rPr lang="da-DK" dirty="0" err="1"/>
              <a:t>criteria</a:t>
            </a:r>
            <a:r>
              <a:rPr lang="da-DK" dirty="0"/>
              <a:t>, </a:t>
            </a:r>
            <a:r>
              <a:rPr lang="da-DK" dirty="0" err="1"/>
              <a:t>covering</a:t>
            </a:r>
            <a:r>
              <a:rPr lang="da-DK" dirty="0"/>
              <a:t> positive and negative scenarios</a:t>
            </a:r>
          </a:p>
          <a:p>
            <a:r>
              <a:rPr lang="da-DK" dirty="0" err="1"/>
              <a:t>Execute</a:t>
            </a:r>
            <a:r>
              <a:rPr lang="da-DK" dirty="0"/>
              <a:t> test cases: Run the test cases </a:t>
            </a:r>
            <a:r>
              <a:rPr lang="da-DK" dirty="0" err="1"/>
              <a:t>manually</a:t>
            </a:r>
            <a:r>
              <a:rPr lang="da-DK" dirty="0"/>
              <a:t> or </a:t>
            </a:r>
            <a:r>
              <a:rPr lang="da-DK" dirty="0" err="1"/>
              <a:t>using</a:t>
            </a:r>
            <a:r>
              <a:rPr lang="da-DK" dirty="0"/>
              <a:t> </a:t>
            </a:r>
            <a:r>
              <a:rPr lang="da-DK" dirty="0" err="1"/>
              <a:t>automated</a:t>
            </a:r>
            <a:r>
              <a:rPr lang="da-DK" dirty="0"/>
              <a:t> </a:t>
            </a:r>
            <a:r>
              <a:rPr lang="da-DK" dirty="0" err="1"/>
              <a:t>tools</a:t>
            </a:r>
            <a:r>
              <a:rPr lang="da-DK" dirty="0"/>
              <a:t>, </a:t>
            </a:r>
            <a:r>
              <a:rPr lang="da-DK" dirty="0" err="1"/>
              <a:t>comparing</a:t>
            </a:r>
            <a:r>
              <a:rPr lang="da-DK" dirty="0"/>
              <a:t> </a:t>
            </a:r>
            <a:r>
              <a:rPr lang="da-DK" dirty="0" err="1"/>
              <a:t>actual</a:t>
            </a:r>
            <a:r>
              <a:rPr lang="da-DK" dirty="0"/>
              <a:t> </a:t>
            </a:r>
            <a:r>
              <a:rPr lang="da-DK" dirty="0" err="1"/>
              <a:t>results</a:t>
            </a:r>
            <a:r>
              <a:rPr lang="da-DK" dirty="0"/>
              <a:t> with </a:t>
            </a:r>
            <a:r>
              <a:rPr lang="da-DK" dirty="0" err="1"/>
              <a:t>expected</a:t>
            </a:r>
            <a:r>
              <a:rPr lang="da-DK" dirty="0"/>
              <a:t> </a:t>
            </a:r>
            <a:r>
              <a:rPr lang="da-DK" dirty="0" err="1"/>
              <a:t>outcomes</a:t>
            </a:r>
            <a:endParaRPr lang="da-DK" dirty="0"/>
          </a:p>
          <a:p>
            <a:r>
              <a:rPr lang="da-DK" dirty="0"/>
              <a:t>Document </a:t>
            </a:r>
            <a:r>
              <a:rPr lang="da-DK" dirty="0" err="1"/>
              <a:t>results</a:t>
            </a:r>
            <a:r>
              <a:rPr lang="da-DK" dirty="0"/>
              <a:t>: </a:t>
            </a:r>
            <a:r>
              <a:rPr lang="da-DK" dirty="0" err="1"/>
              <a:t>Record</a:t>
            </a:r>
            <a:r>
              <a:rPr lang="da-DK" dirty="0"/>
              <a:t> the test </a:t>
            </a:r>
            <a:r>
              <a:rPr lang="da-DK" dirty="0" err="1"/>
              <a:t>results</a:t>
            </a:r>
            <a:r>
              <a:rPr lang="da-DK" dirty="0"/>
              <a:t>, </a:t>
            </a:r>
            <a:r>
              <a:rPr lang="da-DK" dirty="0" err="1"/>
              <a:t>including</a:t>
            </a:r>
            <a:r>
              <a:rPr lang="da-DK" dirty="0"/>
              <a:t> </a:t>
            </a:r>
            <a:r>
              <a:rPr lang="da-DK" dirty="0" err="1"/>
              <a:t>any</a:t>
            </a:r>
            <a:r>
              <a:rPr lang="da-DK" dirty="0"/>
              <a:t> </a:t>
            </a:r>
            <a:r>
              <a:rPr lang="da-DK" dirty="0" err="1"/>
              <a:t>defects</a:t>
            </a:r>
            <a:r>
              <a:rPr lang="da-DK" dirty="0"/>
              <a:t> or deviations from </a:t>
            </a:r>
            <a:r>
              <a:rPr lang="da-DK" dirty="0" err="1"/>
              <a:t>acceptance</a:t>
            </a:r>
            <a:r>
              <a:rPr lang="da-DK" dirty="0"/>
              <a:t> </a:t>
            </a:r>
            <a:r>
              <a:rPr lang="da-DK" dirty="0" err="1"/>
              <a:t>criteria</a:t>
            </a:r>
            <a:endParaRPr lang="da-DK" dirty="0"/>
          </a:p>
          <a:p>
            <a:r>
              <a:rPr lang="da-DK" dirty="0" err="1"/>
              <a:t>Evaluate</a:t>
            </a:r>
            <a:r>
              <a:rPr lang="da-DK" dirty="0"/>
              <a:t> </a:t>
            </a:r>
            <a:r>
              <a:rPr lang="da-DK" dirty="0" err="1"/>
              <a:t>readiness</a:t>
            </a:r>
            <a:r>
              <a:rPr lang="da-DK" dirty="0"/>
              <a:t>: </a:t>
            </a:r>
            <a:r>
              <a:rPr lang="da-DK" dirty="0" err="1"/>
              <a:t>Determine</a:t>
            </a:r>
            <a:r>
              <a:rPr lang="da-DK" dirty="0"/>
              <a:t> </a:t>
            </a:r>
            <a:r>
              <a:rPr lang="da-DK" dirty="0" err="1"/>
              <a:t>if</a:t>
            </a:r>
            <a:r>
              <a:rPr lang="da-DK" dirty="0"/>
              <a:t> the system </a:t>
            </a:r>
            <a:r>
              <a:rPr lang="da-DK" dirty="0" err="1"/>
              <a:t>meets</a:t>
            </a:r>
            <a:r>
              <a:rPr lang="da-DK" dirty="0"/>
              <a:t> the user </a:t>
            </a:r>
            <a:r>
              <a:rPr lang="da-DK" dirty="0" err="1"/>
              <a:t>requirements</a:t>
            </a:r>
            <a:r>
              <a:rPr lang="da-DK" dirty="0"/>
              <a:t> and is </a:t>
            </a:r>
            <a:r>
              <a:rPr lang="da-DK" dirty="0" err="1"/>
              <a:t>ready</a:t>
            </a:r>
            <a:r>
              <a:rPr lang="da-DK" dirty="0"/>
              <a:t> for </a:t>
            </a:r>
            <a:r>
              <a:rPr lang="da-DK" dirty="0" err="1"/>
              <a:t>deployment</a:t>
            </a:r>
            <a:endParaRPr lang="en-DK" sz="700" dirty="0"/>
          </a:p>
        </p:txBody>
      </p:sp>
    </p:spTree>
    <p:extLst>
      <p:ext uri="{BB962C8B-B14F-4D97-AF65-F5344CB8AC3E}">
        <p14:creationId xmlns:p14="http://schemas.microsoft.com/office/powerpoint/2010/main" val="1878521421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9CBBB199-CEE7-4207-9B94-FABE54697AB5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da-DK" dirty="0" err="1"/>
              <a:t>Acceptance</a:t>
            </a:r>
            <a:r>
              <a:rPr lang="da-DK" dirty="0"/>
              <a:t> </a:t>
            </a:r>
            <a:r>
              <a:rPr lang="da-DK" dirty="0" err="1"/>
              <a:t>Testing</a:t>
            </a:r>
            <a:r>
              <a:rPr lang="da-DK" dirty="0"/>
              <a:t> with User </a:t>
            </a:r>
            <a:r>
              <a:rPr lang="da-DK" dirty="0" err="1"/>
              <a:t>Stories</a:t>
            </a:r>
            <a:endParaRPr lang="da-DK" dirty="0"/>
          </a:p>
        </p:txBody>
      </p:sp>
      <p:sp>
        <p:nvSpPr>
          <p:cNvPr id="4" name="Pladsholder til dato 3">
            <a:extLst>
              <a:ext uri="{FF2B5EF4-FFF2-40B4-BE49-F238E27FC236}">
                <a16:creationId xmlns:a16="http://schemas.microsoft.com/office/drawing/2014/main" id="{DF6BBC47-AF93-4B51-BB19-37E8FA70A1FC}"/>
              </a:ext>
            </a:extLst>
          </p:cNvPr>
          <p:cNvSpPr>
            <a:spLocks noGrp="1"/>
          </p:cNvSpPr>
          <p:nvPr>
            <p:ph type="dt" sz="half" idx="2"/>
          </p:nvPr>
        </p:nvSpPr>
        <p:spPr/>
        <p:txBody>
          <a:bodyPr/>
          <a:lstStyle/>
          <a:p>
            <a:fld id="{1D326F97-033E-40DE-A683-79560FFFFEF4}" type="datetime1">
              <a:rPr lang="en-GB" smtClean="0"/>
              <a:t>24/04/2023</a:t>
            </a:fld>
            <a:endParaRPr lang="en-GB" dirty="0"/>
          </a:p>
        </p:txBody>
      </p:sp>
      <p:sp>
        <p:nvSpPr>
          <p:cNvPr id="5" name="Pladsholder til sidefod 4">
            <a:extLst>
              <a:ext uri="{FF2B5EF4-FFF2-40B4-BE49-F238E27FC236}">
                <a16:creationId xmlns:a16="http://schemas.microsoft.com/office/drawing/2014/main" id="{0A4065D9-777F-4BC2-8DA9-0E100CD3446A}"/>
              </a:ext>
            </a:extLst>
          </p:cNvPr>
          <p:cNvSpPr>
            <a:spLocks noGrp="1"/>
          </p:cNvSpPr>
          <p:nvPr>
            <p:ph type="ftr" sz="quarter" idx="14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6" name="Pladsholder til slidenummer 5">
            <a:extLst>
              <a:ext uri="{FF2B5EF4-FFF2-40B4-BE49-F238E27FC236}">
                <a16:creationId xmlns:a16="http://schemas.microsoft.com/office/drawing/2014/main" id="{1971CA48-5488-429E-869D-06623C5E5997}"/>
              </a:ext>
            </a:extLst>
          </p:cNvPr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fld id="{45D37B1E-C366-494F-A587-962AD9AABC83}" type="slidenum">
              <a:rPr lang="en-GB" smtClean="0"/>
              <a:pPr/>
              <a:t>22</a:t>
            </a:fld>
            <a:endParaRPr lang="en-GB" dirty="0"/>
          </a:p>
        </p:txBody>
      </p:sp>
      <p:sp>
        <p:nvSpPr>
          <p:cNvPr id="10" name="Content Placeholder 9">
            <a:extLst>
              <a:ext uri="{FF2B5EF4-FFF2-40B4-BE49-F238E27FC236}">
                <a16:creationId xmlns:a16="http://schemas.microsoft.com/office/drawing/2014/main" id="{040613FC-F94A-0712-DF75-092CF5474396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414696" y="1700212"/>
            <a:ext cx="10952578" cy="4408925"/>
          </a:xfrm>
        </p:spPr>
        <p:txBody>
          <a:bodyPr/>
          <a:lstStyle/>
          <a:p>
            <a:r>
              <a:rPr lang="da-DK" dirty="0" err="1"/>
              <a:t>Example</a:t>
            </a:r>
            <a:r>
              <a:rPr lang="da-DK" dirty="0"/>
              <a:t> User Story</a:t>
            </a:r>
          </a:p>
          <a:p>
            <a:endParaRPr lang="da-DK" dirty="0"/>
          </a:p>
          <a:p>
            <a:r>
              <a:rPr lang="da-DK" dirty="0"/>
              <a:t>Title: Teachers </a:t>
            </a:r>
            <a:r>
              <a:rPr lang="da-DK" dirty="0" err="1"/>
              <a:t>can</a:t>
            </a:r>
            <a:r>
              <a:rPr lang="da-DK" dirty="0"/>
              <a:t> upload </a:t>
            </a:r>
            <a:r>
              <a:rPr lang="da-DK" dirty="0" err="1"/>
              <a:t>course</a:t>
            </a:r>
            <a:r>
              <a:rPr lang="da-DK" dirty="0"/>
              <a:t> </a:t>
            </a:r>
            <a:r>
              <a:rPr lang="da-DK" dirty="0" err="1"/>
              <a:t>materials</a:t>
            </a:r>
            <a:endParaRPr lang="da-DK" dirty="0"/>
          </a:p>
          <a:p>
            <a:r>
              <a:rPr lang="da-DK" dirty="0"/>
              <a:t>User Story: As a </a:t>
            </a:r>
            <a:r>
              <a:rPr lang="da-DK" dirty="0" err="1"/>
              <a:t>teacher</a:t>
            </a:r>
            <a:r>
              <a:rPr lang="da-DK" dirty="0"/>
              <a:t>, I </a:t>
            </a:r>
            <a:r>
              <a:rPr lang="da-DK" dirty="0" err="1"/>
              <a:t>want</a:t>
            </a:r>
            <a:r>
              <a:rPr lang="da-DK" dirty="0"/>
              <a:t> to upload </a:t>
            </a:r>
            <a:r>
              <a:rPr lang="da-DK" dirty="0" err="1"/>
              <a:t>course</a:t>
            </a:r>
            <a:r>
              <a:rPr lang="da-DK" dirty="0"/>
              <a:t> </a:t>
            </a:r>
            <a:r>
              <a:rPr lang="da-DK" dirty="0" err="1"/>
              <a:t>materials</a:t>
            </a:r>
            <a:r>
              <a:rPr lang="da-DK" dirty="0"/>
              <a:t> so </a:t>
            </a:r>
            <a:r>
              <a:rPr lang="da-DK" dirty="0" err="1"/>
              <a:t>that</a:t>
            </a:r>
            <a:r>
              <a:rPr lang="da-DK" dirty="0"/>
              <a:t> students </a:t>
            </a:r>
            <a:r>
              <a:rPr lang="da-DK" dirty="0" err="1"/>
              <a:t>can</a:t>
            </a:r>
            <a:r>
              <a:rPr lang="da-DK" dirty="0"/>
              <a:t> </a:t>
            </a:r>
            <a:r>
              <a:rPr lang="da-DK" dirty="0" err="1"/>
              <a:t>access</a:t>
            </a:r>
            <a:r>
              <a:rPr lang="da-DK" dirty="0"/>
              <a:t> </a:t>
            </a:r>
            <a:r>
              <a:rPr lang="da-DK" dirty="0" err="1"/>
              <a:t>them</a:t>
            </a:r>
            <a:r>
              <a:rPr lang="da-DK" dirty="0"/>
              <a:t>.</a:t>
            </a:r>
          </a:p>
          <a:p>
            <a:r>
              <a:rPr lang="da-DK" dirty="0" err="1"/>
              <a:t>Acceptance</a:t>
            </a:r>
            <a:r>
              <a:rPr lang="da-DK" dirty="0"/>
              <a:t> </a:t>
            </a:r>
            <a:r>
              <a:rPr lang="da-DK" dirty="0" err="1"/>
              <a:t>Criteria</a:t>
            </a:r>
            <a:r>
              <a:rPr lang="da-DK" dirty="0"/>
              <a:t>:</a:t>
            </a:r>
          </a:p>
          <a:p>
            <a:pPr lvl="1"/>
            <a:r>
              <a:rPr lang="da-DK" dirty="0"/>
              <a:t>Teachers </a:t>
            </a:r>
            <a:r>
              <a:rPr lang="da-DK" dirty="0" err="1"/>
              <a:t>can</a:t>
            </a:r>
            <a:r>
              <a:rPr lang="da-DK" dirty="0"/>
              <a:t> upload multiple file formats (PDF, PPT, DOC, etc.)</a:t>
            </a:r>
          </a:p>
          <a:p>
            <a:pPr lvl="1"/>
            <a:r>
              <a:rPr lang="da-DK" dirty="0" err="1"/>
              <a:t>Uploaded</a:t>
            </a:r>
            <a:r>
              <a:rPr lang="da-DK" dirty="0"/>
              <a:t> files </a:t>
            </a:r>
            <a:r>
              <a:rPr lang="da-DK" dirty="0" err="1"/>
              <a:t>are</a:t>
            </a:r>
            <a:r>
              <a:rPr lang="da-DK" dirty="0"/>
              <a:t> visible to students </a:t>
            </a:r>
            <a:r>
              <a:rPr lang="da-DK" dirty="0" err="1"/>
              <a:t>enrolled</a:t>
            </a:r>
            <a:r>
              <a:rPr lang="da-DK" dirty="0"/>
              <a:t> in the </a:t>
            </a:r>
            <a:r>
              <a:rPr lang="da-DK" dirty="0" err="1"/>
              <a:t>course</a:t>
            </a:r>
            <a:endParaRPr lang="da-DK" dirty="0"/>
          </a:p>
          <a:p>
            <a:pPr lvl="1"/>
            <a:r>
              <a:rPr lang="da-DK" dirty="0"/>
              <a:t>File </a:t>
            </a:r>
            <a:r>
              <a:rPr lang="da-DK" dirty="0" err="1"/>
              <a:t>size</a:t>
            </a:r>
            <a:r>
              <a:rPr lang="da-DK" dirty="0"/>
              <a:t> limit is </a:t>
            </a:r>
            <a:r>
              <a:rPr lang="da-DK" dirty="0" err="1"/>
              <a:t>enforced</a:t>
            </a:r>
            <a:r>
              <a:rPr lang="da-DK" dirty="0"/>
              <a:t> (</a:t>
            </a:r>
            <a:r>
              <a:rPr lang="da-DK" dirty="0" err="1"/>
              <a:t>e.g</a:t>
            </a:r>
            <a:r>
              <a:rPr lang="da-DK" dirty="0"/>
              <a:t>., 50 MB)</a:t>
            </a:r>
          </a:p>
          <a:p>
            <a:pPr lvl="1"/>
            <a:r>
              <a:rPr lang="da-DK" dirty="0" err="1"/>
              <a:t>Unauthorized</a:t>
            </a:r>
            <a:r>
              <a:rPr lang="da-DK" dirty="0"/>
              <a:t> users </a:t>
            </a:r>
            <a:r>
              <a:rPr lang="da-DK" dirty="0" err="1"/>
              <a:t>cannot</a:t>
            </a:r>
            <a:r>
              <a:rPr lang="da-DK" dirty="0"/>
              <a:t> upload files</a:t>
            </a:r>
          </a:p>
          <a:p>
            <a:pPr lvl="1"/>
            <a:endParaRPr lang="da-DK" sz="300" dirty="0"/>
          </a:p>
          <a:p>
            <a:r>
              <a:rPr lang="da-DK" dirty="0"/>
              <a:t>Sample Test Cases</a:t>
            </a:r>
          </a:p>
          <a:p>
            <a:pPr lvl="1"/>
            <a:r>
              <a:rPr lang="da-DK" dirty="0"/>
              <a:t>TC1: Upload a PDF file and </a:t>
            </a:r>
            <a:r>
              <a:rPr lang="da-DK" dirty="0" err="1"/>
              <a:t>verify</a:t>
            </a:r>
            <a:r>
              <a:rPr lang="da-DK" dirty="0"/>
              <a:t> </a:t>
            </a:r>
            <a:r>
              <a:rPr lang="da-DK" dirty="0" err="1"/>
              <a:t>that</a:t>
            </a:r>
            <a:r>
              <a:rPr lang="da-DK" dirty="0"/>
              <a:t> it is visible to students</a:t>
            </a:r>
          </a:p>
          <a:p>
            <a:pPr lvl="1"/>
            <a:r>
              <a:rPr lang="da-DK" dirty="0"/>
              <a:t>TC2: Upload a PPT file </a:t>
            </a:r>
            <a:r>
              <a:rPr lang="da-DK" dirty="0" err="1"/>
              <a:t>larger</a:t>
            </a:r>
            <a:r>
              <a:rPr lang="da-DK" dirty="0"/>
              <a:t> </a:t>
            </a:r>
            <a:r>
              <a:rPr lang="da-DK" dirty="0" err="1"/>
              <a:t>than</a:t>
            </a:r>
            <a:r>
              <a:rPr lang="da-DK" dirty="0"/>
              <a:t> the file </a:t>
            </a:r>
            <a:r>
              <a:rPr lang="da-DK" dirty="0" err="1"/>
              <a:t>size</a:t>
            </a:r>
            <a:r>
              <a:rPr lang="da-DK" dirty="0"/>
              <a:t> limit and </a:t>
            </a:r>
            <a:r>
              <a:rPr lang="da-DK" dirty="0" err="1"/>
              <a:t>ensure</a:t>
            </a:r>
            <a:r>
              <a:rPr lang="da-DK" dirty="0"/>
              <a:t> an </a:t>
            </a:r>
            <a:r>
              <a:rPr lang="da-DK" dirty="0" err="1"/>
              <a:t>error</a:t>
            </a:r>
            <a:r>
              <a:rPr lang="da-DK" dirty="0"/>
              <a:t> message is </a:t>
            </a:r>
            <a:r>
              <a:rPr lang="da-DK" dirty="0" err="1"/>
              <a:t>displayed</a:t>
            </a:r>
            <a:endParaRPr lang="da-DK" dirty="0"/>
          </a:p>
          <a:p>
            <a:pPr lvl="1"/>
            <a:r>
              <a:rPr lang="da-DK" dirty="0"/>
              <a:t>TC3: </a:t>
            </a:r>
            <a:r>
              <a:rPr lang="da-DK" dirty="0" err="1"/>
              <a:t>Attempt</a:t>
            </a:r>
            <a:r>
              <a:rPr lang="da-DK" dirty="0"/>
              <a:t> to upload a file as an </a:t>
            </a:r>
            <a:r>
              <a:rPr lang="da-DK" dirty="0" err="1"/>
              <a:t>unauthorized</a:t>
            </a:r>
            <a:r>
              <a:rPr lang="da-DK" dirty="0"/>
              <a:t> user and </a:t>
            </a:r>
            <a:r>
              <a:rPr lang="da-DK" dirty="0" err="1"/>
              <a:t>confirm</a:t>
            </a:r>
            <a:r>
              <a:rPr lang="da-DK" dirty="0"/>
              <a:t> </a:t>
            </a:r>
            <a:r>
              <a:rPr lang="da-DK" dirty="0" err="1"/>
              <a:t>access</a:t>
            </a:r>
            <a:r>
              <a:rPr lang="da-DK" dirty="0"/>
              <a:t> is </a:t>
            </a:r>
            <a:r>
              <a:rPr lang="da-DK" dirty="0" err="1"/>
              <a:t>denied</a:t>
            </a:r>
            <a:endParaRPr lang="da-DK" dirty="0"/>
          </a:p>
          <a:p>
            <a:endParaRPr lang="da-DK" sz="700" dirty="0"/>
          </a:p>
          <a:p>
            <a:endParaRPr lang="en-DK" sz="700" dirty="0"/>
          </a:p>
          <a:p>
            <a:pPr lvl="1"/>
            <a:endParaRPr lang="en-DK" sz="300" dirty="0"/>
          </a:p>
          <a:p>
            <a:pPr marL="252000" lvl="1" indent="0">
              <a:buNone/>
            </a:pPr>
            <a:endParaRPr lang="en-DK" sz="300" dirty="0"/>
          </a:p>
        </p:txBody>
      </p:sp>
    </p:spTree>
    <p:extLst>
      <p:ext uri="{BB962C8B-B14F-4D97-AF65-F5344CB8AC3E}">
        <p14:creationId xmlns:p14="http://schemas.microsoft.com/office/powerpoint/2010/main" val="3004311564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552FF25E-24BF-4225-87AB-B2869F94CB2B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da-DK"/>
          </a:p>
        </p:txBody>
      </p:sp>
      <p:sp>
        <p:nvSpPr>
          <p:cNvPr id="3" name="Pladsholder til dato 2">
            <a:extLst>
              <a:ext uri="{FF2B5EF4-FFF2-40B4-BE49-F238E27FC236}">
                <a16:creationId xmlns:a16="http://schemas.microsoft.com/office/drawing/2014/main" id="{4C93D788-8D9D-4045-B518-6692018D89DE}"/>
              </a:ext>
            </a:extLst>
          </p:cNvPr>
          <p:cNvSpPr>
            <a:spLocks noGrp="1"/>
          </p:cNvSpPr>
          <p:nvPr>
            <p:ph type="dt" sz="half" idx="2"/>
          </p:nvPr>
        </p:nvSpPr>
        <p:spPr/>
        <p:txBody>
          <a:bodyPr/>
          <a:lstStyle/>
          <a:p>
            <a:fld id="{B4C4C6FD-8607-43FF-8BC8-950EFB970BA3}" type="datetime1">
              <a:rPr lang="en-GB" smtClean="0"/>
              <a:t>24/04/2023</a:t>
            </a:fld>
            <a:endParaRPr lang="en-GB" dirty="0"/>
          </a:p>
        </p:txBody>
      </p:sp>
      <p:sp>
        <p:nvSpPr>
          <p:cNvPr id="4" name="Rektangel 3">
            <a:extLst>
              <a:ext uri="{FF2B5EF4-FFF2-40B4-BE49-F238E27FC236}">
                <a16:creationId xmlns:a16="http://schemas.microsoft.com/office/drawing/2014/main" id="{F994D39F-0217-4BCC-AD0B-429E7605B2F1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2">
              <a:lumMod val="60000"/>
              <a:lumOff val="40000"/>
            </a:schemeClr>
          </a:solidFill>
          <a:ln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tIns="72000" rIns="72000" bIns="72000" rtlCol="0" anchor="ctr"/>
          <a:lstStyle/>
          <a:p>
            <a:pPr algn="ctr"/>
            <a:r>
              <a:rPr lang="da-DK" sz="2800" b="1" dirty="0" err="1"/>
              <a:t>Usability</a:t>
            </a:r>
            <a:r>
              <a:rPr lang="da-DK" sz="2800" b="1" dirty="0"/>
              <a:t> </a:t>
            </a:r>
            <a:r>
              <a:rPr lang="da-DK" sz="2800" b="1" dirty="0" err="1"/>
              <a:t>Testing</a:t>
            </a:r>
            <a:endParaRPr lang="da-DK" sz="2800" b="1" dirty="0"/>
          </a:p>
        </p:txBody>
      </p:sp>
    </p:spTree>
    <p:extLst>
      <p:ext uri="{BB962C8B-B14F-4D97-AF65-F5344CB8AC3E}">
        <p14:creationId xmlns:p14="http://schemas.microsoft.com/office/powerpoint/2010/main" val="285681339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9CBBB199-CEE7-4207-9B94-FABE54697AB5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da-DK" dirty="0" err="1"/>
              <a:t>Usability</a:t>
            </a:r>
            <a:r>
              <a:rPr lang="da-DK" dirty="0"/>
              <a:t> </a:t>
            </a:r>
            <a:r>
              <a:rPr lang="da-DK" dirty="0" err="1"/>
              <a:t>Testing</a:t>
            </a:r>
            <a:endParaRPr lang="da-DK" dirty="0"/>
          </a:p>
        </p:txBody>
      </p:sp>
      <p:sp>
        <p:nvSpPr>
          <p:cNvPr id="4" name="Pladsholder til dato 3">
            <a:extLst>
              <a:ext uri="{FF2B5EF4-FFF2-40B4-BE49-F238E27FC236}">
                <a16:creationId xmlns:a16="http://schemas.microsoft.com/office/drawing/2014/main" id="{DF6BBC47-AF93-4B51-BB19-37E8FA70A1FC}"/>
              </a:ext>
            </a:extLst>
          </p:cNvPr>
          <p:cNvSpPr>
            <a:spLocks noGrp="1"/>
          </p:cNvSpPr>
          <p:nvPr>
            <p:ph type="dt" sz="half" idx="2"/>
          </p:nvPr>
        </p:nvSpPr>
        <p:spPr/>
        <p:txBody>
          <a:bodyPr/>
          <a:lstStyle/>
          <a:p>
            <a:fld id="{1D326F97-033E-40DE-A683-79560FFFFEF4}" type="datetime1">
              <a:rPr lang="en-GB" smtClean="0"/>
              <a:t>24/04/2023</a:t>
            </a:fld>
            <a:endParaRPr lang="en-GB" dirty="0"/>
          </a:p>
        </p:txBody>
      </p:sp>
      <p:sp>
        <p:nvSpPr>
          <p:cNvPr id="5" name="Pladsholder til sidefod 4">
            <a:extLst>
              <a:ext uri="{FF2B5EF4-FFF2-40B4-BE49-F238E27FC236}">
                <a16:creationId xmlns:a16="http://schemas.microsoft.com/office/drawing/2014/main" id="{0A4065D9-777F-4BC2-8DA9-0E100CD3446A}"/>
              </a:ext>
            </a:extLst>
          </p:cNvPr>
          <p:cNvSpPr>
            <a:spLocks noGrp="1"/>
          </p:cNvSpPr>
          <p:nvPr>
            <p:ph type="ftr" sz="quarter" idx="14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6" name="Pladsholder til slidenummer 5">
            <a:extLst>
              <a:ext uri="{FF2B5EF4-FFF2-40B4-BE49-F238E27FC236}">
                <a16:creationId xmlns:a16="http://schemas.microsoft.com/office/drawing/2014/main" id="{1971CA48-5488-429E-869D-06623C5E5997}"/>
              </a:ext>
            </a:extLst>
          </p:cNvPr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fld id="{45D37B1E-C366-494F-A587-962AD9AABC83}" type="slidenum">
              <a:rPr lang="en-GB" smtClean="0"/>
              <a:pPr/>
              <a:t>24</a:t>
            </a:fld>
            <a:endParaRPr lang="en-GB" dirty="0"/>
          </a:p>
        </p:txBody>
      </p:sp>
      <p:sp>
        <p:nvSpPr>
          <p:cNvPr id="10" name="Content Placeholder 9">
            <a:extLst>
              <a:ext uri="{FF2B5EF4-FFF2-40B4-BE49-F238E27FC236}">
                <a16:creationId xmlns:a16="http://schemas.microsoft.com/office/drawing/2014/main" id="{040613FC-F94A-0712-DF75-092CF5474396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414696" y="1700212"/>
            <a:ext cx="10952578" cy="4408925"/>
          </a:xfrm>
        </p:spPr>
        <p:txBody>
          <a:bodyPr/>
          <a:lstStyle/>
          <a:p>
            <a:r>
              <a:rPr lang="da-DK" dirty="0"/>
              <a:t>Purpose: </a:t>
            </a:r>
            <a:r>
              <a:rPr lang="da-DK" dirty="0" err="1"/>
              <a:t>Evaluates</a:t>
            </a:r>
            <a:r>
              <a:rPr lang="da-DK" dirty="0"/>
              <a:t> the user interface, overall user </a:t>
            </a:r>
            <a:r>
              <a:rPr lang="da-DK" dirty="0" err="1"/>
              <a:t>experience</a:t>
            </a:r>
            <a:r>
              <a:rPr lang="da-DK" dirty="0"/>
              <a:t>, and system </a:t>
            </a:r>
            <a:r>
              <a:rPr lang="da-DK" dirty="0" err="1"/>
              <a:t>effectiveness</a:t>
            </a:r>
            <a:endParaRPr lang="da-DK" dirty="0"/>
          </a:p>
          <a:p>
            <a:r>
              <a:rPr lang="da-DK" dirty="0" err="1"/>
              <a:t>Goals</a:t>
            </a:r>
            <a:r>
              <a:rPr lang="da-DK" dirty="0"/>
              <a:t>: </a:t>
            </a:r>
            <a:r>
              <a:rPr lang="da-DK" dirty="0" err="1"/>
              <a:t>Identify</a:t>
            </a:r>
            <a:r>
              <a:rPr lang="da-DK" dirty="0"/>
              <a:t> </a:t>
            </a:r>
            <a:r>
              <a:rPr lang="da-DK" dirty="0" err="1"/>
              <a:t>areas</a:t>
            </a:r>
            <a:r>
              <a:rPr lang="da-DK" dirty="0"/>
              <a:t> for </a:t>
            </a:r>
            <a:r>
              <a:rPr lang="da-DK" dirty="0" err="1"/>
              <a:t>improvement</a:t>
            </a:r>
            <a:r>
              <a:rPr lang="da-DK" dirty="0"/>
              <a:t> in design, </a:t>
            </a:r>
            <a:r>
              <a:rPr lang="da-DK" dirty="0" err="1"/>
              <a:t>functionality</a:t>
            </a:r>
            <a:r>
              <a:rPr lang="da-DK" dirty="0"/>
              <a:t>, and user </a:t>
            </a:r>
            <a:r>
              <a:rPr lang="da-DK" dirty="0" err="1"/>
              <a:t>satisfaction</a:t>
            </a:r>
            <a:endParaRPr lang="en-DK" sz="500" dirty="0"/>
          </a:p>
        </p:txBody>
      </p:sp>
    </p:spTree>
    <p:extLst>
      <p:ext uri="{BB962C8B-B14F-4D97-AF65-F5344CB8AC3E}">
        <p14:creationId xmlns:p14="http://schemas.microsoft.com/office/powerpoint/2010/main" val="3056723628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9CBBB199-CEE7-4207-9B94-FABE54697AB5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da-DK" dirty="0" err="1"/>
              <a:t>Usability</a:t>
            </a:r>
            <a:r>
              <a:rPr lang="da-DK" dirty="0"/>
              <a:t> </a:t>
            </a:r>
            <a:r>
              <a:rPr lang="da-DK" dirty="0" err="1"/>
              <a:t>Testing</a:t>
            </a:r>
            <a:endParaRPr lang="da-DK" dirty="0"/>
          </a:p>
        </p:txBody>
      </p:sp>
      <p:sp>
        <p:nvSpPr>
          <p:cNvPr id="4" name="Pladsholder til dato 3">
            <a:extLst>
              <a:ext uri="{FF2B5EF4-FFF2-40B4-BE49-F238E27FC236}">
                <a16:creationId xmlns:a16="http://schemas.microsoft.com/office/drawing/2014/main" id="{DF6BBC47-AF93-4B51-BB19-37E8FA70A1FC}"/>
              </a:ext>
            </a:extLst>
          </p:cNvPr>
          <p:cNvSpPr>
            <a:spLocks noGrp="1"/>
          </p:cNvSpPr>
          <p:nvPr>
            <p:ph type="dt" sz="half" idx="2"/>
          </p:nvPr>
        </p:nvSpPr>
        <p:spPr/>
        <p:txBody>
          <a:bodyPr/>
          <a:lstStyle/>
          <a:p>
            <a:fld id="{1D326F97-033E-40DE-A683-79560FFFFEF4}" type="datetime1">
              <a:rPr lang="en-GB" smtClean="0"/>
              <a:t>24/04/2023</a:t>
            </a:fld>
            <a:endParaRPr lang="en-GB" dirty="0"/>
          </a:p>
        </p:txBody>
      </p:sp>
      <p:sp>
        <p:nvSpPr>
          <p:cNvPr id="5" name="Pladsholder til sidefod 4">
            <a:extLst>
              <a:ext uri="{FF2B5EF4-FFF2-40B4-BE49-F238E27FC236}">
                <a16:creationId xmlns:a16="http://schemas.microsoft.com/office/drawing/2014/main" id="{0A4065D9-777F-4BC2-8DA9-0E100CD3446A}"/>
              </a:ext>
            </a:extLst>
          </p:cNvPr>
          <p:cNvSpPr>
            <a:spLocks noGrp="1"/>
          </p:cNvSpPr>
          <p:nvPr>
            <p:ph type="ftr" sz="quarter" idx="14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6" name="Pladsholder til slidenummer 5">
            <a:extLst>
              <a:ext uri="{FF2B5EF4-FFF2-40B4-BE49-F238E27FC236}">
                <a16:creationId xmlns:a16="http://schemas.microsoft.com/office/drawing/2014/main" id="{1971CA48-5488-429E-869D-06623C5E5997}"/>
              </a:ext>
            </a:extLst>
          </p:cNvPr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fld id="{45D37B1E-C366-494F-A587-962AD9AABC83}" type="slidenum">
              <a:rPr lang="en-GB" smtClean="0"/>
              <a:pPr/>
              <a:t>25</a:t>
            </a:fld>
            <a:endParaRPr lang="en-GB" dirty="0"/>
          </a:p>
        </p:txBody>
      </p:sp>
      <p:sp>
        <p:nvSpPr>
          <p:cNvPr id="10" name="Content Placeholder 9">
            <a:extLst>
              <a:ext uri="{FF2B5EF4-FFF2-40B4-BE49-F238E27FC236}">
                <a16:creationId xmlns:a16="http://schemas.microsoft.com/office/drawing/2014/main" id="{040613FC-F94A-0712-DF75-092CF5474396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414696" y="1700212"/>
            <a:ext cx="10952578" cy="4408925"/>
          </a:xfrm>
        </p:spPr>
        <p:txBody>
          <a:bodyPr/>
          <a:lstStyle/>
          <a:p>
            <a:r>
              <a:rPr lang="da-DK" dirty="0" err="1"/>
              <a:t>Process</a:t>
            </a:r>
            <a:endParaRPr lang="da-DK" dirty="0"/>
          </a:p>
          <a:p>
            <a:endParaRPr lang="da-DK" dirty="0"/>
          </a:p>
          <a:p>
            <a:r>
              <a:rPr lang="da-DK" dirty="0" err="1"/>
              <a:t>Define</a:t>
            </a:r>
            <a:r>
              <a:rPr lang="da-DK" dirty="0"/>
              <a:t> </a:t>
            </a:r>
            <a:r>
              <a:rPr lang="da-DK" dirty="0" err="1"/>
              <a:t>usability</a:t>
            </a:r>
            <a:r>
              <a:rPr lang="da-DK" dirty="0"/>
              <a:t> </a:t>
            </a:r>
            <a:r>
              <a:rPr lang="da-DK" dirty="0" err="1"/>
              <a:t>objectives</a:t>
            </a:r>
            <a:r>
              <a:rPr lang="da-DK" dirty="0"/>
              <a:t>: </a:t>
            </a:r>
            <a:r>
              <a:rPr lang="da-DK" dirty="0" err="1"/>
              <a:t>Establish</a:t>
            </a:r>
            <a:r>
              <a:rPr lang="da-DK" dirty="0"/>
              <a:t> the </a:t>
            </a:r>
            <a:r>
              <a:rPr lang="da-DK" dirty="0" err="1"/>
              <a:t>criteria</a:t>
            </a:r>
            <a:r>
              <a:rPr lang="da-DK" dirty="0"/>
              <a:t> for </a:t>
            </a:r>
            <a:r>
              <a:rPr lang="da-DK" dirty="0" err="1"/>
              <a:t>evaluating</a:t>
            </a:r>
            <a:r>
              <a:rPr lang="da-DK" dirty="0"/>
              <a:t> </a:t>
            </a:r>
            <a:r>
              <a:rPr lang="da-DK" dirty="0" err="1"/>
              <a:t>usability</a:t>
            </a:r>
            <a:r>
              <a:rPr lang="da-DK" dirty="0"/>
              <a:t> (</a:t>
            </a:r>
            <a:r>
              <a:rPr lang="da-DK" dirty="0" err="1"/>
              <a:t>e.g</a:t>
            </a:r>
            <a:r>
              <a:rPr lang="da-DK" dirty="0"/>
              <a:t>., </a:t>
            </a:r>
            <a:r>
              <a:rPr lang="da-DK" dirty="0" err="1"/>
              <a:t>efficiency</a:t>
            </a:r>
            <a:r>
              <a:rPr lang="da-DK" dirty="0"/>
              <a:t>, </a:t>
            </a:r>
            <a:r>
              <a:rPr lang="da-DK" dirty="0" err="1"/>
              <a:t>learnability</a:t>
            </a:r>
            <a:r>
              <a:rPr lang="da-DK" dirty="0"/>
              <a:t>, </a:t>
            </a:r>
            <a:r>
              <a:rPr lang="da-DK" dirty="0" err="1"/>
              <a:t>satisfaction</a:t>
            </a:r>
            <a:r>
              <a:rPr lang="da-DK" dirty="0"/>
              <a:t>)</a:t>
            </a:r>
          </a:p>
          <a:p>
            <a:r>
              <a:rPr lang="da-DK" dirty="0"/>
              <a:t>Select participants: </a:t>
            </a:r>
            <a:r>
              <a:rPr lang="da-DK" dirty="0" err="1"/>
              <a:t>Recruit</a:t>
            </a:r>
            <a:r>
              <a:rPr lang="da-DK" dirty="0"/>
              <a:t> a diverse </a:t>
            </a:r>
            <a:r>
              <a:rPr lang="da-DK" dirty="0" err="1"/>
              <a:t>group</a:t>
            </a:r>
            <a:r>
              <a:rPr lang="da-DK" dirty="0"/>
              <a:t> of users </a:t>
            </a:r>
            <a:r>
              <a:rPr lang="da-DK" dirty="0" err="1"/>
              <a:t>representative</a:t>
            </a:r>
            <a:r>
              <a:rPr lang="da-DK" dirty="0"/>
              <a:t> of the </a:t>
            </a:r>
            <a:r>
              <a:rPr lang="da-DK" dirty="0" err="1"/>
              <a:t>target</a:t>
            </a:r>
            <a:r>
              <a:rPr lang="da-DK" dirty="0"/>
              <a:t> </a:t>
            </a:r>
            <a:r>
              <a:rPr lang="da-DK" dirty="0" err="1"/>
              <a:t>audience</a:t>
            </a:r>
            <a:endParaRPr lang="da-DK" dirty="0"/>
          </a:p>
          <a:p>
            <a:r>
              <a:rPr lang="da-DK" dirty="0" err="1"/>
              <a:t>Develop</a:t>
            </a:r>
            <a:r>
              <a:rPr lang="da-DK" dirty="0"/>
              <a:t> test scenarios: </a:t>
            </a:r>
            <a:r>
              <a:rPr lang="da-DK" dirty="0" err="1"/>
              <a:t>Create</a:t>
            </a:r>
            <a:r>
              <a:rPr lang="da-DK" dirty="0"/>
              <a:t> </a:t>
            </a:r>
            <a:r>
              <a:rPr lang="da-DK" dirty="0" err="1"/>
              <a:t>realistic</a:t>
            </a:r>
            <a:r>
              <a:rPr lang="da-DK" dirty="0"/>
              <a:t> tasks </a:t>
            </a:r>
            <a:r>
              <a:rPr lang="da-DK" dirty="0" err="1"/>
              <a:t>that</a:t>
            </a:r>
            <a:r>
              <a:rPr lang="da-DK" dirty="0"/>
              <a:t> users </a:t>
            </a:r>
            <a:r>
              <a:rPr lang="da-DK" dirty="0" err="1"/>
              <a:t>will</a:t>
            </a:r>
            <a:r>
              <a:rPr lang="da-DK" dirty="0"/>
              <a:t> perform </a:t>
            </a:r>
            <a:r>
              <a:rPr lang="da-DK" dirty="0" err="1"/>
              <a:t>during</a:t>
            </a:r>
            <a:r>
              <a:rPr lang="da-DK" dirty="0"/>
              <a:t> </a:t>
            </a:r>
            <a:r>
              <a:rPr lang="da-DK" dirty="0" err="1"/>
              <a:t>testing</a:t>
            </a:r>
            <a:r>
              <a:rPr lang="da-DK" dirty="0"/>
              <a:t> (</a:t>
            </a:r>
            <a:r>
              <a:rPr lang="da-DK" dirty="0" err="1"/>
              <a:t>e.g</a:t>
            </a:r>
            <a:r>
              <a:rPr lang="da-DK" dirty="0"/>
              <a:t>., </a:t>
            </a:r>
            <a:r>
              <a:rPr lang="da-DK" dirty="0" err="1"/>
              <a:t>enrolling</a:t>
            </a:r>
            <a:r>
              <a:rPr lang="da-DK" dirty="0"/>
              <a:t> in a </a:t>
            </a:r>
            <a:r>
              <a:rPr lang="da-DK" dirty="0" err="1"/>
              <a:t>course</a:t>
            </a:r>
            <a:r>
              <a:rPr lang="da-DK" dirty="0"/>
              <a:t>, </a:t>
            </a:r>
            <a:r>
              <a:rPr lang="da-DK" dirty="0" err="1"/>
              <a:t>downloading</a:t>
            </a:r>
            <a:r>
              <a:rPr lang="da-DK" dirty="0"/>
              <a:t> </a:t>
            </a:r>
            <a:r>
              <a:rPr lang="da-DK" dirty="0" err="1"/>
              <a:t>materials</a:t>
            </a:r>
            <a:r>
              <a:rPr lang="da-DK" dirty="0"/>
              <a:t>)</a:t>
            </a:r>
          </a:p>
          <a:p>
            <a:r>
              <a:rPr lang="da-DK" dirty="0" err="1"/>
              <a:t>Conduct</a:t>
            </a:r>
            <a:r>
              <a:rPr lang="da-DK" dirty="0"/>
              <a:t> </a:t>
            </a:r>
            <a:r>
              <a:rPr lang="da-DK" dirty="0" err="1"/>
              <a:t>testing</a:t>
            </a:r>
            <a:r>
              <a:rPr lang="da-DK" dirty="0"/>
              <a:t> sessions: </a:t>
            </a:r>
            <a:r>
              <a:rPr lang="da-DK" dirty="0" err="1"/>
              <a:t>Observe</a:t>
            </a:r>
            <a:r>
              <a:rPr lang="da-DK" dirty="0"/>
              <a:t> users as </a:t>
            </a:r>
            <a:r>
              <a:rPr lang="da-DK" dirty="0" err="1"/>
              <a:t>they</a:t>
            </a:r>
            <a:r>
              <a:rPr lang="da-DK" dirty="0"/>
              <a:t> </a:t>
            </a:r>
            <a:r>
              <a:rPr lang="da-DK" dirty="0" err="1"/>
              <a:t>interact</a:t>
            </a:r>
            <a:r>
              <a:rPr lang="da-DK" dirty="0"/>
              <a:t> with the system, </a:t>
            </a:r>
            <a:r>
              <a:rPr lang="da-DK" dirty="0" err="1"/>
              <a:t>gathering</a:t>
            </a:r>
            <a:r>
              <a:rPr lang="da-DK" dirty="0"/>
              <a:t> </a:t>
            </a:r>
            <a:r>
              <a:rPr lang="da-DK" dirty="0" err="1"/>
              <a:t>qualitative</a:t>
            </a:r>
            <a:r>
              <a:rPr lang="da-DK" dirty="0"/>
              <a:t> and </a:t>
            </a:r>
            <a:r>
              <a:rPr lang="da-DK" dirty="0" err="1"/>
              <a:t>quantitative</a:t>
            </a:r>
            <a:r>
              <a:rPr lang="da-DK" dirty="0"/>
              <a:t> data</a:t>
            </a:r>
          </a:p>
          <a:p>
            <a:r>
              <a:rPr lang="da-DK" dirty="0" err="1"/>
              <a:t>Analyze</a:t>
            </a:r>
            <a:r>
              <a:rPr lang="da-DK" dirty="0"/>
              <a:t> </a:t>
            </a:r>
            <a:r>
              <a:rPr lang="da-DK" dirty="0" err="1"/>
              <a:t>results</a:t>
            </a:r>
            <a:r>
              <a:rPr lang="da-DK" dirty="0"/>
              <a:t>: </a:t>
            </a:r>
            <a:r>
              <a:rPr lang="da-DK" dirty="0" err="1"/>
              <a:t>Identify</a:t>
            </a:r>
            <a:r>
              <a:rPr lang="da-DK" dirty="0"/>
              <a:t> </a:t>
            </a:r>
            <a:r>
              <a:rPr lang="da-DK" dirty="0" err="1"/>
              <a:t>usability</a:t>
            </a:r>
            <a:r>
              <a:rPr lang="da-DK" dirty="0"/>
              <a:t> issues, patterns, and trends in user </a:t>
            </a:r>
            <a:r>
              <a:rPr lang="da-DK" dirty="0" err="1"/>
              <a:t>behavior</a:t>
            </a:r>
            <a:endParaRPr lang="da-DK" dirty="0"/>
          </a:p>
          <a:p>
            <a:r>
              <a:rPr lang="da-DK" dirty="0" err="1"/>
              <a:t>Recommend</a:t>
            </a:r>
            <a:r>
              <a:rPr lang="da-DK" dirty="0"/>
              <a:t> </a:t>
            </a:r>
            <a:r>
              <a:rPr lang="da-DK" dirty="0" err="1"/>
              <a:t>improvements</a:t>
            </a:r>
            <a:r>
              <a:rPr lang="da-DK" dirty="0"/>
              <a:t>: Propose design and </a:t>
            </a:r>
            <a:r>
              <a:rPr lang="da-DK" dirty="0" err="1"/>
              <a:t>functionality</a:t>
            </a:r>
            <a:r>
              <a:rPr lang="da-DK" dirty="0"/>
              <a:t> </a:t>
            </a:r>
            <a:r>
              <a:rPr lang="da-DK" dirty="0" err="1"/>
              <a:t>changes</a:t>
            </a:r>
            <a:r>
              <a:rPr lang="da-DK" dirty="0"/>
              <a:t> to </a:t>
            </a:r>
            <a:r>
              <a:rPr lang="da-DK" dirty="0" err="1"/>
              <a:t>enhance</a:t>
            </a:r>
            <a:r>
              <a:rPr lang="da-DK" dirty="0"/>
              <a:t> the user </a:t>
            </a:r>
            <a:r>
              <a:rPr lang="da-DK" dirty="0" err="1"/>
              <a:t>experience</a:t>
            </a:r>
            <a:endParaRPr lang="en-DK" sz="500" dirty="0"/>
          </a:p>
        </p:txBody>
      </p:sp>
    </p:spTree>
    <p:extLst>
      <p:ext uri="{BB962C8B-B14F-4D97-AF65-F5344CB8AC3E}">
        <p14:creationId xmlns:p14="http://schemas.microsoft.com/office/powerpoint/2010/main" val="1145979676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9CBBB199-CEE7-4207-9B94-FABE54697AB5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da-DK" dirty="0" err="1"/>
              <a:t>Usability</a:t>
            </a:r>
            <a:r>
              <a:rPr lang="da-DK" dirty="0"/>
              <a:t> </a:t>
            </a:r>
            <a:r>
              <a:rPr lang="da-DK" dirty="0" err="1"/>
              <a:t>Testing</a:t>
            </a:r>
            <a:endParaRPr lang="da-DK" dirty="0"/>
          </a:p>
        </p:txBody>
      </p:sp>
      <p:sp>
        <p:nvSpPr>
          <p:cNvPr id="4" name="Pladsholder til dato 3">
            <a:extLst>
              <a:ext uri="{FF2B5EF4-FFF2-40B4-BE49-F238E27FC236}">
                <a16:creationId xmlns:a16="http://schemas.microsoft.com/office/drawing/2014/main" id="{DF6BBC47-AF93-4B51-BB19-37E8FA70A1FC}"/>
              </a:ext>
            </a:extLst>
          </p:cNvPr>
          <p:cNvSpPr>
            <a:spLocks noGrp="1"/>
          </p:cNvSpPr>
          <p:nvPr>
            <p:ph type="dt" sz="half" idx="2"/>
          </p:nvPr>
        </p:nvSpPr>
        <p:spPr/>
        <p:txBody>
          <a:bodyPr/>
          <a:lstStyle/>
          <a:p>
            <a:fld id="{1D326F97-033E-40DE-A683-79560FFFFEF4}" type="datetime1">
              <a:rPr lang="en-GB" smtClean="0"/>
              <a:t>24/04/2023</a:t>
            </a:fld>
            <a:endParaRPr lang="en-GB" dirty="0"/>
          </a:p>
        </p:txBody>
      </p:sp>
      <p:sp>
        <p:nvSpPr>
          <p:cNvPr id="5" name="Pladsholder til sidefod 4">
            <a:extLst>
              <a:ext uri="{FF2B5EF4-FFF2-40B4-BE49-F238E27FC236}">
                <a16:creationId xmlns:a16="http://schemas.microsoft.com/office/drawing/2014/main" id="{0A4065D9-777F-4BC2-8DA9-0E100CD3446A}"/>
              </a:ext>
            </a:extLst>
          </p:cNvPr>
          <p:cNvSpPr>
            <a:spLocks noGrp="1"/>
          </p:cNvSpPr>
          <p:nvPr>
            <p:ph type="ftr" sz="quarter" idx="14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6" name="Pladsholder til slidenummer 5">
            <a:extLst>
              <a:ext uri="{FF2B5EF4-FFF2-40B4-BE49-F238E27FC236}">
                <a16:creationId xmlns:a16="http://schemas.microsoft.com/office/drawing/2014/main" id="{1971CA48-5488-429E-869D-06623C5E5997}"/>
              </a:ext>
            </a:extLst>
          </p:cNvPr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fld id="{45D37B1E-C366-494F-A587-962AD9AABC83}" type="slidenum">
              <a:rPr lang="en-GB" smtClean="0"/>
              <a:pPr/>
              <a:t>26</a:t>
            </a:fld>
            <a:endParaRPr lang="en-GB" dirty="0"/>
          </a:p>
        </p:txBody>
      </p:sp>
      <p:sp>
        <p:nvSpPr>
          <p:cNvPr id="10" name="Content Placeholder 9">
            <a:extLst>
              <a:ext uri="{FF2B5EF4-FFF2-40B4-BE49-F238E27FC236}">
                <a16:creationId xmlns:a16="http://schemas.microsoft.com/office/drawing/2014/main" id="{040613FC-F94A-0712-DF75-092CF5474396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414696" y="1700212"/>
            <a:ext cx="10952578" cy="4408925"/>
          </a:xfrm>
        </p:spPr>
        <p:txBody>
          <a:bodyPr/>
          <a:lstStyle/>
          <a:p>
            <a:r>
              <a:rPr lang="da-DK" dirty="0" err="1"/>
              <a:t>Example</a:t>
            </a:r>
            <a:r>
              <a:rPr lang="da-DK" dirty="0"/>
              <a:t> Test Scenarios</a:t>
            </a:r>
          </a:p>
          <a:p>
            <a:endParaRPr lang="da-DK" dirty="0"/>
          </a:p>
          <a:p>
            <a:r>
              <a:rPr lang="da-DK" dirty="0"/>
              <a:t>Scenario 1: A student logs in, </a:t>
            </a:r>
            <a:r>
              <a:rPr lang="da-DK" dirty="0" err="1"/>
              <a:t>navigates</a:t>
            </a:r>
            <a:r>
              <a:rPr lang="da-DK" dirty="0"/>
              <a:t> to a </a:t>
            </a:r>
            <a:r>
              <a:rPr lang="da-DK" dirty="0" err="1"/>
              <a:t>course</a:t>
            </a:r>
            <a:r>
              <a:rPr lang="da-DK" dirty="0"/>
              <a:t>, and downloads a </a:t>
            </a:r>
            <a:r>
              <a:rPr lang="da-DK" dirty="0" err="1"/>
              <a:t>course</a:t>
            </a:r>
            <a:r>
              <a:rPr lang="da-DK" dirty="0"/>
              <a:t> </a:t>
            </a:r>
            <a:r>
              <a:rPr lang="da-DK" dirty="0" err="1"/>
              <a:t>material</a:t>
            </a:r>
            <a:endParaRPr lang="da-DK" dirty="0"/>
          </a:p>
          <a:p>
            <a:r>
              <a:rPr lang="da-DK" dirty="0"/>
              <a:t>Scenario 2: A </a:t>
            </a:r>
            <a:r>
              <a:rPr lang="da-DK" dirty="0" err="1"/>
              <a:t>teacher</a:t>
            </a:r>
            <a:r>
              <a:rPr lang="da-DK" dirty="0"/>
              <a:t> logs in, </a:t>
            </a:r>
            <a:r>
              <a:rPr lang="da-DK" dirty="0" err="1"/>
              <a:t>accesses</a:t>
            </a:r>
            <a:r>
              <a:rPr lang="da-DK" dirty="0"/>
              <a:t> a </a:t>
            </a:r>
            <a:r>
              <a:rPr lang="da-DK" dirty="0" err="1"/>
              <a:t>course</a:t>
            </a:r>
            <a:r>
              <a:rPr lang="da-DK" dirty="0"/>
              <a:t>, and </a:t>
            </a:r>
            <a:r>
              <a:rPr lang="da-DK" dirty="0" err="1"/>
              <a:t>uploads</a:t>
            </a:r>
            <a:r>
              <a:rPr lang="da-DK" dirty="0"/>
              <a:t> a new </a:t>
            </a:r>
            <a:r>
              <a:rPr lang="da-DK" dirty="0" err="1"/>
              <a:t>course</a:t>
            </a:r>
            <a:r>
              <a:rPr lang="da-DK" dirty="0"/>
              <a:t> </a:t>
            </a:r>
            <a:r>
              <a:rPr lang="da-DK" dirty="0" err="1"/>
              <a:t>material</a:t>
            </a:r>
            <a:endParaRPr lang="da-DK" dirty="0"/>
          </a:p>
          <a:p>
            <a:r>
              <a:rPr lang="da-DK" dirty="0"/>
              <a:t>Scenario 3: An administrator logs in, </a:t>
            </a:r>
            <a:r>
              <a:rPr lang="da-DK" dirty="0" err="1"/>
              <a:t>creates</a:t>
            </a:r>
            <a:r>
              <a:rPr lang="da-DK" dirty="0"/>
              <a:t> a new </a:t>
            </a:r>
            <a:r>
              <a:rPr lang="da-DK" dirty="0" err="1"/>
              <a:t>course</a:t>
            </a:r>
            <a:r>
              <a:rPr lang="da-DK" dirty="0"/>
              <a:t>, and </a:t>
            </a:r>
            <a:r>
              <a:rPr lang="da-DK" dirty="0" err="1"/>
              <a:t>assigns</a:t>
            </a:r>
            <a:r>
              <a:rPr lang="da-DK" dirty="0"/>
              <a:t> </a:t>
            </a:r>
            <a:r>
              <a:rPr lang="da-DK" dirty="0" err="1"/>
              <a:t>teachers</a:t>
            </a:r>
            <a:r>
              <a:rPr lang="da-DK" dirty="0"/>
              <a:t> and students to it</a:t>
            </a:r>
            <a:endParaRPr lang="en-DK" sz="500" dirty="0"/>
          </a:p>
        </p:txBody>
      </p:sp>
    </p:spTree>
    <p:extLst>
      <p:ext uri="{BB962C8B-B14F-4D97-AF65-F5344CB8AC3E}">
        <p14:creationId xmlns:p14="http://schemas.microsoft.com/office/powerpoint/2010/main" val="2879708814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9CBBB199-CEE7-4207-9B94-FABE54697AB5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da-DK" dirty="0" err="1"/>
              <a:t>Usability</a:t>
            </a:r>
            <a:r>
              <a:rPr lang="da-DK" dirty="0"/>
              <a:t> </a:t>
            </a:r>
            <a:r>
              <a:rPr lang="da-DK" dirty="0" err="1"/>
              <a:t>Testing</a:t>
            </a:r>
            <a:endParaRPr lang="da-DK" dirty="0"/>
          </a:p>
        </p:txBody>
      </p:sp>
      <p:sp>
        <p:nvSpPr>
          <p:cNvPr id="4" name="Pladsholder til dato 3">
            <a:extLst>
              <a:ext uri="{FF2B5EF4-FFF2-40B4-BE49-F238E27FC236}">
                <a16:creationId xmlns:a16="http://schemas.microsoft.com/office/drawing/2014/main" id="{DF6BBC47-AF93-4B51-BB19-37E8FA70A1FC}"/>
              </a:ext>
            </a:extLst>
          </p:cNvPr>
          <p:cNvSpPr>
            <a:spLocks noGrp="1"/>
          </p:cNvSpPr>
          <p:nvPr>
            <p:ph type="dt" sz="half" idx="2"/>
          </p:nvPr>
        </p:nvSpPr>
        <p:spPr/>
        <p:txBody>
          <a:bodyPr/>
          <a:lstStyle/>
          <a:p>
            <a:fld id="{1D326F97-033E-40DE-A683-79560FFFFEF4}" type="datetime1">
              <a:rPr lang="en-GB" smtClean="0"/>
              <a:t>24/04/2023</a:t>
            </a:fld>
            <a:endParaRPr lang="en-GB" dirty="0"/>
          </a:p>
        </p:txBody>
      </p:sp>
      <p:sp>
        <p:nvSpPr>
          <p:cNvPr id="5" name="Pladsholder til sidefod 4">
            <a:extLst>
              <a:ext uri="{FF2B5EF4-FFF2-40B4-BE49-F238E27FC236}">
                <a16:creationId xmlns:a16="http://schemas.microsoft.com/office/drawing/2014/main" id="{0A4065D9-777F-4BC2-8DA9-0E100CD3446A}"/>
              </a:ext>
            </a:extLst>
          </p:cNvPr>
          <p:cNvSpPr>
            <a:spLocks noGrp="1"/>
          </p:cNvSpPr>
          <p:nvPr>
            <p:ph type="ftr" sz="quarter" idx="14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6" name="Pladsholder til slidenummer 5">
            <a:extLst>
              <a:ext uri="{FF2B5EF4-FFF2-40B4-BE49-F238E27FC236}">
                <a16:creationId xmlns:a16="http://schemas.microsoft.com/office/drawing/2014/main" id="{1971CA48-5488-429E-869D-06623C5E5997}"/>
              </a:ext>
            </a:extLst>
          </p:cNvPr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fld id="{45D37B1E-C366-494F-A587-962AD9AABC83}" type="slidenum">
              <a:rPr lang="en-GB" smtClean="0"/>
              <a:pPr/>
              <a:t>27</a:t>
            </a:fld>
            <a:endParaRPr lang="en-GB" dirty="0"/>
          </a:p>
        </p:txBody>
      </p:sp>
      <p:sp>
        <p:nvSpPr>
          <p:cNvPr id="10" name="Content Placeholder 9">
            <a:extLst>
              <a:ext uri="{FF2B5EF4-FFF2-40B4-BE49-F238E27FC236}">
                <a16:creationId xmlns:a16="http://schemas.microsoft.com/office/drawing/2014/main" id="{040613FC-F94A-0712-DF75-092CF5474396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414696" y="1700212"/>
            <a:ext cx="10952578" cy="4408925"/>
          </a:xfrm>
        </p:spPr>
        <p:txBody>
          <a:bodyPr/>
          <a:lstStyle/>
          <a:p>
            <a:r>
              <a:rPr lang="da-DK" dirty="0"/>
              <a:t>Sample </a:t>
            </a:r>
            <a:r>
              <a:rPr lang="da-DK" dirty="0" err="1"/>
              <a:t>Metrics</a:t>
            </a:r>
            <a:endParaRPr lang="da-DK" dirty="0"/>
          </a:p>
          <a:p>
            <a:endParaRPr lang="da-DK" dirty="0"/>
          </a:p>
          <a:p>
            <a:r>
              <a:rPr lang="da-DK" dirty="0"/>
              <a:t>Task </a:t>
            </a:r>
            <a:r>
              <a:rPr lang="da-DK" dirty="0" err="1"/>
              <a:t>completion</a:t>
            </a:r>
            <a:r>
              <a:rPr lang="da-DK" dirty="0"/>
              <a:t> rate: </a:t>
            </a:r>
            <a:r>
              <a:rPr lang="da-DK" dirty="0" err="1"/>
              <a:t>Percentage</a:t>
            </a:r>
            <a:r>
              <a:rPr lang="da-DK" dirty="0"/>
              <a:t> of tasks </a:t>
            </a:r>
            <a:r>
              <a:rPr lang="da-DK" dirty="0" err="1"/>
              <a:t>successfully</a:t>
            </a:r>
            <a:r>
              <a:rPr lang="da-DK" dirty="0"/>
              <a:t> </a:t>
            </a:r>
            <a:r>
              <a:rPr lang="da-DK" dirty="0" err="1"/>
              <a:t>completed</a:t>
            </a:r>
            <a:r>
              <a:rPr lang="da-DK" dirty="0"/>
              <a:t> by users</a:t>
            </a:r>
          </a:p>
          <a:p>
            <a:r>
              <a:rPr lang="da-DK" dirty="0"/>
              <a:t>Time on task: Average time </a:t>
            </a:r>
            <a:r>
              <a:rPr lang="da-DK" dirty="0" err="1"/>
              <a:t>taken</a:t>
            </a:r>
            <a:r>
              <a:rPr lang="da-DK" dirty="0"/>
              <a:t> to </a:t>
            </a:r>
            <a:r>
              <a:rPr lang="da-DK" dirty="0" err="1"/>
              <a:t>complete</a:t>
            </a:r>
            <a:r>
              <a:rPr lang="da-DK" dirty="0"/>
              <a:t> </a:t>
            </a:r>
            <a:r>
              <a:rPr lang="da-DK" dirty="0" err="1"/>
              <a:t>each</a:t>
            </a:r>
            <a:r>
              <a:rPr lang="da-DK" dirty="0"/>
              <a:t> task</a:t>
            </a:r>
          </a:p>
          <a:p>
            <a:r>
              <a:rPr lang="da-DK" dirty="0" err="1"/>
              <a:t>Error</a:t>
            </a:r>
            <a:r>
              <a:rPr lang="da-DK" dirty="0"/>
              <a:t> rate: </a:t>
            </a:r>
            <a:r>
              <a:rPr lang="da-DK" dirty="0" err="1"/>
              <a:t>Frequency</a:t>
            </a:r>
            <a:r>
              <a:rPr lang="da-DK" dirty="0"/>
              <a:t> of </a:t>
            </a:r>
            <a:r>
              <a:rPr lang="da-DK" dirty="0" err="1"/>
              <a:t>errors</a:t>
            </a:r>
            <a:r>
              <a:rPr lang="da-DK" dirty="0"/>
              <a:t> or </a:t>
            </a:r>
            <a:r>
              <a:rPr lang="da-DK" dirty="0" err="1"/>
              <a:t>mistakes</a:t>
            </a:r>
            <a:r>
              <a:rPr lang="da-DK" dirty="0"/>
              <a:t> made by users</a:t>
            </a:r>
          </a:p>
          <a:p>
            <a:r>
              <a:rPr lang="da-DK" dirty="0"/>
              <a:t>User </a:t>
            </a:r>
            <a:r>
              <a:rPr lang="da-DK" dirty="0" err="1"/>
              <a:t>satisfaction</a:t>
            </a:r>
            <a:r>
              <a:rPr lang="da-DK" dirty="0"/>
              <a:t>: Ratings and feedback from users on </a:t>
            </a:r>
            <a:r>
              <a:rPr lang="da-DK" dirty="0" err="1"/>
              <a:t>their</a:t>
            </a:r>
            <a:r>
              <a:rPr lang="da-DK" dirty="0"/>
              <a:t> </a:t>
            </a:r>
            <a:r>
              <a:rPr lang="da-DK" dirty="0" err="1"/>
              <a:t>experience</a:t>
            </a:r>
            <a:r>
              <a:rPr lang="da-DK" dirty="0"/>
              <a:t> with the system</a:t>
            </a:r>
            <a:endParaRPr lang="en-DK" sz="500" dirty="0"/>
          </a:p>
        </p:txBody>
      </p:sp>
    </p:spTree>
    <p:extLst>
      <p:ext uri="{BB962C8B-B14F-4D97-AF65-F5344CB8AC3E}">
        <p14:creationId xmlns:p14="http://schemas.microsoft.com/office/powerpoint/2010/main" val="3371171465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9CBBB199-CEE7-4207-9B94-FABE54697AB5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da-DK" dirty="0" err="1"/>
              <a:t>Usability</a:t>
            </a:r>
            <a:r>
              <a:rPr lang="da-DK" dirty="0"/>
              <a:t> </a:t>
            </a:r>
            <a:r>
              <a:rPr lang="da-DK" dirty="0" err="1"/>
              <a:t>Testing</a:t>
            </a:r>
            <a:endParaRPr lang="da-DK" dirty="0"/>
          </a:p>
        </p:txBody>
      </p:sp>
      <p:sp>
        <p:nvSpPr>
          <p:cNvPr id="4" name="Pladsholder til dato 3">
            <a:extLst>
              <a:ext uri="{FF2B5EF4-FFF2-40B4-BE49-F238E27FC236}">
                <a16:creationId xmlns:a16="http://schemas.microsoft.com/office/drawing/2014/main" id="{DF6BBC47-AF93-4B51-BB19-37E8FA70A1FC}"/>
              </a:ext>
            </a:extLst>
          </p:cNvPr>
          <p:cNvSpPr>
            <a:spLocks noGrp="1"/>
          </p:cNvSpPr>
          <p:nvPr>
            <p:ph type="dt" sz="half" idx="2"/>
          </p:nvPr>
        </p:nvSpPr>
        <p:spPr/>
        <p:txBody>
          <a:bodyPr/>
          <a:lstStyle/>
          <a:p>
            <a:fld id="{1D326F97-033E-40DE-A683-79560FFFFEF4}" type="datetime1">
              <a:rPr lang="en-GB" smtClean="0"/>
              <a:t>24/04/2023</a:t>
            </a:fld>
            <a:endParaRPr lang="en-GB" dirty="0"/>
          </a:p>
        </p:txBody>
      </p:sp>
      <p:sp>
        <p:nvSpPr>
          <p:cNvPr id="5" name="Pladsholder til sidefod 4">
            <a:extLst>
              <a:ext uri="{FF2B5EF4-FFF2-40B4-BE49-F238E27FC236}">
                <a16:creationId xmlns:a16="http://schemas.microsoft.com/office/drawing/2014/main" id="{0A4065D9-777F-4BC2-8DA9-0E100CD3446A}"/>
              </a:ext>
            </a:extLst>
          </p:cNvPr>
          <p:cNvSpPr>
            <a:spLocks noGrp="1"/>
          </p:cNvSpPr>
          <p:nvPr>
            <p:ph type="ftr" sz="quarter" idx="14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6" name="Pladsholder til slidenummer 5">
            <a:extLst>
              <a:ext uri="{FF2B5EF4-FFF2-40B4-BE49-F238E27FC236}">
                <a16:creationId xmlns:a16="http://schemas.microsoft.com/office/drawing/2014/main" id="{1971CA48-5488-429E-869D-06623C5E5997}"/>
              </a:ext>
            </a:extLst>
          </p:cNvPr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fld id="{45D37B1E-C366-494F-A587-962AD9AABC83}" type="slidenum">
              <a:rPr lang="en-GB" smtClean="0"/>
              <a:pPr/>
              <a:t>28</a:t>
            </a:fld>
            <a:endParaRPr lang="en-GB" dirty="0"/>
          </a:p>
        </p:txBody>
      </p:sp>
      <p:sp>
        <p:nvSpPr>
          <p:cNvPr id="10" name="Content Placeholder 9">
            <a:extLst>
              <a:ext uri="{FF2B5EF4-FFF2-40B4-BE49-F238E27FC236}">
                <a16:creationId xmlns:a16="http://schemas.microsoft.com/office/drawing/2014/main" id="{040613FC-F94A-0712-DF75-092CF5474396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414696" y="1700212"/>
            <a:ext cx="10952578" cy="4408925"/>
          </a:xfrm>
        </p:spPr>
        <p:txBody>
          <a:bodyPr/>
          <a:lstStyle/>
          <a:p>
            <a:r>
              <a:rPr lang="da-DK" dirty="0"/>
              <a:t>Tips for </a:t>
            </a:r>
            <a:r>
              <a:rPr lang="da-DK" dirty="0" err="1"/>
              <a:t>Effective</a:t>
            </a:r>
            <a:r>
              <a:rPr lang="da-DK" dirty="0"/>
              <a:t> </a:t>
            </a:r>
            <a:r>
              <a:rPr lang="da-DK" dirty="0" err="1"/>
              <a:t>Usability</a:t>
            </a:r>
            <a:r>
              <a:rPr lang="da-DK" dirty="0"/>
              <a:t> </a:t>
            </a:r>
            <a:r>
              <a:rPr lang="da-DK" dirty="0" err="1"/>
              <a:t>Testing</a:t>
            </a:r>
            <a:endParaRPr lang="da-DK" dirty="0"/>
          </a:p>
          <a:p>
            <a:endParaRPr lang="da-DK" dirty="0"/>
          </a:p>
          <a:p>
            <a:r>
              <a:rPr lang="da-DK" dirty="0" err="1"/>
              <a:t>Encourage</a:t>
            </a:r>
            <a:r>
              <a:rPr lang="da-DK" dirty="0"/>
              <a:t> users to </a:t>
            </a:r>
            <a:r>
              <a:rPr lang="da-DK" dirty="0" err="1"/>
              <a:t>think</a:t>
            </a:r>
            <a:r>
              <a:rPr lang="da-DK" dirty="0"/>
              <a:t> </a:t>
            </a:r>
            <a:r>
              <a:rPr lang="da-DK" dirty="0" err="1"/>
              <a:t>aloud</a:t>
            </a:r>
            <a:r>
              <a:rPr lang="da-DK" dirty="0"/>
              <a:t> </a:t>
            </a:r>
            <a:r>
              <a:rPr lang="da-DK" dirty="0" err="1"/>
              <a:t>during</a:t>
            </a:r>
            <a:r>
              <a:rPr lang="da-DK" dirty="0"/>
              <a:t> </a:t>
            </a:r>
            <a:r>
              <a:rPr lang="da-DK" dirty="0" err="1"/>
              <a:t>testing</a:t>
            </a:r>
            <a:r>
              <a:rPr lang="da-DK" dirty="0"/>
              <a:t> to </a:t>
            </a:r>
            <a:r>
              <a:rPr lang="da-DK" dirty="0" err="1"/>
              <a:t>gain</a:t>
            </a:r>
            <a:r>
              <a:rPr lang="da-DK" dirty="0"/>
              <a:t> </a:t>
            </a:r>
            <a:r>
              <a:rPr lang="da-DK" dirty="0" err="1"/>
              <a:t>insight</a:t>
            </a:r>
            <a:r>
              <a:rPr lang="da-DK" dirty="0"/>
              <a:t> </a:t>
            </a:r>
            <a:r>
              <a:rPr lang="da-DK" dirty="0" err="1"/>
              <a:t>into</a:t>
            </a:r>
            <a:r>
              <a:rPr lang="da-DK" dirty="0"/>
              <a:t> </a:t>
            </a:r>
            <a:r>
              <a:rPr lang="da-DK" dirty="0" err="1"/>
              <a:t>their</a:t>
            </a:r>
            <a:r>
              <a:rPr lang="da-DK" dirty="0"/>
              <a:t> </a:t>
            </a:r>
            <a:r>
              <a:rPr lang="da-DK" dirty="0" err="1"/>
              <a:t>thought</a:t>
            </a:r>
            <a:r>
              <a:rPr lang="da-DK" dirty="0"/>
              <a:t> </a:t>
            </a:r>
            <a:r>
              <a:rPr lang="da-DK" dirty="0" err="1"/>
              <a:t>process</a:t>
            </a:r>
            <a:endParaRPr lang="da-DK" dirty="0"/>
          </a:p>
          <a:p>
            <a:r>
              <a:rPr lang="da-DK" dirty="0" err="1"/>
              <a:t>Remain</a:t>
            </a:r>
            <a:r>
              <a:rPr lang="da-DK" dirty="0"/>
              <a:t> neutral and </a:t>
            </a:r>
            <a:r>
              <a:rPr lang="da-DK" dirty="0" err="1"/>
              <a:t>avoid</a:t>
            </a:r>
            <a:r>
              <a:rPr lang="da-DK" dirty="0"/>
              <a:t> </a:t>
            </a:r>
            <a:r>
              <a:rPr lang="da-DK" dirty="0" err="1"/>
              <a:t>leading</a:t>
            </a:r>
            <a:r>
              <a:rPr lang="da-DK" dirty="0"/>
              <a:t> </a:t>
            </a:r>
            <a:r>
              <a:rPr lang="da-DK" dirty="0" err="1"/>
              <a:t>questions</a:t>
            </a:r>
            <a:r>
              <a:rPr lang="da-DK" dirty="0"/>
              <a:t> or </a:t>
            </a:r>
            <a:r>
              <a:rPr lang="da-DK" dirty="0" err="1"/>
              <a:t>influencing</a:t>
            </a:r>
            <a:r>
              <a:rPr lang="da-DK" dirty="0"/>
              <a:t> user </a:t>
            </a:r>
            <a:r>
              <a:rPr lang="da-DK" dirty="0" err="1"/>
              <a:t>behavior</a:t>
            </a:r>
            <a:endParaRPr lang="da-DK" dirty="0"/>
          </a:p>
          <a:p>
            <a:r>
              <a:rPr lang="da-DK" dirty="0" err="1"/>
              <a:t>Prioritize</a:t>
            </a:r>
            <a:r>
              <a:rPr lang="da-DK" dirty="0"/>
              <a:t> </a:t>
            </a:r>
            <a:r>
              <a:rPr lang="da-DK" dirty="0" err="1"/>
              <a:t>findings</a:t>
            </a:r>
            <a:r>
              <a:rPr lang="da-DK" dirty="0"/>
              <a:t> and </a:t>
            </a:r>
            <a:r>
              <a:rPr lang="da-DK" dirty="0" err="1"/>
              <a:t>focus</a:t>
            </a:r>
            <a:r>
              <a:rPr lang="da-DK" dirty="0"/>
              <a:t> on high-</a:t>
            </a:r>
            <a:r>
              <a:rPr lang="da-DK" dirty="0" err="1"/>
              <a:t>impact</a:t>
            </a:r>
            <a:r>
              <a:rPr lang="da-DK" dirty="0"/>
              <a:t> </a:t>
            </a:r>
            <a:r>
              <a:rPr lang="da-DK" dirty="0" err="1"/>
              <a:t>improvements</a:t>
            </a:r>
            <a:endParaRPr lang="en-DK" sz="500" dirty="0"/>
          </a:p>
        </p:txBody>
      </p:sp>
    </p:spTree>
    <p:extLst>
      <p:ext uri="{BB962C8B-B14F-4D97-AF65-F5344CB8AC3E}">
        <p14:creationId xmlns:p14="http://schemas.microsoft.com/office/powerpoint/2010/main" val="3215865818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552FF25E-24BF-4225-87AB-B2869F94CB2B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da-DK"/>
          </a:p>
        </p:txBody>
      </p:sp>
      <p:sp>
        <p:nvSpPr>
          <p:cNvPr id="3" name="Pladsholder til dato 2">
            <a:extLst>
              <a:ext uri="{FF2B5EF4-FFF2-40B4-BE49-F238E27FC236}">
                <a16:creationId xmlns:a16="http://schemas.microsoft.com/office/drawing/2014/main" id="{4C93D788-8D9D-4045-B518-6692018D89DE}"/>
              </a:ext>
            </a:extLst>
          </p:cNvPr>
          <p:cNvSpPr>
            <a:spLocks noGrp="1"/>
          </p:cNvSpPr>
          <p:nvPr>
            <p:ph type="dt" sz="half" idx="2"/>
          </p:nvPr>
        </p:nvSpPr>
        <p:spPr/>
        <p:txBody>
          <a:bodyPr/>
          <a:lstStyle/>
          <a:p>
            <a:fld id="{B4C4C6FD-8607-43FF-8BC8-950EFB970BA3}" type="datetime1">
              <a:rPr lang="en-GB" smtClean="0"/>
              <a:t>24/04/2023</a:t>
            </a:fld>
            <a:endParaRPr lang="en-GB" dirty="0"/>
          </a:p>
        </p:txBody>
      </p:sp>
      <p:sp>
        <p:nvSpPr>
          <p:cNvPr id="4" name="Rektangel 3">
            <a:extLst>
              <a:ext uri="{FF2B5EF4-FFF2-40B4-BE49-F238E27FC236}">
                <a16:creationId xmlns:a16="http://schemas.microsoft.com/office/drawing/2014/main" id="{F994D39F-0217-4BCC-AD0B-429E7605B2F1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2">
              <a:lumMod val="60000"/>
              <a:lumOff val="40000"/>
            </a:schemeClr>
          </a:solidFill>
          <a:ln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tIns="72000" rIns="72000" bIns="72000" rtlCol="0" anchor="ctr"/>
          <a:lstStyle/>
          <a:p>
            <a:pPr algn="ctr"/>
            <a:r>
              <a:rPr lang="da-DK" sz="2800" b="1" dirty="0"/>
              <a:t>Unit </a:t>
            </a:r>
            <a:r>
              <a:rPr lang="da-DK" sz="2800" b="1" dirty="0" err="1"/>
              <a:t>Testing</a:t>
            </a:r>
            <a:endParaRPr lang="da-DK" sz="2800" b="1" dirty="0"/>
          </a:p>
        </p:txBody>
      </p:sp>
    </p:spTree>
    <p:extLst>
      <p:ext uri="{BB962C8B-B14F-4D97-AF65-F5344CB8AC3E}">
        <p14:creationId xmlns:p14="http://schemas.microsoft.com/office/powerpoint/2010/main" val="2527978261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9CBBB199-CEE7-4207-9B94-FABE54697AB5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da-DK" dirty="0"/>
              <a:t>Unit </a:t>
            </a:r>
            <a:r>
              <a:rPr lang="da-DK" dirty="0" err="1"/>
              <a:t>Testing</a:t>
            </a:r>
            <a:endParaRPr lang="da-DK" dirty="0"/>
          </a:p>
        </p:txBody>
      </p:sp>
      <p:sp>
        <p:nvSpPr>
          <p:cNvPr id="4" name="Pladsholder til dato 3">
            <a:extLst>
              <a:ext uri="{FF2B5EF4-FFF2-40B4-BE49-F238E27FC236}">
                <a16:creationId xmlns:a16="http://schemas.microsoft.com/office/drawing/2014/main" id="{DF6BBC47-AF93-4B51-BB19-37E8FA70A1FC}"/>
              </a:ext>
            </a:extLst>
          </p:cNvPr>
          <p:cNvSpPr>
            <a:spLocks noGrp="1"/>
          </p:cNvSpPr>
          <p:nvPr>
            <p:ph type="dt" sz="half" idx="2"/>
          </p:nvPr>
        </p:nvSpPr>
        <p:spPr/>
        <p:txBody>
          <a:bodyPr/>
          <a:lstStyle/>
          <a:p>
            <a:fld id="{1D326F97-033E-40DE-A683-79560FFFFEF4}" type="datetime1">
              <a:rPr lang="en-GB" smtClean="0"/>
              <a:t>24/04/2023</a:t>
            </a:fld>
            <a:endParaRPr lang="en-GB" dirty="0"/>
          </a:p>
        </p:txBody>
      </p:sp>
      <p:sp>
        <p:nvSpPr>
          <p:cNvPr id="5" name="Pladsholder til sidefod 4">
            <a:extLst>
              <a:ext uri="{FF2B5EF4-FFF2-40B4-BE49-F238E27FC236}">
                <a16:creationId xmlns:a16="http://schemas.microsoft.com/office/drawing/2014/main" id="{0A4065D9-777F-4BC2-8DA9-0E100CD3446A}"/>
              </a:ext>
            </a:extLst>
          </p:cNvPr>
          <p:cNvSpPr>
            <a:spLocks noGrp="1"/>
          </p:cNvSpPr>
          <p:nvPr>
            <p:ph type="ftr" sz="quarter" idx="14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6" name="Pladsholder til slidenummer 5">
            <a:extLst>
              <a:ext uri="{FF2B5EF4-FFF2-40B4-BE49-F238E27FC236}">
                <a16:creationId xmlns:a16="http://schemas.microsoft.com/office/drawing/2014/main" id="{1971CA48-5488-429E-869D-06623C5E5997}"/>
              </a:ext>
            </a:extLst>
          </p:cNvPr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fld id="{45D37B1E-C366-494F-A587-962AD9AABC83}" type="slidenum">
              <a:rPr lang="en-GB" smtClean="0"/>
              <a:pPr/>
              <a:t>30</a:t>
            </a:fld>
            <a:endParaRPr lang="en-GB" dirty="0"/>
          </a:p>
        </p:txBody>
      </p:sp>
      <p:sp>
        <p:nvSpPr>
          <p:cNvPr id="10" name="Content Placeholder 9">
            <a:extLst>
              <a:ext uri="{FF2B5EF4-FFF2-40B4-BE49-F238E27FC236}">
                <a16:creationId xmlns:a16="http://schemas.microsoft.com/office/drawing/2014/main" id="{040613FC-F94A-0712-DF75-092CF5474396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414696" y="1700212"/>
            <a:ext cx="10952578" cy="4408925"/>
          </a:xfrm>
        </p:spPr>
        <p:txBody>
          <a:bodyPr/>
          <a:lstStyle/>
          <a:p>
            <a:r>
              <a:rPr lang="da-DK" dirty="0"/>
              <a:t>Purpose: </a:t>
            </a:r>
            <a:r>
              <a:rPr lang="da-DK" dirty="0" err="1"/>
              <a:t>Validates</a:t>
            </a:r>
            <a:r>
              <a:rPr lang="da-DK" dirty="0"/>
              <a:t> </a:t>
            </a:r>
            <a:r>
              <a:rPr lang="da-DK" dirty="0" err="1"/>
              <a:t>individual</a:t>
            </a:r>
            <a:r>
              <a:rPr lang="da-DK" dirty="0"/>
              <a:t> components or </a:t>
            </a:r>
            <a:r>
              <a:rPr lang="da-DK" dirty="0" err="1"/>
              <a:t>functions</a:t>
            </a:r>
            <a:r>
              <a:rPr lang="da-DK" dirty="0"/>
              <a:t> in isolation to </a:t>
            </a:r>
            <a:r>
              <a:rPr lang="da-DK" dirty="0" err="1"/>
              <a:t>ensure</a:t>
            </a:r>
            <a:r>
              <a:rPr lang="da-DK" dirty="0"/>
              <a:t> </a:t>
            </a:r>
            <a:r>
              <a:rPr lang="da-DK" dirty="0" err="1"/>
              <a:t>they</a:t>
            </a:r>
            <a:r>
              <a:rPr lang="da-DK" dirty="0"/>
              <a:t> perform as </a:t>
            </a:r>
            <a:r>
              <a:rPr lang="da-DK" dirty="0" err="1"/>
              <a:t>expected</a:t>
            </a:r>
            <a:endParaRPr lang="da-DK" dirty="0"/>
          </a:p>
          <a:p>
            <a:r>
              <a:rPr lang="da-DK" dirty="0" err="1"/>
              <a:t>Goals</a:t>
            </a:r>
            <a:r>
              <a:rPr lang="da-DK" dirty="0"/>
              <a:t>: </a:t>
            </a:r>
            <a:r>
              <a:rPr lang="da-DK" dirty="0" err="1"/>
              <a:t>Identify</a:t>
            </a:r>
            <a:r>
              <a:rPr lang="da-DK" dirty="0"/>
              <a:t> and fix </a:t>
            </a:r>
            <a:r>
              <a:rPr lang="da-DK" dirty="0" err="1"/>
              <a:t>defects</a:t>
            </a:r>
            <a:r>
              <a:rPr lang="da-DK" dirty="0"/>
              <a:t> </a:t>
            </a:r>
            <a:r>
              <a:rPr lang="da-DK" dirty="0" err="1"/>
              <a:t>early</a:t>
            </a:r>
            <a:r>
              <a:rPr lang="da-DK" dirty="0"/>
              <a:t> in the </a:t>
            </a:r>
            <a:r>
              <a:rPr lang="da-DK" dirty="0" err="1"/>
              <a:t>development</a:t>
            </a:r>
            <a:r>
              <a:rPr lang="da-DK" dirty="0"/>
              <a:t> </a:t>
            </a:r>
            <a:r>
              <a:rPr lang="da-DK" dirty="0" err="1"/>
              <a:t>process</a:t>
            </a:r>
            <a:r>
              <a:rPr lang="da-DK" dirty="0"/>
              <a:t>, </a:t>
            </a:r>
            <a:r>
              <a:rPr lang="da-DK" dirty="0" err="1"/>
              <a:t>improve</a:t>
            </a:r>
            <a:r>
              <a:rPr lang="da-DK" dirty="0"/>
              <a:t> </a:t>
            </a:r>
            <a:r>
              <a:rPr lang="da-DK" dirty="0" err="1"/>
              <a:t>code</a:t>
            </a:r>
            <a:r>
              <a:rPr lang="da-DK" dirty="0"/>
              <a:t> </a:t>
            </a:r>
            <a:r>
              <a:rPr lang="da-DK" dirty="0" err="1"/>
              <a:t>quality</a:t>
            </a:r>
            <a:r>
              <a:rPr lang="da-DK" dirty="0"/>
              <a:t> and </a:t>
            </a:r>
            <a:r>
              <a:rPr lang="da-DK" dirty="0" err="1"/>
              <a:t>maintainability</a:t>
            </a:r>
            <a:endParaRPr lang="en-DK" sz="500" dirty="0"/>
          </a:p>
        </p:txBody>
      </p:sp>
    </p:spTree>
    <p:extLst>
      <p:ext uri="{BB962C8B-B14F-4D97-AF65-F5344CB8AC3E}">
        <p14:creationId xmlns:p14="http://schemas.microsoft.com/office/powerpoint/2010/main" val="3236704429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9CBBB199-CEE7-4207-9B94-FABE54697AB5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da-DK" dirty="0"/>
              <a:t>Unit </a:t>
            </a:r>
            <a:r>
              <a:rPr lang="da-DK" dirty="0" err="1"/>
              <a:t>Testing</a:t>
            </a:r>
            <a:endParaRPr lang="da-DK" dirty="0"/>
          </a:p>
        </p:txBody>
      </p:sp>
      <p:sp>
        <p:nvSpPr>
          <p:cNvPr id="4" name="Pladsholder til dato 3">
            <a:extLst>
              <a:ext uri="{FF2B5EF4-FFF2-40B4-BE49-F238E27FC236}">
                <a16:creationId xmlns:a16="http://schemas.microsoft.com/office/drawing/2014/main" id="{DF6BBC47-AF93-4B51-BB19-37E8FA70A1FC}"/>
              </a:ext>
            </a:extLst>
          </p:cNvPr>
          <p:cNvSpPr>
            <a:spLocks noGrp="1"/>
          </p:cNvSpPr>
          <p:nvPr>
            <p:ph type="dt" sz="half" idx="2"/>
          </p:nvPr>
        </p:nvSpPr>
        <p:spPr/>
        <p:txBody>
          <a:bodyPr/>
          <a:lstStyle/>
          <a:p>
            <a:fld id="{1D326F97-033E-40DE-A683-79560FFFFEF4}" type="datetime1">
              <a:rPr lang="en-GB" smtClean="0"/>
              <a:t>24/04/2023</a:t>
            </a:fld>
            <a:endParaRPr lang="en-GB" dirty="0"/>
          </a:p>
        </p:txBody>
      </p:sp>
      <p:sp>
        <p:nvSpPr>
          <p:cNvPr id="5" name="Pladsholder til sidefod 4">
            <a:extLst>
              <a:ext uri="{FF2B5EF4-FFF2-40B4-BE49-F238E27FC236}">
                <a16:creationId xmlns:a16="http://schemas.microsoft.com/office/drawing/2014/main" id="{0A4065D9-777F-4BC2-8DA9-0E100CD3446A}"/>
              </a:ext>
            </a:extLst>
          </p:cNvPr>
          <p:cNvSpPr>
            <a:spLocks noGrp="1"/>
          </p:cNvSpPr>
          <p:nvPr>
            <p:ph type="ftr" sz="quarter" idx="14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6" name="Pladsholder til slidenummer 5">
            <a:extLst>
              <a:ext uri="{FF2B5EF4-FFF2-40B4-BE49-F238E27FC236}">
                <a16:creationId xmlns:a16="http://schemas.microsoft.com/office/drawing/2014/main" id="{1971CA48-5488-429E-869D-06623C5E5997}"/>
              </a:ext>
            </a:extLst>
          </p:cNvPr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fld id="{45D37B1E-C366-494F-A587-962AD9AABC83}" type="slidenum">
              <a:rPr lang="en-GB" smtClean="0"/>
              <a:pPr/>
              <a:t>31</a:t>
            </a:fld>
            <a:endParaRPr lang="en-GB" dirty="0"/>
          </a:p>
        </p:txBody>
      </p:sp>
      <p:sp>
        <p:nvSpPr>
          <p:cNvPr id="10" name="Content Placeholder 9">
            <a:extLst>
              <a:ext uri="{FF2B5EF4-FFF2-40B4-BE49-F238E27FC236}">
                <a16:creationId xmlns:a16="http://schemas.microsoft.com/office/drawing/2014/main" id="{040613FC-F94A-0712-DF75-092CF5474396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414696" y="1700212"/>
            <a:ext cx="10952578" cy="4408925"/>
          </a:xfrm>
        </p:spPr>
        <p:txBody>
          <a:bodyPr/>
          <a:lstStyle/>
          <a:p>
            <a:r>
              <a:rPr lang="da-DK" dirty="0" err="1"/>
              <a:t>Process</a:t>
            </a:r>
            <a:endParaRPr lang="da-DK" dirty="0"/>
          </a:p>
          <a:p>
            <a:endParaRPr lang="da-DK" dirty="0"/>
          </a:p>
          <a:p>
            <a:r>
              <a:rPr lang="da-DK" dirty="0" err="1"/>
              <a:t>Identify</a:t>
            </a:r>
            <a:r>
              <a:rPr lang="da-DK" dirty="0"/>
              <a:t> </a:t>
            </a:r>
            <a:r>
              <a:rPr lang="da-DK" dirty="0" err="1"/>
              <a:t>testable</a:t>
            </a:r>
            <a:r>
              <a:rPr lang="da-DK" dirty="0"/>
              <a:t> units: </a:t>
            </a:r>
            <a:r>
              <a:rPr lang="da-DK" dirty="0" err="1"/>
              <a:t>Determine</a:t>
            </a:r>
            <a:r>
              <a:rPr lang="da-DK" dirty="0"/>
              <a:t> the smallest </a:t>
            </a:r>
            <a:r>
              <a:rPr lang="da-DK" dirty="0" err="1"/>
              <a:t>testable</a:t>
            </a:r>
            <a:r>
              <a:rPr lang="da-DK" dirty="0"/>
              <a:t> parts of the </a:t>
            </a:r>
            <a:r>
              <a:rPr lang="da-DK" dirty="0" err="1"/>
              <a:t>application</a:t>
            </a:r>
            <a:r>
              <a:rPr lang="da-DK" dirty="0"/>
              <a:t> (</a:t>
            </a:r>
            <a:r>
              <a:rPr lang="da-DK" dirty="0" err="1"/>
              <a:t>e.g</a:t>
            </a:r>
            <a:r>
              <a:rPr lang="da-DK" dirty="0"/>
              <a:t>., </a:t>
            </a:r>
            <a:r>
              <a:rPr lang="da-DK" dirty="0" err="1"/>
              <a:t>functions</a:t>
            </a:r>
            <a:r>
              <a:rPr lang="da-DK" dirty="0"/>
              <a:t>, </a:t>
            </a:r>
            <a:r>
              <a:rPr lang="da-DK" dirty="0" err="1"/>
              <a:t>methods</a:t>
            </a:r>
            <a:r>
              <a:rPr lang="da-DK" dirty="0"/>
              <a:t>, </a:t>
            </a:r>
            <a:r>
              <a:rPr lang="da-DK" dirty="0" err="1"/>
              <a:t>classes</a:t>
            </a:r>
            <a:r>
              <a:rPr lang="da-DK" dirty="0"/>
              <a:t>)</a:t>
            </a:r>
          </a:p>
          <a:p>
            <a:r>
              <a:rPr lang="da-DK" dirty="0" err="1"/>
              <a:t>Develop</a:t>
            </a:r>
            <a:r>
              <a:rPr lang="da-DK" dirty="0"/>
              <a:t> test cases: </a:t>
            </a:r>
            <a:r>
              <a:rPr lang="da-DK" dirty="0" err="1"/>
              <a:t>Create</a:t>
            </a:r>
            <a:r>
              <a:rPr lang="da-DK" dirty="0"/>
              <a:t> test cases </a:t>
            </a:r>
            <a:r>
              <a:rPr lang="da-DK" dirty="0" err="1"/>
              <a:t>covering</a:t>
            </a:r>
            <a:r>
              <a:rPr lang="da-DK" dirty="0"/>
              <a:t> a range of inputs, outputs, and </a:t>
            </a:r>
            <a:r>
              <a:rPr lang="da-DK" dirty="0" err="1"/>
              <a:t>edge</a:t>
            </a:r>
            <a:r>
              <a:rPr lang="da-DK" dirty="0"/>
              <a:t> cases for </a:t>
            </a:r>
            <a:r>
              <a:rPr lang="da-DK" dirty="0" err="1"/>
              <a:t>each</a:t>
            </a:r>
            <a:r>
              <a:rPr lang="da-DK" dirty="0"/>
              <a:t> unit</a:t>
            </a:r>
          </a:p>
          <a:p>
            <a:r>
              <a:rPr lang="da-DK" dirty="0"/>
              <a:t>Write test </a:t>
            </a:r>
            <a:r>
              <a:rPr lang="da-DK" dirty="0" err="1"/>
              <a:t>code</a:t>
            </a:r>
            <a:r>
              <a:rPr lang="da-DK" dirty="0"/>
              <a:t>: </a:t>
            </a:r>
            <a:r>
              <a:rPr lang="da-DK" dirty="0" err="1"/>
              <a:t>Implement</a:t>
            </a:r>
            <a:r>
              <a:rPr lang="da-DK" dirty="0"/>
              <a:t> test </a:t>
            </a:r>
            <a:r>
              <a:rPr lang="da-DK" dirty="0" err="1"/>
              <a:t>code</a:t>
            </a:r>
            <a:r>
              <a:rPr lang="da-DK" dirty="0"/>
              <a:t> </a:t>
            </a:r>
            <a:r>
              <a:rPr lang="da-DK" dirty="0" err="1"/>
              <a:t>using</a:t>
            </a:r>
            <a:r>
              <a:rPr lang="da-DK" dirty="0"/>
              <a:t> a </a:t>
            </a:r>
            <a:r>
              <a:rPr lang="da-DK" dirty="0" err="1"/>
              <a:t>testing</a:t>
            </a:r>
            <a:r>
              <a:rPr lang="da-DK" dirty="0"/>
              <a:t> framework (</a:t>
            </a:r>
            <a:r>
              <a:rPr lang="da-DK" dirty="0" err="1"/>
              <a:t>e.g</a:t>
            </a:r>
            <a:r>
              <a:rPr lang="da-DK" dirty="0"/>
              <a:t>., </a:t>
            </a:r>
            <a:r>
              <a:rPr lang="da-DK" dirty="0" err="1"/>
              <a:t>PHPUnit</a:t>
            </a:r>
            <a:r>
              <a:rPr lang="da-DK" dirty="0"/>
              <a:t> for PHP, </a:t>
            </a:r>
            <a:r>
              <a:rPr lang="da-DK" dirty="0" err="1"/>
              <a:t>JUnit</a:t>
            </a:r>
            <a:r>
              <a:rPr lang="da-DK" dirty="0"/>
              <a:t> for Java, </a:t>
            </a:r>
            <a:r>
              <a:rPr lang="da-DK" dirty="0" err="1"/>
              <a:t>pytest</a:t>
            </a:r>
            <a:r>
              <a:rPr lang="da-DK" dirty="0"/>
              <a:t> for Python)</a:t>
            </a:r>
          </a:p>
          <a:p>
            <a:r>
              <a:rPr lang="da-DK" dirty="0" err="1"/>
              <a:t>Execute</a:t>
            </a:r>
            <a:r>
              <a:rPr lang="da-DK" dirty="0"/>
              <a:t> tests: Run tests </a:t>
            </a:r>
            <a:r>
              <a:rPr lang="da-DK" dirty="0" err="1"/>
              <a:t>automatically</a:t>
            </a:r>
            <a:r>
              <a:rPr lang="da-DK" dirty="0"/>
              <a:t> as part of the </a:t>
            </a:r>
            <a:r>
              <a:rPr lang="da-DK" dirty="0" err="1"/>
              <a:t>development</a:t>
            </a:r>
            <a:r>
              <a:rPr lang="da-DK" dirty="0"/>
              <a:t> </a:t>
            </a:r>
            <a:r>
              <a:rPr lang="da-DK" dirty="0" err="1"/>
              <a:t>process</a:t>
            </a:r>
            <a:r>
              <a:rPr lang="da-DK" dirty="0"/>
              <a:t> or </a:t>
            </a:r>
            <a:r>
              <a:rPr lang="da-DK" dirty="0" err="1"/>
              <a:t>during</a:t>
            </a:r>
            <a:r>
              <a:rPr lang="da-DK" dirty="0"/>
              <a:t> </a:t>
            </a:r>
            <a:r>
              <a:rPr lang="da-DK" dirty="0" err="1"/>
              <a:t>continuous</a:t>
            </a:r>
            <a:r>
              <a:rPr lang="da-DK" dirty="0"/>
              <a:t> integration</a:t>
            </a:r>
          </a:p>
          <a:p>
            <a:r>
              <a:rPr lang="da-DK" dirty="0" err="1"/>
              <a:t>Analyze</a:t>
            </a:r>
            <a:r>
              <a:rPr lang="da-DK" dirty="0"/>
              <a:t> </a:t>
            </a:r>
            <a:r>
              <a:rPr lang="da-DK" dirty="0" err="1"/>
              <a:t>results</a:t>
            </a:r>
            <a:r>
              <a:rPr lang="da-DK" dirty="0"/>
              <a:t>: </a:t>
            </a:r>
            <a:r>
              <a:rPr lang="da-DK" dirty="0" err="1"/>
              <a:t>Identify</a:t>
            </a:r>
            <a:r>
              <a:rPr lang="da-DK" dirty="0"/>
              <a:t> and fix </a:t>
            </a:r>
            <a:r>
              <a:rPr lang="da-DK" dirty="0" err="1"/>
              <a:t>defects</a:t>
            </a:r>
            <a:r>
              <a:rPr lang="da-DK" dirty="0"/>
              <a:t> or issues in the </a:t>
            </a:r>
            <a:r>
              <a:rPr lang="da-DK" dirty="0" err="1"/>
              <a:t>code</a:t>
            </a:r>
            <a:r>
              <a:rPr lang="da-DK" dirty="0"/>
              <a:t>, </a:t>
            </a:r>
            <a:r>
              <a:rPr lang="da-DK" dirty="0" err="1"/>
              <a:t>ensuring</a:t>
            </a:r>
            <a:r>
              <a:rPr lang="da-DK" dirty="0"/>
              <a:t> all tests </a:t>
            </a:r>
            <a:r>
              <a:rPr lang="da-DK" dirty="0" err="1"/>
              <a:t>pass</a:t>
            </a:r>
            <a:endParaRPr lang="en-DK" sz="500" dirty="0"/>
          </a:p>
        </p:txBody>
      </p:sp>
    </p:spTree>
    <p:extLst>
      <p:ext uri="{BB962C8B-B14F-4D97-AF65-F5344CB8AC3E}">
        <p14:creationId xmlns:p14="http://schemas.microsoft.com/office/powerpoint/2010/main" val="1712401301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9CBBB199-CEE7-4207-9B94-FABE54697AB5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da-DK" dirty="0"/>
              <a:t>Unit </a:t>
            </a:r>
            <a:r>
              <a:rPr lang="da-DK" dirty="0" err="1"/>
              <a:t>Testing</a:t>
            </a:r>
            <a:endParaRPr lang="da-DK" dirty="0"/>
          </a:p>
        </p:txBody>
      </p:sp>
      <p:sp>
        <p:nvSpPr>
          <p:cNvPr id="4" name="Pladsholder til dato 3">
            <a:extLst>
              <a:ext uri="{FF2B5EF4-FFF2-40B4-BE49-F238E27FC236}">
                <a16:creationId xmlns:a16="http://schemas.microsoft.com/office/drawing/2014/main" id="{DF6BBC47-AF93-4B51-BB19-37E8FA70A1FC}"/>
              </a:ext>
            </a:extLst>
          </p:cNvPr>
          <p:cNvSpPr>
            <a:spLocks noGrp="1"/>
          </p:cNvSpPr>
          <p:nvPr>
            <p:ph type="dt" sz="half" idx="2"/>
          </p:nvPr>
        </p:nvSpPr>
        <p:spPr/>
        <p:txBody>
          <a:bodyPr/>
          <a:lstStyle/>
          <a:p>
            <a:fld id="{1D326F97-033E-40DE-A683-79560FFFFEF4}" type="datetime1">
              <a:rPr lang="en-GB" smtClean="0"/>
              <a:t>24/04/2023</a:t>
            </a:fld>
            <a:endParaRPr lang="en-GB" dirty="0"/>
          </a:p>
        </p:txBody>
      </p:sp>
      <p:sp>
        <p:nvSpPr>
          <p:cNvPr id="5" name="Pladsholder til sidefod 4">
            <a:extLst>
              <a:ext uri="{FF2B5EF4-FFF2-40B4-BE49-F238E27FC236}">
                <a16:creationId xmlns:a16="http://schemas.microsoft.com/office/drawing/2014/main" id="{0A4065D9-777F-4BC2-8DA9-0E100CD3446A}"/>
              </a:ext>
            </a:extLst>
          </p:cNvPr>
          <p:cNvSpPr>
            <a:spLocks noGrp="1"/>
          </p:cNvSpPr>
          <p:nvPr>
            <p:ph type="ftr" sz="quarter" idx="14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6" name="Pladsholder til slidenummer 5">
            <a:extLst>
              <a:ext uri="{FF2B5EF4-FFF2-40B4-BE49-F238E27FC236}">
                <a16:creationId xmlns:a16="http://schemas.microsoft.com/office/drawing/2014/main" id="{1971CA48-5488-429E-869D-06623C5E5997}"/>
              </a:ext>
            </a:extLst>
          </p:cNvPr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fld id="{45D37B1E-C366-494F-A587-962AD9AABC83}" type="slidenum">
              <a:rPr lang="en-GB" smtClean="0"/>
              <a:pPr/>
              <a:t>32</a:t>
            </a:fld>
            <a:endParaRPr lang="en-GB" dirty="0"/>
          </a:p>
        </p:txBody>
      </p:sp>
      <p:sp>
        <p:nvSpPr>
          <p:cNvPr id="10" name="Content Placeholder 9">
            <a:extLst>
              <a:ext uri="{FF2B5EF4-FFF2-40B4-BE49-F238E27FC236}">
                <a16:creationId xmlns:a16="http://schemas.microsoft.com/office/drawing/2014/main" id="{040613FC-F94A-0712-DF75-092CF5474396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414696" y="1700212"/>
            <a:ext cx="10952578" cy="4408925"/>
          </a:xfrm>
        </p:spPr>
        <p:txBody>
          <a:bodyPr/>
          <a:lstStyle/>
          <a:p>
            <a:r>
              <a:rPr lang="da-DK" dirty="0"/>
              <a:t>Test Case Design</a:t>
            </a:r>
          </a:p>
          <a:p>
            <a:endParaRPr lang="da-DK" dirty="0"/>
          </a:p>
          <a:p>
            <a:r>
              <a:rPr lang="da-DK" dirty="0"/>
              <a:t>Test for valid inputs and </a:t>
            </a:r>
            <a:r>
              <a:rPr lang="da-DK" dirty="0" err="1"/>
              <a:t>expected</a:t>
            </a:r>
            <a:r>
              <a:rPr lang="da-DK" dirty="0"/>
              <a:t> outputs</a:t>
            </a:r>
          </a:p>
          <a:p>
            <a:r>
              <a:rPr lang="da-DK" dirty="0"/>
              <a:t>Test for </a:t>
            </a:r>
            <a:r>
              <a:rPr lang="da-DK" dirty="0" err="1"/>
              <a:t>edge</a:t>
            </a:r>
            <a:r>
              <a:rPr lang="da-DK" dirty="0"/>
              <a:t> cases and </a:t>
            </a:r>
            <a:r>
              <a:rPr lang="da-DK" dirty="0" err="1"/>
              <a:t>boundary</a:t>
            </a:r>
            <a:r>
              <a:rPr lang="da-DK" dirty="0"/>
              <a:t> </a:t>
            </a:r>
            <a:r>
              <a:rPr lang="da-DK" dirty="0" err="1"/>
              <a:t>conditions</a:t>
            </a:r>
            <a:endParaRPr lang="da-DK" dirty="0"/>
          </a:p>
          <a:p>
            <a:r>
              <a:rPr lang="da-DK" dirty="0"/>
              <a:t>Test for </a:t>
            </a:r>
            <a:r>
              <a:rPr lang="da-DK" dirty="0" err="1"/>
              <a:t>error</a:t>
            </a:r>
            <a:r>
              <a:rPr lang="da-DK" dirty="0"/>
              <a:t> handling and </a:t>
            </a:r>
            <a:r>
              <a:rPr lang="da-DK" dirty="0" err="1"/>
              <a:t>exceptions</a:t>
            </a:r>
            <a:endParaRPr lang="en-DK" sz="500" dirty="0"/>
          </a:p>
        </p:txBody>
      </p:sp>
    </p:spTree>
    <p:extLst>
      <p:ext uri="{BB962C8B-B14F-4D97-AF65-F5344CB8AC3E}">
        <p14:creationId xmlns:p14="http://schemas.microsoft.com/office/powerpoint/2010/main" val="824731819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9CBBB199-CEE7-4207-9B94-FABE54697AB5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da-DK" dirty="0"/>
              <a:t>Unit </a:t>
            </a:r>
            <a:r>
              <a:rPr lang="da-DK" dirty="0" err="1"/>
              <a:t>Testing</a:t>
            </a:r>
            <a:endParaRPr lang="da-DK" dirty="0"/>
          </a:p>
        </p:txBody>
      </p:sp>
      <p:sp>
        <p:nvSpPr>
          <p:cNvPr id="4" name="Pladsholder til dato 3">
            <a:extLst>
              <a:ext uri="{FF2B5EF4-FFF2-40B4-BE49-F238E27FC236}">
                <a16:creationId xmlns:a16="http://schemas.microsoft.com/office/drawing/2014/main" id="{DF6BBC47-AF93-4B51-BB19-37E8FA70A1FC}"/>
              </a:ext>
            </a:extLst>
          </p:cNvPr>
          <p:cNvSpPr>
            <a:spLocks noGrp="1"/>
          </p:cNvSpPr>
          <p:nvPr>
            <p:ph type="dt" sz="half" idx="2"/>
          </p:nvPr>
        </p:nvSpPr>
        <p:spPr/>
        <p:txBody>
          <a:bodyPr/>
          <a:lstStyle/>
          <a:p>
            <a:fld id="{1D326F97-033E-40DE-A683-79560FFFFEF4}" type="datetime1">
              <a:rPr lang="en-GB" smtClean="0"/>
              <a:t>24/04/2023</a:t>
            </a:fld>
            <a:endParaRPr lang="en-GB" dirty="0"/>
          </a:p>
        </p:txBody>
      </p:sp>
      <p:sp>
        <p:nvSpPr>
          <p:cNvPr id="5" name="Pladsholder til sidefod 4">
            <a:extLst>
              <a:ext uri="{FF2B5EF4-FFF2-40B4-BE49-F238E27FC236}">
                <a16:creationId xmlns:a16="http://schemas.microsoft.com/office/drawing/2014/main" id="{0A4065D9-777F-4BC2-8DA9-0E100CD3446A}"/>
              </a:ext>
            </a:extLst>
          </p:cNvPr>
          <p:cNvSpPr>
            <a:spLocks noGrp="1"/>
          </p:cNvSpPr>
          <p:nvPr>
            <p:ph type="ftr" sz="quarter" idx="14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6" name="Pladsholder til slidenummer 5">
            <a:extLst>
              <a:ext uri="{FF2B5EF4-FFF2-40B4-BE49-F238E27FC236}">
                <a16:creationId xmlns:a16="http://schemas.microsoft.com/office/drawing/2014/main" id="{1971CA48-5488-429E-869D-06623C5E5997}"/>
              </a:ext>
            </a:extLst>
          </p:cNvPr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fld id="{45D37B1E-C366-494F-A587-962AD9AABC83}" type="slidenum">
              <a:rPr lang="en-GB" smtClean="0"/>
              <a:pPr/>
              <a:t>33</a:t>
            </a:fld>
            <a:endParaRPr lang="en-GB" dirty="0"/>
          </a:p>
        </p:txBody>
      </p:sp>
      <p:sp>
        <p:nvSpPr>
          <p:cNvPr id="10" name="Content Placeholder 9">
            <a:extLst>
              <a:ext uri="{FF2B5EF4-FFF2-40B4-BE49-F238E27FC236}">
                <a16:creationId xmlns:a16="http://schemas.microsoft.com/office/drawing/2014/main" id="{040613FC-F94A-0712-DF75-092CF5474396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414696" y="1700212"/>
            <a:ext cx="10952578" cy="4408925"/>
          </a:xfrm>
        </p:spPr>
        <p:txBody>
          <a:bodyPr/>
          <a:lstStyle/>
          <a:p>
            <a:r>
              <a:rPr lang="da-DK" dirty="0" err="1"/>
              <a:t>Benefits</a:t>
            </a:r>
            <a:r>
              <a:rPr lang="da-DK" dirty="0"/>
              <a:t> of Unit </a:t>
            </a:r>
            <a:r>
              <a:rPr lang="da-DK" dirty="0" err="1"/>
              <a:t>Testing</a:t>
            </a:r>
            <a:endParaRPr lang="da-DK" dirty="0"/>
          </a:p>
          <a:p>
            <a:endParaRPr lang="da-DK" dirty="0"/>
          </a:p>
          <a:p>
            <a:r>
              <a:rPr lang="da-DK" dirty="0" err="1"/>
              <a:t>Early</a:t>
            </a:r>
            <a:r>
              <a:rPr lang="da-DK" dirty="0"/>
              <a:t> </a:t>
            </a:r>
            <a:r>
              <a:rPr lang="da-DK" dirty="0" err="1"/>
              <a:t>defect</a:t>
            </a:r>
            <a:r>
              <a:rPr lang="da-DK" dirty="0"/>
              <a:t> </a:t>
            </a:r>
            <a:r>
              <a:rPr lang="da-DK" dirty="0" err="1"/>
              <a:t>detection</a:t>
            </a:r>
            <a:r>
              <a:rPr lang="da-DK" dirty="0"/>
              <a:t>: </a:t>
            </a:r>
            <a:r>
              <a:rPr lang="da-DK" dirty="0" err="1"/>
              <a:t>Catch</a:t>
            </a:r>
            <a:r>
              <a:rPr lang="da-DK" dirty="0"/>
              <a:t> issues </a:t>
            </a:r>
            <a:r>
              <a:rPr lang="da-DK" dirty="0" err="1"/>
              <a:t>before</a:t>
            </a:r>
            <a:r>
              <a:rPr lang="da-DK" dirty="0"/>
              <a:t> </a:t>
            </a:r>
            <a:r>
              <a:rPr lang="da-DK" dirty="0" err="1"/>
              <a:t>they</a:t>
            </a:r>
            <a:r>
              <a:rPr lang="da-DK" dirty="0"/>
              <a:t> </a:t>
            </a:r>
            <a:r>
              <a:rPr lang="da-DK" dirty="0" err="1"/>
              <a:t>propagate</a:t>
            </a:r>
            <a:r>
              <a:rPr lang="da-DK" dirty="0"/>
              <a:t> to </a:t>
            </a:r>
            <a:r>
              <a:rPr lang="da-DK" dirty="0" err="1"/>
              <a:t>other</a:t>
            </a:r>
            <a:r>
              <a:rPr lang="da-DK" dirty="0"/>
              <a:t> parts of the system</a:t>
            </a:r>
          </a:p>
          <a:p>
            <a:r>
              <a:rPr lang="da-DK" dirty="0" err="1"/>
              <a:t>Simplified</a:t>
            </a:r>
            <a:r>
              <a:rPr lang="da-DK" dirty="0"/>
              <a:t> </a:t>
            </a:r>
            <a:r>
              <a:rPr lang="da-DK" dirty="0" err="1"/>
              <a:t>debugging</a:t>
            </a:r>
            <a:r>
              <a:rPr lang="da-DK" dirty="0"/>
              <a:t>: </a:t>
            </a:r>
            <a:r>
              <a:rPr lang="da-DK" dirty="0" err="1"/>
              <a:t>Easily</a:t>
            </a:r>
            <a:r>
              <a:rPr lang="da-DK" dirty="0"/>
              <a:t> </a:t>
            </a:r>
            <a:r>
              <a:rPr lang="da-DK" dirty="0" err="1"/>
              <a:t>identify</a:t>
            </a:r>
            <a:r>
              <a:rPr lang="da-DK" dirty="0"/>
              <a:t> the </a:t>
            </a:r>
            <a:r>
              <a:rPr lang="da-DK" dirty="0" err="1"/>
              <a:t>root</a:t>
            </a:r>
            <a:r>
              <a:rPr lang="da-DK" dirty="0"/>
              <a:t> cause of </a:t>
            </a:r>
            <a:r>
              <a:rPr lang="da-DK" dirty="0" err="1"/>
              <a:t>defects</a:t>
            </a:r>
            <a:r>
              <a:rPr lang="da-DK" dirty="0"/>
              <a:t> by </a:t>
            </a:r>
            <a:r>
              <a:rPr lang="da-DK" dirty="0" err="1"/>
              <a:t>testing</a:t>
            </a:r>
            <a:r>
              <a:rPr lang="da-DK" dirty="0"/>
              <a:t> in isolation</a:t>
            </a:r>
          </a:p>
          <a:p>
            <a:r>
              <a:rPr lang="da-DK" dirty="0" err="1"/>
              <a:t>Improved</a:t>
            </a:r>
            <a:r>
              <a:rPr lang="da-DK" dirty="0"/>
              <a:t> </a:t>
            </a:r>
            <a:r>
              <a:rPr lang="da-DK" dirty="0" err="1"/>
              <a:t>code</a:t>
            </a:r>
            <a:r>
              <a:rPr lang="da-DK" dirty="0"/>
              <a:t> </a:t>
            </a:r>
            <a:r>
              <a:rPr lang="da-DK" dirty="0" err="1"/>
              <a:t>quality</a:t>
            </a:r>
            <a:r>
              <a:rPr lang="da-DK" dirty="0"/>
              <a:t>: </a:t>
            </a:r>
            <a:r>
              <a:rPr lang="da-DK" dirty="0" err="1"/>
              <a:t>Encourage</a:t>
            </a:r>
            <a:r>
              <a:rPr lang="da-DK" dirty="0"/>
              <a:t> </a:t>
            </a:r>
            <a:r>
              <a:rPr lang="da-DK" dirty="0" err="1"/>
              <a:t>modular</a:t>
            </a:r>
            <a:r>
              <a:rPr lang="da-DK" dirty="0"/>
              <a:t> and </a:t>
            </a:r>
            <a:r>
              <a:rPr lang="da-DK" dirty="0" err="1"/>
              <a:t>maintainable</a:t>
            </a:r>
            <a:r>
              <a:rPr lang="da-DK" dirty="0"/>
              <a:t> </a:t>
            </a:r>
            <a:r>
              <a:rPr lang="da-DK" dirty="0" err="1"/>
              <a:t>code</a:t>
            </a:r>
            <a:r>
              <a:rPr lang="da-DK" dirty="0"/>
              <a:t> design</a:t>
            </a:r>
          </a:p>
          <a:p>
            <a:r>
              <a:rPr lang="da-DK" dirty="0"/>
              <a:t>Faster </a:t>
            </a:r>
            <a:r>
              <a:rPr lang="da-DK" dirty="0" err="1"/>
              <a:t>development</a:t>
            </a:r>
            <a:r>
              <a:rPr lang="da-DK" dirty="0"/>
              <a:t>: </a:t>
            </a:r>
            <a:r>
              <a:rPr lang="da-DK" dirty="0" err="1"/>
              <a:t>Reduce</a:t>
            </a:r>
            <a:r>
              <a:rPr lang="da-DK" dirty="0"/>
              <a:t> time </a:t>
            </a:r>
            <a:r>
              <a:rPr lang="da-DK" dirty="0" err="1"/>
              <a:t>spent</a:t>
            </a:r>
            <a:r>
              <a:rPr lang="da-DK" dirty="0"/>
              <a:t> on manual </a:t>
            </a:r>
            <a:r>
              <a:rPr lang="da-DK" dirty="0" err="1"/>
              <a:t>testing</a:t>
            </a:r>
            <a:r>
              <a:rPr lang="da-DK" dirty="0"/>
              <a:t> and </a:t>
            </a:r>
            <a:r>
              <a:rPr lang="da-DK" dirty="0" err="1"/>
              <a:t>debugging</a:t>
            </a:r>
            <a:endParaRPr lang="da-DK" dirty="0"/>
          </a:p>
          <a:p>
            <a:r>
              <a:rPr lang="da-DK" dirty="0" err="1"/>
              <a:t>Enhanced</a:t>
            </a:r>
            <a:r>
              <a:rPr lang="da-DK" dirty="0"/>
              <a:t> </a:t>
            </a:r>
            <a:r>
              <a:rPr lang="da-DK" dirty="0" err="1"/>
              <a:t>collaboration</a:t>
            </a:r>
            <a:r>
              <a:rPr lang="da-DK" dirty="0"/>
              <a:t>: Provide developers with </a:t>
            </a:r>
            <a:r>
              <a:rPr lang="da-DK" dirty="0" err="1"/>
              <a:t>confidence</a:t>
            </a:r>
            <a:r>
              <a:rPr lang="da-DK" dirty="0"/>
              <a:t> </a:t>
            </a:r>
            <a:r>
              <a:rPr lang="da-DK" dirty="0" err="1"/>
              <a:t>that</a:t>
            </a:r>
            <a:r>
              <a:rPr lang="da-DK" dirty="0"/>
              <a:t> </a:t>
            </a:r>
            <a:r>
              <a:rPr lang="da-DK" dirty="0" err="1"/>
              <a:t>their</a:t>
            </a:r>
            <a:r>
              <a:rPr lang="da-DK" dirty="0"/>
              <a:t> </a:t>
            </a:r>
            <a:r>
              <a:rPr lang="da-DK" dirty="0" err="1"/>
              <a:t>code</a:t>
            </a:r>
            <a:r>
              <a:rPr lang="da-DK" dirty="0"/>
              <a:t> is </a:t>
            </a:r>
            <a:r>
              <a:rPr lang="da-DK" dirty="0" err="1"/>
              <a:t>working</a:t>
            </a:r>
            <a:r>
              <a:rPr lang="da-DK" dirty="0"/>
              <a:t> as </a:t>
            </a:r>
            <a:r>
              <a:rPr lang="da-DK" dirty="0" err="1"/>
              <a:t>expected</a:t>
            </a:r>
            <a:endParaRPr lang="en-DK" sz="500" dirty="0"/>
          </a:p>
        </p:txBody>
      </p:sp>
    </p:spTree>
    <p:extLst>
      <p:ext uri="{BB962C8B-B14F-4D97-AF65-F5344CB8AC3E}">
        <p14:creationId xmlns:p14="http://schemas.microsoft.com/office/powerpoint/2010/main" val="3983871962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9CBBB199-CEE7-4207-9B94-FABE54697AB5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da-DK" dirty="0"/>
              <a:t>Unit </a:t>
            </a:r>
            <a:r>
              <a:rPr lang="da-DK" dirty="0" err="1"/>
              <a:t>Testing</a:t>
            </a:r>
            <a:endParaRPr lang="da-DK" dirty="0"/>
          </a:p>
        </p:txBody>
      </p:sp>
      <p:sp>
        <p:nvSpPr>
          <p:cNvPr id="4" name="Pladsholder til dato 3">
            <a:extLst>
              <a:ext uri="{FF2B5EF4-FFF2-40B4-BE49-F238E27FC236}">
                <a16:creationId xmlns:a16="http://schemas.microsoft.com/office/drawing/2014/main" id="{DF6BBC47-AF93-4B51-BB19-37E8FA70A1FC}"/>
              </a:ext>
            </a:extLst>
          </p:cNvPr>
          <p:cNvSpPr>
            <a:spLocks noGrp="1"/>
          </p:cNvSpPr>
          <p:nvPr>
            <p:ph type="dt" sz="half" idx="2"/>
          </p:nvPr>
        </p:nvSpPr>
        <p:spPr/>
        <p:txBody>
          <a:bodyPr/>
          <a:lstStyle/>
          <a:p>
            <a:fld id="{1D326F97-033E-40DE-A683-79560FFFFEF4}" type="datetime1">
              <a:rPr lang="en-GB" smtClean="0"/>
              <a:t>24/04/2023</a:t>
            </a:fld>
            <a:endParaRPr lang="en-GB" dirty="0"/>
          </a:p>
        </p:txBody>
      </p:sp>
      <p:sp>
        <p:nvSpPr>
          <p:cNvPr id="5" name="Pladsholder til sidefod 4">
            <a:extLst>
              <a:ext uri="{FF2B5EF4-FFF2-40B4-BE49-F238E27FC236}">
                <a16:creationId xmlns:a16="http://schemas.microsoft.com/office/drawing/2014/main" id="{0A4065D9-777F-4BC2-8DA9-0E100CD3446A}"/>
              </a:ext>
            </a:extLst>
          </p:cNvPr>
          <p:cNvSpPr>
            <a:spLocks noGrp="1"/>
          </p:cNvSpPr>
          <p:nvPr>
            <p:ph type="ftr" sz="quarter" idx="14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6" name="Pladsholder til slidenummer 5">
            <a:extLst>
              <a:ext uri="{FF2B5EF4-FFF2-40B4-BE49-F238E27FC236}">
                <a16:creationId xmlns:a16="http://schemas.microsoft.com/office/drawing/2014/main" id="{1971CA48-5488-429E-869D-06623C5E5997}"/>
              </a:ext>
            </a:extLst>
          </p:cNvPr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fld id="{45D37B1E-C366-494F-A587-962AD9AABC83}" type="slidenum">
              <a:rPr lang="en-GB" smtClean="0"/>
              <a:pPr/>
              <a:t>34</a:t>
            </a:fld>
            <a:endParaRPr lang="en-GB" dirty="0"/>
          </a:p>
        </p:txBody>
      </p:sp>
      <p:sp>
        <p:nvSpPr>
          <p:cNvPr id="10" name="Content Placeholder 9">
            <a:extLst>
              <a:ext uri="{FF2B5EF4-FFF2-40B4-BE49-F238E27FC236}">
                <a16:creationId xmlns:a16="http://schemas.microsoft.com/office/drawing/2014/main" id="{040613FC-F94A-0712-DF75-092CF5474396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414696" y="1700212"/>
            <a:ext cx="10952578" cy="4408925"/>
          </a:xfrm>
        </p:spPr>
        <p:txBody>
          <a:bodyPr/>
          <a:lstStyle/>
          <a:p>
            <a:r>
              <a:rPr lang="da-DK" dirty="0"/>
              <a:t>Tips for </a:t>
            </a:r>
            <a:r>
              <a:rPr lang="da-DK" dirty="0" err="1"/>
              <a:t>Effective</a:t>
            </a:r>
            <a:r>
              <a:rPr lang="da-DK" dirty="0"/>
              <a:t> Unit </a:t>
            </a:r>
            <a:r>
              <a:rPr lang="da-DK" dirty="0" err="1"/>
              <a:t>Testing</a:t>
            </a:r>
            <a:endParaRPr lang="da-DK" dirty="0"/>
          </a:p>
          <a:p>
            <a:endParaRPr lang="da-DK" dirty="0"/>
          </a:p>
          <a:p>
            <a:r>
              <a:rPr lang="da-DK" dirty="0"/>
              <a:t>Keep test cases simple, </a:t>
            </a:r>
            <a:r>
              <a:rPr lang="da-DK" dirty="0" err="1"/>
              <a:t>focused</a:t>
            </a:r>
            <a:r>
              <a:rPr lang="da-DK" dirty="0"/>
              <a:t>, and independent</a:t>
            </a:r>
          </a:p>
          <a:p>
            <a:r>
              <a:rPr lang="da-DK" dirty="0" err="1"/>
              <a:t>Use</a:t>
            </a:r>
            <a:r>
              <a:rPr lang="da-DK" dirty="0"/>
              <a:t> a </a:t>
            </a:r>
            <a:r>
              <a:rPr lang="da-DK" dirty="0" err="1"/>
              <a:t>testing</a:t>
            </a:r>
            <a:r>
              <a:rPr lang="da-DK" dirty="0"/>
              <a:t> framework and </a:t>
            </a:r>
            <a:r>
              <a:rPr lang="da-DK" dirty="0" err="1"/>
              <a:t>automate</a:t>
            </a:r>
            <a:r>
              <a:rPr lang="da-DK" dirty="0"/>
              <a:t> tests as </a:t>
            </a:r>
            <a:r>
              <a:rPr lang="da-DK" dirty="0" err="1"/>
              <a:t>much</a:t>
            </a:r>
            <a:r>
              <a:rPr lang="da-DK" dirty="0"/>
              <a:t> as </a:t>
            </a:r>
            <a:r>
              <a:rPr lang="da-DK" dirty="0" err="1"/>
              <a:t>possible</a:t>
            </a:r>
            <a:endParaRPr lang="da-DK" dirty="0"/>
          </a:p>
          <a:p>
            <a:r>
              <a:rPr lang="da-DK" dirty="0" err="1"/>
              <a:t>Maintain</a:t>
            </a:r>
            <a:r>
              <a:rPr lang="da-DK" dirty="0"/>
              <a:t> and </a:t>
            </a:r>
            <a:r>
              <a:rPr lang="da-DK" dirty="0" err="1"/>
              <a:t>update</a:t>
            </a:r>
            <a:r>
              <a:rPr lang="da-DK" dirty="0"/>
              <a:t> test cases as the </a:t>
            </a:r>
            <a:r>
              <a:rPr lang="da-DK" dirty="0" err="1"/>
              <a:t>code</a:t>
            </a:r>
            <a:r>
              <a:rPr lang="da-DK" dirty="0"/>
              <a:t> </a:t>
            </a:r>
            <a:r>
              <a:rPr lang="da-DK" dirty="0" err="1"/>
              <a:t>evolves</a:t>
            </a:r>
            <a:endParaRPr lang="da-DK" dirty="0"/>
          </a:p>
          <a:p>
            <a:r>
              <a:rPr lang="da-DK" dirty="0" err="1"/>
              <a:t>Strive</a:t>
            </a:r>
            <a:r>
              <a:rPr lang="da-DK" dirty="0"/>
              <a:t> for a high </a:t>
            </a:r>
            <a:r>
              <a:rPr lang="da-DK" dirty="0" err="1"/>
              <a:t>level</a:t>
            </a:r>
            <a:r>
              <a:rPr lang="da-DK" dirty="0"/>
              <a:t> of </a:t>
            </a:r>
            <a:r>
              <a:rPr lang="da-DK" dirty="0" err="1"/>
              <a:t>code</a:t>
            </a:r>
            <a:r>
              <a:rPr lang="da-DK" dirty="0"/>
              <a:t> </a:t>
            </a:r>
            <a:r>
              <a:rPr lang="da-DK" dirty="0" err="1"/>
              <a:t>coverage</a:t>
            </a:r>
            <a:r>
              <a:rPr lang="da-DK" dirty="0"/>
              <a:t>, but </a:t>
            </a:r>
            <a:r>
              <a:rPr lang="da-DK" dirty="0" err="1"/>
              <a:t>prioritize</a:t>
            </a:r>
            <a:r>
              <a:rPr lang="da-DK" dirty="0"/>
              <a:t> </a:t>
            </a:r>
            <a:r>
              <a:rPr lang="da-DK" dirty="0" err="1"/>
              <a:t>meaningful</a:t>
            </a:r>
            <a:r>
              <a:rPr lang="da-DK" dirty="0"/>
              <a:t> tests over </a:t>
            </a:r>
            <a:r>
              <a:rPr lang="da-DK" dirty="0" err="1"/>
              <a:t>arbitrary</a:t>
            </a:r>
            <a:r>
              <a:rPr lang="da-DK" dirty="0"/>
              <a:t> </a:t>
            </a:r>
            <a:r>
              <a:rPr lang="da-DK" dirty="0" err="1"/>
              <a:t>coverage</a:t>
            </a:r>
            <a:r>
              <a:rPr lang="da-DK" dirty="0"/>
              <a:t> </a:t>
            </a:r>
            <a:r>
              <a:rPr lang="da-DK" dirty="0" err="1"/>
              <a:t>percentages</a:t>
            </a:r>
            <a:endParaRPr lang="en-DK" sz="500" dirty="0"/>
          </a:p>
        </p:txBody>
      </p:sp>
    </p:spTree>
    <p:extLst>
      <p:ext uri="{BB962C8B-B14F-4D97-AF65-F5344CB8AC3E}">
        <p14:creationId xmlns:p14="http://schemas.microsoft.com/office/powerpoint/2010/main" val="3501725539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552FF25E-24BF-4225-87AB-B2869F94CB2B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da-DK"/>
          </a:p>
        </p:txBody>
      </p:sp>
      <p:sp>
        <p:nvSpPr>
          <p:cNvPr id="3" name="Pladsholder til dato 2">
            <a:extLst>
              <a:ext uri="{FF2B5EF4-FFF2-40B4-BE49-F238E27FC236}">
                <a16:creationId xmlns:a16="http://schemas.microsoft.com/office/drawing/2014/main" id="{4C93D788-8D9D-4045-B518-6692018D89DE}"/>
              </a:ext>
            </a:extLst>
          </p:cNvPr>
          <p:cNvSpPr>
            <a:spLocks noGrp="1"/>
          </p:cNvSpPr>
          <p:nvPr>
            <p:ph type="dt" sz="half" idx="2"/>
          </p:nvPr>
        </p:nvSpPr>
        <p:spPr/>
        <p:txBody>
          <a:bodyPr/>
          <a:lstStyle/>
          <a:p>
            <a:fld id="{B4C4C6FD-8607-43FF-8BC8-950EFB970BA3}" type="datetime1">
              <a:rPr lang="en-GB" smtClean="0"/>
              <a:t>24/04/2023</a:t>
            </a:fld>
            <a:endParaRPr lang="en-GB" dirty="0"/>
          </a:p>
        </p:txBody>
      </p:sp>
      <p:sp>
        <p:nvSpPr>
          <p:cNvPr id="4" name="Rektangel 3">
            <a:extLst>
              <a:ext uri="{FF2B5EF4-FFF2-40B4-BE49-F238E27FC236}">
                <a16:creationId xmlns:a16="http://schemas.microsoft.com/office/drawing/2014/main" id="{F994D39F-0217-4BCC-AD0B-429E7605B2F1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2">
              <a:lumMod val="60000"/>
              <a:lumOff val="40000"/>
            </a:schemeClr>
          </a:solidFill>
          <a:ln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tIns="72000" rIns="72000" bIns="72000" rtlCol="0" anchor="ctr"/>
          <a:lstStyle/>
          <a:p>
            <a:pPr algn="ctr"/>
            <a:r>
              <a:rPr lang="da-DK" sz="2800" b="1" dirty="0"/>
              <a:t>End-to-end </a:t>
            </a:r>
            <a:r>
              <a:rPr lang="da-DK" sz="2800" b="1" dirty="0" err="1"/>
              <a:t>Testing</a:t>
            </a:r>
            <a:endParaRPr lang="da-DK" sz="2800" b="1" dirty="0"/>
          </a:p>
        </p:txBody>
      </p:sp>
    </p:spTree>
    <p:extLst>
      <p:ext uri="{BB962C8B-B14F-4D97-AF65-F5344CB8AC3E}">
        <p14:creationId xmlns:p14="http://schemas.microsoft.com/office/powerpoint/2010/main" val="1320571943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9CBBB199-CEE7-4207-9B94-FABE54697AB5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da-DK" dirty="0"/>
              <a:t>End-to-End </a:t>
            </a:r>
            <a:r>
              <a:rPr lang="da-DK" dirty="0" err="1"/>
              <a:t>Testing</a:t>
            </a:r>
            <a:endParaRPr lang="da-DK" dirty="0"/>
          </a:p>
        </p:txBody>
      </p:sp>
      <p:sp>
        <p:nvSpPr>
          <p:cNvPr id="4" name="Pladsholder til dato 3">
            <a:extLst>
              <a:ext uri="{FF2B5EF4-FFF2-40B4-BE49-F238E27FC236}">
                <a16:creationId xmlns:a16="http://schemas.microsoft.com/office/drawing/2014/main" id="{DF6BBC47-AF93-4B51-BB19-37E8FA70A1FC}"/>
              </a:ext>
            </a:extLst>
          </p:cNvPr>
          <p:cNvSpPr>
            <a:spLocks noGrp="1"/>
          </p:cNvSpPr>
          <p:nvPr>
            <p:ph type="dt" sz="half" idx="2"/>
          </p:nvPr>
        </p:nvSpPr>
        <p:spPr/>
        <p:txBody>
          <a:bodyPr/>
          <a:lstStyle/>
          <a:p>
            <a:fld id="{1D326F97-033E-40DE-A683-79560FFFFEF4}" type="datetime1">
              <a:rPr lang="en-GB" smtClean="0"/>
              <a:t>24/04/2023</a:t>
            </a:fld>
            <a:endParaRPr lang="en-GB" dirty="0"/>
          </a:p>
        </p:txBody>
      </p:sp>
      <p:sp>
        <p:nvSpPr>
          <p:cNvPr id="5" name="Pladsholder til sidefod 4">
            <a:extLst>
              <a:ext uri="{FF2B5EF4-FFF2-40B4-BE49-F238E27FC236}">
                <a16:creationId xmlns:a16="http://schemas.microsoft.com/office/drawing/2014/main" id="{0A4065D9-777F-4BC2-8DA9-0E100CD3446A}"/>
              </a:ext>
            </a:extLst>
          </p:cNvPr>
          <p:cNvSpPr>
            <a:spLocks noGrp="1"/>
          </p:cNvSpPr>
          <p:nvPr>
            <p:ph type="ftr" sz="quarter" idx="14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6" name="Pladsholder til slidenummer 5">
            <a:extLst>
              <a:ext uri="{FF2B5EF4-FFF2-40B4-BE49-F238E27FC236}">
                <a16:creationId xmlns:a16="http://schemas.microsoft.com/office/drawing/2014/main" id="{1971CA48-5488-429E-869D-06623C5E5997}"/>
              </a:ext>
            </a:extLst>
          </p:cNvPr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fld id="{45D37B1E-C366-494F-A587-962AD9AABC83}" type="slidenum">
              <a:rPr lang="en-GB" smtClean="0"/>
              <a:pPr/>
              <a:t>36</a:t>
            </a:fld>
            <a:endParaRPr lang="en-GB" dirty="0"/>
          </a:p>
        </p:txBody>
      </p:sp>
      <p:sp>
        <p:nvSpPr>
          <p:cNvPr id="10" name="Content Placeholder 9">
            <a:extLst>
              <a:ext uri="{FF2B5EF4-FFF2-40B4-BE49-F238E27FC236}">
                <a16:creationId xmlns:a16="http://schemas.microsoft.com/office/drawing/2014/main" id="{040613FC-F94A-0712-DF75-092CF5474396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414696" y="1700212"/>
            <a:ext cx="10952578" cy="4408925"/>
          </a:xfrm>
        </p:spPr>
        <p:txBody>
          <a:bodyPr/>
          <a:lstStyle/>
          <a:p>
            <a:r>
              <a:rPr lang="da-DK" dirty="0"/>
              <a:t>Purpose: </a:t>
            </a:r>
            <a:r>
              <a:rPr lang="da-DK" dirty="0" err="1"/>
              <a:t>Validates</a:t>
            </a:r>
            <a:r>
              <a:rPr lang="da-DK" dirty="0"/>
              <a:t> the </a:t>
            </a:r>
            <a:r>
              <a:rPr lang="da-DK" dirty="0" err="1"/>
              <a:t>entire</a:t>
            </a:r>
            <a:r>
              <a:rPr lang="da-DK" dirty="0"/>
              <a:t> system, from user interfaces to </a:t>
            </a:r>
            <a:r>
              <a:rPr lang="da-DK" dirty="0" err="1"/>
              <a:t>backend</a:t>
            </a:r>
            <a:r>
              <a:rPr lang="da-DK" dirty="0"/>
              <a:t> components, </a:t>
            </a:r>
            <a:r>
              <a:rPr lang="da-DK" dirty="0" err="1"/>
              <a:t>ensuring</a:t>
            </a:r>
            <a:r>
              <a:rPr lang="da-DK" dirty="0"/>
              <a:t> all parts </a:t>
            </a:r>
            <a:r>
              <a:rPr lang="da-DK" dirty="0" err="1"/>
              <a:t>work</a:t>
            </a:r>
            <a:r>
              <a:rPr lang="da-DK" dirty="0"/>
              <a:t> </a:t>
            </a:r>
            <a:r>
              <a:rPr lang="da-DK" dirty="0" err="1"/>
              <a:t>together</a:t>
            </a:r>
            <a:r>
              <a:rPr lang="da-DK" dirty="0"/>
              <a:t> as </a:t>
            </a:r>
            <a:r>
              <a:rPr lang="da-DK" dirty="0" err="1"/>
              <a:t>expected</a:t>
            </a:r>
            <a:endParaRPr lang="da-DK" dirty="0"/>
          </a:p>
          <a:p>
            <a:r>
              <a:rPr lang="da-DK" dirty="0" err="1"/>
              <a:t>Goals</a:t>
            </a:r>
            <a:r>
              <a:rPr lang="da-DK" dirty="0"/>
              <a:t>: </a:t>
            </a:r>
            <a:r>
              <a:rPr lang="da-DK" dirty="0" err="1"/>
              <a:t>Identify</a:t>
            </a:r>
            <a:r>
              <a:rPr lang="da-DK" dirty="0"/>
              <a:t> integration issues, </a:t>
            </a:r>
            <a:r>
              <a:rPr lang="da-DK" dirty="0" err="1"/>
              <a:t>confirm</a:t>
            </a:r>
            <a:r>
              <a:rPr lang="da-DK" dirty="0"/>
              <a:t> the system </a:t>
            </a:r>
            <a:r>
              <a:rPr lang="da-DK" dirty="0" err="1"/>
              <a:t>meets</a:t>
            </a:r>
            <a:r>
              <a:rPr lang="da-DK" dirty="0"/>
              <a:t> user </a:t>
            </a:r>
            <a:r>
              <a:rPr lang="da-DK" dirty="0" err="1"/>
              <a:t>requirements</a:t>
            </a:r>
            <a:r>
              <a:rPr lang="da-DK" dirty="0"/>
              <a:t>, and </a:t>
            </a:r>
            <a:r>
              <a:rPr lang="da-DK" dirty="0" err="1"/>
              <a:t>ensure</a:t>
            </a:r>
            <a:r>
              <a:rPr lang="da-DK" dirty="0"/>
              <a:t> a </a:t>
            </a:r>
            <a:r>
              <a:rPr lang="da-DK" dirty="0" err="1"/>
              <a:t>smooth</a:t>
            </a:r>
            <a:r>
              <a:rPr lang="da-DK" dirty="0"/>
              <a:t> user </a:t>
            </a:r>
            <a:r>
              <a:rPr lang="da-DK" dirty="0" err="1"/>
              <a:t>experience</a:t>
            </a:r>
            <a:endParaRPr lang="en-DK" sz="500" dirty="0"/>
          </a:p>
        </p:txBody>
      </p:sp>
    </p:spTree>
    <p:extLst>
      <p:ext uri="{BB962C8B-B14F-4D97-AF65-F5344CB8AC3E}">
        <p14:creationId xmlns:p14="http://schemas.microsoft.com/office/powerpoint/2010/main" val="553063294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9CBBB199-CEE7-4207-9B94-FABE54697AB5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da-DK" dirty="0"/>
              <a:t>End-to-End </a:t>
            </a:r>
            <a:r>
              <a:rPr lang="da-DK" dirty="0" err="1"/>
              <a:t>Testing</a:t>
            </a:r>
            <a:endParaRPr lang="da-DK" dirty="0"/>
          </a:p>
        </p:txBody>
      </p:sp>
      <p:sp>
        <p:nvSpPr>
          <p:cNvPr id="4" name="Pladsholder til dato 3">
            <a:extLst>
              <a:ext uri="{FF2B5EF4-FFF2-40B4-BE49-F238E27FC236}">
                <a16:creationId xmlns:a16="http://schemas.microsoft.com/office/drawing/2014/main" id="{DF6BBC47-AF93-4B51-BB19-37E8FA70A1FC}"/>
              </a:ext>
            </a:extLst>
          </p:cNvPr>
          <p:cNvSpPr>
            <a:spLocks noGrp="1"/>
          </p:cNvSpPr>
          <p:nvPr>
            <p:ph type="dt" sz="half" idx="2"/>
          </p:nvPr>
        </p:nvSpPr>
        <p:spPr/>
        <p:txBody>
          <a:bodyPr/>
          <a:lstStyle/>
          <a:p>
            <a:fld id="{1D326F97-033E-40DE-A683-79560FFFFEF4}" type="datetime1">
              <a:rPr lang="en-GB" smtClean="0"/>
              <a:t>24/04/2023</a:t>
            </a:fld>
            <a:endParaRPr lang="en-GB" dirty="0"/>
          </a:p>
        </p:txBody>
      </p:sp>
      <p:sp>
        <p:nvSpPr>
          <p:cNvPr id="5" name="Pladsholder til sidefod 4">
            <a:extLst>
              <a:ext uri="{FF2B5EF4-FFF2-40B4-BE49-F238E27FC236}">
                <a16:creationId xmlns:a16="http://schemas.microsoft.com/office/drawing/2014/main" id="{0A4065D9-777F-4BC2-8DA9-0E100CD3446A}"/>
              </a:ext>
            </a:extLst>
          </p:cNvPr>
          <p:cNvSpPr>
            <a:spLocks noGrp="1"/>
          </p:cNvSpPr>
          <p:nvPr>
            <p:ph type="ftr" sz="quarter" idx="14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6" name="Pladsholder til slidenummer 5">
            <a:extLst>
              <a:ext uri="{FF2B5EF4-FFF2-40B4-BE49-F238E27FC236}">
                <a16:creationId xmlns:a16="http://schemas.microsoft.com/office/drawing/2014/main" id="{1971CA48-5488-429E-869D-06623C5E5997}"/>
              </a:ext>
            </a:extLst>
          </p:cNvPr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fld id="{45D37B1E-C366-494F-A587-962AD9AABC83}" type="slidenum">
              <a:rPr lang="en-GB" smtClean="0"/>
              <a:pPr/>
              <a:t>37</a:t>
            </a:fld>
            <a:endParaRPr lang="en-GB" dirty="0"/>
          </a:p>
        </p:txBody>
      </p:sp>
      <p:sp>
        <p:nvSpPr>
          <p:cNvPr id="10" name="Content Placeholder 9">
            <a:extLst>
              <a:ext uri="{FF2B5EF4-FFF2-40B4-BE49-F238E27FC236}">
                <a16:creationId xmlns:a16="http://schemas.microsoft.com/office/drawing/2014/main" id="{040613FC-F94A-0712-DF75-092CF5474396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414696" y="1700212"/>
            <a:ext cx="10952578" cy="4408925"/>
          </a:xfrm>
        </p:spPr>
        <p:txBody>
          <a:bodyPr/>
          <a:lstStyle/>
          <a:p>
            <a:r>
              <a:rPr lang="da-DK" dirty="0" err="1"/>
              <a:t>Process</a:t>
            </a:r>
            <a:endParaRPr lang="da-DK" dirty="0"/>
          </a:p>
          <a:p>
            <a:endParaRPr lang="da-DK" dirty="0"/>
          </a:p>
          <a:p>
            <a:r>
              <a:rPr lang="da-DK" dirty="0" err="1"/>
              <a:t>Define</a:t>
            </a:r>
            <a:r>
              <a:rPr lang="da-DK" dirty="0"/>
              <a:t> test scenarios: </a:t>
            </a:r>
            <a:r>
              <a:rPr lang="da-DK" dirty="0" err="1"/>
              <a:t>Develop</a:t>
            </a:r>
            <a:r>
              <a:rPr lang="da-DK" dirty="0"/>
              <a:t> </a:t>
            </a:r>
            <a:r>
              <a:rPr lang="da-DK" dirty="0" err="1"/>
              <a:t>realistic</a:t>
            </a:r>
            <a:r>
              <a:rPr lang="da-DK" dirty="0"/>
              <a:t> user </a:t>
            </a:r>
            <a:r>
              <a:rPr lang="da-DK" dirty="0" err="1"/>
              <a:t>journeys</a:t>
            </a:r>
            <a:r>
              <a:rPr lang="da-DK" dirty="0"/>
              <a:t> </a:t>
            </a:r>
            <a:r>
              <a:rPr lang="da-DK" dirty="0" err="1"/>
              <a:t>that</a:t>
            </a:r>
            <a:r>
              <a:rPr lang="da-DK" dirty="0"/>
              <a:t> cover the most </a:t>
            </a:r>
            <a:r>
              <a:rPr lang="da-DK" dirty="0" err="1"/>
              <a:t>critical</a:t>
            </a:r>
            <a:r>
              <a:rPr lang="da-DK" dirty="0"/>
              <a:t> </a:t>
            </a:r>
            <a:r>
              <a:rPr lang="da-DK" dirty="0" err="1"/>
              <a:t>functionality</a:t>
            </a:r>
            <a:r>
              <a:rPr lang="da-DK" dirty="0"/>
              <a:t> of the system (</a:t>
            </a:r>
            <a:r>
              <a:rPr lang="da-DK" dirty="0" err="1"/>
              <a:t>e.g</a:t>
            </a:r>
            <a:r>
              <a:rPr lang="da-DK" dirty="0"/>
              <a:t>., </a:t>
            </a:r>
            <a:r>
              <a:rPr lang="da-DK" dirty="0" err="1"/>
              <a:t>course</a:t>
            </a:r>
            <a:r>
              <a:rPr lang="da-DK" dirty="0"/>
              <a:t> </a:t>
            </a:r>
            <a:r>
              <a:rPr lang="da-DK" dirty="0" err="1"/>
              <a:t>creation</a:t>
            </a:r>
            <a:r>
              <a:rPr lang="da-DK" dirty="0"/>
              <a:t>, </a:t>
            </a:r>
            <a:r>
              <a:rPr lang="da-DK" dirty="0" err="1"/>
              <a:t>material</a:t>
            </a:r>
            <a:r>
              <a:rPr lang="da-DK" dirty="0"/>
              <a:t> upload, </a:t>
            </a:r>
            <a:r>
              <a:rPr lang="da-DK" dirty="0" err="1"/>
              <a:t>material</a:t>
            </a:r>
            <a:r>
              <a:rPr lang="da-DK" dirty="0"/>
              <a:t> download)</a:t>
            </a:r>
          </a:p>
          <a:p>
            <a:r>
              <a:rPr lang="da-DK" dirty="0" err="1"/>
              <a:t>Create</a:t>
            </a:r>
            <a:r>
              <a:rPr lang="da-DK" dirty="0"/>
              <a:t> test cases: Design test cases </a:t>
            </a:r>
            <a:r>
              <a:rPr lang="da-DK" dirty="0" err="1"/>
              <a:t>that</a:t>
            </a:r>
            <a:r>
              <a:rPr lang="da-DK" dirty="0"/>
              <a:t> </a:t>
            </a:r>
            <a:r>
              <a:rPr lang="da-DK" dirty="0" err="1"/>
              <a:t>replicate</a:t>
            </a:r>
            <a:r>
              <a:rPr lang="da-DK" dirty="0"/>
              <a:t> the user </a:t>
            </a:r>
            <a:r>
              <a:rPr lang="da-DK" dirty="0" err="1"/>
              <a:t>interactions</a:t>
            </a:r>
            <a:r>
              <a:rPr lang="da-DK" dirty="0"/>
              <a:t> and </a:t>
            </a:r>
            <a:r>
              <a:rPr lang="da-DK" dirty="0" err="1"/>
              <a:t>expected</a:t>
            </a:r>
            <a:r>
              <a:rPr lang="da-DK" dirty="0"/>
              <a:t> </a:t>
            </a:r>
            <a:r>
              <a:rPr lang="da-DK" dirty="0" err="1"/>
              <a:t>outcomes</a:t>
            </a:r>
            <a:r>
              <a:rPr lang="da-DK" dirty="0"/>
              <a:t> for </a:t>
            </a:r>
            <a:r>
              <a:rPr lang="da-DK" dirty="0" err="1"/>
              <a:t>each</a:t>
            </a:r>
            <a:r>
              <a:rPr lang="da-DK" dirty="0"/>
              <a:t> scenario</a:t>
            </a:r>
          </a:p>
          <a:p>
            <a:r>
              <a:rPr lang="da-DK" dirty="0"/>
              <a:t>Set up test </a:t>
            </a:r>
            <a:r>
              <a:rPr lang="da-DK" dirty="0" err="1"/>
              <a:t>environment</a:t>
            </a:r>
            <a:r>
              <a:rPr lang="da-DK" dirty="0"/>
              <a:t>: </a:t>
            </a:r>
            <a:r>
              <a:rPr lang="da-DK" dirty="0" err="1"/>
              <a:t>Configure</a:t>
            </a:r>
            <a:r>
              <a:rPr lang="da-DK" dirty="0"/>
              <a:t> a test </a:t>
            </a:r>
            <a:r>
              <a:rPr lang="da-DK" dirty="0" err="1"/>
              <a:t>environment</a:t>
            </a:r>
            <a:r>
              <a:rPr lang="da-DK" dirty="0"/>
              <a:t> </a:t>
            </a:r>
            <a:r>
              <a:rPr lang="da-DK" dirty="0" err="1"/>
              <a:t>that</a:t>
            </a:r>
            <a:r>
              <a:rPr lang="da-DK" dirty="0"/>
              <a:t> </a:t>
            </a:r>
            <a:r>
              <a:rPr lang="da-DK" dirty="0" err="1"/>
              <a:t>mimics</a:t>
            </a:r>
            <a:r>
              <a:rPr lang="da-DK" dirty="0"/>
              <a:t> the </a:t>
            </a:r>
            <a:r>
              <a:rPr lang="da-DK" dirty="0" err="1"/>
              <a:t>production</a:t>
            </a:r>
            <a:r>
              <a:rPr lang="da-DK" dirty="0"/>
              <a:t> </a:t>
            </a:r>
            <a:r>
              <a:rPr lang="da-DK" dirty="0" err="1"/>
              <a:t>environment</a:t>
            </a:r>
            <a:r>
              <a:rPr lang="da-DK" dirty="0"/>
              <a:t> as </a:t>
            </a:r>
            <a:r>
              <a:rPr lang="da-DK" dirty="0" err="1"/>
              <a:t>closely</a:t>
            </a:r>
            <a:r>
              <a:rPr lang="da-DK" dirty="0"/>
              <a:t> as </a:t>
            </a:r>
            <a:r>
              <a:rPr lang="da-DK" dirty="0" err="1"/>
              <a:t>possible</a:t>
            </a:r>
            <a:endParaRPr lang="da-DK" dirty="0"/>
          </a:p>
          <a:p>
            <a:r>
              <a:rPr lang="da-DK" dirty="0" err="1"/>
              <a:t>Execute</a:t>
            </a:r>
            <a:r>
              <a:rPr lang="da-DK" dirty="0"/>
              <a:t> tests: Run tests </a:t>
            </a:r>
            <a:r>
              <a:rPr lang="da-DK" dirty="0" err="1"/>
              <a:t>manually</a:t>
            </a:r>
            <a:r>
              <a:rPr lang="da-DK" dirty="0"/>
              <a:t> or </a:t>
            </a:r>
            <a:r>
              <a:rPr lang="da-DK" dirty="0" err="1"/>
              <a:t>using</a:t>
            </a:r>
            <a:r>
              <a:rPr lang="da-DK" dirty="0"/>
              <a:t> </a:t>
            </a:r>
            <a:r>
              <a:rPr lang="da-DK" dirty="0" err="1"/>
              <a:t>automated</a:t>
            </a:r>
            <a:r>
              <a:rPr lang="da-DK" dirty="0"/>
              <a:t> </a:t>
            </a:r>
            <a:r>
              <a:rPr lang="da-DK" dirty="0" err="1"/>
              <a:t>tools</a:t>
            </a:r>
            <a:r>
              <a:rPr lang="da-DK" dirty="0"/>
              <a:t> (</a:t>
            </a:r>
            <a:r>
              <a:rPr lang="da-DK" dirty="0" err="1"/>
              <a:t>e.g</a:t>
            </a:r>
            <a:r>
              <a:rPr lang="da-DK" dirty="0"/>
              <a:t>., </a:t>
            </a:r>
            <a:r>
              <a:rPr lang="da-DK" dirty="0" err="1"/>
              <a:t>Selenium</a:t>
            </a:r>
            <a:r>
              <a:rPr lang="da-DK" dirty="0"/>
              <a:t>, </a:t>
            </a:r>
            <a:r>
              <a:rPr lang="da-DK" dirty="0" err="1"/>
              <a:t>Cypress</a:t>
            </a:r>
            <a:r>
              <a:rPr lang="da-DK" dirty="0"/>
              <a:t>), </a:t>
            </a:r>
            <a:r>
              <a:rPr lang="da-DK" dirty="0" err="1"/>
              <a:t>monitoring</a:t>
            </a:r>
            <a:r>
              <a:rPr lang="da-DK" dirty="0"/>
              <a:t> the </a:t>
            </a:r>
            <a:r>
              <a:rPr lang="da-DK" dirty="0" err="1"/>
              <a:t>system's</a:t>
            </a:r>
            <a:r>
              <a:rPr lang="da-DK" dirty="0"/>
              <a:t> </a:t>
            </a:r>
            <a:r>
              <a:rPr lang="da-DK" dirty="0" err="1"/>
              <a:t>behavior</a:t>
            </a:r>
            <a:r>
              <a:rPr lang="da-DK" dirty="0"/>
              <a:t> and outputs</a:t>
            </a:r>
          </a:p>
          <a:p>
            <a:r>
              <a:rPr lang="da-DK" dirty="0" err="1"/>
              <a:t>Analyze</a:t>
            </a:r>
            <a:r>
              <a:rPr lang="da-DK" dirty="0"/>
              <a:t> </a:t>
            </a:r>
            <a:r>
              <a:rPr lang="da-DK" dirty="0" err="1"/>
              <a:t>results</a:t>
            </a:r>
            <a:r>
              <a:rPr lang="da-DK" dirty="0"/>
              <a:t>: </a:t>
            </a:r>
            <a:r>
              <a:rPr lang="da-DK" dirty="0" err="1"/>
              <a:t>Identify</a:t>
            </a:r>
            <a:r>
              <a:rPr lang="da-DK" dirty="0"/>
              <a:t> </a:t>
            </a:r>
            <a:r>
              <a:rPr lang="da-DK" dirty="0" err="1"/>
              <a:t>any</a:t>
            </a:r>
            <a:r>
              <a:rPr lang="da-DK" dirty="0"/>
              <a:t> issues, </a:t>
            </a:r>
            <a:r>
              <a:rPr lang="da-DK" dirty="0" err="1"/>
              <a:t>defects</a:t>
            </a:r>
            <a:r>
              <a:rPr lang="da-DK" dirty="0"/>
              <a:t>, or deviations from </a:t>
            </a:r>
            <a:r>
              <a:rPr lang="da-DK" dirty="0" err="1"/>
              <a:t>expected</a:t>
            </a:r>
            <a:r>
              <a:rPr lang="da-DK" dirty="0"/>
              <a:t> </a:t>
            </a:r>
            <a:r>
              <a:rPr lang="da-DK" dirty="0" err="1"/>
              <a:t>behavior</a:t>
            </a:r>
            <a:r>
              <a:rPr lang="da-DK" dirty="0"/>
              <a:t> and </a:t>
            </a:r>
            <a:r>
              <a:rPr lang="da-DK" dirty="0" err="1"/>
              <a:t>work</a:t>
            </a:r>
            <a:r>
              <a:rPr lang="da-DK" dirty="0"/>
              <a:t> with the </a:t>
            </a:r>
            <a:r>
              <a:rPr lang="da-DK" dirty="0" err="1"/>
              <a:t>development</a:t>
            </a:r>
            <a:r>
              <a:rPr lang="da-DK" dirty="0"/>
              <a:t> team to </a:t>
            </a:r>
            <a:r>
              <a:rPr lang="da-DK" dirty="0" err="1"/>
              <a:t>resolve</a:t>
            </a:r>
            <a:r>
              <a:rPr lang="da-DK" dirty="0"/>
              <a:t> </a:t>
            </a:r>
            <a:r>
              <a:rPr lang="da-DK" dirty="0" err="1"/>
              <a:t>them</a:t>
            </a:r>
            <a:endParaRPr lang="en-DK" sz="500" dirty="0"/>
          </a:p>
        </p:txBody>
      </p:sp>
    </p:spTree>
    <p:extLst>
      <p:ext uri="{BB962C8B-B14F-4D97-AF65-F5344CB8AC3E}">
        <p14:creationId xmlns:p14="http://schemas.microsoft.com/office/powerpoint/2010/main" val="1526445842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9CBBB199-CEE7-4207-9B94-FABE54697AB5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da-DK" dirty="0"/>
              <a:t>End-to-End </a:t>
            </a:r>
            <a:r>
              <a:rPr lang="da-DK" dirty="0" err="1"/>
              <a:t>Testing</a:t>
            </a:r>
            <a:endParaRPr lang="da-DK" dirty="0"/>
          </a:p>
        </p:txBody>
      </p:sp>
      <p:sp>
        <p:nvSpPr>
          <p:cNvPr id="4" name="Pladsholder til dato 3">
            <a:extLst>
              <a:ext uri="{FF2B5EF4-FFF2-40B4-BE49-F238E27FC236}">
                <a16:creationId xmlns:a16="http://schemas.microsoft.com/office/drawing/2014/main" id="{DF6BBC47-AF93-4B51-BB19-37E8FA70A1FC}"/>
              </a:ext>
            </a:extLst>
          </p:cNvPr>
          <p:cNvSpPr>
            <a:spLocks noGrp="1"/>
          </p:cNvSpPr>
          <p:nvPr>
            <p:ph type="dt" sz="half" idx="2"/>
          </p:nvPr>
        </p:nvSpPr>
        <p:spPr/>
        <p:txBody>
          <a:bodyPr/>
          <a:lstStyle/>
          <a:p>
            <a:fld id="{1D326F97-033E-40DE-A683-79560FFFFEF4}" type="datetime1">
              <a:rPr lang="en-GB" smtClean="0"/>
              <a:t>24/04/2023</a:t>
            </a:fld>
            <a:endParaRPr lang="en-GB" dirty="0"/>
          </a:p>
        </p:txBody>
      </p:sp>
      <p:sp>
        <p:nvSpPr>
          <p:cNvPr id="5" name="Pladsholder til sidefod 4">
            <a:extLst>
              <a:ext uri="{FF2B5EF4-FFF2-40B4-BE49-F238E27FC236}">
                <a16:creationId xmlns:a16="http://schemas.microsoft.com/office/drawing/2014/main" id="{0A4065D9-777F-4BC2-8DA9-0E100CD3446A}"/>
              </a:ext>
            </a:extLst>
          </p:cNvPr>
          <p:cNvSpPr>
            <a:spLocks noGrp="1"/>
          </p:cNvSpPr>
          <p:nvPr>
            <p:ph type="ftr" sz="quarter" idx="14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6" name="Pladsholder til slidenummer 5">
            <a:extLst>
              <a:ext uri="{FF2B5EF4-FFF2-40B4-BE49-F238E27FC236}">
                <a16:creationId xmlns:a16="http://schemas.microsoft.com/office/drawing/2014/main" id="{1971CA48-5488-429E-869D-06623C5E5997}"/>
              </a:ext>
            </a:extLst>
          </p:cNvPr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fld id="{45D37B1E-C366-494F-A587-962AD9AABC83}" type="slidenum">
              <a:rPr lang="en-GB" smtClean="0"/>
              <a:pPr/>
              <a:t>38</a:t>
            </a:fld>
            <a:endParaRPr lang="en-GB" dirty="0"/>
          </a:p>
        </p:txBody>
      </p:sp>
      <p:sp>
        <p:nvSpPr>
          <p:cNvPr id="10" name="Content Placeholder 9">
            <a:extLst>
              <a:ext uri="{FF2B5EF4-FFF2-40B4-BE49-F238E27FC236}">
                <a16:creationId xmlns:a16="http://schemas.microsoft.com/office/drawing/2014/main" id="{040613FC-F94A-0712-DF75-092CF5474396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414696" y="1700212"/>
            <a:ext cx="10952578" cy="4408925"/>
          </a:xfrm>
        </p:spPr>
        <p:txBody>
          <a:bodyPr/>
          <a:lstStyle/>
          <a:p>
            <a:r>
              <a:rPr lang="da-DK" dirty="0" err="1"/>
              <a:t>Example</a:t>
            </a:r>
            <a:r>
              <a:rPr lang="da-DK" dirty="0"/>
              <a:t> Test Scenario</a:t>
            </a:r>
          </a:p>
          <a:p>
            <a:endParaRPr lang="da-DK" dirty="0"/>
          </a:p>
          <a:p>
            <a:r>
              <a:rPr lang="da-DK" dirty="0"/>
              <a:t>Scenario: A student logs in, </a:t>
            </a:r>
            <a:r>
              <a:rPr lang="da-DK" dirty="0" err="1"/>
              <a:t>enrolls</a:t>
            </a:r>
            <a:r>
              <a:rPr lang="da-DK" dirty="0"/>
              <a:t> in a </a:t>
            </a:r>
            <a:r>
              <a:rPr lang="da-DK" dirty="0" err="1"/>
              <a:t>course</a:t>
            </a:r>
            <a:r>
              <a:rPr lang="da-DK" dirty="0"/>
              <a:t>, views </a:t>
            </a:r>
            <a:r>
              <a:rPr lang="da-DK" dirty="0" err="1"/>
              <a:t>course</a:t>
            </a:r>
            <a:r>
              <a:rPr lang="da-DK" dirty="0"/>
              <a:t> </a:t>
            </a:r>
            <a:r>
              <a:rPr lang="da-DK" dirty="0" err="1"/>
              <a:t>materials</a:t>
            </a:r>
            <a:r>
              <a:rPr lang="da-DK" dirty="0"/>
              <a:t>, and downloads a </a:t>
            </a:r>
            <a:r>
              <a:rPr lang="da-DK" dirty="0" err="1"/>
              <a:t>material</a:t>
            </a:r>
            <a:endParaRPr lang="da-DK" dirty="0"/>
          </a:p>
          <a:p>
            <a:r>
              <a:rPr lang="da-DK" dirty="0"/>
              <a:t>Test cases:</a:t>
            </a:r>
          </a:p>
          <a:p>
            <a:r>
              <a:rPr lang="da-DK" dirty="0"/>
              <a:t>Log in with valid student </a:t>
            </a:r>
            <a:r>
              <a:rPr lang="da-DK" dirty="0" err="1"/>
              <a:t>credentials</a:t>
            </a:r>
            <a:r>
              <a:rPr lang="da-DK" dirty="0"/>
              <a:t> and </a:t>
            </a:r>
            <a:r>
              <a:rPr lang="da-DK" dirty="0" err="1"/>
              <a:t>access</a:t>
            </a:r>
            <a:r>
              <a:rPr lang="da-DK" dirty="0"/>
              <a:t> the </a:t>
            </a:r>
            <a:r>
              <a:rPr lang="da-DK" dirty="0" err="1"/>
              <a:t>course</a:t>
            </a:r>
            <a:r>
              <a:rPr lang="da-DK" dirty="0"/>
              <a:t> page</a:t>
            </a:r>
          </a:p>
          <a:p>
            <a:r>
              <a:rPr lang="da-DK" dirty="0" err="1"/>
              <a:t>Enroll</a:t>
            </a:r>
            <a:r>
              <a:rPr lang="da-DK" dirty="0"/>
              <a:t> in a </a:t>
            </a:r>
            <a:r>
              <a:rPr lang="da-DK" dirty="0" err="1"/>
              <a:t>course</a:t>
            </a:r>
            <a:r>
              <a:rPr lang="da-DK" dirty="0"/>
              <a:t> and </a:t>
            </a:r>
            <a:r>
              <a:rPr lang="da-DK" dirty="0" err="1"/>
              <a:t>verify</a:t>
            </a:r>
            <a:r>
              <a:rPr lang="da-DK" dirty="0"/>
              <a:t> it </a:t>
            </a:r>
            <a:r>
              <a:rPr lang="da-DK" dirty="0" err="1"/>
              <a:t>appears</a:t>
            </a:r>
            <a:r>
              <a:rPr lang="da-DK" dirty="0"/>
              <a:t> in the </a:t>
            </a:r>
            <a:r>
              <a:rPr lang="da-DK" dirty="0" err="1"/>
              <a:t>student's</a:t>
            </a:r>
            <a:r>
              <a:rPr lang="da-DK" dirty="0"/>
              <a:t> </a:t>
            </a:r>
            <a:r>
              <a:rPr lang="da-DK" dirty="0" err="1"/>
              <a:t>course</a:t>
            </a:r>
            <a:r>
              <a:rPr lang="da-DK" dirty="0"/>
              <a:t> list</a:t>
            </a:r>
          </a:p>
          <a:p>
            <a:r>
              <a:rPr lang="da-DK" dirty="0"/>
              <a:t>View the </a:t>
            </a:r>
            <a:r>
              <a:rPr lang="da-DK" dirty="0" err="1"/>
              <a:t>course</a:t>
            </a:r>
            <a:r>
              <a:rPr lang="da-DK" dirty="0"/>
              <a:t> </a:t>
            </a:r>
            <a:r>
              <a:rPr lang="da-DK" dirty="0" err="1"/>
              <a:t>materials</a:t>
            </a:r>
            <a:r>
              <a:rPr lang="da-DK" dirty="0"/>
              <a:t> and check </a:t>
            </a:r>
            <a:r>
              <a:rPr lang="da-DK" dirty="0" err="1"/>
              <a:t>that</a:t>
            </a:r>
            <a:r>
              <a:rPr lang="da-DK" dirty="0"/>
              <a:t> </a:t>
            </a:r>
            <a:r>
              <a:rPr lang="da-DK" dirty="0" err="1"/>
              <a:t>they</a:t>
            </a:r>
            <a:r>
              <a:rPr lang="da-DK" dirty="0"/>
              <a:t> match the </a:t>
            </a:r>
            <a:r>
              <a:rPr lang="da-DK" dirty="0" err="1"/>
              <a:t>expected</a:t>
            </a:r>
            <a:r>
              <a:rPr lang="da-DK" dirty="0"/>
              <a:t> content</a:t>
            </a:r>
          </a:p>
          <a:p>
            <a:r>
              <a:rPr lang="da-DK" dirty="0"/>
              <a:t>Download a </a:t>
            </a:r>
            <a:r>
              <a:rPr lang="da-DK" dirty="0" err="1"/>
              <a:t>course</a:t>
            </a:r>
            <a:r>
              <a:rPr lang="da-DK" dirty="0"/>
              <a:t> </a:t>
            </a:r>
            <a:r>
              <a:rPr lang="da-DK" dirty="0" err="1"/>
              <a:t>material</a:t>
            </a:r>
            <a:r>
              <a:rPr lang="da-DK" dirty="0"/>
              <a:t> and </a:t>
            </a:r>
            <a:r>
              <a:rPr lang="da-DK" dirty="0" err="1"/>
              <a:t>confirm</a:t>
            </a:r>
            <a:r>
              <a:rPr lang="da-DK" dirty="0"/>
              <a:t> the file is </a:t>
            </a:r>
            <a:r>
              <a:rPr lang="da-DK" dirty="0" err="1"/>
              <a:t>saved</a:t>
            </a:r>
            <a:r>
              <a:rPr lang="da-DK" dirty="0"/>
              <a:t> </a:t>
            </a:r>
            <a:r>
              <a:rPr lang="da-DK" dirty="0" err="1"/>
              <a:t>correctly</a:t>
            </a:r>
            <a:endParaRPr lang="en-DK" sz="500" dirty="0"/>
          </a:p>
        </p:txBody>
      </p:sp>
    </p:spTree>
    <p:extLst>
      <p:ext uri="{BB962C8B-B14F-4D97-AF65-F5344CB8AC3E}">
        <p14:creationId xmlns:p14="http://schemas.microsoft.com/office/powerpoint/2010/main" val="1776836963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9CBBB199-CEE7-4207-9B94-FABE54697AB5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da-DK" dirty="0"/>
              <a:t>End-to-End </a:t>
            </a:r>
            <a:r>
              <a:rPr lang="da-DK" dirty="0" err="1"/>
              <a:t>Testing</a:t>
            </a:r>
            <a:endParaRPr lang="da-DK" dirty="0"/>
          </a:p>
        </p:txBody>
      </p:sp>
      <p:sp>
        <p:nvSpPr>
          <p:cNvPr id="4" name="Pladsholder til dato 3">
            <a:extLst>
              <a:ext uri="{FF2B5EF4-FFF2-40B4-BE49-F238E27FC236}">
                <a16:creationId xmlns:a16="http://schemas.microsoft.com/office/drawing/2014/main" id="{DF6BBC47-AF93-4B51-BB19-37E8FA70A1FC}"/>
              </a:ext>
            </a:extLst>
          </p:cNvPr>
          <p:cNvSpPr>
            <a:spLocks noGrp="1"/>
          </p:cNvSpPr>
          <p:nvPr>
            <p:ph type="dt" sz="half" idx="2"/>
          </p:nvPr>
        </p:nvSpPr>
        <p:spPr/>
        <p:txBody>
          <a:bodyPr/>
          <a:lstStyle/>
          <a:p>
            <a:fld id="{1D326F97-033E-40DE-A683-79560FFFFEF4}" type="datetime1">
              <a:rPr lang="en-GB" smtClean="0"/>
              <a:t>24/04/2023</a:t>
            </a:fld>
            <a:endParaRPr lang="en-GB" dirty="0"/>
          </a:p>
        </p:txBody>
      </p:sp>
      <p:sp>
        <p:nvSpPr>
          <p:cNvPr id="5" name="Pladsholder til sidefod 4">
            <a:extLst>
              <a:ext uri="{FF2B5EF4-FFF2-40B4-BE49-F238E27FC236}">
                <a16:creationId xmlns:a16="http://schemas.microsoft.com/office/drawing/2014/main" id="{0A4065D9-777F-4BC2-8DA9-0E100CD3446A}"/>
              </a:ext>
            </a:extLst>
          </p:cNvPr>
          <p:cNvSpPr>
            <a:spLocks noGrp="1"/>
          </p:cNvSpPr>
          <p:nvPr>
            <p:ph type="ftr" sz="quarter" idx="14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6" name="Pladsholder til slidenummer 5">
            <a:extLst>
              <a:ext uri="{FF2B5EF4-FFF2-40B4-BE49-F238E27FC236}">
                <a16:creationId xmlns:a16="http://schemas.microsoft.com/office/drawing/2014/main" id="{1971CA48-5488-429E-869D-06623C5E5997}"/>
              </a:ext>
            </a:extLst>
          </p:cNvPr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fld id="{45D37B1E-C366-494F-A587-962AD9AABC83}" type="slidenum">
              <a:rPr lang="en-GB" smtClean="0"/>
              <a:pPr/>
              <a:t>39</a:t>
            </a:fld>
            <a:endParaRPr lang="en-GB" dirty="0"/>
          </a:p>
        </p:txBody>
      </p:sp>
      <p:sp>
        <p:nvSpPr>
          <p:cNvPr id="10" name="Content Placeholder 9">
            <a:extLst>
              <a:ext uri="{FF2B5EF4-FFF2-40B4-BE49-F238E27FC236}">
                <a16:creationId xmlns:a16="http://schemas.microsoft.com/office/drawing/2014/main" id="{040613FC-F94A-0712-DF75-092CF5474396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414696" y="1700212"/>
            <a:ext cx="10952578" cy="4408925"/>
          </a:xfrm>
        </p:spPr>
        <p:txBody>
          <a:bodyPr/>
          <a:lstStyle/>
          <a:p>
            <a:r>
              <a:rPr lang="da-DK" dirty="0" err="1"/>
              <a:t>Benefits</a:t>
            </a:r>
            <a:r>
              <a:rPr lang="da-DK" dirty="0"/>
              <a:t> of End-to-End </a:t>
            </a:r>
            <a:r>
              <a:rPr lang="da-DK" dirty="0" err="1"/>
              <a:t>Testing</a:t>
            </a:r>
            <a:endParaRPr lang="da-DK" dirty="0"/>
          </a:p>
          <a:p>
            <a:endParaRPr lang="da-DK" dirty="0"/>
          </a:p>
          <a:p>
            <a:r>
              <a:rPr lang="da-DK" dirty="0"/>
              <a:t>Comprehensive </a:t>
            </a:r>
            <a:r>
              <a:rPr lang="da-DK" dirty="0" err="1"/>
              <a:t>validation</a:t>
            </a:r>
            <a:r>
              <a:rPr lang="da-DK" dirty="0"/>
              <a:t>: </a:t>
            </a:r>
            <a:r>
              <a:rPr lang="da-DK" dirty="0" err="1"/>
              <a:t>Verify</a:t>
            </a:r>
            <a:r>
              <a:rPr lang="da-DK" dirty="0"/>
              <a:t> the </a:t>
            </a:r>
            <a:r>
              <a:rPr lang="da-DK" dirty="0" err="1"/>
              <a:t>entire</a:t>
            </a:r>
            <a:r>
              <a:rPr lang="da-DK" dirty="0"/>
              <a:t> system, from front-end to back-end, </a:t>
            </a:r>
            <a:r>
              <a:rPr lang="da-DK" dirty="0" err="1"/>
              <a:t>ensuring</a:t>
            </a:r>
            <a:r>
              <a:rPr lang="da-DK" dirty="0"/>
              <a:t> all components </a:t>
            </a:r>
            <a:r>
              <a:rPr lang="da-DK" dirty="0" err="1"/>
              <a:t>work</a:t>
            </a:r>
            <a:r>
              <a:rPr lang="da-DK" dirty="0"/>
              <a:t> </a:t>
            </a:r>
            <a:r>
              <a:rPr lang="da-DK" dirty="0" err="1"/>
              <a:t>together</a:t>
            </a:r>
            <a:endParaRPr lang="da-DK" dirty="0"/>
          </a:p>
          <a:p>
            <a:r>
              <a:rPr lang="da-DK" dirty="0" err="1"/>
              <a:t>Enhanced</a:t>
            </a:r>
            <a:r>
              <a:rPr lang="da-DK" dirty="0"/>
              <a:t> user </a:t>
            </a:r>
            <a:r>
              <a:rPr lang="da-DK" dirty="0" err="1"/>
              <a:t>experience</a:t>
            </a:r>
            <a:r>
              <a:rPr lang="da-DK" dirty="0"/>
              <a:t>: </a:t>
            </a:r>
            <a:r>
              <a:rPr lang="da-DK" dirty="0" err="1"/>
              <a:t>Identify</a:t>
            </a:r>
            <a:r>
              <a:rPr lang="da-DK" dirty="0"/>
              <a:t> and fix issues </a:t>
            </a:r>
            <a:r>
              <a:rPr lang="da-DK" dirty="0" err="1"/>
              <a:t>that</a:t>
            </a:r>
            <a:r>
              <a:rPr lang="da-DK" dirty="0"/>
              <a:t> </a:t>
            </a:r>
            <a:r>
              <a:rPr lang="da-DK" dirty="0" err="1"/>
              <a:t>may</a:t>
            </a:r>
            <a:r>
              <a:rPr lang="da-DK" dirty="0"/>
              <a:t> not </a:t>
            </a:r>
            <a:r>
              <a:rPr lang="da-DK" dirty="0" err="1"/>
              <a:t>be</a:t>
            </a:r>
            <a:r>
              <a:rPr lang="da-DK" dirty="0"/>
              <a:t> </a:t>
            </a:r>
            <a:r>
              <a:rPr lang="da-DK" dirty="0" err="1"/>
              <a:t>apparent</a:t>
            </a:r>
            <a:r>
              <a:rPr lang="da-DK" dirty="0"/>
              <a:t> </a:t>
            </a:r>
            <a:r>
              <a:rPr lang="da-DK" dirty="0" err="1"/>
              <a:t>during</a:t>
            </a:r>
            <a:r>
              <a:rPr lang="da-DK" dirty="0"/>
              <a:t> unit or integration </a:t>
            </a:r>
            <a:r>
              <a:rPr lang="da-DK" dirty="0" err="1"/>
              <a:t>testing</a:t>
            </a:r>
            <a:endParaRPr lang="da-DK" dirty="0"/>
          </a:p>
          <a:p>
            <a:r>
              <a:rPr lang="da-DK" dirty="0" err="1"/>
              <a:t>Increased</a:t>
            </a:r>
            <a:r>
              <a:rPr lang="da-DK" dirty="0"/>
              <a:t> </a:t>
            </a:r>
            <a:r>
              <a:rPr lang="da-DK" dirty="0" err="1"/>
              <a:t>confidence</a:t>
            </a:r>
            <a:r>
              <a:rPr lang="da-DK" dirty="0"/>
              <a:t>: </a:t>
            </a:r>
            <a:r>
              <a:rPr lang="da-DK" dirty="0" err="1"/>
              <a:t>Ensure</a:t>
            </a:r>
            <a:r>
              <a:rPr lang="da-DK" dirty="0"/>
              <a:t> the system is </a:t>
            </a:r>
            <a:r>
              <a:rPr lang="da-DK" dirty="0" err="1"/>
              <a:t>ready</a:t>
            </a:r>
            <a:r>
              <a:rPr lang="da-DK" dirty="0"/>
              <a:t> for </a:t>
            </a:r>
            <a:r>
              <a:rPr lang="da-DK" dirty="0" err="1"/>
              <a:t>production</a:t>
            </a:r>
            <a:r>
              <a:rPr lang="da-DK" dirty="0"/>
              <a:t> and </a:t>
            </a:r>
            <a:r>
              <a:rPr lang="da-DK" dirty="0" err="1"/>
              <a:t>meets</a:t>
            </a:r>
            <a:r>
              <a:rPr lang="da-DK" dirty="0"/>
              <a:t> user </a:t>
            </a:r>
            <a:r>
              <a:rPr lang="da-DK" dirty="0" err="1"/>
              <a:t>requirements</a:t>
            </a:r>
            <a:endParaRPr lang="da-DK" dirty="0"/>
          </a:p>
          <a:p>
            <a:r>
              <a:rPr lang="da-DK" dirty="0" err="1"/>
              <a:t>Reduced</a:t>
            </a:r>
            <a:r>
              <a:rPr lang="da-DK" dirty="0"/>
              <a:t> </a:t>
            </a:r>
            <a:r>
              <a:rPr lang="da-DK" dirty="0" err="1"/>
              <a:t>risk</a:t>
            </a:r>
            <a:r>
              <a:rPr lang="da-DK" dirty="0"/>
              <a:t>: </a:t>
            </a:r>
            <a:r>
              <a:rPr lang="da-DK" dirty="0" err="1"/>
              <a:t>Catch</a:t>
            </a:r>
            <a:r>
              <a:rPr lang="da-DK" dirty="0"/>
              <a:t> potential issues </a:t>
            </a:r>
            <a:r>
              <a:rPr lang="da-DK" dirty="0" err="1"/>
              <a:t>before</a:t>
            </a:r>
            <a:r>
              <a:rPr lang="da-DK" dirty="0"/>
              <a:t> </a:t>
            </a:r>
            <a:r>
              <a:rPr lang="da-DK" dirty="0" err="1"/>
              <a:t>they</a:t>
            </a:r>
            <a:r>
              <a:rPr lang="da-DK" dirty="0"/>
              <a:t> </a:t>
            </a:r>
            <a:r>
              <a:rPr lang="da-DK" dirty="0" err="1"/>
              <a:t>impact</a:t>
            </a:r>
            <a:r>
              <a:rPr lang="da-DK" dirty="0"/>
              <a:t> end-users</a:t>
            </a:r>
            <a:endParaRPr lang="en-DK" sz="500" dirty="0"/>
          </a:p>
        </p:txBody>
      </p:sp>
    </p:spTree>
    <p:extLst>
      <p:ext uri="{BB962C8B-B14F-4D97-AF65-F5344CB8AC3E}">
        <p14:creationId xmlns:p14="http://schemas.microsoft.com/office/powerpoint/2010/main" val="1590667366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9CBBB199-CEE7-4207-9B94-FABE54697AB5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da-DK" dirty="0"/>
              <a:t>End-to-End </a:t>
            </a:r>
            <a:r>
              <a:rPr lang="da-DK" dirty="0" err="1"/>
              <a:t>Testing</a:t>
            </a:r>
            <a:endParaRPr lang="da-DK" dirty="0"/>
          </a:p>
        </p:txBody>
      </p:sp>
      <p:sp>
        <p:nvSpPr>
          <p:cNvPr id="4" name="Pladsholder til dato 3">
            <a:extLst>
              <a:ext uri="{FF2B5EF4-FFF2-40B4-BE49-F238E27FC236}">
                <a16:creationId xmlns:a16="http://schemas.microsoft.com/office/drawing/2014/main" id="{DF6BBC47-AF93-4B51-BB19-37E8FA70A1FC}"/>
              </a:ext>
            </a:extLst>
          </p:cNvPr>
          <p:cNvSpPr>
            <a:spLocks noGrp="1"/>
          </p:cNvSpPr>
          <p:nvPr>
            <p:ph type="dt" sz="half" idx="2"/>
          </p:nvPr>
        </p:nvSpPr>
        <p:spPr/>
        <p:txBody>
          <a:bodyPr/>
          <a:lstStyle/>
          <a:p>
            <a:fld id="{1D326F97-033E-40DE-A683-79560FFFFEF4}" type="datetime1">
              <a:rPr lang="en-GB" smtClean="0"/>
              <a:t>24/04/2023</a:t>
            </a:fld>
            <a:endParaRPr lang="en-GB" dirty="0"/>
          </a:p>
        </p:txBody>
      </p:sp>
      <p:sp>
        <p:nvSpPr>
          <p:cNvPr id="5" name="Pladsholder til sidefod 4">
            <a:extLst>
              <a:ext uri="{FF2B5EF4-FFF2-40B4-BE49-F238E27FC236}">
                <a16:creationId xmlns:a16="http://schemas.microsoft.com/office/drawing/2014/main" id="{0A4065D9-777F-4BC2-8DA9-0E100CD3446A}"/>
              </a:ext>
            </a:extLst>
          </p:cNvPr>
          <p:cNvSpPr>
            <a:spLocks noGrp="1"/>
          </p:cNvSpPr>
          <p:nvPr>
            <p:ph type="ftr" sz="quarter" idx="14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6" name="Pladsholder til slidenummer 5">
            <a:extLst>
              <a:ext uri="{FF2B5EF4-FFF2-40B4-BE49-F238E27FC236}">
                <a16:creationId xmlns:a16="http://schemas.microsoft.com/office/drawing/2014/main" id="{1971CA48-5488-429E-869D-06623C5E5997}"/>
              </a:ext>
            </a:extLst>
          </p:cNvPr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fld id="{45D37B1E-C366-494F-A587-962AD9AABC83}" type="slidenum">
              <a:rPr lang="en-GB" smtClean="0"/>
              <a:pPr/>
              <a:t>40</a:t>
            </a:fld>
            <a:endParaRPr lang="en-GB" dirty="0"/>
          </a:p>
        </p:txBody>
      </p:sp>
      <p:sp>
        <p:nvSpPr>
          <p:cNvPr id="10" name="Content Placeholder 9">
            <a:extLst>
              <a:ext uri="{FF2B5EF4-FFF2-40B4-BE49-F238E27FC236}">
                <a16:creationId xmlns:a16="http://schemas.microsoft.com/office/drawing/2014/main" id="{040613FC-F94A-0712-DF75-092CF5474396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414696" y="1700212"/>
            <a:ext cx="10952578" cy="4408925"/>
          </a:xfrm>
        </p:spPr>
        <p:txBody>
          <a:bodyPr/>
          <a:lstStyle/>
          <a:p>
            <a:r>
              <a:rPr lang="da-DK" dirty="0"/>
              <a:t>Tips for </a:t>
            </a:r>
            <a:r>
              <a:rPr lang="da-DK" dirty="0" err="1"/>
              <a:t>Effective</a:t>
            </a:r>
            <a:r>
              <a:rPr lang="da-DK" dirty="0"/>
              <a:t> End-to-End </a:t>
            </a:r>
            <a:r>
              <a:rPr lang="da-DK" dirty="0" err="1"/>
              <a:t>Testing</a:t>
            </a:r>
            <a:endParaRPr lang="da-DK" dirty="0"/>
          </a:p>
          <a:p>
            <a:endParaRPr lang="da-DK" dirty="0"/>
          </a:p>
          <a:p>
            <a:r>
              <a:rPr lang="da-DK" dirty="0" err="1"/>
              <a:t>Prioritize</a:t>
            </a:r>
            <a:r>
              <a:rPr lang="da-DK" dirty="0"/>
              <a:t> </a:t>
            </a:r>
            <a:r>
              <a:rPr lang="da-DK" dirty="0" err="1"/>
              <a:t>critical</a:t>
            </a:r>
            <a:r>
              <a:rPr lang="da-DK" dirty="0"/>
              <a:t> </a:t>
            </a:r>
            <a:r>
              <a:rPr lang="da-DK" dirty="0" err="1"/>
              <a:t>functionality</a:t>
            </a:r>
            <a:r>
              <a:rPr lang="da-DK" dirty="0"/>
              <a:t> and user </a:t>
            </a:r>
            <a:r>
              <a:rPr lang="da-DK" dirty="0" err="1"/>
              <a:t>journeys</a:t>
            </a:r>
            <a:r>
              <a:rPr lang="da-DK" dirty="0"/>
              <a:t> to </a:t>
            </a:r>
            <a:r>
              <a:rPr lang="da-DK" dirty="0" err="1"/>
              <a:t>maximize</a:t>
            </a:r>
            <a:r>
              <a:rPr lang="da-DK" dirty="0"/>
              <a:t> test </a:t>
            </a:r>
            <a:r>
              <a:rPr lang="da-DK" dirty="0" err="1"/>
              <a:t>coverage</a:t>
            </a:r>
            <a:endParaRPr lang="da-DK" dirty="0"/>
          </a:p>
          <a:p>
            <a:r>
              <a:rPr lang="da-DK" dirty="0" err="1"/>
              <a:t>Use</a:t>
            </a:r>
            <a:r>
              <a:rPr lang="da-DK" dirty="0"/>
              <a:t> </a:t>
            </a:r>
            <a:r>
              <a:rPr lang="da-DK" dirty="0" err="1"/>
              <a:t>automated</a:t>
            </a:r>
            <a:r>
              <a:rPr lang="da-DK" dirty="0"/>
              <a:t> </a:t>
            </a:r>
            <a:r>
              <a:rPr lang="da-DK" dirty="0" err="1"/>
              <a:t>tools</a:t>
            </a:r>
            <a:r>
              <a:rPr lang="da-DK" dirty="0"/>
              <a:t> </a:t>
            </a:r>
            <a:r>
              <a:rPr lang="da-DK" dirty="0" err="1"/>
              <a:t>when</a:t>
            </a:r>
            <a:r>
              <a:rPr lang="da-DK" dirty="0"/>
              <a:t> </a:t>
            </a:r>
            <a:r>
              <a:rPr lang="da-DK" dirty="0" err="1"/>
              <a:t>possible</a:t>
            </a:r>
            <a:r>
              <a:rPr lang="da-DK" dirty="0"/>
              <a:t> to </a:t>
            </a:r>
            <a:r>
              <a:rPr lang="da-DK" dirty="0" err="1"/>
              <a:t>improve</a:t>
            </a:r>
            <a:r>
              <a:rPr lang="da-DK" dirty="0"/>
              <a:t> </a:t>
            </a:r>
            <a:r>
              <a:rPr lang="da-DK" dirty="0" err="1"/>
              <a:t>efficiency</a:t>
            </a:r>
            <a:r>
              <a:rPr lang="da-DK" dirty="0"/>
              <a:t> and </a:t>
            </a:r>
            <a:r>
              <a:rPr lang="da-DK" dirty="0" err="1"/>
              <a:t>repeatability</a:t>
            </a:r>
            <a:endParaRPr lang="da-DK" dirty="0"/>
          </a:p>
          <a:p>
            <a:r>
              <a:rPr lang="da-DK" dirty="0"/>
              <a:t>Keep test cases up to date with </a:t>
            </a:r>
            <a:r>
              <a:rPr lang="da-DK" dirty="0" err="1"/>
              <a:t>any</a:t>
            </a:r>
            <a:r>
              <a:rPr lang="da-DK" dirty="0"/>
              <a:t> </a:t>
            </a:r>
            <a:r>
              <a:rPr lang="da-DK" dirty="0" err="1"/>
              <a:t>changes</a:t>
            </a:r>
            <a:r>
              <a:rPr lang="da-DK" dirty="0"/>
              <a:t> in </a:t>
            </a:r>
            <a:r>
              <a:rPr lang="da-DK" dirty="0" err="1"/>
              <a:t>requirements</a:t>
            </a:r>
            <a:r>
              <a:rPr lang="da-DK" dirty="0"/>
              <a:t> or </a:t>
            </a:r>
            <a:r>
              <a:rPr lang="da-DK" dirty="0" err="1"/>
              <a:t>functionality</a:t>
            </a:r>
            <a:endParaRPr lang="da-DK" dirty="0"/>
          </a:p>
          <a:p>
            <a:r>
              <a:rPr lang="da-DK" dirty="0"/>
              <a:t>Perform end-to-end </a:t>
            </a:r>
            <a:r>
              <a:rPr lang="da-DK" dirty="0" err="1"/>
              <a:t>testing</a:t>
            </a:r>
            <a:r>
              <a:rPr lang="da-DK" dirty="0"/>
              <a:t> in a </a:t>
            </a:r>
            <a:r>
              <a:rPr lang="da-DK" dirty="0" err="1"/>
              <a:t>realistic</a:t>
            </a:r>
            <a:r>
              <a:rPr lang="da-DK" dirty="0"/>
              <a:t> test </a:t>
            </a:r>
            <a:r>
              <a:rPr lang="da-DK" dirty="0" err="1"/>
              <a:t>environment</a:t>
            </a:r>
            <a:r>
              <a:rPr lang="da-DK" dirty="0"/>
              <a:t> to </a:t>
            </a:r>
            <a:r>
              <a:rPr lang="da-DK" dirty="0" err="1"/>
              <a:t>identify</a:t>
            </a:r>
            <a:r>
              <a:rPr lang="da-DK" dirty="0"/>
              <a:t> potential </a:t>
            </a:r>
            <a:r>
              <a:rPr lang="da-DK" dirty="0" err="1"/>
              <a:t>deployment</a:t>
            </a:r>
            <a:r>
              <a:rPr lang="da-DK" dirty="0"/>
              <a:t> issues</a:t>
            </a:r>
            <a:endParaRPr lang="en-DK" sz="500" dirty="0"/>
          </a:p>
        </p:txBody>
      </p:sp>
    </p:spTree>
    <p:extLst>
      <p:ext uri="{BB962C8B-B14F-4D97-AF65-F5344CB8AC3E}">
        <p14:creationId xmlns:p14="http://schemas.microsoft.com/office/powerpoint/2010/main" val="2377424016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552FF25E-24BF-4225-87AB-B2869F94CB2B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da-DK"/>
          </a:p>
        </p:txBody>
      </p:sp>
      <p:sp>
        <p:nvSpPr>
          <p:cNvPr id="3" name="Pladsholder til dato 2">
            <a:extLst>
              <a:ext uri="{FF2B5EF4-FFF2-40B4-BE49-F238E27FC236}">
                <a16:creationId xmlns:a16="http://schemas.microsoft.com/office/drawing/2014/main" id="{4C93D788-8D9D-4045-B518-6692018D89DE}"/>
              </a:ext>
            </a:extLst>
          </p:cNvPr>
          <p:cNvSpPr>
            <a:spLocks noGrp="1"/>
          </p:cNvSpPr>
          <p:nvPr>
            <p:ph type="dt" sz="half" idx="2"/>
          </p:nvPr>
        </p:nvSpPr>
        <p:spPr/>
        <p:txBody>
          <a:bodyPr/>
          <a:lstStyle/>
          <a:p>
            <a:fld id="{B4C4C6FD-8607-43FF-8BC8-950EFB970BA3}" type="datetime1">
              <a:rPr lang="en-GB" smtClean="0"/>
              <a:t>24/04/2023</a:t>
            </a:fld>
            <a:endParaRPr lang="en-GB" dirty="0"/>
          </a:p>
        </p:txBody>
      </p:sp>
      <p:sp>
        <p:nvSpPr>
          <p:cNvPr id="4" name="Rektangel 3">
            <a:extLst>
              <a:ext uri="{FF2B5EF4-FFF2-40B4-BE49-F238E27FC236}">
                <a16:creationId xmlns:a16="http://schemas.microsoft.com/office/drawing/2014/main" id="{F994D39F-0217-4BCC-AD0B-429E7605B2F1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2">
              <a:lumMod val="60000"/>
              <a:lumOff val="40000"/>
            </a:schemeClr>
          </a:solidFill>
          <a:ln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tIns="72000" rIns="72000" bIns="72000" rtlCol="0" anchor="ctr"/>
          <a:lstStyle/>
          <a:p>
            <a:pPr algn="ctr"/>
            <a:r>
              <a:rPr lang="da-DK" sz="2800" b="1" dirty="0"/>
              <a:t>Security </a:t>
            </a:r>
            <a:r>
              <a:rPr lang="da-DK" sz="2800" b="1" dirty="0" err="1"/>
              <a:t>Testing</a:t>
            </a:r>
            <a:endParaRPr lang="da-DK" sz="2800" b="1" dirty="0"/>
          </a:p>
        </p:txBody>
      </p:sp>
    </p:spTree>
    <p:extLst>
      <p:ext uri="{BB962C8B-B14F-4D97-AF65-F5344CB8AC3E}">
        <p14:creationId xmlns:p14="http://schemas.microsoft.com/office/powerpoint/2010/main" val="3140121940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9CBBB199-CEE7-4207-9B94-FABE54697AB5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da-DK" dirty="0"/>
              <a:t>Security </a:t>
            </a:r>
            <a:r>
              <a:rPr lang="da-DK" dirty="0" err="1"/>
              <a:t>Testing</a:t>
            </a:r>
            <a:endParaRPr lang="da-DK" dirty="0"/>
          </a:p>
        </p:txBody>
      </p:sp>
      <p:sp>
        <p:nvSpPr>
          <p:cNvPr id="4" name="Pladsholder til dato 3">
            <a:extLst>
              <a:ext uri="{FF2B5EF4-FFF2-40B4-BE49-F238E27FC236}">
                <a16:creationId xmlns:a16="http://schemas.microsoft.com/office/drawing/2014/main" id="{DF6BBC47-AF93-4B51-BB19-37E8FA70A1FC}"/>
              </a:ext>
            </a:extLst>
          </p:cNvPr>
          <p:cNvSpPr>
            <a:spLocks noGrp="1"/>
          </p:cNvSpPr>
          <p:nvPr>
            <p:ph type="dt" sz="half" idx="2"/>
          </p:nvPr>
        </p:nvSpPr>
        <p:spPr/>
        <p:txBody>
          <a:bodyPr/>
          <a:lstStyle/>
          <a:p>
            <a:fld id="{1D326F97-033E-40DE-A683-79560FFFFEF4}" type="datetime1">
              <a:rPr lang="en-GB" smtClean="0"/>
              <a:t>24/04/2023</a:t>
            </a:fld>
            <a:endParaRPr lang="en-GB" dirty="0"/>
          </a:p>
        </p:txBody>
      </p:sp>
      <p:sp>
        <p:nvSpPr>
          <p:cNvPr id="5" name="Pladsholder til sidefod 4">
            <a:extLst>
              <a:ext uri="{FF2B5EF4-FFF2-40B4-BE49-F238E27FC236}">
                <a16:creationId xmlns:a16="http://schemas.microsoft.com/office/drawing/2014/main" id="{0A4065D9-777F-4BC2-8DA9-0E100CD3446A}"/>
              </a:ext>
            </a:extLst>
          </p:cNvPr>
          <p:cNvSpPr>
            <a:spLocks noGrp="1"/>
          </p:cNvSpPr>
          <p:nvPr>
            <p:ph type="ftr" sz="quarter" idx="14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6" name="Pladsholder til slidenummer 5">
            <a:extLst>
              <a:ext uri="{FF2B5EF4-FFF2-40B4-BE49-F238E27FC236}">
                <a16:creationId xmlns:a16="http://schemas.microsoft.com/office/drawing/2014/main" id="{1971CA48-5488-429E-869D-06623C5E5997}"/>
              </a:ext>
            </a:extLst>
          </p:cNvPr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fld id="{45D37B1E-C366-494F-A587-962AD9AABC83}" type="slidenum">
              <a:rPr lang="en-GB" smtClean="0"/>
              <a:pPr/>
              <a:t>42</a:t>
            </a:fld>
            <a:endParaRPr lang="en-GB" dirty="0"/>
          </a:p>
        </p:txBody>
      </p:sp>
      <p:sp>
        <p:nvSpPr>
          <p:cNvPr id="10" name="Content Placeholder 9">
            <a:extLst>
              <a:ext uri="{FF2B5EF4-FFF2-40B4-BE49-F238E27FC236}">
                <a16:creationId xmlns:a16="http://schemas.microsoft.com/office/drawing/2014/main" id="{040613FC-F94A-0712-DF75-092CF5474396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414696" y="1700212"/>
            <a:ext cx="10952578" cy="4408925"/>
          </a:xfrm>
        </p:spPr>
        <p:txBody>
          <a:bodyPr/>
          <a:lstStyle/>
          <a:p>
            <a:r>
              <a:rPr lang="da-DK" dirty="0"/>
              <a:t>Purpose: </a:t>
            </a:r>
            <a:r>
              <a:rPr lang="da-DK" dirty="0" err="1"/>
              <a:t>Evaluates</a:t>
            </a:r>
            <a:r>
              <a:rPr lang="da-DK" dirty="0"/>
              <a:t> the </a:t>
            </a:r>
            <a:r>
              <a:rPr lang="da-DK" dirty="0" err="1"/>
              <a:t>system's</a:t>
            </a:r>
            <a:r>
              <a:rPr lang="da-DK" dirty="0"/>
              <a:t> </a:t>
            </a:r>
            <a:r>
              <a:rPr lang="da-DK" dirty="0" err="1"/>
              <a:t>ability</a:t>
            </a:r>
            <a:r>
              <a:rPr lang="da-DK" dirty="0"/>
              <a:t> to </a:t>
            </a:r>
            <a:r>
              <a:rPr lang="da-DK" dirty="0" err="1"/>
              <a:t>protect</a:t>
            </a:r>
            <a:r>
              <a:rPr lang="da-DK" dirty="0"/>
              <a:t> sensitive data, </a:t>
            </a:r>
            <a:r>
              <a:rPr lang="da-DK" dirty="0" err="1"/>
              <a:t>withstand</a:t>
            </a:r>
            <a:r>
              <a:rPr lang="da-DK" dirty="0"/>
              <a:t> </a:t>
            </a:r>
            <a:r>
              <a:rPr lang="da-DK" dirty="0" err="1"/>
              <a:t>attacks</a:t>
            </a:r>
            <a:r>
              <a:rPr lang="da-DK" dirty="0"/>
              <a:t>, and </a:t>
            </a:r>
            <a:r>
              <a:rPr lang="da-DK" dirty="0" err="1"/>
              <a:t>prevent</a:t>
            </a:r>
            <a:r>
              <a:rPr lang="da-DK" dirty="0"/>
              <a:t> </a:t>
            </a:r>
            <a:r>
              <a:rPr lang="da-DK" dirty="0" err="1"/>
              <a:t>unauthorized</a:t>
            </a:r>
            <a:r>
              <a:rPr lang="da-DK" dirty="0"/>
              <a:t> </a:t>
            </a:r>
            <a:r>
              <a:rPr lang="da-DK" dirty="0" err="1"/>
              <a:t>access</a:t>
            </a:r>
            <a:endParaRPr lang="da-DK" dirty="0"/>
          </a:p>
          <a:p>
            <a:r>
              <a:rPr lang="da-DK" dirty="0" err="1"/>
              <a:t>Goals</a:t>
            </a:r>
            <a:r>
              <a:rPr lang="da-DK" dirty="0"/>
              <a:t>: </a:t>
            </a:r>
            <a:r>
              <a:rPr lang="da-DK" dirty="0" err="1"/>
              <a:t>Identify</a:t>
            </a:r>
            <a:r>
              <a:rPr lang="da-DK" dirty="0"/>
              <a:t> </a:t>
            </a:r>
            <a:r>
              <a:rPr lang="da-DK" dirty="0" err="1"/>
              <a:t>vulnerabilities</a:t>
            </a:r>
            <a:r>
              <a:rPr lang="da-DK" dirty="0"/>
              <a:t>, </a:t>
            </a:r>
            <a:r>
              <a:rPr lang="da-DK" dirty="0" err="1"/>
              <a:t>ensure</a:t>
            </a:r>
            <a:r>
              <a:rPr lang="da-DK" dirty="0"/>
              <a:t> data </a:t>
            </a:r>
            <a:r>
              <a:rPr lang="da-DK" dirty="0" err="1"/>
              <a:t>privacy</a:t>
            </a:r>
            <a:r>
              <a:rPr lang="da-DK" dirty="0"/>
              <a:t> and </a:t>
            </a:r>
            <a:r>
              <a:rPr lang="da-DK" dirty="0" err="1"/>
              <a:t>integrity</a:t>
            </a:r>
            <a:r>
              <a:rPr lang="da-DK" dirty="0"/>
              <a:t>, and </a:t>
            </a:r>
            <a:r>
              <a:rPr lang="da-DK" dirty="0" err="1"/>
              <a:t>maintain</a:t>
            </a:r>
            <a:r>
              <a:rPr lang="da-DK" dirty="0"/>
              <a:t> user trust</a:t>
            </a:r>
            <a:endParaRPr lang="en-DK" sz="500" dirty="0"/>
          </a:p>
        </p:txBody>
      </p:sp>
    </p:spTree>
    <p:extLst>
      <p:ext uri="{BB962C8B-B14F-4D97-AF65-F5344CB8AC3E}">
        <p14:creationId xmlns:p14="http://schemas.microsoft.com/office/powerpoint/2010/main" val="1946932433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9CBBB199-CEE7-4207-9B94-FABE54697AB5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da-DK" dirty="0"/>
              <a:t>Security </a:t>
            </a:r>
            <a:r>
              <a:rPr lang="da-DK" dirty="0" err="1"/>
              <a:t>Testing</a:t>
            </a:r>
            <a:endParaRPr lang="da-DK" dirty="0"/>
          </a:p>
        </p:txBody>
      </p:sp>
      <p:sp>
        <p:nvSpPr>
          <p:cNvPr id="4" name="Pladsholder til dato 3">
            <a:extLst>
              <a:ext uri="{FF2B5EF4-FFF2-40B4-BE49-F238E27FC236}">
                <a16:creationId xmlns:a16="http://schemas.microsoft.com/office/drawing/2014/main" id="{DF6BBC47-AF93-4B51-BB19-37E8FA70A1FC}"/>
              </a:ext>
            </a:extLst>
          </p:cNvPr>
          <p:cNvSpPr>
            <a:spLocks noGrp="1"/>
          </p:cNvSpPr>
          <p:nvPr>
            <p:ph type="dt" sz="half" idx="2"/>
          </p:nvPr>
        </p:nvSpPr>
        <p:spPr/>
        <p:txBody>
          <a:bodyPr/>
          <a:lstStyle/>
          <a:p>
            <a:fld id="{1D326F97-033E-40DE-A683-79560FFFFEF4}" type="datetime1">
              <a:rPr lang="en-GB" smtClean="0"/>
              <a:t>24/04/2023</a:t>
            </a:fld>
            <a:endParaRPr lang="en-GB" dirty="0"/>
          </a:p>
        </p:txBody>
      </p:sp>
      <p:sp>
        <p:nvSpPr>
          <p:cNvPr id="5" name="Pladsholder til sidefod 4">
            <a:extLst>
              <a:ext uri="{FF2B5EF4-FFF2-40B4-BE49-F238E27FC236}">
                <a16:creationId xmlns:a16="http://schemas.microsoft.com/office/drawing/2014/main" id="{0A4065D9-777F-4BC2-8DA9-0E100CD3446A}"/>
              </a:ext>
            </a:extLst>
          </p:cNvPr>
          <p:cNvSpPr>
            <a:spLocks noGrp="1"/>
          </p:cNvSpPr>
          <p:nvPr>
            <p:ph type="ftr" sz="quarter" idx="14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6" name="Pladsholder til slidenummer 5">
            <a:extLst>
              <a:ext uri="{FF2B5EF4-FFF2-40B4-BE49-F238E27FC236}">
                <a16:creationId xmlns:a16="http://schemas.microsoft.com/office/drawing/2014/main" id="{1971CA48-5488-429E-869D-06623C5E5997}"/>
              </a:ext>
            </a:extLst>
          </p:cNvPr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fld id="{45D37B1E-C366-494F-A587-962AD9AABC83}" type="slidenum">
              <a:rPr lang="en-GB" smtClean="0"/>
              <a:pPr/>
              <a:t>43</a:t>
            </a:fld>
            <a:endParaRPr lang="en-GB" dirty="0"/>
          </a:p>
        </p:txBody>
      </p:sp>
      <p:sp>
        <p:nvSpPr>
          <p:cNvPr id="10" name="Content Placeholder 9">
            <a:extLst>
              <a:ext uri="{FF2B5EF4-FFF2-40B4-BE49-F238E27FC236}">
                <a16:creationId xmlns:a16="http://schemas.microsoft.com/office/drawing/2014/main" id="{040613FC-F94A-0712-DF75-092CF5474396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414696" y="1700212"/>
            <a:ext cx="10952578" cy="4408925"/>
          </a:xfrm>
        </p:spPr>
        <p:txBody>
          <a:bodyPr/>
          <a:lstStyle/>
          <a:p>
            <a:r>
              <a:rPr lang="da-DK" dirty="0"/>
              <a:t>Types of Security </a:t>
            </a:r>
            <a:r>
              <a:rPr lang="da-DK" dirty="0" err="1"/>
              <a:t>Testing</a:t>
            </a:r>
            <a:endParaRPr lang="da-DK" dirty="0"/>
          </a:p>
          <a:p>
            <a:endParaRPr lang="da-DK" dirty="0"/>
          </a:p>
          <a:p>
            <a:r>
              <a:rPr lang="da-DK" dirty="0" err="1"/>
              <a:t>Vulnerability</a:t>
            </a:r>
            <a:r>
              <a:rPr lang="da-DK" dirty="0"/>
              <a:t> scanning: </a:t>
            </a:r>
            <a:r>
              <a:rPr lang="da-DK" dirty="0" err="1"/>
              <a:t>Use</a:t>
            </a:r>
            <a:r>
              <a:rPr lang="da-DK" dirty="0"/>
              <a:t> </a:t>
            </a:r>
            <a:r>
              <a:rPr lang="da-DK" dirty="0" err="1"/>
              <a:t>automated</a:t>
            </a:r>
            <a:r>
              <a:rPr lang="da-DK" dirty="0"/>
              <a:t> </a:t>
            </a:r>
            <a:r>
              <a:rPr lang="da-DK" dirty="0" err="1"/>
              <a:t>tools</a:t>
            </a:r>
            <a:r>
              <a:rPr lang="da-DK" dirty="0"/>
              <a:t> (</a:t>
            </a:r>
            <a:r>
              <a:rPr lang="da-DK" dirty="0" err="1"/>
              <a:t>e.g</a:t>
            </a:r>
            <a:r>
              <a:rPr lang="da-DK" dirty="0"/>
              <a:t>., OWASP ZAP, </a:t>
            </a:r>
            <a:r>
              <a:rPr lang="da-DK" dirty="0" err="1"/>
              <a:t>jFrog</a:t>
            </a:r>
            <a:r>
              <a:rPr lang="da-DK" dirty="0"/>
              <a:t>) to </a:t>
            </a:r>
            <a:r>
              <a:rPr lang="da-DK" dirty="0" err="1"/>
              <a:t>identify</a:t>
            </a:r>
            <a:r>
              <a:rPr lang="da-DK" dirty="0"/>
              <a:t> </a:t>
            </a:r>
            <a:r>
              <a:rPr lang="da-DK" dirty="0" err="1"/>
              <a:t>known</a:t>
            </a:r>
            <a:r>
              <a:rPr lang="da-DK" dirty="0"/>
              <a:t> security issues and </a:t>
            </a:r>
            <a:r>
              <a:rPr lang="da-DK" dirty="0" err="1"/>
              <a:t>weaknesses</a:t>
            </a:r>
            <a:endParaRPr lang="da-DK" dirty="0"/>
          </a:p>
          <a:p>
            <a:r>
              <a:rPr lang="da-DK" dirty="0"/>
              <a:t>Penetration </a:t>
            </a:r>
            <a:r>
              <a:rPr lang="da-DK" dirty="0" err="1"/>
              <a:t>testing</a:t>
            </a:r>
            <a:r>
              <a:rPr lang="da-DK" dirty="0"/>
              <a:t>: </a:t>
            </a:r>
            <a:r>
              <a:rPr lang="da-DK" dirty="0" err="1"/>
              <a:t>Simulate</a:t>
            </a:r>
            <a:r>
              <a:rPr lang="da-DK" dirty="0"/>
              <a:t> real-</a:t>
            </a:r>
            <a:r>
              <a:rPr lang="da-DK" dirty="0" err="1"/>
              <a:t>world</a:t>
            </a:r>
            <a:r>
              <a:rPr lang="da-DK" dirty="0"/>
              <a:t> </a:t>
            </a:r>
            <a:r>
              <a:rPr lang="da-DK" dirty="0" err="1"/>
              <a:t>attacks</a:t>
            </a:r>
            <a:r>
              <a:rPr lang="da-DK" dirty="0"/>
              <a:t> to </a:t>
            </a:r>
            <a:r>
              <a:rPr lang="da-DK" dirty="0" err="1"/>
              <a:t>assess</a:t>
            </a:r>
            <a:r>
              <a:rPr lang="da-DK" dirty="0"/>
              <a:t> the </a:t>
            </a:r>
            <a:r>
              <a:rPr lang="da-DK" dirty="0" err="1"/>
              <a:t>system's</a:t>
            </a:r>
            <a:r>
              <a:rPr lang="da-DK" dirty="0"/>
              <a:t> </a:t>
            </a:r>
            <a:r>
              <a:rPr lang="da-DK" dirty="0" err="1"/>
              <a:t>defenses</a:t>
            </a:r>
            <a:r>
              <a:rPr lang="da-DK" dirty="0"/>
              <a:t> and </a:t>
            </a:r>
            <a:r>
              <a:rPr lang="da-DK" dirty="0" err="1"/>
              <a:t>identify</a:t>
            </a:r>
            <a:r>
              <a:rPr lang="da-DK" dirty="0"/>
              <a:t> potential </a:t>
            </a:r>
            <a:r>
              <a:rPr lang="da-DK" dirty="0" err="1"/>
              <a:t>vulnerabilities</a:t>
            </a:r>
            <a:endParaRPr lang="da-DK" dirty="0"/>
          </a:p>
          <a:p>
            <a:pPr lvl="1"/>
            <a:r>
              <a:rPr lang="da-DK" dirty="0" err="1"/>
              <a:t>Usually</a:t>
            </a:r>
            <a:r>
              <a:rPr lang="da-DK" dirty="0"/>
              <a:t> </a:t>
            </a:r>
            <a:r>
              <a:rPr lang="da-DK" dirty="0" err="1"/>
              <a:t>audited</a:t>
            </a:r>
            <a:r>
              <a:rPr lang="da-DK" dirty="0"/>
              <a:t> by </a:t>
            </a:r>
            <a:r>
              <a:rPr lang="da-DK" dirty="0" err="1"/>
              <a:t>thrid</a:t>
            </a:r>
            <a:r>
              <a:rPr lang="da-DK" dirty="0"/>
              <a:t>-parties</a:t>
            </a:r>
          </a:p>
          <a:p>
            <a:r>
              <a:rPr lang="da-DK" dirty="0" err="1"/>
              <a:t>Static</a:t>
            </a:r>
            <a:r>
              <a:rPr lang="da-DK" dirty="0"/>
              <a:t> </a:t>
            </a:r>
            <a:r>
              <a:rPr lang="da-DK" dirty="0" err="1"/>
              <a:t>application</a:t>
            </a:r>
            <a:r>
              <a:rPr lang="da-DK" dirty="0"/>
              <a:t> security </a:t>
            </a:r>
            <a:r>
              <a:rPr lang="da-DK" dirty="0" err="1"/>
              <a:t>testing</a:t>
            </a:r>
            <a:r>
              <a:rPr lang="da-DK" dirty="0"/>
              <a:t> (SAST): </a:t>
            </a:r>
            <a:r>
              <a:rPr lang="da-DK" dirty="0" err="1"/>
              <a:t>Analyze</a:t>
            </a:r>
            <a:r>
              <a:rPr lang="da-DK" dirty="0"/>
              <a:t> source </a:t>
            </a:r>
            <a:r>
              <a:rPr lang="da-DK" dirty="0" err="1"/>
              <a:t>code</a:t>
            </a:r>
            <a:r>
              <a:rPr lang="da-DK" dirty="0"/>
              <a:t> for security </a:t>
            </a:r>
            <a:r>
              <a:rPr lang="da-DK" dirty="0" err="1"/>
              <a:t>vulnerabilities</a:t>
            </a:r>
            <a:r>
              <a:rPr lang="da-DK" dirty="0"/>
              <a:t> </a:t>
            </a:r>
            <a:r>
              <a:rPr lang="da-DK" dirty="0" err="1"/>
              <a:t>during</a:t>
            </a:r>
            <a:r>
              <a:rPr lang="da-DK" dirty="0"/>
              <a:t> </a:t>
            </a:r>
            <a:r>
              <a:rPr lang="da-DK" dirty="0" err="1"/>
              <a:t>development</a:t>
            </a:r>
            <a:endParaRPr lang="da-DK" dirty="0"/>
          </a:p>
          <a:p>
            <a:r>
              <a:rPr lang="da-DK" dirty="0"/>
              <a:t>Dynamic </a:t>
            </a:r>
            <a:r>
              <a:rPr lang="da-DK" dirty="0" err="1"/>
              <a:t>application</a:t>
            </a:r>
            <a:r>
              <a:rPr lang="da-DK" dirty="0"/>
              <a:t> security </a:t>
            </a:r>
            <a:r>
              <a:rPr lang="da-DK" dirty="0" err="1"/>
              <a:t>testing</a:t>
            </a:r>
            <a:r>
              <a:rPr lang="da-DK" dirty="0"/>
              <a:t> (DAST): Test the running </a:t>
            </a:r>
            <a:r>
              <a:rPr lang="da-DK" dirty="0" err="1"/>
              <a:t>application</a:t>
            </a:r>
            <a:r>
              <a:rPr lang="da-DK" dirty="0"/>
              <a:t> for security issues </a:t>
            </a:r>
            <a:r>
              <a:rPr lang="da-DK" dirty="0" err="1"/>
              <a:t>during</a:t>
            </a:r>
            <a:r>
              <a:rPr lang="da-DK" dirty="0"/>
              <a:t> </a:t>
            </a:r>
            <a:r>
              <a:rPr lang="da-DK" dirty="0" err="1"/>
              <a:t>runtime</a:t>
            </a:r>
            <a:endParaRPr lang="en-DK" sz="500" dirty="0"/>
          </a:p>
        </p:txBody>
      </p:sp>
    </p:spTree>
    <p:extLst>
      <p:ext uri="{BB962C8B-B14F-4D97-AF65-F5344CB8AC3E}">
        <p14:creationId xmlns:p14="http://schemas.microsoft.com/office/powerpoint/2010/main" val="4097422675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9CBBB199-CEE7-4207-9B94-FABE54697AB5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da-DK" dirty="0"/>
              <a:t>Security </a:t>
            </a:r>
            <a:r>
              <a:rPr lang="da-DK" dirty="0" err="1"/>
              <a:t>Testing</a:t>
            </a:r>
            <a:endParaRPr lang="da-DK" dirty="0"/>
          </a:p>
        </p:txBody>
      </p:sp>
      <p:sp>
        <p:nvSpPr>
          <p:cNvPr id="4" name="Pladsholder til dato 3">
            <a:extLst>
              <a:ext uri="{FF2B5EF4-FFF2-40B4-BE49-F238E27FC236}">
                <a16:creationId xmlns:a16="http://schemas.microsoft.com/office/drawing/2014/main" id="{DF6BBC47-AF93-4B51-BB19-37E8FA70A1FC}"/>
              </a:ext>
            </a:extLst>
          </p:cNvPr>
          <p:cNvSpPr>
            <a:spLocks noGrp="1"/>
          </p:cNvSpPr>
          <p:nvPr>
            <p:ph type="dt" sz="half" idx="2"/>
          </p:nvPr>
        </p:nvSpPr>
        <p:spPr/>
        <p:txBody>
          <a:bodyPr/>
          <a:lstStyle/>
          <a:p>
            <a:fld id="{1D326F97-033E-40DE-A683-79560FFFFEF4}" type="datetime1">
              <a:rPr lang="en-GB" smtClean="0"/>
              <a:t>24/04/2023</a:t>
            </a:fld>
            <a:endParaRPr lang="en-GB" dirty="0"/>
          </a:p>
        </p:txBody>
      </p:sp>
      <p:sp>
        <p:nvSpPr>
          <p:cNvPr id="5" name="Pladsholder til sidefod 4">
            <a:extLst>
              <a:ext uri="{FF2B5EF4-FFF2-40B4-BE49-F238E27FC236}">
                <a16:creationId xmlns:a16="http://schemas.microsoft.com/office/drawing/2014/main" id="{0A4065D9-777F-4BC2-8DA9-0E100CD3446A}"/>
              </a:ext>
            </a:extLst>
          </p:cNvPr>
          <p:cNvSpPr>
            <a:spLocks noGrp="1"/>
          </p:cNvSpPr>
          <p:nvPr>
            <p:ph type="ftr" sz="quarter" idx="14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6" name="Pladsholder til slidenummer 5">
            <a:extLst>
              <a:ext uri="{FF2B5EF4-FFF2-40B4-BE49-F238E27FC236}">
                <a16:creationId xmlns:a16="http://schemas.microsoft.com/office/drawing/2014/main" id="{1971CA48-5488-429E-869D-06623C5E5997}"/>
              </a:ext>
            </a:extLst>
          </p:cNvPr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fld id="{45D37B1E-C366-494F-A587-962AD9AABC83}" type="slidenum">
              <a:rPr lang="en-GB" smtClean="0"/>
              <a:pPr/>
              <a:t>44</a:t>
            </a:fld>
            <a:endParaRPr lang="en-GB" dirty="0"/>
          </a:p>
        </p:txBody>
      </p:sp>
      <p:sp>
        <p:nvSpPr>
          <p:cNvPr id="10" name="Content Placeholder 9">
            <a:extLst>
              <a:ext uri="{FF2B5EF4-FFF2-40B4-BE49-F238E27FC236}">
                <a16:creationId xmlns:a16="http://schemas.microsoft.com/office/drawing/2014/main" id="{040613FC-F94A-0712-DF75-092CF5474396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414696" y="1700212"/>
            <a:ext cx="10952578" cy="4408925"/>
          </a:xfrm>
        </p:spPr>
        <p:txBody>
          <a:bodyPr/>
          <a:lstStyle/>
          <a:p>
            <a:r>
              <a:rPr lang="da-DK" dirty="0"/>
              <a:t>Common Security </a:t>
            </a:r>
            <a:r>
              <a:rPr lang="da-DK" dirty="0" err="1"/>
              <a:t>Threats</a:t>
            </a:r>
            <a:r>
              <a:rPr lang="da-DK" dirty="0"/>
              <a:t> (OWASP)</a:t>
            </a:r>
          </a:p>
          <a:p>
            <a:endParaRPr lang="da-DK" dirty="0"/>
          </a:p>
          <a:p>
            <a:r>
              <a:rPr lang="da-DK" dirty="0" err="1"/>
              <a:t>Injection</a:t>
            </a:r>
            <a:r>
              <a:rPr lang="da-DK" dirty="0"/>
              <a:t> </a:t>
            </a:r>
            <a:r>
              <a:rPr lang="da-DK" dirty="0" err="1"/>
              <a:t>attacks</a:t>
            </a:r>
            <a:r>
              <a:rPr lang="da-DK" dirty="0"/>
              <a:t> (</a:t>
            </a:r>
            <a:r>
              <a:rPr lang="da-DK" dirty="0" err="1"/>
              <a:t>e.g</a:t>
            </a:r>
            <a:r>
              <a:rPr lang="da-DK" dirty="0"/>
              <a:t>., SQL </a:t>
            </a:r>
            <a:r>
              <a:rPr lang="da-DK" dirty="0" err="1"/>
              <a:t>injection</a:t>
            </a:r>
            <a:r>
              <a:rPr lang="da-DK" dirty="0"/>
              <a:t>, </a:t>
            </a:r>
            <a:r>
              <a:rPr lang="da-DK" dirty="0" err="1"/>
              <a:t>command</a:t>
            </a:r>
            <a:r>
              <a:rPr lang="da-DK" dirty="0"/>
              <a:t> </a:t>
            </a:r>
            <a:r>
              <a:rPr lang="da-DK" dirty="0" err="1"/>
              <a:t>injection</a:t>
            </a:r>
            <a:r>
              <a:rPr lang="da-DK" dirty="0"/>
              <a:t>)</a:t>
            </a:r>
          </a:p>
          <a:p>
            <a:r>
              <a:rPr lang="da-DK" dirty="0"/>
              <a:t>Cross-site </a:t>
            </a:r>
            <a:r>
              <a:rPr lang="da-DK" dirty="0" err="1"/>
              <a:t>scripting</a:t>
            </a:r>
            <a:r>
              <a:rPr lang="da-DK" dirty="0"/>
              <a:t> (XSS)</a:t>
            </a:r>
          </a:p>
          <a:p>
            <a:r>
              <a:rPr lang="da-DK" dirty="0"/>
              <a:t>Cross-site </a:t>
            </a:r>
            <a:r>
              <a:rPr lang="da-DK" dirty="0" err="1"/>
              <a:t>request</a:t>
            </a:r>
            <a:r>
              <a:rPr lang="da-DK" dirty="0"/>
              <a:t> </a:t>
            </a:r>
            <a:r>
              <a:rPr lang="da-DK" dirty="0" err="1"/>
              <a:t>forgery</a:t>
            </a:r>
            <a:r>
              <a:rPr lang="da-DK" dirty="0"/>
              <a:t> (CSRF)</a:t>
            </a:r>
          </a:p>
          <a:p>
            <a:r>
              <a:rPr lang="da-DK" dirty="0"/>
              <a:t>Authentication and session management </a:t>
            </a:r>
            <a:r>
              <a:rPr lang="da-DK" dirty="0" err="1"/>
              <a:t>vulnerabilities</a:t>
            </a:r>
            <a:endParaRPr lang="da-DK" dirty="0"/>
          </a:p>
          <a:p>
            <a:r>
              <a:rPr lang="da-DK" dirty="0" err="1"/>
              <a:t>Insecure</a:t>
            </a:r>
            <a:r>
              <a:rPr lang="da-DK" dirty="0"/>
              <a:t> data </a:t>
            </a:r>
            <a:r>
              <a:rPr lang="da-DK" dirty="0" err="1"/>
              <a:t>storage</a:t>
            </a:r>
            <a:r>
              <a:rPr lang="da-DK" dirty="0"/>
              <a:t> and transmission</a:t>
            </a:r>
            <a:endParaRPr lang="en-DK" sz="500" dirty="0"/>
          </a:p>
        </p:txBody>
      </p:sp>
    </p:spTree>
    <p:extLst>
      <p:ext uri="{BB962C8B-B14F-4D97-AF65-F5344CB8AC3E}">
        <p14:creationId xmlns:p14="http://schemas.microsoft.com/office/powerpoint/2010/main" val="1255222592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9CBBB199-CEE7-4207-9B94-FABE54697AB5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da-DK" dirty="0"/>
              <a:t>Security </a:t>
            </a:r>
            <a:r>
              <a:rPr lang="da-DK" dirty="0" err="1"/>
              <a:t>Testing</a:t>
            </a:r>
            <a:endParaRPr lang="da-DK" dirty="0"/>
          </a:p>
        </p:txBody>
      </p:sp>
      <p:sp>
        <p:nvSpPr>
          <p:cNvPr id="4" name="Pladsholder til dato 3">
            <a:extLst>
              <a:ext uri="{FF2B5EF4-FFF2-40B4-BE49-F238E27FC236}">
                <a16:creationId xmlns:a16="http://schemas.microsoft.com/office/drawing/2014/main" id="{DF6BBC47-AF93-4B51-BB19-37E8FA70A1FC}"/>
              </a:ext>
            </a:extLst>
          </p:cNvPr>
          <p:cNvSpPr>
            <a:spLocks noGrp="1"/>
          </p:cNvSpPr>
          <p:nvPr>
            <p:ph type="dt" sz="half" idx="2"/>
          </p:nvPr>
        </p:nvSpPr>
        <p:spPr/>
        <p:txBody>
          <a:bodyPr/>
          <a:lstStyle/>
          <a:p>
            <a:fld id="{1D326F97-033E-40DE-A683-79560FFFFEF4}" type="datetime1">
              <a:rPr lang="en-GB" smtClean="0"/>
              <a:t>24/04/2023</a:t>
            </a:fld>
            <a:endParaRPr lang="en-GB" dirty="0"/>
          </a:p>
        </p:txBody>
      </p:sp>
      <p:sp>
        <p:nvSpPr>
          <p:cNvPr id="5" name="Pladsholder til sidefod 4">
            <a:extLst>
              <a:ext uri="{FF2B5EF4-FFF2-40B4-BE49-F238E27FC236}">
                <a16:creationId xmlns:a16="http://schemas.microsoft.com/office/drawing/2014/main" id="{0A4065D9-777F-4BC2-8DA9-0E100CD3446A}"/>
              </a:ext>
            </a:extLst>
          </p:cNvPr>
          <p:cNvSpPr>
            <a:spLocks noGrp="1"/>
          </p:cNvSpPr>
          <p:nvPr>
            <p:ph type="ftr" sz="quarter" idx="14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6" name="Pladsholder til slidenummer 5">
            <a:extLst>
              <a:ext uri="{FF2B5EF4-FFF2-40B4-BE49-F238E27FC236}">
                <a16:creationId xmlns:a16="http://schemas.microsoft.com/office/drawing/2014/main" id="{1971CA48-5488-429E-869D-06623C5E5997}"/>
              </a:ext>
            </a:extLst>
          </p:cNvPr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fld id="{45D37B1E-C366-494F-A587-962AD9AABC83}" type="slidenum">
              <a:rPr lang="en-GB" smtClean="0"/>
              <a:pPr/>
              <a:t>45</a:t>
            </a:fld>
            <a:endParaRPr lang="en-GB" dirty="0"/>
          </a:p>
        </p:txBody>
      </p:sp>
      <p:sp>
        <p:nvSpPr>
          <p:cNvPr id="10" name="Content Placeholder 9">
            <a:extLst>
              <a:ext uri="{FF2B5EF4-FFF2-40B4-BE49-F238E27FC236}">
                <a16:creationId xmlns:a16="http://schemas.microsoft.com/office/drawing/2014/main" id="{040613FC-F94A-0712-DF75-092CF5474396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414696" y="1700212"/>
            <a:ext cx="10952578" cy="4408925"/>
          </a:xfrm>
        </p:spPr>
        <p:txBody>
          <a:bodyPr/>
          <a:lstStyle/>
          <a:p>
            <a:r>
              <a:rPr lang="da-DK" dirty="0"/>
              <a:t>Security </a:t>
            </a:r>
            <a:r>
              <a:rPr lang="da-DK" dirty="0" err="1"/>
              <a:t>Testing</a:t>
            </a:r>
            <a:r>
              <a:rPr lang="da-DK" dirty="0"/>
              <a:t> </a:t>
            </a:r>
            <a:r>
              <a:rPr lang="da-DK" dirty="0" err="1"/>
              <a:t>Process</a:t>
            </a:r>
            <a:endParaRPr lang="da-DK" dirty="0"/>
          </a:p>
          <a:p>
            <a:endParaRPr lang="da-DK" dirty="0"/>
          </a:p>
          <a:p>
            <a:r>
              <a:rPr lang="da-DK" dirty="0" err="1"/>
              <a:t>Develop</a:t>
            </a:r>
            <a:r>
              <a:rPr lang="da-DK" dirty="0"/>
              <a:t> a security test plan: </a:t>
            </a:r>
            <a:r>
              <a:rPr lang="da-DK" dirty="0" err="1"/>
              <a:t>Define</a:t>
            </a:r>
            <a:r>
              <a:rPr lang="da-DK" dirty="0"/>
              <a:t> the </a:t>
            </a:r>
            <a:r>
              <a:rPr lang="da-DK" dirty="0" err="1"/>
              <a:t>scope</a:t>
            </a:r>
            <a:r>
              <a:rPr lang="da-DK" dirty="0"/>
              <a:t>, </a:t>
            </a:r>
            <a:r>
              <a:rPr lang="da-DK" dirty="0" err="1"/>
              <a:t>objectives</a:t>
            </a:r>
            <a:r>
              <a:rPr lang="da-DK" dirty="0"/>
              <a:t>, and </a:t>
            </a:r>
            <a:r>
              <a:rPr lang="da-DK" dirty="0" err="1"/>
              <a:t>methods</a:t>
            </a:r>
            <a:r>
              <a:rPr lang="da-DK" dirty="0"/>
              <a:t> for security </a:t>
            </a:r>
            <a:r>
              <a:rPr lang="da-DK" dirty="0" err="1"/>
              <a:t>testing</a:t>
            </a:r>
            <a:endParaRPr lang="da-DK" dirty="0"/>
          </a:p>
          <a:p>
            <a:r>
              <a:rPr lang="da-DK" dirty="0" err="1"/>
              <a:t>Conduct</a:t>
            </a:r>
            <a:r>
              <a:rPr lang="da-DK" dirty="0"/>
              <a:t> security </a:t>
            </a:r>
            <a:r>
              <a:rPr lang="da-DK" dirty="0" err="1"/>
              <a:t>testing</a:t>
            </a:r>
            <a:r>
              <a:rPr lang="da-DK" dirty="0"/>
              <a:t>: </a:t>
            </a:r>
            <a:r>
              <a:rPr lang="da-DK" dirty="0" err="1"/>
              <a:t>Use</a:t>
            </a:r>
            <a:r>
              <a:rPr lang="da-DK" dirty="0"/>
              <a:t> a </a:t>
            </a:r>
            <a:r>
              <a:rPr lang="da-DK" dirty="0" err="1"/>
              <a:t>combination</a:t>
            </a:r>
            <a:r>
              <a:rPr lang="da-DK" dirty="0"/>
              <a:t> of manual and </a:t>
            </a:r>
            <a:r>
              <a:rPr lang="da-DK" dirty="0" err="1"/>
              <a:t>automated</a:t>
            </a:r>
            <a:r>
              <a:rPr lang="da-DK" dirty="0"/>
              <a:t> </a:t>
            </a:r>
            <a:r>
              <a:rPr lang="da-DK" dirty="0" err="1"/>
              <a:t>techniques</a:t>
            </a:r>
            <a:r>
              <a:rPr lang="da-DK" dirty="0"/>
              <a:t> to </a:t>
            </a:r>
            <a:r>
              <a:rPr lang="da-DK" dirty="0" err="1"/>
              <a:t>identify</a:t>
            </a:r>
            <a:r>
              <a:rPr lang="da-DK" dirty="0"/>
              <a:t> </a:t>
            </a:r>
            <a:r>
              <a:rPr lang="da-DK" dirty="0" err="1"/>
              <a:t>vulnerabilities</a:t>
            </a:r>
            <a:r>
              <a:rPr lang="da-DK" dirty="0"/>
              <a:t> and </a:t>
            </a:r>
            <a:r>
              <a:rPr lang="da-DK" dirty="0" err="1"/>
              <a:t>assess</a:t>
            </a:r>
            <a:r>
              <a:rPr lang="da-DK" dirty="0"/>
              <a:t> </a:t>
            </a:r>
            <a:r>
              <a:rPr lang="da-DK" dirty="0" err="1"/>
              <a:t>risk</a:t>
            </a:r>
            <a:endParaRPr lang="da-DK" dirty="0"/>
          </a:p>
          <a:p>
            <a:r>
              <a:rPr lang="da-DK" dirty="0" err="1"/>
              <a:t>Analyze</a:t>
            </a:r>
            <a:r>
              <a:rPr lang="da-DK" dirty="0"/>
              <a:t> and </a:t>
            </a:r>
            <a:r>
              <a:rPr lang="da-DK" dirty="0" err="1"/>
              <a:t>prioritize</a:t>
            </a:r>
            <a:r>
              <a:rPr lang="da-DK" dirty="0"/>
              <a:t> </a:t>
            </a:r>
            <a:r>
              <a:rPr lang="da-DK" dirty="0" err="1"/>
              <a:t>findings</a:t>
            </a:r>
            <a:r>
              <a:rPr lang="da-DK" dirty="0"/>
              <a:t>: </a:t>
            </a:r>
            <a:r>
              <a:rPr lang="da-DK" dirty="0" err="1"/>
              <a:t>Determine</a:t>
            </a:r>
            <a:r>
              <a:rPr lang="da-DK" dirty="0"/>
              <a:t> the </a:t>
            </a:r>
            <a:r>
              <a:rPr lang="da-DK" dirty="0" err="1"/>
              <a:t>severity</a:t>
            </a:r>
            <a:r>
              <a:rPr lang="da-DK" dirty="0"/>
              <a:t> and </a:t>
            </a:r>
            <a:r>
              <a:rPr lang="da-DK" dirty="0" err="1"/>
              <a:t>impact</a:t>
            </a:r>
            <a:r>
              <a:rPr lang="da-DK" dirty="0"/>
              <a:t> of </a:t>
            </a:r>
            <a:r>
              <a:rPr lang="da-DK" dirty="0" err="1"/>
              <a:t>identified</a:t>
            </a:r>
            <a:r>
              <a:rPr lang="da-DK" dirty="0"/>
              <a:t> </a:t>
            </a:r>
            <a:r>
              <a:rPr lang="da-DK" dirty="0" err="1"/>
              <a:t>vulnerabilities</a:t>
            </a:r>
            <a:endParaRPr lang="da-DK" dirty="0"/>
          </a:p>
          <a:p>
            <a:r>
              <a:rPr lang="da-DK" dirty="0" err="1"/>
              <a:t>Remediate</a:t>
            </a:r>
            <a:r>
              <a:rPr lang="da-DK" dirty="0"/>
              <a:t> </a:t>
            </a:r>
            <a:r>
              <a:rPr lang="da-DK" dirty="0" err="1"/>
              <a:t>vulnerabilities</a:t>
            </a:r>
            <a:r>
              <a:rPr lang="da-DK" dirty="0"/>
              <a:t>: Work with the </a:t>
            </a:r>
            <a:r>
              <a:rPr lang="da-DK" dirty="0" err="1"/>
              <a:t>development</a:t>
            </a:r>
            <a:r>
              <a:rPr lang="da-DK" dirty="0"/>
              <a:t> team to fix security issues and </a:t>
            </a:r>
            <a:r>
              <a:rPr lang="da-DK" dirty="0" err="1"/>
              <a:t>implement</a:t>
            </a:r>
            <a:r>
              <a:rPr lang="da-DK" dirty="0"/>
              <a:t> </a:t>
            </a:r>
            <a:r>
              <a:rPr lang="da-DK" dirty="0" err="1"/>
              <a:t>secure</a:t>
            </a:r>
            <a:r>
              <a:rPr lang="da-DK" dirty="0"/>
              <a:t> </a:t>
            </a:r>
            <a:r>
              <a:rPr lang="da-DK" dirty="0" err="1"/>
              <a:t>coding</a:t>
            </a:r>
            <a:r>
              <a:rPr lang="da-DK" dirty="0"/>
              <a:t> practices</a:t>
            </a:r>
          </a:p>
          <a:p>
            <a:r>
              <a:rPr lang="da-DK" dirty="0" err="1"/>
              <a:t>Re-test</a:t>
            </a:r>
            <a:r>
              <a:rPr lang="da-DK" dirty="0"/>
              <a:t> and </a:t>
            </a:r>
            <a:r>
              <a:rPr lang="da-DK" dirty="0" err="1"/>
              <a:t>validate</a:t>
            </a:r>
            <a:r>
              <a:rPr lang="da-DK" dirty="0"/>
              <a:t> fixes: </a:t>
            </a:r>
            <a:r>
              <a:rPr lang="da-DK" dirty="0" err="1"/>
              <a:t>Ensure</a:t>
            </a:r>
            <a:r>
              <a:rPr lang="da-DK" dirty="0"/>
              <a:t> </a:t>
            </a:r>
            <a:r>
              <a:rPr lang="da-DK" dirty="0" err="1"/>
              <a:t>that</a:t>
            </a:r>
            <a:r>
              <a:rPr lang="da-DK" dirty="0"/>
              <a:t> </a:t>
            </a:r>
            <a:r>
              <a:rPr lang="da-DK" dirty="0" err="1"/>
              <a:t>vulnerabilities</a:t>
            </a:r>
            <a:r>
              <a:rPr lang="da-DK" dirty="0"/>
              <a:t> have </a:t>
            </a:r>
            <a:r>
              <a:rPr lang="da-DK" dirty="0" err="1"/>
              <a:t>been</a:t>
            </a:r>
            <a:r>
              <a:rPr lang="da-DK" dirty="0"/>
              <a:t> </a:t>
            </a:r>
            <a:r>
              <a:rPr lang="da-DK" dirty="0" err="1"/>
              <a:t>effectively</a:t>
            </a:r>
            <a:r>
              <a:rPr lang="da-DK" dirty="0"/>
              <a:t> </a:t>
            </a:r>
            <a:r>
              <a:rPr lang="da-DK" dirty="0" err="1"/>
              <a:t>resolved</a:t>
            </a:r>
            <a:endParaRPr lang="en-DK" sz="500" dirty="0"/>
          </a:p>
        </p:txBody>
      </p:sp>
    </p:spTree>
    <p:extLst>
      <p:ext uri="{BB962C8B-B14F-4D97-AF65-F5344CB8AC3E}">
        <p14:creationId xmlns:p14="http://schemas.microsoft.com/office/powerpoint/2010/main" val="3045338803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9CBBB199-CEE7-4207-9B94-FABE54697AB5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da-DK" dirty="0"/>
              <a:t>Security </a:t>
            </a:r>
            <a:r>
              <a:rPr lang="da-DK" dirty="0" err="1"/>
              <a:t>Testing</a:t>
            </a:r>
            <a:endParaRPr lang="da-DK" dirty="0"/>
          </a:p>
        </p:txBody>
      </p:sp>
      <p:sp>
        <p:nvSpPr>
          <p:cNvPr id="4" name="Pladsholder til dato 3">
            <a:extLst>
              <a:ext uri="{FF2B5EF4-FFF2-40B4-BE49-F238E27FC236}">
                <a16:creationId xmlns:a16="http://schemas.microsoft.com/office/drawing/2014/main" id="{DF6BBC47-AF93-4B51-BB19-37E8FA70A1FC}"/>
              </a:ext>
            </a:extLst>
          </p:cNvPr>
          <p:cNvSpPr>
            <a:spLocks noGrp="1"/>
          </p:cNvSpPr>
          <p:nvPr>
            <p:ph type="dt" sz="half" idx="2"/>
          </p:nvPr>
        </p:nvSpPr>
        <p:spPr/>
        <p:txBody>
          <a:bodyPr/>
          <a:lstStyle/>
          <a:p>
            <a:fld id="{1D326F97-033E-40DE-A683-79560FFFFEF4}" type="datetime1">
              <a:rPr lang="en-GB" smtClean="0"/>
              <a:t>24/04/2023</a:t>
            </a:fld>
            <a:endParaRPr lang="en-GB" dirty="0"/>
          </a:p>
        </p:txBody>
      </p:sp>
      <p:sp>
        <p:nvSpPr>
          <p:cNvPr id="5" name="Pladsholder til sidefod 4">
            <a:extLst>
              <a:ext uri="{FF2B5EF4-FFF2-40B4-BE49-F238E27FC236}">
                <a16:creationId xmlns:a16="http://schemas.microsoft.com/office/drawing/2014/main" id="{0A4065D9-777F-4BC2-8DA9-0E100CD3446A}"/>
              </a:ext>
            </a:extLst>
          </p:cNvPr>
          <p:cNvSpPr>
            <a:spLocks noGrp="1"/>
          </p:cNvSpPr>
          <p:nvPr>
            <p:ph type="ftr" sz="quarter" idx="14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6" name="Pladsholder til slidenummer 5">
            <a:extLst>
              <a:ext uri="{FF2B5EF4-FFF2-40B4-BE49-F238E27FC236}">
                <a16:creationId xmlns:a16="http://schemas.microsoft.com/office/drawing/2014/main" id="{1971CA48-5488-429E-869D-06623C5E5997}"/>
              </a:ext>
            </a:extLst>
          </p:cNvPr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fld id="{45D37B1E-C366-494F-A587-962AD9AABC83}" type="slidenum">
              <a:rPr lang="en-GB" smtClean="0"/>
              <a:pPr/>
              <a:t>46</a:t>
            </a:fld>
            <a:endParaRPr lang="en-GB" dirty="0"/>
          </a:p>
        </p:txBody>
      </p:sp>
      <p:sp>
        <p:nvSpPr>
          <p:cNvPr id="10" name="Content Placeholder 9">
            <a:extLst>
              <a:ext uri="{FF2B5EF4-FFF2-40B4-BE49-F238E27FC236}">
                <a16:creationId xmlns:a16="http://schemas.microsoft.com/office/drawing/2014/main" id="{040613FC-F94A-0712-DF75-092CF5474396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414696" y="1700212"/>
            <a:ext cx="10952578" cy="4408925"/>
          </a:xfrm>
        </p:spPr>
        <p:txBody>
          <a:bodyPr/>
          <a:lstStyle/>
          <a:p>
            <a:r>
              <a:rPr lang="da-DK" dirty="0"/>
              <a:t>Tips for </a:t>
            </a:r>
            <a:r>
              <a:rPr lang="da-DK" dirty="0" err="1"/>
              <a:t>Effective</a:t>
            </a:r>
            <a:r>
              <a:rPr lang="da-DK" dirty="0"/>
              <a:t> Security </a:t>
            </a:r>
            <a:r>
              <a:rPr lang="da-DK" dirty="0" err="1"/>
              <a:t>Testing</a:t>
            </a:r>
            <a:endParaRPr lang="da-DK" dirty="0"/>
          </a:p>
          <a:p>
            <a:endParaRPr lang="da-DK" dirty="0"/>
          </a:p>
          <a:p>
            <a:r>
              <a:rPr lang="da-DK" dirty="0" err="1"/>
              <a:t>Adopt</a:t>
            </a:r>
            <a:r>
              <a:rPr lang="da-DK" dirty="0"/>
              <a:t> a </a:t>
            </a:r>
            <a:r>
              <a:rPr lang="da-DK" dirty="0" err="1"/>
              <a:t>proactive</a:t>
            </a:r>
            <a:r>
              <a:rPr lang="da-DK" dirty="0"/>
              <a:t> approach to security: </a:t>
            </a:r>
            <a:r>
              <a:rPr lang="da-DK" dirty="0" err="1"/>
              <a:t>Incorporate</a:t>
            </a:r>
            <a:r>
              <a:rPr lang="da-DK" dirty="0"/>
              <a:t> security </a:t>
            </a:r>
            <a:r>
              <a:rPr lang="da-DK" dirty="0" err="1"/>
              <a:t>testing</a:t>
            </a:r>
            <a:r>
              <a:rPr lang="da-DK" dirty="0"/>
              <a:t> </a:t>
            </a:r>
            <a:r>
              <a:rPr lang="da-DK" dirty="0" err="1"/>
              <a:t>throughout</a:t>
            </a:r>
            <a:r>
              <a:rPr lang="da-DK" dirty="0"/>
              <a:t> the </a:t>
            </a:r>
            <a:r>
              <a:rPr lang="da-DK" dirty="0" err="1"/>
              <a:t>development</a:t>
            </a:r>
            <a:r>
              <a:rPr lang="da-DK" dirty="0"/>
              <a:t> </a:t>
            </a:r>
            <a:r>
              <a:rPr lang="da-DK" dirty="0" err="1"/>
              <a:t>lifecycle</a:t>
            </a:r>
            <a:endParaRPr lang="da-DK" dirty="0"/>
          </a:p>
          <a:p>
            <a:r>
              <a:rPr lang="da-DK" dirty="0" err="1"/>
              <a:t>Use</a:t>
            </a:r>
            <a:r>
              <a:rPr lang="da-DK" dirty="0"/>
              <a:t> a </a:t>
            </a:r>
            <a:r>
              <a:rPr lang="da-DK" dirty="0" err="1"/>
              <a:t>combination</a:t>
            </a:r>
            <a:r>
              <a:rPr lang="da-DK" dirty="0"/>
              <a:t> of </a:t>
            </a:r>
            <a:r>
              <a:rPr lang="da-DK" dirty="0" err="1"/>
              <a:t>testing</a:t>
            </a:r>
            <a:r>
              <a:rPr lang="da-DK" dirty="0"/>
              <a:t> </a:t>
            </a:r>
            <a:r>
              <a:rPr lang="da-DK" dirty="0" err="1"/>
              <a:t>techniques</a:t>
            </a:r>
            <a:r>
              <a:rPr lang="da-DK" dirty="0"/>
              <a:t>: </a:t>
            </a:r>
            <a:r>
              <a:rPr lang="da-DK" dirty="0" err="1"/>
              <a:t>Leverage</a:t>
            </a:r>
            <a:r>
              <a:rPr lang="da-DK" dirty="0"/>
              <a:t> </a:t>
            </a:r>
            <a:r>
              <a:rPr lang="da-DK" dirty="0" err="1"/>
              <a:t>both</a:t>
            </a:r>
            <a:r>
              <a:rPr lang="da-DK" dirty="0"/>
              <a:t> manual and </a:t>
            </a:r>
            <a:r>
              <a:rPr lang="da-DK" dirty="0" err="1"/>
              <a:t>automated</a:t>
            </a:r>
            <a:r>
              <a:rPr lang="da-DK" dirty="0"/>
              <a:t> </a:t>
            </a:r>
            <a:r>
              <a:rPr lang="da-DK" dirty="0" err="1"/>
              <a:t>methods</a:t>
            </a:r>
            <a:r>
              <a:rPr lang="da-DK" dirty="0"/>
              <a:t> to </a:t>
            </a:r>
            <a:r>
              <a:rPr lang="da-DK" dirty="0" err="1"/>
              <a:t>maximize</a:t>
            </a:r>
            <a:r>
              <a:rPr lang="da-DK" dirty="0"/>
              <a:t> </a:t>
            </a:r>
            <a:r>
              <a:rPr lang="da-DK" dirty="0" err="1"/>
              <a:t>coverage</a:t>
            </a:r>
            <a:endParaRPr lang="da-DK" dirty="0"/>
          </a:p>
          <a:p>
            <a:r>
              <a:rPr lang="da-DK" dirty="0" err="1"/>
              <a:t>Stay</a:t>
            </a:r>
            <a:r>
              <a:rPr lang="da-DK" dirty="0"/>
              <a:t> </a:t>
            </a:r>
            <a:r>
              <a:rPr lang="da-DK" dirty="0" err="1"/>
              <a:t>informed</a:t>
            </a:r>
            <a:r>
              <a:rPr lang="da-DK" dirty="0"/>
              <a:t> </a:t>
            </a:r>
            <a:r>
              <a:rPr lang="da-DK" dirty="0" err="1"/>
              <a:t>about</a:t>
            </a:r>
            <a:r>
              <a:rPr lang="da-DK" dirty="0"/>
              <a:t> the </a:t>
            </a:r>
            <a:r>
              <a:rPr lang="da-DK" dirty="0" err="1"/>
              <a:t>latest</a:t>
            </a:r>
            <a:r>
              <a:rPr lang="da-DK" dirty="0"/>
              <a:t> security </a:t>
            </a:r>
            <a:r>
              <a:rPr lang="da-DK" dirty="0" err="1"/>
              <a:t>threats</a:t>
            </a:r>
            <a:r>
              <a:rPr lang="da-DK" dirty="0"/>
              <a:t> and </a:t>
            </a:r>
            <a:r>
              <a:rPr lang="da-DK" dirty="0" err="1"/>
              <a:t>best</a:t>
            </a:r>
            <a:r>
              <a:rPr lang="da-DK" dirty="0"/>
              <a:t> practices: </a:t>
            </a:r>
            <a:r>
              <a:rPr lang="da-DK" dirty="0" err="1"/>
              <a:t>Continuously</a:t>
            </a:r>
            <a:r>
              <a:rPr lang="da-DK" dirty="0"/>
              <a:t> </a:t>
            </a:r>
            <a:r>
              <a:rPr lang="da-DK" dirty="0" err="1"/>
              <a:t>update</a:t>
            </a:r>
            <a:r>
              <a:rPr lang="da-DK" dirty="0"/>
              <a:t> and </a:t>
            </a:r>
            <a:r>
              <a:rPr lang="da-DK" dirty="0" err="1"/>
              <a:t>refine</a:t>
            </a:r>
            <a:r>
              <a:rPr lang="da-DK" dirty="0"/>
              <a:t> </a:t>
            </a:r>
            <a:r>
              <a:rPr lang="da-DK" dirty="0" err="1"/>
              <a:t>testing</a:t>
            </a:r>
            <a:r>
              <a:rPr lang="da-DK" dirty="0"/>
              <a:t> </a:t>
            </a:r>
            <a:r>
              <a:rPr lang="da-DK" dirty="0" err="1"/>
              <a:t>methods</a:t>
            </a:r>
            <a:endParaRPr lang="da-DK" dirty="0"/>
          </a:p>
          <a:p>
            <a:r>
              <a:rPr lang="da-DK" dirty="0"/>
              <a:t>Foster a security-</a:t>
            </a:r>
            <a:r>
              <a:rPr lang="da-DK" dirty="0" err="1"/>
              <a:t>conscious</a:t>
            </a:r>
            <a:r>
              <a:rPr lang="da-DK" dirty="0"/>
              <a:t> </a:t>
            </a:r>
            <a:r>
              <a:rPr lang="da-DK" dirty="0" err="1"/>
              <a:t>culture</a:t>
            </a:r>
            <a:r>
              <a:rPr lang="da-DK" dirty="0"/>
              <a:t>: </a:t>
            </a:r>
            <a:r>
              <a:rPr lang="da-DK" dirty="0" err="1"/>
              <a:t>Encourage</a:t>
            </a:r>
            <a:r>
              <a:rPr lang="da-DK" dirty="0"/>
              <a:t> developers and testers to </a:t>
            </a:r>
            <a:r>
              <a:rPr lang="da-DK" dirty="0" err="1"/>
              <a:t>prioritize</a:t>
            </a:r>
            <a:r>
              <a:rPr lang="da-DK" dirty="0"/>
              <a:t> security and </a:t>
            </a:r>
            <a:r>
              <a:rPr lang="da-DK" dirty="0" err="1"/>
              <a:t>share</a:t>
            </a:r>
            <a:r>
              <a:rPr lang="da-DK" dirty="0"/>
              <a:t> </a:t>
            </a:r>
            <a:r>
              <a:rPr lang="da-DK" dirty="0" err="1"/>
              <a:t>knowledge</a:t>
            </a:r>
            <a:endParaRPr lang="en-DK" sz="500" dirty="0"/>
          </a:p>
        </p:txBody>
      </p:sp>
    </p:spTree>
    <p:extLst>
      <p:ext uri="{BB962C8B-B14F-4D97-AF65-F5344CB8AC3E}">
        <p14:creationId xmlns:p14="http://schemas.microsoft.com/office/powerpoint/2010/main" val="191250586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552FF25E-24BF-4225-87AB-B2869F94CB2B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da-DK"/>
          </a:p>
        </p:txBody>
      </p:sp>
      <p:sp>
        <p:nvSpPr>
          <p:cNvPr id="3" name="Pladsholder til dato 2">
            <a:extLst>
              <a:ext uri="{FF2B5EF4-FFF2-40B4-BE49-F238E27FC236}">
                <a16:creationId xmlns:a16="http://schemas.microsoft.com/office/drawing/2014/main" id="{4C93D788-8D9D-4045-B518-6692018D89DE}"/>
              </a:ext>
            </a:extLst>
          </p:cNvPr>
          <p:cNvSpPr>
            <a:spLocks noGrp="1"/>
          </p:cNvSpPr>
          <p:nvPr>
            <p:ph type="dt" sz="half" idx="2"/>
          </p:nvPr>
        </p:nvSpPr>
        <p:spPr/>
        <p:txBody>
          <a:bodyPr/>
          <a:lstStyle/>
          <a:p>
            <a:fld id="{B4C4C6FD-8607-43FF-8BC8-950EFB970BA3}" type="datetime1">
              <a:rPr lang="en-GB" smtClean="0"/>
              <a:t>24/04/2023</a:t>
            </a:fld>
            <a:endParaRPr lang="en-GB" dirty="0"/>
          </a:p>
        </p:txBody>
      </p:sp>
      <p:sp>
        <p:nvSpPr>
          <p:cNvPr id="4" name="Rektangel 3">
            <a:extLst>
              <a:ext uri="{FF2B5EF4-FFF2-40B4-BE49-F238E27FC236}">
                <a16:creationId xmlns:a16="http://schemas.microsoft.com/office/drawing/2014/main" id="{F994D39F-0217-4BCC-AD0B-429E7605B2F1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2">
              <a:lumMod val="60000"/>
              <a:lumOff val="40000"/>
            </a:schemeClr>
          </a:solidFill>
          <a:ln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tIns="72000" rIns="72000" bIns="72000" rtlCol="0" anchor="ctr"/>
          <a:lstStyle/>
          <a:p>
            <a:pPr algn="ctr"/>
            <a:r>
              <a:rPr lang="da-DK" sz="2800" b="1" dirty="0"/>
              <a:t>Performance </a:t>
            </a:r>
            <a:r>
              <a:rPr lang="da-DK" sz="2800" b="1" dirty="0" err="1"/>
              <a:t>Testing</a:t>
            </a:r>
            <a:endParaRPr lang="da-DK" sz="2800" b="1" dirty="0"/>
          </a:p>
        </p:txBody>
      </p:sp>
    </p:spTree>
    <p:extLst>
      <p:ext uri="{BB962C8B-B14F-4D97-AF65-F5344CB8AC3E}">
        <p14:creationId xmlns:p14="http://schemas.microsoft.com/office/powerpoint/2010/main" val="2946451582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9CBBB199-CEE7-4207-9B94-FABE54697AB5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da-DK" dirty="0"/>
              <a:t>Performance </a:t>
            </a:r>
            <a:r>
              <a:rPr lang="da-DK" dirty="0" err="1"/>
              <a:t>Testing</a:t>
            </a:r>
            <a:endParaRPr lang="da-DK" dirty="0"/>
          </a:p>
        </p:txBody>
      </p:sp>
      <p:sp>
        <p:nvSpPr>
          <p:cNvPr id="4" name="Pladsholder til dato 3">
            <a:extLst>
              <a:ext uri="{FF2B5EF4-FFF2-40B4-BE49-F238E27FC236}">
                <a16:creationId xmlns:a16="http://schemas.microsoft.com/office/drawing/2014/main" id="{DF6BBC47-AF93-4B51-BB19-37E8FA70A1FC}"/>
              </a:ext>
            </a:extLst>
          </p:cNvPr>
          <p:cNvSpPr>
            <a:spLocks noGrp="1"/>
          </p:cNvSpPr>
          <p:nvPr>
            <p:ph type="dt" sz="half" idx="2"/>
          </p:nvPr>
        </p:nvSpPr>
        <p:spPr/>
        <p:txBody>
          <a:bodyPr/>
          <a:lstStyle/>
          <a:p>
            <a:fld id="{1D326F97-033E-40DE-A683-79560FFFFEF4}" type="datetime1">
              <a:rPr lang="en-GB" smtClean="0"/>
              <a:t>24/04/2023</a:t>
            </a:fld>
            <a:endParaRPr lang="en-GB" dirty="0"/>
          </a:p>
        </p:txBody>
      </p:sp>
      <p:sp>
        <p:nvSpPr>
          <p:cNvPr id="5" name="Pladsholder til sidefod 4">
            <a:extLst>
              <a:ext uri="{FF2B5EF4-FFF2-40B4-BE49-F238E27FC236}">
                <a16:creationId xmlns:a16="http://schemas.microsoft.com/office/drawing/2014/main" id="{0A4065D9-777F-4BC2-8DA9-0E100CD3446A}"/>
              </a:ext>
            </a:extLst>
          </p:cNvPr>
          <p:cNvSpPr>
            <a:spLocks noGrp="1"/>
          </p:cNvSpPr>
          <p:nvPr>
            <p:ph type="ftr" sz="quarter" idx="14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6" name="Pladsholder til slidenummer 5">
            <a:extLst>
              <a:ext uri="{FF2B5EF4-FFF2-40B4-BE49-F238E27FC236}">
                <a16:creationId xmlns:a16="http://schemas.microsoft.com/office/drawing/2014/main" id="{1971CA48-5488-429E-869D-06623C5E5997}"/>
              </a:ext>
            </a:extLst>
          </p:cNvPr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fld id="{45D37B1E-C366-494F-A587-962AD9AABC83}" type="slidenum">
              <a:rPr lang="en-GB" smtClean="0"/>
              <a:pPr/>
              <a:t>48</a:t>
            </a:fld>
            <a:endParaRPr lang="en-GB" dirty="0"/>
          </a:p>
        </p:txBody>
      </p:sp>
      <p:sp>
        <p:nvSpPr>
          <p:cNvPr id="10" name="Content Placeholder 9">
            <a:extLst>
              <a:ext uri="{FF2B5EF4-FFF2-40B4-BE49-F238E27FC236}">
                <a16:creationId xmlns:a16="http://schemas.microsoft.com/office/drawing/2014/main" id="{040613FC-F94A-0712-DF75-092CF5474396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414696" y="1700212"/>
            <a:ext cx="10952578" cy="4408925"/>
          </a:xfrm>
        </p:spPr>
        <p:txBody>
          <a:bodyPr/>
          <a:lstStyle/>
          <a:p>
            <a:r>
              <a:rPr lang="da-DK" dirty="0"/>
              <a:t>Purpose: </a:t>
            </a:r>
            <a:r>
              <a:rPr lang="da-DK" dirty="0" err="1"/>
              <a:t>Evaluates</a:t>
            </a:r>
            <a:r>
              <a:rPr lang="da-DK" dirty="0"/>
              <a:t> the </a:t>
            </a:r>
            <a:r>
              <a:rPr lang="da-DK" dirty="0" err="1"/>
              <a:t>system's</a:t>
            </a:r>
            <a:r>
              <a:rPr lang="da-DK" dirty="0"/>
              <a:t> </a:t>
            </a:r>
            <a:r>
              <a:rPr lang="da-DK" dirty="0" err="1"/>
              <a:t>responsiveness</a:t>
            </a:r>
            <a:r>
              <a:rPr lang="da-DK" dirty="0"/>
              <a:t>, </a:t>
            </a:r>
            <a:r>
              <a:rPr lang="da-DK" dirty="0" err="1"/>
              <a:t>stability</a:t>
            </a:r>
            <a:r>
              <a:rPr lang="da-DK" dirty="0"/>
              <a:t>, and </a:t>
            </a:r>
            <a:r>
              <a:rPr lang="da-DK" dirty="0" err="1"/>
              <a:t>reliability</a:t>
            </a:r>
            <a:r>
              <a:rPr lang="da-DK" dirty="0"/>
              <a:t> under </a:t>
            </a:r>
            <a:r>
              <a:rPr lang="da-DK" dirty="0" err="1"/>
              <a:t>various</a:t>
            </a:r>
            <a:r>
              <a:rPr lang="da-DK" dirty="0"/>
              <a:t> </a:t>
            </a:r>
            <a:r>
              <a:rPr lang="da-DK" dirty="0" err="1"/>
              <a:t>workloads</a:t>
            </a:r>
            <a:r>
              <a:rPr lang="da-DK" dirty="0"/>
              <a:t> and </a:t>
            </a:r>
            <a:r>
              <a:rPr lang="da-DK" dirty="0" err="1"/>
              <a:t>conditions</a:t>
            </a:r>
            <a:endParaRPr lang="da-DK" dirty="0"/>
          </a:p>
          <a:p>
            <a:r>
              <a:rPr lang="da-DK" dirty="0" err="1"/>
              <a:t>Goals</a:t>
            </a:r>
            <a:r>
              <a:rPr lang="da-DK" dirty="0"/>
              <a:t>: </a:t>
            </a:r>
            <a:r>
              <a:rPr lang="da-DK" dirty="0" err="1"/>
              <a:t>Ensure</a:t>
            </a:r>
            <a:r>
              <a:rPr lang="da-DK" dirty="0"/>
              <a:t> the system </a:t>
            </a:r>
            <a:r>
              <a:rPr lang="da-DK" dirty="0" err="1"/>
              <a:t>meets</a:t>
            </a:r>
            <a:r>
              <a:rPr lang="da-DK" dirty="0"/>
              <a:t> performance </a:t>
            </a:r>
            <a:r>
              <a:rPr lang="da-DK" dirty="0" err="1"/>
              <a:t>requirements</a:t>
            </a:r>
            <a:r>
              <a:rPr lang="da-DK" dirty="0"/>
              <a:t>, </a:t>
            </a:r>
            <a:r>
              <a:rPr lang="da-DK" dirty="0" err="1"/>
              <a:t>identify</a:t>
            </a:r>
            <a:r>
              <a:rPr lang="da-DK" dirty="0"/>
              <a:t> potential </a:t>
            </a:r>
            <a:r>
              <a:rPr lang="da-DK" dirty="0" err="1"/>
              <a:t>bottlenecks</a:t>
            </a:r>
            <a:r>
              <a:rPr lang="da-DK" dirty="0"/>
              <a:t>, and </a:t>
            </a:r>
            <a:r>
              <a:rPr lang="da-DK" dirty="0" err="1"/>
              <a:t>optimize</a:t>
            </a:r>
            <a:r>
              <a:rPr lang="da-DK" dirty="0"/>
              <a:t> </a:t>
            </a:r>
            <a:r>
              <a:rPr lang="da-DK" dirty="0" err="1"/>
              <a:t>resource</a:t>
            </a:r>
            <a:r>
              <a:rPr lang="da-DK" dirty="0"/>
              <a:t> </a:t>
            </a:r>
            <a:r>
              <a:rPr lang="da-DK" dirty="0" err="1"/>
              <a:t>usage</a:t>
            </a:r>
            <a:endParaRPr lang="en-DK" sz="500" dirty="0"/>
          </a:p>
        </p:txBody>
      </p:sp>
    </p:spTree>
    <p:extLst>
      <p:ext uri="{BB962C8B-B14F-4D97-AF65-F5344CB8AC3E}">
        <p14:creationId xmlns:p14="http://schemas.microsoft.com/office/powerpoint/2010/main" val="1189049249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9CBBB199-CEE7-4207-9B94-FABE54697AB5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da-DK" dirty="0"/>
              <a:t>Performance </a:t>
            </a:r>
            <a:r>
              <a:rPr lang="da-DK" dirty="0" err="1"/>
              <a:t>Testing</a:t>
            </a:r>
            <a:endParaRPr lang="da-DK" dirty="0"/>
          </a:p>
        </p:txBody>
      </p:sp>
      <p:sp>
        <p:nvSpPr>
          <p:cNvPr id="4" name="Pladsholder til dato 3">
            <a:extLst>
              <a:ext uri="{FF2B5EF4-FFF2-40B4-BE49-F238E27FC236}">
                <a16:creationId xmlns:a16="http://schemas.microsoft.com/office/drawing/2014/main" id="{DF6BBC47-AF93-4B51-BB19-37E8FA70A1FC}"/>
              </a:ext>
            </a:extLst>
          </p:cNvPr>
          <p:cNvSpPr>
            <a:spLocks noGrp="1"/>
          </p:cNvSpPr>
          <p:nvPr>
            <p:ph type="dt" sz="half" idx="2"/>
          </p:nvPr>
        </p:nvSpPr>
        <p:spPr/>
        <p:txBody>
          <a:bodyPr/>
          <a:lstStyle/>
          <a:p>
            <a:fld id="{1D326F97-033E-40DE-A683-79560FFFFEF4}" type="datetime1">
              <a:rPr lang="en-GB" smtClean="0"/>
              <a:t>24/04/2023</a:t>
            </a:fld>
            <a:endParaRPr lang="en-GB" dirty="0"/>
          </a:p>
        </p:txBody>
      </p:sp>
      <p:sp>
        <p:nvSpPr>
          <p:cNvPr id="5" name="Pladsholder til sidefod 4">
            <a:extLst>
              <a:ext uri="{FF2B5EF4-FFF2-40B4-BE49-F238E27FC236}">
                <a16:creationId xmlns:a16="http://schemas.microsoft.com/office/drawing/2014/main" id="{0A4065D9-777F-4BC2-8DA9-0E100CD3446A}"/>
              </a:ext>
            </a:extLst>
          </p:cNvPr>
          <p:cNvSpPr>
            <a:spLocks noGrp="1"/>
          </p:cNvSpPr>
          <p:nvPr>
            <p:ph type="ftr" sz="quarter" idx="14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6" name="Pladsholder til slidenummer 5">
            <a:extLst>
              <a:ext uri="{FF2B5EF4-FFF2-40B4-BE49-F238E27FC236}">
                <a16:creationId xmlns:a16="http://schemas.microsoft.com/office/drawing/2014/main" id="{1971CA48-5488-429E-869D-06623C5E5997}"/>
              </a:ext>
            </a:extLst>
          </p:cNvPr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fld id="{45D37B1E-C366-494F-A587-962AD9AABC83}" type="slidenum">
              <a:rPr lang="en-GB" smtClean="0"/>
              <a:pPr/>
              <a:t>49</a:t>
            </a:fld>
            <a:endParaRPr lang="en-GB" dirty="0"/>
          </a:p>
        </p:txBody>
      </p:sp>
      <p:sp>
        <p:nvSpPr>
          <p:cNvPr id="10" name="Content Placeholder 9">
            <a:extLst>
              <a:ext uri="{FF2B5EF4-FFF2-40B4-BE49-F238E27FC236}">
                <a16:creationId xmlns:a16="http://schemas.microsoft.com/office/drawing/2014/main" id="{040613FC-F94A-0712-DF75-092CF5474396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414696" y="1700212"/>
            <a:ext cx="10952578" cy="4408925"/>
          </a:xfrm>
        </p:spPr>
        <p:txBody>
          <a:bodyPr/>
          <a:lstStyle/>
          <a:p>
            <a:r>
              <a:rPr lang="da-DK" dirty="0"/>
              <a:t>Types of Performance </a:t>
            </a:r>
            <a:r>
              <a:rPr lang="da-DK" dirty="0" err="1"/>
              <a:t>Testing</a:t>
            </a:r>
            <a:endParaRPr lang="da-DK" dirty="0"/>
          </a:p>
          <a:p>
            <a:endParaRPr lang="da-DK" dirty="0"/>
          </a:p>
          <a:p>
            <a:r>
              <a:rPr lang="da-DK" dirty="0"/>
              <a:t>Load </a:t>
            </a:r>
            <a:r>
              <a:rPr lang="da-DK" dirty="0" err="1"/>
              <a:t>testing</a:t>
            </a:r>
            <a:r>
              <a:rPr lang="da-DK" dirty="0"/>
              <a:t>: </a:t>
            </a:r>
            <a:r>
              <a:rPr lang="da-DK" dirty="0" err="1"/>
              <a:t>Assess</a:t>
            </a:r>
            <a:r>
              <a:rPr lang="da-DK" dirty="0"/>
              <a:t> the </a:t>
            </a:r>
            <a:r>
              <a:rPr lang="da-DK" dirty="0" err="1"/>
              <a:t>system's</a:t>
            </a:r>
            <a:r>
              <a:rPr lang="da-DK" dirty="0"/>
              <a:t> </a:t>
            </a:r>
            <a:r>
              <a:rPr lang="da-DK" dirty="0" err="1"/>
              <a:t>behavior</a:t>
            </a:r>
            <a:r>
              <a:rPr lang="da-DK" dirty="0"/>
              <a:t> under normal and peak </a:t>
            </a:r>
            <a:r>
              <a:rPr lang="da-DK" dirty="0" err="1"/>
              <a:t>workloads</a:t>
            </a:r>
            <a:endParaRPr lang="da-DK" dirty="0"/>
          </a:p>
          <a:p>
            <a:r>
              <a:rPr lang="da-DK" dirty="0"/>
              <a:t>Stress </a:t>
            </a:r>
            <a:r>
              <a:rPr lang="da-DK" dirty="0" err="1"/>
              <a:t>testing</a:t>
            </a:r>
            <a:r>
              <a:rPr lang="da-DK" dirty="0"/>
              <a:t>: </a:t>
            </a:r>
            <a:r>
              <a:rPr lang="da-DK" dirty="0" err="1"/>
              <a:t>Determine</a:t>
            </a:r>
            <a:r>
              <a:rPr lang="da-DK" dirty="0"/>
              <a:t> the </a:t>
            </a:r>
            <a:r>
              <a:rPr lang="da-DK" dirty="0" err="1"/>
              <a:t>system's</a:t>
            </a:r>
            <a:r>
              <a:rPr lang="da-DK" dirty="0"/>
              <a:t> </a:t>
            </a:r>
            <a:r>
              <a:rPr lang="da-DK" dirty="0" err="1"/>
              <a:t>breaking</a:t>
            </a:r>
            <a:r>
              <a:rPr lang="da-DK" dirty="0"/>
              <a:t> point and </a:t>
            </a:r>
            <a:r>
              <a:rPr lang="da-DK" dirty="0" err="1"/>
              <a:t>its</a:t>
            </a:r>
            <a:r>
              <a:rPr lang="da-DK" dirty="0"/>
              <a:t> </a:t>
            </a:r>
            <a:r>
              <a:rPr lang="da-DK" dirty="0" err="1"/>
              <a:t>ability</a:t>
            </a:r>
            <a:r>
              <a:rPr lang="da-DK" dirty="0"/>
              <a:t> to </a:t>
            </a:r>
            <a:r>
              <a:rPr lang="da-DK" dirty="0" err="1"/>
              <a:t>recover</a:t>
            </a:r>
            <a:r>
              <a:rPr lang="da-DK" dirty="0"/>
              <a:t> from </a:t>
            </a:r>
            <a:r>
              <a:rPr lang="da-DK" dirty="0" err="1"/>
              <a:t>extreme</a:t>
            </a:r>
            <a:r>
              <a:rPr lang="da-DK" dirty="0"/>
              <a:t> </a:t>
            </a:r>
            <a:r>
              <a:rPr lang="da-DK" dirty="0" err="1"/>
              <a:t>conditions</a:t>
            </a:r>
            <a:endParaRPr lang="da-DK" dirty="0"/>
          </a:p>
          <a:p>
            <a:r>
              <a:rPr lang="da-DK" dirty="0" err="1"/>
              <a:t>Scalability</a:t>
            </a:r>
            <a:r>
              <a:rPr lang="da-DK" dirty="0"/>
              <a:t> </a:t>
            </a:r>
            <a:r>
              <a:rPr lang="da-DK" dirty="0" err="1"/>
              <a:t>testing</a:t>
            </a:r>
            <a:r>
              <a:rPr lang="da-DK" dirty="0"/>
              <a:t>: </a:t>
            </a:r>
            <a:r>
              <a:rPr lang="da-DK" dirty="0" err="1"/>
              <a:t>Evaluate</a:t>
            </a:r>
            <a:r>
              <a:rPr lang="da-DK" dirty="0"/>
              <a:t> the </a:t>
            </a:r>
            <a:r>
              <a:rPr lang="da-DK" dirty="0" err="1"/>
              <a:t>system's</a:t>
            </a:r>
            <a:r>
              <a:rPr lang="da-DK" dirty="0"/>
              <a:t> </a:t>
            </a:r>
            <a:r>
              <a:rPr lang="da-DK" dirty="0" err="1"/>
              <a:t>capacity</a:t>
            </a:r>
            <a:r>
              <a:rPr lang="da-DK" dirty="0"/>
              <a:t> to handle </a:t>
            </a:r>
            <a:r>
              <a:rPr lang="da-DK" dirty="0" err="1"/>
              <a:t>increased</a:t>
            </a:r>
            <a:r>
              <a:rPr lang="da-DK" dirty="0"/>
              <a:t> </a:t>
            </a:r>
            <a:r>
              <a:rPr lang="da-DK" dirty="0" err="1"/>
              <a:t>workloads</a:t>
            </a:r>
            <a:r>
              <a:rPr lang="da-DK" dirty="0"/>
              <a:t> and user </a:t>
            </a:r>
            <a:r>
              <a:rPr lang="da-DK" dirty="0" err="1"/>
              <a:t>growth</a:t>
            </a:r>
            <a:endParaRPr lang="da-DK" dirty="0"/>
          </a:p>
          <a:p>
            <a:r>
              <a:rPr lang="da-DK" dirty="0"/>
              <a:t>Endurance </a:t>
            </a:r>
            <a:r>
              <a:rPr lang="da-DK" dirty="0" err="1"/>
              <a:t>testing</a:t>
            </a:r>
            <a:r>
              <a:rPr lang="da-DK" dirty="0"/>
              <a:t>: Monitor the </a:t>
            </a:r>
            <a:r>
              <a:rPr lang="da-DK" dirty="0" err="1"/>
              <a:t>system's</a:t>
            </a:r>
            <a:r>
              <a:rPr lang="da-DK" dirty="0"/>
              <a:t> performance over an </a:t>
            </a:r>
            <a:r>
              <a:rPr lang="da-DK" dirty="0" err="1"/>
              <a:t>extended</a:t>
            </a:r>
            <a:r>
              <a:rPr lang="da-DK" dirty="0"/>
              <a:t> </a:t>
            </a:r>
            <a:r>
              <a:rPr lang="da-DK" dirty="0" err="1"/>
              <a:t>period</a:t>
            </a:r>
            <a:r>
              <a:rPr lang="da-DK" dirty="0"/>
              <a:t> to </a:t>
            </a:r>
            <a:r>
              <a:rPr lang="da-DK" dirty="0" err="1"/>
              <a:t>identify</a:t>
            </a:r>
            <a:r>
              <a:rPr lang="da-DK" dirty="0"/>
              <a:t> potential issues </a:t>
            </a:r>
            <a:r>
              <a:rPr lang="da-DK" dirty="0" err="1"/>
              <a:t>related</a:t>
            </a:r>
            <a:r>
              <a:rPr lang="da-DK" dirty="0"/>
              <a:t> to long-term </a:t>
            </a:r>
            <a:r>
              <a:rPr lang="da-DK" dirty="0" err="1"/>
              <a:t>usage</a:t>
            </a:r>
            <a:endParaRPr lang="en-DK" sz="500" dirty="0"/>
          </a:p>
        </p:txBody>
      </p:sp>
    </p:spTree>
    <p:extLst>
      <p:ext uri="{BB962C8B-B14F-4D97-AF65-F5344CB8AC3E}">
        <p14:creationId xmlns:p14="http://schemas.microsoft.com/office/powerpoint/2010/main" val="1853839652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9CBBB199-CEE7-4207-9B94-FABE54697AB5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da-DK" dirty="0"/>
              <a:t>Performance </a:t>
            </a:r>
            <a:r>
              <a:rPr lang="da-DK" dirty="0" err="1"/>
              <a:t>Testing</a:t>
            </a:r>
            <a:endParaRPr lang="da-DK" dirty="0"/>
          </a:p>
        </p:txBody>
      </p:sp>
      <p:sp>
        <p:nvSpPr>
          <p:cNvPr id="4" name="Pladsholder til dato 3">
            <a:extLst>
              <a:ext uri="{FF2B5EF4-FFF2-40B4-BE49-F238E27FC236}">
                <a16:creationId xmlns:a16="http://schemas.microsoft.com/office/drawing/2014/main" id="{DF6BBC47-AF93-4B51-BB19-37E8FA70A1FC}"/>
              </a:ext>
            </a:extLst>
          </p:cNvPr>
          <p:cNvSpPr>
            <a:spLocks noGrp="1"/>
          </p:cNvSpPr>
          <p:nvPr>
            <p:ph type="dt" sz="half" idx="2"/>
          </p:nvPr>
        </p:nvSpPr>
        <p:spPr/>
        <p:txBody>
          <a:bodyPr/>
          <a:lstStyle/>
          <a:p>
            <a:fld id="{1D326F97-033E-40DE-A683-79560FFFFEF4}" type="datetime1">
              <a:rPr lang="en-GB" smtClean="0"/>
              <a:t>24/04/2023</a:t>
            </a:fld>
            <a:endParaRPr lang="en-GB" dirty="0"/>
          </a:p>
        </p:txBody>
      </p:sp>
      <p:sp>
        <p:nvSpPr>
          <p:cNvPr id="5" name="Pladsholder til sidefod 4">
            <a:extLst>
              <a:ext uri="{FF2B5EF4-FFF2-40B4-BE49-F238E27FC236}">
                <a16:creationId xmlns:a16="http://schemas.microsoft.com/office/drawing/2014/main" id="{0A4065D9-777F-4BC2-8DA9-0E100CD3446A}"/>
              </a:ext>
            </a:extLst>
          </p:cNvPr>
          <p:cNvSpPr>
            <a:spLocks noGrp="1"/>
          </p:cNvSpPr>
          <p:nvPr>
            <p:ph type="ftr" sz="quarter" idx="14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6" name="Pladsholder til slidenummer 5">
            <a:extLst>
              <a:ext uri="{FF2B5EF4-FFF2-40B4-BE49-F238E27FC236}">
                <a16:creationId xmlns:a16="http://schemas.microsoft.com/office/drawing/2014/main" id="{1971CA48-5488-429E-869D-06623C5E5997}"/>
              </a:ext>
            </a:extLst>
          </p:cNvPr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fld id="{45D37B1E-C366-494F-A587-962AD9AABC83}" type="slidenum">
              <a:rPr lang="en-GB" smtClean="0"/>
              <a:pPr/>
              <a:t>50</a:t>
            </a:fld>
            <a:endParaRPr lang="en-GB" dirty="0"/>
          </a:p>
        </p:txBody>
      </p:sp>
      <p:sp>
        <p:nvSpPr>
          <p:cNvPr id="10" name="Content Placeholder 9">
            <a:extLst>
              <a:ext uri="{FF2B5EF4-FFF2-40B4-BE49-F238E27FC236}">
                <a16:creationId xmlns:a16="http://schemas.microsoft.com/office/drawing/2014/main" id="{040613FC-F94A-0712-DF75-092CF5474396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414696" y="1700212"/>
            <a:ext cx="10952578" cy="4408925"/>
          </a:xfrm>
        </p:spPr>
        <p:txBody>
          <a:bodyPr/>
          <a:lstStyle/>
          <a:p>
            <a:r>
              <a:rPr lang="da-DK" dirty="0"/>
              <a:t>Performance </a:t>
            </a:r>
            <a:r>
              <a:rPr lang="da-DK" dirty="0" err="1"/>
              <a:t>Testing</a:t>
            </a:r>
            <a:r>
              <a:rPr lang="da-DK" dirty="0"/>
              <a:t> </a:t>
            </a:r>
            <a:r>
              <a:rPr lang="da-DK" dirty="0" err="1"/>
              <a:t>Process</a:t>
            </a:r>
            <a:endParaRPr lang="da-DK" dirty="0"/>
          </a:p>
          <a:p>
            <a:endParaRPr lang="da-DK" dirty="0"/>
          </a:p>
          <a:p>
            <a:r>
              <a:rPr lang="da-DK" dirty="0" err="1"/>
              <a:t>Define</a:t>
            </a:r>
            <a:r>
              <a:rPr lang="da-DK" dirty="0"/>
              <a:t> performance </a:t>
            </a:r>
            <a:r>
              <a:rPr lang="da-DK" dirty="0" err="1"/>
              <a:t>objectives</a:t>
            </a:r>
            <a:r>
              <a:rPr lang="da-DK" dirty="0"/>
              <a:t>: </a:t>
            </a:r>
            <a:r>
              <a:rPr lang="da-DK" dirty="0" err="1"/>
              <a:t>Establish</a:t>
            </a:r>
            <a:r>
              <a:rPr lang="da-DK" dirty="0"/>
              <a:t> the </a:t>
            </a:r>
            <a:r>
              <a:rPr lang="da-DK" dirty="0" err="1"/>
              <a:t>criteria</a:t>
            </a:r>
            <a:r>
              <a:rPr lang="da-DK" dirty="0"/>
              <a:t> for </a:t>
            </a:r>
            <a:r>
              <a:rPr lang="da-DK" dirty="0" err="1"/>
              <a:t>evaluating</a:t>
            </a:r>
            <a:r>
              <a:rPr lang="da-DK" dirty="0"/>
              <a:t> performance (</a:t>
            </a:r>
            <a:r>
              <a:rPr lang="da-DK" dirty="0" err="1"/>
              <a:t>e.g</a:t>
            </a:r>
            <a:r>
              <a:rPr lang="da-DK" dirty="0"/>
              <a:t>., </a:t>
            </a:r>
            <a:r>
              <a:rPr lang="da-DK" dirty="0" err="1"/>
              <a:t>response</a:t>
            </a:r>
            <a:r>
              <a:rPr lang="da-DK" dirty="0"/>
              <a:t> times, </a:t>
            </a:r>
            <a:r>
              <a:rPr lang="da-DK" dirty="0" err="1"/>
              <a:t>throughput</a:t>
            </a:r>
            <a:r>
              <a:rPr lang="da-DK" dirty="0"/>
              <a:t>, </a:t>
            </a:r>
            <a:r>
              <a:rPr lang="da-DK" dirty="0" err="1"/>
              <a:t>resource</a:t>
            </a:r>
            <a:r>
              <a:rPr lang="da-DK" dirty="0"/>
              <a:t> </a:t>
            </a:r>
            <a:r>
              <a:rPr lang="da-DK" dirty="0" err="1"/>
              <a:t>utilization</a:t>
            </a:r>
            <a:r>
              <a:rPr lang="da-DK" dirty="0"/>
              <a:t>)</a:t>
            </a:r>
          </a:p>
          <a:p>
            <a:r>
              <a:rPr lang="da-DK" dirty="0" err="1"/>
              <a:t>Develop</a:t>
            </a:r>
            <a:r>
              <a:rPr lang="da-DK" dirty="0"/>
              <a:t> test scenarios: </a:t>
            </a:r>
            <a:r>
              <a:rPr lang="da-DK" dirty="0" err="1"/>
              <a:t>Create</a:t>
            </a:r>
            <a:r>
              <a:rPr lang="da-DK" dirty="0"/>
              <a:t> </a:t>
            </a:r>
            <a:r>
              <a:rPr lang="da-DK" dirty="0" err="1"/>
              <a:t>realistic</a:t>
            </a:r>
            <a:r>
              <a:rPr lang="da-DK" dirty="0"/>
              <a:t> user scenarios </a:t>
            </a:r>
            <a:r>
              <a:rPr lang="da-DK" dirty="0" err="1"/>
              <a:t>that</a:t>
            </a:r>
            <a:r>
              <a:rPr lang="da-DK" dirty="0"/>
              <a:t> cover </a:t>
            </a:r>
            <a:r>
              <a:rPr lang="da-DK" dirty="0" err="1"/>
              <a:t>critical</a:t>
            </a:r>
            <a:r>
              <a:rPr lang="da-DK" dirty="0"/>
              <a:t> system </a:t>
            </a:r>
            <a:r>
              <a:rPr lang="da-DK" dirty="0" err="1"/>
              <a:t>functionality</a:t>
            </a:r>
            <a:r>
              <a:rPr lang="da-DK" dirty="0"/>
              <a:t> and </a:t>
            </a:r>
            <a:r>
              <a:rPr lang="da-DK" dirty="0" err="1"/>
              <a:t>workloads</a:t>
            </a:r>
            <a:endParaRPr lang="da-DK" dirty="0"/>
          </a:p>
          <a:p>
            <a:r>
              <a:rPr lang="da-DK" dirty="0"/>
              <a:t>Set up test </a:t>
            </a:r>
            <a:r>
              <a:rPr lang="da-DK" dirty="0" err="1"/>
              <a:t>environment</a:t>
            </a:r>
            <a:r>
              <a:rPr lang="da-DK" dirty="0"/>
              <a:t>: </a:t>
            </a:r>
            <a:r>
              <a:rPr lang="da-DK" dirty="0" err="1"/>
              <a:t>Configure</a:t>
            </a:r>
            <a:r>
              <a:rPr lang="da-DK" dirty="0"/>
              <a:t> a test </a:t>
            </a:r>
            <a:r>
              <a:rPr lang="da-DK" dirty="0" err="1"/>
              <a:t>environment</a:t>
            </a:r>
            <a:r>
              <a:rPr lang="da-DK" dirty="0"/>
              <a:t> </a:t>
            </a:r>
            <a:r>
              <a:rPr lang="da-DK" dirty="0" err="1"/>
              <a:t>that</a:t>
            </a:r>
            <a:r>
              <a:rPr lang="da-DK" dirty="0"/>
              <a:t> </a:t>
            </a:r>
            <a:r>
              <a:rPr lang="da-DK" dirty="0" err="1"/>
              <a:t>mimics</a:t>
            </a:r>
            <a:r>
              <a:rPr lang="da-DK" dirty="0"/>
              <a:t> the </a:t>
            </a:r>
            <a:r>
              <a:rPr lang="da-DK" dirty="0" err="1"/>
              <a:t>production</a:t>
            </a:r>
            <a:r>
              <a:rPr lang="da-DK" dirty="0"/>
              <a:t> </a:t>
            </a:r>
            <a:r>
              <a:rPr lang="da-DK" dirty="0" err="1"/>
              <a:t>environment</a:t>
            </a:r>
            <a:r>
              <a:rPr lang="da-DK" dirty="0"/>
              <a:t> as </a:t>
            </a:r>
            <a:r>
              <a:rPr lang="da-DK" dirty="0" err="1"/>
              <a:t>closely</a:t>
            </a:r>
            <a:r>
              <a:rPr lang="da-DK" dirty="0"/>
              <a:t> as </a:t>
            </a:r>
            <a:r>
              <a:rPr lang="da-DK" dirty="0" err="1"/>
              <a:t>possible</a:t>
            </a:r>
            <a:endParaRPr lang="da-DK" dirty="0"/>
          </a:p>
          <a:p>
            <a:r>
              <a:rPr lang="da-DK" dirty="0" err="1"/>
              <a:t>Execute</a:t>
            </a:r>
            <a:r>
              <a:rPr lang="da-DK" dirty="0"/>
              <a:t> tests: Run tests </a:t>
            </a:r>
            <a:r>
              <a:rPr lang="da-DK" dirty="0" err="1"/>
              <a:t>using</a:t>
            </a:r>
            <a:r>
              <a:rPr lang="da-DK" dirty="0"/>
              <a:t> </a:t>
            </a:r>
            <a:r>
              <a:rPr lang="da-DK" dirty="0" err="1"/>
              <a:t>automated</a:t>
            </a:r>
            <a:r>
              <a:rPr lang="da-DK" dirty="0"/>
              <a:t> </a:t>
            </a:r>
            <a:r>
              <a:rPr lang="da-DK" dirty="0" err="1"/>
              <a:t>tools</a:t>
            </a:r>
            <a:r>
              <a:rPr lang="da-DK" dirty="0"/>
              <a:t> (</a:t>
            </a:r>
            <a:r>
              <a:rPr lang="da-DK" dirty="0" err="1"/>
              <a:t>e.g</a:t>
            </a:r>
            <a:r>
              <a:rPr lang="da-DK" dirty="0"/>
              <a:t>., </a:t>
            </a:r>
            <a:r>
              <a:rPr lang="da-DK" dirty="0" err="1"/>
              <a:t>JMeter</a:t>
            </a:r>
            <a:r>
              <a:rPr lang="da-DK" dirty="0"/>
              <a:t>), </a:t>
            </a:r>
            <a:r>
              <a:rPr lang="da-DK" dirty="0" err="1"/>
              <a:t>monitoring</a:t>
            </a:r>
            <a:r>
              <a:rPr lang="da-DK" dirty="0"/>
              <a:t> system performance and </a:t>
            </a:r>
            <a:r>
              <a:rPr lang="da-DK" dirty="0" err="1"/>
              <a:t>resource</a:t>
            </a:r>
            <a:r>
              <a:rPr lang="da-DK" dirty="0"/>
              <a:t> </a:t>
            </a:r>
            <a:r>
              <a:rPr lang="da-DK" dirty="0" err="1"/>
              <a:t>usage</a:t>
            </a:r>
            <a:endParaRPr lang="da-DK" dirty="0"/>
          </a:p>
          <a:p>
            <a:r>
              <a:rPr lang="da-DK" dirty="0" err="1"/>
              <a:t>Analyze</a:t>
            </a:r>
            <a:r>
              <a:rPr lang="da-DK" dirty="0"/>
              <a:t> </a:t>
            </a:r>
            <a:r>
              <a:rPr lang="da-DK" dirty="0" err="1"/>
              <a:t>results</a:t>
            </a:r>
            <a:r>
              <a:rPr lang="da-DK" dirty="0"/>
              <a:t>: </a:t>
            </a:r>
            <a:r>
              <a:rPr lang="da-DK" dirty="0" err="1"/>
              <a:t>Identify</a:t>
            </a:r>
            <a:r>
              <a:rPr lang="da-DK" dirty="0"/>
              <a:t> </a:t>
            </a:r>
            <a:r>
              <a:rPr lang="da-DK" dirty="0" err="1"/>
              <a:t>bottlenecks</a:t>
            </a:r>
            <a:r>
              <a:rPr lang="da-DK" dirty="0"/>
              <a:t>, </a:t>
            </a:r>
            <a:r>
              <a:rPr lang="da-DK" dirty="0" err="1"/>
              <a:t>resource</a:t>
            </a:r>
            <a:r>
              <a:rPr lang="da-DK" dirty="0"/>
              <a:t> </a:t>
            </a:r>
            <a:r>
              <a:rPr lang="da-DK" dirty="0" err="1"/>
              <a:t>constraints</a:t>
            </a:r>
            <a:r>
              <a:rPr lang="da-DK" dirty="0"/>
              <a:t>, and </a:t>
            </a:r>
            <a:r>
              <a:rPr lang="da-DK" dirty="0" err="1"/>
              <a:t>other</a:t>
            </a:r>
            <a:r>
              <a:rPr lang="da-DK" dirty="0"/>
              <a:t> performance issues</a:t>
            </a:r>
          </a:p>
          <a:p>
            <a:r>
              <a:rPr lang="da-DK" dirty="0" err="1"/>
              <a:t>Optimize</a:t>
            </a:r>
            <a:r>
              <a:rPr lang="da-DK" dirty="0"/>
              <a:t> and </a:t>
            </a:r>
            <a:r>
              <a:rPr lang="da-DK" dirty="0" err="1"/>
              <a:t>re-test</a:t>
            </a:r>
            <a:r>
              <a:rPr lang="da-DK" dirty="0"/>
              <a:t>: Work with the </a:t>
            </a:r>
            <a:r>
              <a:rPr lang="da-DK" dirty="0" err="1"/>
              <a:t>development</a:t>
            </a:r>
            <a:r>
              <a:rPr lang="da-DK" dirty="0"/>
              <a:t> team to </a:t>
            </a:r>
            <a:r>
              <a:rPr lang="da-DK" dirty="0" err="1"/>
              <a:t>implement</a:t>
            </a:r>
            <a:r>
              <a:rPr lang="da-DK" dirty="0"/>
              <a:t> performance </a:t>
            </a:r>
            <a:r>
              <a:rPr lang="da-DK" dirty="0" err="1"/>
              <a:t>improvements</a:t>
            </a:r>
            <a:r>
              <a:rPr lang="da-DK" dirty="0"/>
              <a:t> and </a:t>
            </a:r>
            <a:r>
              <a:rPr lang="da-DK" dirty="0" err="1"/>
              <a:t>re-test</a:t>
            </a:r>
            <a:r>
              <a:rPr lang="da-DK" dirty="0"/>
              <a:t> as </a:t>
            </a:r>
            <a:r>
              <a:rPr lang="da-DK" dirty="0" err="1"/>
              <a:t>needed</a:t>
            </a:r>
            <a:endParaRPr lang="en-DK" sz="500" dirty="0"/>
          </a:p>
        </p:txBody>
      </p:sp>
    </p:spTree>
    <p:extLst>
      <p:ext uri="{BB962C8B-B14F-4D97-AF65-F5344CB8AC3E}">
        <p14:creationId xmlns:p14="http://schemas.microsoft.com/office/powerpoint/2010/main" val="170530486"/>
      </p:ext>
    </p:extLst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9CBBB199-CEE7-4207-9B94-FABE54697AB5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da-DK" dirty="0"/>
              <a:t>Performance </a:t>
            </a:r>
            <a:r>
              <a:rPr lang="da-DK" dirty="0" err="1"/>
              <a:t>Testing</a:t>
            </a:r>
            <a:endParaRPr lang="da-DK" dirty="0"/>
          </a:p>
        </p:txBody>
      </p:sp>
      <p:sp>
        <p:nvSpPr>
          <p:cNvPr id="4" name="Pladsholder til dato 3">
            <a:extLst>
              <a:ext uri="{FF2B5EF4-FFF2-40B4-BE49-F238E27FC236}">
                <a16:creationId xmlns:a16="http://schemas.microsoft.com/office/drawing/2014/main" id="{DF6BBC47-AF93-4B51-BB19-37E8FA70A1FC}"/>
              </a:ext>
            </a:extLst>
          </p:cNvPr>
          <p:cNvSpPr>
            <a:spLocks noGrp="1"/>
          </p:cNvSpPr>
          <p:nvPr>
            <p:ph type="dt" sz="half" idx="2"/>
          </p:nvPr>
        </p:nvSpPr>
        <p:spPr/>
        <p:txBody>
          <a:bodyPr/>
          <a:lstStyle/>
          <a:p>
            <a:fld id="{1D326F97-033E-40DE-A683-79560FFFFEF4}" type="datetime1">
              <a:rPr lang="en-GB" smtClean="0"/>
              <a:t>24/04/2023</a:t>
            </a:fld>
            <a:endParaRPr lang="en-GB" dirty="0"/>
          </a:p>
        </p:txBody>
      </p:sp>
      <p:sp>
        <p:nvSpPr>
          <p:cNvPr id="5" name="Pladsholder til sidefod 4">
            <a:extLst>
              <a:ext uri="{FF2B5EF4-FFF2-40B4-BE49-F238E27FC236}">
                <a16:creationId xmlns:a16="http://schemas.microsoft.com/office/drawing/2014/main" id="{0A4065D9-777F-4BC2-8DA9-0E100CD3446A}"/>
              </a:ext>
            </a:extLst>
          </p:cNvPr>
          <p:cNvSpPr>
            <a:spLocks noGrp="1"/>
          </p:cNvSpPr>
          <p:nvPr>
            <p:ph type="ftr" sz="quarter" idx="14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6" name="Pladsholder til slidenummer 5">
            <a:extLst>
              <a:ext uri="{FF2B5EF4-FFF2-40B4-BE49-F238E27FC236}">
                <a16:creationId xmlns:a16="http://schemas.microsoft.com/office/drawing/2014/main" id="{1971CA48-5488-429E-869D-06623C5E5997}"/>
              </a:ext>
            </a:extLst>
          </p:cNvPr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fld id="{45D37B1E-C366-494F-A587-962AD9AABC83}" type="slidenum">
              <a:rPr lang="en-GB" smtClean="0"/>
              <a:pPr/>
              <a:t>51</a:t>
            </a:fld>
            <a:endParaRPr lang="en-GB" dirty="0"/>
          </a:p>
        </p:txBody>
      </p:sp>
      <p:sp>
        <p:nvSpPr>
          <p:cNvPr id="10" name="Content Placeholder 9">
            <a:extLst>
              <a:ext uri="{FF2B5EF4-FFF2-40B4-BE49-F238E27FC236}">
                <a16:creationId xmlns:a16="http://schemas.microsoft.com/office/drawing/2014/main" id="{040613FC-F94A-0712-DF75-092CF5474396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414696" y="1700212"/>
            <a:ext cx="10952578" cy="4408925"/>
          </a:xfrm>
        </p:spPr>
        <p:txBody>
          <a:bodyPr/>
          <a:lstStyle/>
          <a:p>
            <a:r>
              <a:rPr lang="da-DK" dirty="0"/>
              <a:t>Key Performance </a:t>
            </a:r>
            <a:r>
              <a:rPr lang="da-DK" dirty="0" err="1"/>
              <a:t>Metrics</a:t>
            </a:r>
            <a:endParaRPr lang="da-DK" dirty="0"/>
          </a:p>
          <a:p>
            <a:endParaRPr lang="da-DK" dirty="0"/>
          </a:p>
          <a:p>
            <a:r>
              <a:rPr lang="da-DK" dirty="0" err="1"/>
              <a:t>Response</a:t>
            </a:r>
            <a:r>
              <a:rPr lang="da-DK" dirty="0"/>
              <a:t> time: Time </a:t>
            </a:r>
            <a:r>
              <a:rPr lang="da-DK" dirty="0" err="1"/>
              <a:t>taken</a:t>
            </a:r>
            <a:r>
              <a:rPr lang="da-DK" dirty="0"/>
              <a:t> to </a:t>
            </a:r>
            <a:r>
              <a:rPr lang="da-DK" dirty="0" err="1"/>
              <a:t>process</a:t>
            </a:r>
            <a:r>
              <a:rPr lang="da-DK" dirty="0"/>
              <a:t> a </a:t>
            </a:r>
            <a:r>
              <a:rPr lang="da-DK" dirty="0" err="1"/>
              <a:t>request</a:t>
            </a:r>
            <a:r>
              <a:rPr lang="da-DK" dirty="0"/>
              <a:t> and return a </a:t>
            </a:r>
            <a:r>
              <a:rPr lang="da-DK" dirty="0" err="1"/>
              <a:t>response</a:t>
            </a:r>
            <a:endParaRPr lang="da-DK" dirty="0"/>
          </a:p>
          <a:p>
            <a:r>
              <a:rPr lang="da-DK" dirty="0" err="1"/>
              <a:t>Throughput</a:t>
            </a:r>
            <a:r>
              <a:rPr lang="da-DK" dirty="0"/>
              <a:t>: </a:t>
            </a:r>
            <a:r>
              <a:rPr lang="da-DK" dirty="0" err="1"/>
              <a:t>Number</a:t>
            </a:r>
            <a:r>
              <a:rPr lang="da-DK" dirty="0"/>
              <a:t> of </a:t>
            </a:r>
            <a:r>
              <a:rPr lang="da-DK" dirty="0" err="1"/>
              <a:t>transactions</a:t>
            </a:r>
            <a:r>
              <a:rPr lang="da-DK" dirty="0"/>
              <a:t> </a:t>
            </a:r>
            <a:r>
              <a:rPr lang="da-DK" dirty="0" err="1"/>
              <a:t>processed</a:t>
            </a:r>
            <a:r>
              <a:rPr lang="da-DK" dirty="0"/>
              <a:t> per unit of time</a:t>
            </a:r>
          </a:p>
          <a:p>
            <a:r>
              <a:rPr lang="da-DK" dirty="0"/>
              <a:t>Resource </a:t>
            </a:r>
            <a:r>
              <a:rPr lang="da-DK" dirty="0" err="1"/>
              <a:t>utilization</a:t>
            </a:r>
            <a:r>
              <a:rPr lang="da-DK" dirty="0"/>
              <a:t>: </a:t>
            </a:r>
            <a:r>
              <a:rPr lang="da-DK" dirty="0" err="1"/>
              <a:t>Percentage</a:t>
            </a:r>
            <a:r>
              <a:rPr lang="da-DK" dirty="0"/>
              <a:t> of system </a:t>
            </a:r>
            <a:r>
              <a:rPr lang="da-DK" dirty="0" err="1"/>
              <a:t>resources</a:t>
            </a:r>
            <a:r>
              <a:rPr lang="da-DK" dirty="0"/>
              <a:t> (CPU, </a:t>
            </a:r>
            <a:r>
              <a:rPr lang="da-DK" dirty="0" err="1"/>
              <a:t>memory</a:t>
            </a:r>
            <a:r>
              <a:rPr lang="da-DK" dirty="0"/>
              <a:t>, disk, </a:t>
            </a:r>
            <a:r>
              <a:rPr lang="da-DK" dirty="0" err="1"/>
              <a:t>network</a:t>
            </a:r>
            <a:r>
              <a:rPr lang="da-DK" dirty="0"/>
              <a:t>) </a:t>
            </a:r>
            <a:r>
              <a:rPr lang="da-DK" dirty="0" err="1"/>
              <a:t>used</a:t>
            </a:r>
            <a:r>
              <a:rPr lang="da-DK" dirty="0"/>
              <a:t> </a:t>
            </a:r>
            <a:r>
              <a:rPr lang="da-DK" dirty="0" err="1"/>
              <a:t>during</a:t>
            </a:r>
            <a:r>
              <a:rPr lang="da-DK" dirty="0"/>
              <a:t> </a:t>
            </a:r>
            <a:r>
              <a:rPr lang="da-DK" dirty="0" err="1"/>
              <a:t>testing</a:t>
            </a:r>
            <a:endParaRPr lang="da-DK" dirty="0"/>
          </a:p>
          <a:p>
            <a:r>
              <a:rPr lang="da-DK" dirty="0" err="1"/>
              <a:t>Error</a:t>
            </a:r>
            <a:r>
              <a:rPr lang="da-DK" dirty="0"/>
              <a:t> rate: </a:t>
            </a:r>
            <a:r>
              <a:rPr lang="da-DK" dirty="0" err="1"/>
              <a:t>Frequency</a:t>
            </a:r>
            <a:r>
              <a:rPr lang="da-DK" dirty="0"/>
              <a:t> of </a:t>
            </a:r>
            <a:r>
              <a:rPr lang="da-DK" dirty="0" err="1"/>
              <a:t>errors</a:t>
            </a:r>
            <a:r>
              <a:rPr lang="da-DK" dirty="0"/>
              <a:t> or </a:t>
            </a:r>
            <a:r>
              <a:rPr lang="da-DK" dirty="0" err="1"/>
              <a:t>failed</a:t>
            </a:r>
            <a:r>
              <a:rPr lang="da-DK" dirty="0"/>
              <a:t> </a:t>
            </a:r>
            <a:r>
              <a:rPr lang="da-DK" dirty="0" err="1"/>
              <a:t>transactions</a:t>
            </a:r>
            <a:r>
              <a:rPr lang="da-DK" dirty="0"/>
              <a:t> </a:t>
            </a:r>
            <a:r>
              <a:rPr lang="da-DK" dirty="0" err="1"/>
              <a:t>during</a:t>
            </a:r>
            <a:r>
              <a:rPr lang="da-DK" dirty="0"/>
              <a:t> </a:t>
            </a:r>
            <a:r>
              <a:rPr lang="da-DK" dirty="0" err="1"/>
              <a:t>testing</a:t>
            </a:r>
            <a:endParaRPr lang="en-DK" sz="500" dirty="0"/>
          </a:p>
        </p:txBody>
      </p:sp>
    </p:spTree>
    <p:extLst>
      <p:ext uri="{BB962C8B-B14F-4D97-AF65-F5344CB8AC3E}">
        <p14:creationId xmlns:p14="http://schemas.microsoft.com/office/powerpoint/2010/main" val="3684698516"/>
      </p:ext>
    </p:extLst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9CBBB199-CEE7-4207-9B94-FABE54697AB5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da-DK" dirty="0"/>
              <a:t>Performance </a:t>
            </a:r>
            <a:r>
              <a:rPr lang="da-DK" dirty="0" err="1"/>
              <a:t>Testing</a:t>
            </a:r>
            <a:endParaRPr lang="da-DK" dirty="0"/>
          </a:p>
        </p:txBody>
      </p:sp>
      <p:sp>
        <p:nvSpPr>
          <p:cNvPr id="4" name="Pladsholder til dato 3">
            <a:extLst>
              <a:ext uri="{FF2B5EF4-FFF2-40B4-BE49-F238E27FC236}">
                <a16:creationId xmlns:a16="http://schemas.microsoft.com/office/drawing/2014/main" id="{DF6BBC47-AF93-4B51-BB19-37E8FA70A1FC}"/>
              </a:ext>
            </a:extLst>
          </p:cNvPr>
          <p:cNvSpPr>
            <a:spLocks noGrp="1"/>
          </p:cNvSpPr>
          <p:nvPr>
            <p:ph type="dt" sz="half" idx="2"/>
          </p:nvPr>
        </p:nvSpPr>
        <p:spPr/>
        <p:txBody>
          <a:bodyPr/>
          <a:lstStyle/>
          <a:p>
            <a:fld id="{1D326F97-033E-40DE-A683-79560FFFFEF4}" type="datetime1">
              <a:rPr lang="en-GB" smtClean="0"/>
              <a:t>24/04/2023</a:t>
            </a:fld>
            <a:endParaRPr lang="en-GB" dirty="0"/>
          </a:p>
        </p:txBody>
      </p:sp>
      <p:sp>
        <p:nvSpPr>
          <p:cNvPr id="5" name="Pladsholder til sidefod 4">
            <a:extLst>
              <a:ext uri="{FF2B5EF4-FFF2-40B4-BE49-F238E27FC236}">
                <a16:creationId xmlns:a16="http://schemas.microsoft.com/office/drawing/2014/main" id="{0A4065D9-777F-4BC2-8DA9-0E100CD3446A}"/>
              </a:ext>
            </a:extLst>
          </p:cNvPr>
          <p:cNvSpPr>
            <a:spLocks noGrp="1"/>
          </p:cNvSpPr>
          <p:nvPr>
            <p:ph type="ftr" sz="quarter" idx="14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6" name="Pladsholder til slidenummer 5">
            <a:extLst>
              <a:ext uri="{FF2B5EF4-FFF2-40B4-BE49-F238E27FC236}">
                <a16:creationId xmlns:a16="http://schemas.microsoft.com/office/drawing/2014/main" id="{1971CA48-5488-429E-869D-06623C5E5997}"/>
              </a:ext>
            </a:extLst>
          </p:cNvPr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fld id="{45D37B1E-C366-494F-A587-962AD9AABC83}" type="slidenum">
              <a:rPr lang="en-GB" smtClean="0"/>
              <a:pPr/>
              <a:t>52</a:t>
            </a:fld>
            <a:endParaRPr lang="en-GB" dirty="0"/>
          </a:p>
        </p:txBody>
      </p:sp>
      <p:sp>
        <p:nvSpPr>
          <p:cNvPr id="10" name="Content Placeholder 9">
            <a:extLst>
              <a:ext uri="{FF2B5EF4-FFF2-40B4-BE49-F238E27FC236}">
                <a16:creationId xmlns:a16="http://schemas.microsoft.com/office/drawing/2014/main" id="{040613FC-F94A-0712-DF75-092CF5474396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414696" y="1700212"/>
            <a:ext cx="10952578" cy="4408925"/>
          </a:xfrm>
        </p:spPr>
        <p:txBody>
          <a:bodyPr/>
          <a:lstStyle/>
          <a:p>
            <a:r>
              <a:rPr lang="da-DK" dirty="0"/>
              <a:t>Tips for </a:t>
            </a:r>
            <a:r>
              <a:rPr lang="da-DK" dirty="0" err="1"/>
              <a:t>Effective</a:t>
            </a:r>
            <a:r>
              <a:rPr lang="da-DK" dirty="0"/>
              <a:t> Performance </a:t>
            </a:r>
            <a:r>
              <a:rPr lang="da-DK" dirty="0" err="1"/>
              <a:t>Testing</a:t>
            </a:r>
            <a:endParaRPr lang="da-DK" dirty="0"/>
          </a:p>
          <a:p>
            <a:endParaRPr lang="da-DK" dirty="0"/>
          </a:p>
          <a:p>
            <a:r>
              <a:rPr lang="da-DK" dirty="0"/>
              <a:t>Set </a:t>
            </a:r>
            <a:r>
              <a:rPr lang="da-DK" dirty="0" err="1"/>
              <a:t>realistic</a:t>
            </a:r>
            <a:r>
              <a:rPr lang="da-DK" dirty="0"/>
              <a:t> performance </a:t>
            </a:r>
            <a:r>
              <a:rPr lang="da-DK" dirty="0" err="1"/>
              <a:t>goals</a:t>
            </a:r>
            <a:r>
              <a:rPr lang="da-DK" dirty="0"/>
              <a:t> </a:t>
            </a:r>
            <a:r>
              <a:rPr lang="da-DK" dirty="0" err="1"/>
              <a:t>based</a:t>
            </a:r>
            <a:r>
              <a:rPr lang="da-DK" dirty="0"/>
              <a:t> on user </a:t>
            </a:r>
            <a:r>
              <a:rPr lang="da-DK" dirty="0" err="1"/>
              <a:t>expectations</a:t>
            </a:r>
            <a:r>
              <a:rPr lang="da-DK" dirty="0"/>
              <a:t> and system </a:t>
            </a:r>
            <a:r>
              <a:rPr lang="da-DK" dirty="0" err="1"/>
              <a:t>requirements</a:t>
            </a:r>
            <a:endParaRPr lang="da-DK" dirty="0"/>
          </a:p>
          <a:p>
            <a:r>
              <a:rPr lang="da-DK" dirty="0" err="1"/>
              <a:t>Use</a:t>
            </a:r>
            <a:r>
              <a:rPr lang="da-DK" dirty="0"/>
              <a:t> a </a:t>
            </a:r>
            <a:r>
              <a:rPr lang="da-DK" dirty="0" err="1"/>
              <a:t>representative</a:t>
            </a:r>
            <a:r>
              <a:rPr lang="da-DK" dirty="0"/>
              <a:t> test </a:t>
            </a:r>
            <a:r>
              <a:rPr lang="da-DK" dirty="0" err="1"/>
              <a:t>environment</a:t>
            </a:r>
            <a:r>
              <a:rPr lang="da-DK" dirty="0"/>
              <a:t> and </a:t>
            </a:r>
            <a:r>
              <a:rPr lang="da-DK" dirty="0" err="1"/>
              <a:t>realistic</a:t>
            </a:r>
            <a:r>
              <a:rPr lang="da-DK" dirty="0"/>
              <a:t> test data to </a:t>
            </a:r>
            <a:r>
              <a:rPr lang="da-DK" dirty="0" err="1"/>
              <a:t>ensure</a:t>
            </a:r>
            <a:r>
              <a:rPr lang="da-DK" dirty="0"/>
              <a:t> </a:t>
            </a:r>
            <a:r>
              <a:rPr lang="da-DK" dirty="0" err="1"/>
              <a:t>accurate</a:t>
            </a:r>
            <a:r>
              <a:rPr lang="da-DK" dirty="0"/>
              <a:t> </a:t>
            </a:r>
            <a:r>
              <a:rPr lang="da-DK" dirty="0" err="1"/>
              <a:t>results</a:t>
            </a:r>
            <a:endParaRPr lang="da-DK" dirty="0"/>
          </a:p>
          <a:p>
            <a:r>
              <a:rPr lang="da-DK" dirty="0"/>
              <a:t>Monitor system performance and </a:t>
            </a:r>
            <a:r>
              <a:rPr lang="da-DK" dirty="0" err="1"/>
              <a:t>resource</a:t>
            </a:r>
            <a:r>
              <a:rPr lang="da-DK" dirty="0"/>
              <a:t> </a:t>
            </a:r>
            <a:r>
              <a:rPr lang="da-DK" dirty="0" err="1"/>
              <a:t>usage</a:t>
            </a:r>
            <a:r>
              <a:rPr lang="da-DK" dirty="0"/>
              <a:t> </a:t>
            </a:r>
            <a:r>
              <a:rPr lang="da-DK" dirty="0" err="1"/>
              <a:t>during</a:t>
            </a:r>
            <a:r>
              <a:rPr lang="da-DK" dirty="0"/>
              <a:t> </a:t>
            </a:r>
            <a:r>
              <a:rPr lang="da-DK" dirty="0" err="1"/>
              <a:t>testing</a:t>
            </a:r>
            <a:r>
              <a:rPr lang="da-DK" dirty="0"/>
              <a:t> to </a:t>
            </a:r>
            <a:r>
              <a:rPr lang="da-DK" dirty="0" err="1"/>
              <a:t>identify</a:t>
            </a:r>
            <a:r>
              <a:rPr lang="da-DK" dirty="0"/>
              <a:t> potential </a:t>
            </a:r>
            <a:r>
              <a:rPr lang="da-DK" dirty="0" err="1"/>
              <a:t>bottlenecks</a:t>
            </a:r>
            <a:endParaRPr lang="da-DK" dirty="0"/>
          </a:p>
          <a:p>
            <a:r>
              <a:rPr lang="da-DK" dirty="0" err="1"/>
              <a:t>Optimize</a:t>
            </a:r>
            <a:r>
              <a:rPr lang="da-DK" dirty="0"/>
              <a:t> and fine-tune the system </a:t>
            </a:r>
            <a:r>
              <a:rPr lang="da-DK" dirty="0" err="1"/>
              <a:t>iteratively</a:t>
            </a:r>
            <a:r>
              <a:rPr lang="da-DK" dirty="0"/>
              <a:t>, re-</a:t>
            </a:r>
            <a:r>
              <a:rPr lang="da-DK" dirty="0" err="1"/>
              <a:t>testing</a:t>
            </a:r>
            <a:r>
              <a:rPr lang="da-DK" dirty="0"/>
              <a:t> as </a:t>
            </a:r>
            <a:r>
              <a:rPr lang="da-DK" dirty="0" err="1"/>
              <a:t>needed</a:t>
            </a:r>
            <a:r>
              <a:rPr lang="da-DK" dirty="0"/>
              <a:t> to </a:t>
            </a:r>
            <a:r>
              <a:rPr lang="da-DK" dirty="0" err="1"/>
              <a:t>validate</a:t>
            </a:r>
            <a:r>
              <a:rPr lang="da-DK" dirty="0"/>
              <a:t> </a:t>
            </a:r>
            <a:r>
              <a:rPr lang="da-DK" dirty="0" err="1"/>
              <a:t>improvements</a:t>
            </a:r>
            <a:endParaRPr lang="en-DK" sz="500" dirty="0"/>
          </a:p>
        </p:txBody>
      </p:sp>
    </p:spTree>
    <p:extLst>
      <p:ext uri="{BB962C8B-B14F-4D97-AF65-F5344CB8AC3E}">
        <p14:creationId xmlns:p14="http://schemas.microsoft.com/office/powerpoint/2010/main" val="1223513660"/>
      </p:ext>
    </p:extLst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552FF25E-24BF-4225-87AB-B2869F94CB2B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da-DK"/>
          </a:p>
        </p:txBody>
      </p:sp>
      <p:sp>
        <p:nvSpPr>
          <p:cNvPr id="3" name="Pladsholder til dato 2">
            <a:extLst>
              <a:ext uri="{FF2B5EF4-FFF2-40B4-BE49-F238E27FC236}">
                <a16:creationId xmlns:a16="http://schemas.microsoft.com/office/drawing/2014/main" id="{4C93D788-8D9D-4045-B518-6692018D89DE}"/>
              </a:ext>
            </a:extLst>
          </p:cNvPr>
          <p:cNvSpPr>
            <a:spLocks noGrp="1"/>
          </p:cNvSpPr>
          <p:nvPr>
            <p:ph type="dt" sz="half" idx="2"/>
          </p:nvPr>
        </p:nvSpPr>
        <p:spPr/>
        <p:txBody>
          <a:bodyPr/>
          <a:lstStyle/>
          <a:p>
            <a:fld id="{B4C4C6FD-8607-43FF-8BC8-950EFB970BA3}" type="datetime1">
              <a:rPr lang="en-GB" smtClean="0"/>
              <a:t>24/04/2023</a:t>
            </a:fld>
            <a:endParaRPr lang="en-GB" dirty="0"/>
          </a:p>
        </p:txBody>
      </p:sp>
      <p:sp>
        <p:nvSpPr>
          <p:cNvPr id="4" name="Rektangel 3">
            <a:extLst>
              <a:ext uri="{FF2B5EF4-FFF2-40B4-BE49-F238E27FC236}">
                <a16:creationId xmlns:a16="http://schemas.microsoft.com/office/drawing/2014/main" id="{F994D39F-0217-4BCC-AD0B-429E7605B2F1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tIns="72000" rIns="72000" bIns="72000" rtlCol="0" anchor="ctr"/>
          <a:lstStyle/>
          <a:p>
            <a:pPr algn="ctr"/>
            <a:r>
              <a:rPr lang="da-DK" sz="2800" b="1" dirty="0"/>
              <a:t>Web Application </a:t>
            </a:r>
            <a:r>
              <a:rPr lang="da-DK" sz="2800" b="1" dirty="0" err="1"/>
              <a:t>Testing</a:t>
            </a:r>
            <a:endParaRPr lang="da-DK" sz="2800" b="1" dirty="0"/>
          </a:p>
        </p:txBody>
      </p:sp>
    </p:spTree>
    <p:extLst>
      <p:ext uri="{BB962C8B-B14F-4D97-AF65-F5344CB8AC3E}">
        <p14:creationId xmlns:p14="http://schemas.microsoft.com/office/powerpoint/2010/main" val="301754646"/>
      </p:ext>
    </p:extLst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552FF25E-24BF-4225-87AB-B2869F94CB2B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da-DK"/>
          </a:p>
        </p:txBody>
      </p:sp>
      <p:sp>
        <p:nvSpPr>
          <p:cNvPr id="3" name="Pladsholder til dato 2">
            <a:extLst>
              <a:ext uri="{FF2B5EF4-FFF2-40B4-BE49-F238E27FC236}">
                <a16:creationId xmlns:a16="http://schemas.microsoft.com/office/drawing/2014/main" id="{4C93D788-8D9D-4045-B518-6692018D89DE}"/>
              </a:ext>
            </a:extLst>
          </p:cNvPr>
          <p:cNvSpPr>
            <a:spLocks noGrp="1"/>
          </p:cNvSpPr>
          <p:nvPr>
            <p:ph type="dt" sz="half" idx="2"/>
          </p:nvPr>
        </p:nvSpPr>
        <p:spPr/>
        <p:txBody>
          <a:bodyPr/>
          <a:lstStyle/>
          <a:p>
            <a:fld id="{B4C4C6FD-8607-43FF-8BC8-950EFB970BA3}" type="datetime1">
              <a:rPr lang="en-GB" smtClean="0"/>
              <a:t>24/04/2023</a:t>
            </a:fld>
            <a:endParaRPr lang="en-GB" dirty="0"/>
          </a:p>
        </p:txBody>
      </p:sp>
      <p:sp>
        <p:nvSpPr>
          <p:cNvPr id="4" name="Rektangel 3">
            <a:extLst>
              <a:ext uri="{FF2B5EF4-FFF2-40B4-BE49-F238E27FC236}">
                <a16:creationId xmlns:a16="http://schemas.microsoft.com/office/drawing/2014/main" id="{F994D39F-0217-4BCC-AD0B-429E7605B2F1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2">
              <a:lumMod val="60000"/>
              <a:lumOff val="40000"/>
            </a:schemeClr>
          </a:solidFill>
          <a:ln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tIns="72000" rIns="72000" bIns="72000" rtlCol="0" anchor="ctr"/>
          <a:lstStyle/>
          <a:p>
            <a:pPr algn="ctr"/>
            <a:r>
              <a:rPr lang="da-DK" sz="2800" b="1" dirty="0"/>
              <a:t>Web Application </a:t>
            </a:r>
            <a:r>
              <a:rPr lang="da-DK" sz="2800" b="1" dirty="0" err="1"/>
              <a:t>Testing</a:t>
            </a:r>
            <a:endParaRPr lang="da-DK" sz="2800" b="1" dirty="0"/>
          </a:p>
        </p:txBody>
      </p:sp>
    </p:spTree>
    <p:extLst>
      <p:ext uri="{BB962C8B-B14F-4D97-AF65-F5344CB8AC3E}">
        <p14:creationId xmlns:p14="http://schemas.microsoft.com/office/powerpoint/2010/main" val="2849640611"/>
      </p:ext>
    </p:extLst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9CBBB199-CEE7-4207-9B94-FABE54697AB5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da-DK" dirty="0"/>
              <a:t>Web Application </a:t>
            </a:r>
            <a:r>
              <a:rPr lang="da-DK" dirty="0" err="1"/>
              <a:t>Testing</a:t>
            </a:r>
            <a:endParaRPr lang="da-DK" dirty="0"/>
          </a:p>
        </p:txBody>
      </p:sp>
      <p:sp>
        <p:nvSpPr>
          <p:cNvPr id="4" name="Pladsholder til dato 3">
            <a:extLst>
              <a:ext uri="{FF2B5EF4-FFF2-40B4-BE49-F238E27FC236}">
                <a16:creationId xmlns:a16="http://schemas.microsoft.com/office/drawing/2014/main" id="{DF6BBC47-AF93-4B51-BB19-37E8FA70A1FC}"/>
              </a:ext>
            </a:extLst>
          </p:cNvPr>
          <p:cNvSpPr>
            <a:spLocks noGrp="1"/>
          </p:cNvSpPr>
          <p:nvPr>
            <p:ph type="dt" sz="half" idx="2"/>
          </p:nvPr>
        </p:nvSpPr>
        <p:spPr/>
        <p:txBody>
          <a:bodyPr/>
          <a:lstStyle/>
          <a:p>
            <a:fld id="{1D326F97-033E-40DE-A683-79560FFFFEF4}" type="datetime1">
              <a:rPr lang="en-GB" smtClean="0"/>
              <a:t>24/04/2023</a:t>
            </a:fld>
            <a:endParaRPr lang="en-GB" dirty="0"/>
          </a:p>
        </p:txBody>
      </p:sp>
      <p:sp>
        <p:nvSpPr>
          <p:cNvPr id="5" name="Pladsholder til sidefod 4">
            <a:extLst>
              <a:ext uri="{FF2B5EF4-FFF2-40B4-BE49-F238E27FC236}">
                <a16:creationId xmlns:a16="http://schemas.microsoft.com/office/drawing/2014/main" id="{0A4065D9-777F-4BC2-8DA9-0E100CD3446A}"/>
              </a:ext>
            </a:extLst>
          </p:cNvPr>
          <p:cNvSpPr>
            <a:spLocks noGrp="1"/>
          </p:cNvSpPr>
          <p:nvPr>
            <p:ph type="ftr" sz="quarter" idx="14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6" name="Pladsholder til slidenummer 5">
            <a:extLst>
              <a:ext uri="{FF2B5EF4-FFF2-40B4-BE49-F238E27FC236}">
                <a16:creationId xmlns:a16="http://schemas.microsoft.com/office/drawing/2014/main" id="{1971CA48-5488-429E-869D-06623C5E5997}"/>
              </a:ext>
            </a:extLst>
          </p:cNvPr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fld id="{45D37B1E-C366-494F-A587-962AD9AABC83}" type="slidenum">
              <a:rPr lang="en-GB" smtClean="0"/>
              <a:pPr/>
              <a:t>55</a:t>
            </a:fld>
            <a:endParaRPr lang="en-GB" dirty="0"/>
          </a:p>
        </p:txBody>
      </p:sp>
      <p:sp>
        <p:nvSpPr>
          <p:cNvPr id="10" name="Content Placeholder 9">
            <a:extLst>
              <a:ext uri="{FF2B5EF4-FFF2-40B4-BE49-F238E27FC236}">
                <a16:creationId xmlns:a16="http://schemas.microsoft.com/office/drawing/2014/main" id="{040613FC-F94A-0712-DF75-092CF5474396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414696" y="1700212"/>
            <a:ext cx="10952578" cy="4408925"/>
          </a:xfrm>
        </p:spPr>
        <p:txBody>
          <a:bodyPr/>
          <a:lstStyle/>
          <a:p>
            <a:r>
              <a:rPr lang="da-DK" dirty="0" err="1"/>
              <a:t>Puprose</a:t>
            </a:r>
            <a:r>
              <a:rPr lang="da-DK" dirty="0"/>
              <a:t>: </a:t>
            </a:r>
            <a:r>
              <a:rPr lang="da-DK" dirty="0" err="1"/>
              <a:t>Ensures</a:t>
            </a:r>
            <a:r>
              <a:rPr lang="da-DK" dirty="0"/>
              <a:t> the </a:t>
            </a:r>
            <a:r>
              <a:rPr lang="da-DK" dirty="0" err="1"/>
              <a:t>functionality</a:t>
            </a:r>
            <a:r>
              <a:rPr lang="da-DK" dirty="0"/>
              <a:t>, </a:t>
            </a:r>
            <a:r>
              <a:rPr lang="da-DK" dirty="0" err="1"/>
              <a:t>usability</a:t>
            </a:r>
            <a:r>
              <a:rPr lang="da-DK" dirty="0"/>
              <a:t>, security, and performance of web </a:t>
            </a:r>
            <a:r>
              <a:rPr lang="da-DK" dirty="0" err="1"/>
              <a:t>applications</a:t>
            </a:r>
            <a:r>
              <a:rPr lang="da-DK" dirty="0"/>
              <a:t> </a:t>
            </a:r>
            <a:r>
              <a:rPr lang="da-DK" dirty="0" err="1"/>
              <a:t>across</a:t>
            </a:r>
            <a:r>
              <a:rPr lang="da-DK" dirty="0"/>
              <a:t> </a:t>
            </a:r>
            <a:r>
              <a:rPr lang="da-DK" dirty="0" err="1"/>
              <a:t>various</a:t>
            </a:r>
            <a:r>
              <a:rPr lang="da-DK" dirty="0"/>
              <a:t> browsers and </a:t>
            </a:r>
            <a:r>
              <a:rPr lang="da-DK" dirty="0" err="1"/>
              <a:t>devices</a:t>
            </a:r>
            <a:endParaRPr lang="da-DK" dirty="0"/>
          </a:p>
          <a:p>
            <a:r>
              <a:rPr lang="da-DK" dirty="0" err="1"/>
              <a:t>Goals</a:t>
            </a:r>
            <a:r>
              <a:rPr lang="da-DK" dirty="0"/>
              <a:t>: Deliver a </a:t>
            </a:r>
            <a:r>
              <a:rPr lang="da-DK" dirty="0" err="1"/>
              <a:t>seamless</a:t>
            </a:r>
            <a:r>
              <a:rPr lang="da-DK" dirty="0"/>
              <a:t> user </a:t>
            </a:r>
            <a:r>
              <a:rPr lang="da-DK" dirty="0" err="1"/>
              <a:t>experience</a:t>
            </a:r>
            <a:r>
              <a:rPr lang="da-DK" dirty="0"/>
              <a:t>, </a:t>
            </a:r>
            <a:r>
              <a:rPr lang="da-DK" dirty="0" err="1"/>
              <a:t>maintain</a:t>
            </a:r>
            <a:r>
              <a:rPr lang="da-DK" dirty="0"/>
              <a:t> </a:t>
            </a:r>
            <a:r>
              <a:rPr lang="da-DK" dirty="0" err="1"/>
              <a:t>compatibility</a:t>
            </a:r>
            <a:r>
              <a:rPr lang="da-DK" dirty="0"/>
              <a:t>, and </a:t>
            </a:r>
            <a:r>
              <a:rPr lang="da-DK" dirty="0" err="1"/>
              <a:t>ensure</a:t>
            </a:r>
            <a:r>
              <a:rPr lang="da-DK" dirty="0"/>
              <a:t> the </a:t>
            </a:r>
            <a:r>
              <a:rPr lang="da-DK" dirty="0" err="1"/>
              <a:t>application</a:t>
            </a:r>
            <a:r>
              <a:rPr lang="da-DK" dirty="0"/>
              <a:t> </a:t>
            </a:r>
            <a:r>
              <a:rPr lang="da-DK" dirty="0" err="1"/>
              <a:t>meets</a:t>
            </a:r>
            <a:r>
              <a:rPr lang="da-DK" dirty="0"/>
              <a:t> user and business </a:t>
            </a:r>
            <a:r>
              <a:rPr lang="da-DK" dirty="0" err="1"/>
              <a:t>requirements</a:t>
            </a:r>
            <a:endParaRPr lang="en-DK" sz="500" dirty="0"/>
          </a:p>
        </p:txBody>
      </p:sp>
    </p:spTree>
    <p:extLst>
      <p:ext uri="{BB962C8B-B14F-4D97-AF65-F5344CB8AC3E}">
        <p14:creationId xmlns:p14="http://schemas.microsoft.com/office/powerpoint/2010/main" val="1840811525"/>
      </p:ext>
    </p:extLst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9CBBB199-CEE7-4207-9B94-FABE54697AB5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da-DK" dirty="0"/>
              <a:t>Web Application </a:t>
            </a:r>
            <a:r>
              <a:rPr lang="da-DK" dirty="0" err="1"/>
              <a:t>Testing</a:t>
            </a:r>
            <a:endParaRPr lang="da-DK" dirty="0"/>
          </a:p>
        </p:txBody>
      </p:sp>
      <p:sp>
        <p:nvSpPr>
          <p:cNvPr id="4" name="Pladsholder til dato 3">
            <a:extLst>
              <a:ext uri="{FF2B5EF4-FFF2-40B4-BE49-F238E27FC236}">
                <a16:creationId xmlns:a16="http://schemas.microsoft.com/office/drawing/2014/main" id="{DF6BBC47-AF93-4B51-BB19-37E8FA70A1FC}"/>
              </a:ext>
            </a:extLst>
          </p:cNvPr>
          <p:cNvSpPr>
            <a:spLocks noGrp="1"/>
          </p:cNvSpPr>
          <p:nvPr>
            <p:ph type="dt" sz="half" idx="2"/>
          </p:nvPr>
        </p:nvSpPr>
        <p:spPr/>
        <p:txBody>
          <a:bodyPr/>
          <a:lstStyle/>
          <a:p>
            <a:fld id="{1D326F97-033E-40DE-A683-79560FFFFEF4}" type="datetime1">
              <a:rPr lang="en-GB" smtClean="0"/>
              <a:t>24/04/2023</a:t>
            </a:fld>
            <a:endParaRPr lang="en-GB" dirty="0"/>
          </a:p>
        </p:txBody>
      </p:sp>
      <p:sp>
        <p:nvSpPr>
          <p:cNvPr id="5" name="Pladsholder til sidefod 4">
            <a:extLst>
              <a:ext uri="{FF2B5EF4-FFF2-40B4-BE49-F238E27FC236}">
                <a16:creationId xmlns:a16="http://schemas.microsoft.com/office/drawing/2014/main" id="{0A4065D9-777F-4BC2-8DA9-0E100CD3446A}"/>
              </a:ext>
            </a:extLst>
          </p:cNvPr>
          <p:cNvSpPr>
            <a:spLocks noGrp="1"/>
          </p:cNvSpPr>
          <p:nvPr>
            <p:ph type="ftr" sz="quarter" idx="14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6" name="Pladsholder til slidenummer 5">
            <a:extLst>
              <a:ext uri="{FF2B5EF4-FFF2-40B4-BE49-F238E27FC236}">
                <a16:creationId xmlns:a16="http://schemas.microsoft.com/office/drawing/2014/main" id="{1971CA48-5488-429E-869D-06623C5E5997}"/>
              </a:ext>
            </a:extLst>
          </p:cNvPr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fld id="{45D37B1E-C366-494F-A587-962AD9AABC83}" type="slidenum">
              <a:rPr lang="en-GB" smtClean="0"/>
              <a:pPr/>
              <a:t>56</a:t>
            </a:fld>
            <a:endParaRPr lang="en-GB" dirty="0"/>
          </a:p>
        </p:txBody>
      </p:sp>
      <p:sp>
        <p:nvSpPr>
          <p:cNvPr id="10" name="Content Placeholder 9">
            <a:extLst>
              <a:ext uri="{FF2B5EF4-FFF2-40B4-BE49-F238E27FC236}">
                <a16:creationId xmlns:a16="http://schemas.microsoft.com/office/drawing/2014/main" id="{040613FC-F94A-0712-DF75-092CF5474396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414696" y="1700212"/>
            <a:ext cx="10952578" cy="4408925"/>
          </a:xfrm>
        </p:spPr>
        <p:txBody>
          <a:bodyPr/>
          <a:lstStyle/>
          <a:p>
            <a:r>
              <a:rPr lang="da-DK" dirty="0"/>
              <a:t>Key </a:t>
            </a:r>
            <a:r>
              <a:rPr lang="da-DK" dirty="0" err="1"/>
              <a:t>Aspects</a:t>
            </a:r>
            <a:r>
              <a:rPr lang="da-DK" dirty="0"/>
              <a:t> of Web Application </a:t>
            </a:r>
            <a:r>
              <a:rPr lang="da-DK" dirty="0" err="1"/>
              <a:t>Testing</a:t>
            </a:r>
            <a:endParaRPr lang="da-DK" dirty="0"/>
          </a:p>
          <a:p>
            <a:endParaRPr lang="da-DK" dirty="0"/>
          </a:p>
          <a:p>
            <a:r>
              <a:rPr lang="da-DK" dirty="0" err="1"/>
              <a:t>Functionality</a:t>
            </a:r>
            <a:r>
              <a:rPr lang="da-DK" dirty="0"/>
              <a:t> </a:t>
            </a:r>
            <a:r>
              <a:rPr lang="da-DK" dirty="0" err="1"/>
              <a:t>testing</a:t>
            </a:r>
            <a:r>
              <a:rPr lang="da-DK" dirty="0"/>
              <a:t>: </a:t>
            </a:r>
            <a:r>
              <a:rPr lang="da-DK" dirty="0" err="1"/>
              <a:t>Validate</a:t>
            </a:r>
            <a:r>
              <a:rPr lang="da-DK" dirty="0"/>
              <a:t> </a:t>
            </a:r>
            <a:r>
              <a:rPr lang="da-DK" dirty="0" err="1"/>
              <a:t>that</a:t>
            </a:r>
            <a:r>
              <a:rPr lang="da-DK" dirty="0"/>
              <a:t> all </a:t>
            </a:r>
            <a:r>
              <a:rPr lang="da-DK" dirty="0" err="1"/>
              <a:t>application</a:t>
            </a:r>
            <a:r>
              <a:rPr lang="da-DK" dirty="0"/>
              <a:t> features </a:t>
            </a:r>
            <a:r>
              <a:rPr lang="da-DK" dirty="0" err="1"/>
              <a:t>work</a:t>
            </a:r>
            <a:r>
              <a:rPr lang="da-DK" dirty="0"/>
              <a:t> as </a:t>
            </a:r>
            <a:r>
              <a:rPr lang="da-DK" dirty="0" err="1"/>
              <a:t>expected</a:t>
            </a:r>
            <a:r>
              <a:rPr lang="da-DK" dirty="0"/>
              <a:t>, </a:t>
            </a:r>
            <a:r>
              <a:rPr lang="da-DK" dirty="0" err="1"/>
              <a:t>including</a:t>
            </a:r>
            <a:r>
              <a:rPr lang="da-DK" dirty="0"/>
              <a:t> forms, navigation, and data </a:t>
            </a:r>
            <a:r>
              <a:rPr lang="da-DK" dirty="0" err="1"/>
              <a:t>processing</a:t>
            </a:r>
            <a:endParaRPr lang="da-DK" dirty="0"/>
          </a:p>
          <a:p>
            <a:r>
              <a:rPr lang="da-DK" dirty="0"/>
              <a:t>Compatibility </a:t>
            </a:r>
            <a:r>
              <a:rPr lang="da-DK" dirty="0" err="1"/>
              <a:t>testing</a:t>
            </a:r>
            <a:r>
              <a:rPr lang="da-DK" dirty="0"/>
              <a:t>: Check the </a:t>
            </a:r>
            <a:r>
              <a:rPr lang="da-DK" dirty="0" err="1"/>
              <a:t>application's</a:t>
            </a:r>
            <a:r>
              <a:rPr lang="da-DK" dirty="0"/>
              <a:t> </a:t>
            </a:r>
            <a:r>
              <a:rPr lang="da-DK" dirty="0" err="1"/>
              <a:t>compatibility</a:t>
            </a:r>
            <a:r>
              <a:rPr lang="da-DK" dirty="0"/>
              <a:t> with </a:t>
            </a:r>
            <a:r>
              <a:rPr lang="da-DK" dirty="0" err="1"/>
              <a:t>different</a:t>
            </a:r>
            <a:r>
              <a:rPr lang="da-DK" dirty="0"/>
              <a:t> browsers, </a:t>
            </a:r>
            <a:r>
              <a:rPr lang="da-DK" dirty="0" err="1"/>
              <a:t>devices</a:t>
            </a:r>
            <a:r>
              <a:rPr lang="da-DK" dirty="0"/>
              <a:t>, and operating systems</a:t>
            </a:r>
          </a:p>
          <a:p>
            <a:r>
              <a:rPr lang="da-DK" dirty="0"/>
              <a:t>User interface </a:t>
            </a:r>
            <a:r>
              <a:rPr lang="da-DK" dirty="0" err="1"/>
              <a:t>testing</a:t>
            </a:r>
            <a:r>
              <a:rPr lang="da-DK" dirty="0"/>
              <a:t>: </a:t>
            </a:r>
            <a:r>
              <a:rPr lang="da-DK" dirty="0" err="1"/>
              <a:t>Assess</a:t>
            </a:r>
            <a:r>
              <a:rPr lang="da-DK" dirty="0"/>
              <a:t> the layout, design, and overall user </a:t>
            </a:r>
            <a:r>
              <a:rPr lang="da-DK" dirty="0" err="1"/>
              <a:t>experience</a:t>
            </a:r>
            <a:r>
              <a:rPr lang="da-DK" dirty="0"/>
              <a:t> of the </a:t>
            </a:r>
            <a:r>
              <a:rPr lang="da-DK" dirty="0" err="1"/>
              <a:t>application</a:t>
            </a:r>
            <a:endParaRPr lang="da-DK" dirty="0"/>
          </a:p>
          <a:p>
            <a:r>
              <a:rPr lang="da-DK" dirty="0"/>
              <a:t>Security </a:t>
            </a:r>
            <a:r>
              <a:rPr lang="da-DK" dirty="0" err="1"/>
              <a:t>testing</a:t>
            </a:r>
            <a:r>
              <a:rPr lang="da-DK" dirty="0"/>
              <a:t>: </a:t>
            </a:r>
            <a:r>
              <a:rPr lang="da-DK" dirty="0" err="1"/>
              <a:t>Evaluate</a:t>
            </a:r>
            <a:r>
              <a:rPr lang="da-DK" dirty="0"/>
              <a:t> the </a:t>
            </a:r>
            <a:r>
              <a:rPr lang="da-DK" dirty="0" err="1"/>
              <a:t>application's</a:t>
            </a:r>
            <a:r>
              <a:rPr lang="da-DK" dirty="0"/>
              <a:t> </a:t>
            </a:r>
            <a:r>
              <a:rPr lang="da-DK" dirty="0" err="1"/>
              <a:t>ability</a:t>
            </a:r>
            <a:r>
              <a:rPr lang="da-DK" dirty="0"/>
              <a:t> to </a:t>
            </a:r>
            <a:r>
              <a:rPr lang="da-DK" dirty="0" err="1"/>
              <a:t>protect</a:t>
            </a:r>
            <a:r>
              <a:rPr lang="da-DK" dirty="0"/>
              <a:t> sensitive data and </a:t>
            </a:r>
            <a:r>
              <a:rPr lang="da-DK" dirty="0" err="1"/>
              <a:t>prevent</a:t>
            </a:r>
            <a:r>
              <a:rPr lang="da-DK" dirty="0"/>
              <a:t> </a:t>
            </a:r>
            <a:r>
              <a:rPr lang="da-DK" dirty="0" err="1"/>
              <a:t>unauthorized</a:t>
            </a:r>
            <a:r>
              <a:rPr lang="da-DK" dirty="0"/>
              <a:t> </a:t>
            </a:r>
            <a:r>
              <a:rPr lang="da-DK" dirty="0" err="1"/>
              <a:t>access</a:t>
            </a:r>
            <a:endParaRPr lang="da-DK" dirty="0"/>
          </a:p>
          <a:p>
            <a:r>
              <a:rPr lang="da-DK" dirty="0"/>
              <a:t>Performance </a:t>
            </a:r>
            <a:r>
              <a:rPr lang="da-DK" dirty="0" err="1"/>
              <a:t>testing</a:t>
            </a:r>
            <a:r>
              <a:rPr lang="da-DK" dirty="0"/>
              <a:t>: Test the </a:t>
            </a:r>
            <a:r>
              <a:rPr lang="da-DK" dirty="0" err="1"/>
              <a:t>application's</a:t>
            </a:r>
            <a:r>
              <a:rPr lang="da-DK" dirty="0"/>
              <a:t> </a:t>
            </a:r>
            <a:r>
              <a:rPr lang="da-DK" dirty="0" err="1"/>
              <a:t>responsiveness</a:t>
            </a:r>
            <a:r>
              <a:rPr lang="da-DK" dirty="0"/>
              <a:t>, </a:t>
            </a:r>
            <a:r>
              <a:rPr lang="da-DK" dirty="0" err="1"/>
              <a:t>stability</a:t>
            </a:r>
            <a:r>
              <a:rPr lang="da-DK" dirty="0"/>
              <a:t>, and </a:t>
            </a:r>
            <a:r>
              <a:rPr lang="da-DK" dirty="0" err="1"/>
              <a:t>reliability</a:t>
            </a:r>
            <a:r>
              <a:rPr lang="da-DK" dirty="0"/>
              <a:t> under </a:t>
            </a:r>
            <a:r>
              <a:rPr lang="da-DK" dirty="0" err="1"/>
              <a:t>various</a:t>
            </a:r>
            <a:r>
              <a:rPr lang="da-DK" dirty="0"/>
              <a:t> </a:t>
            </a:r>
            <a:r>
              <a:rPr lang="da-DK" dirty="0" err="1"/>
              <a:t>workloads</a:t>
            </a:r>
            <a:endParaRPr lang="en-DK" sz="500" dirty="0"/>
          </a:p>
        </p:txBody>
      </p:sp>
    </p:spTree>
    <p:extLst>
      <p:ext uri="{BB962C8B-B14F-4D97-AF65-F5344CB8AC3E}">
        <p14:creationId xmlns:p14="http://schemas.microsoft.com/office/powerpoint/2010/main" val="3023039556"/>
      </p:ext>
    </p:extLst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9CBBB199-CEE7-4207-9B94-FABE54697AB5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da-DK" dirty="0"/>
              <a:t>Web Application </a:t>
            </a:r>
            <a:r>
              <a:rPr lang="da-DK" dirty="0" err="1"/>
              <a:t>Testing</a:t>
            </a:r>
            <a:endParaRPr lang="da-DK" dirty="0"/>
          </a:p>
        </p:txBody>
      </p:sp>
      <p:sp>
        <p:nvSpPr>
          <p:cNvPr id="4" name="Pladsholder til dato 3">
            <a:extLst>
              <a:ext uri="{FF2B5EF4-FFF2-40B4-BE49-F238E27FC236}">
                <a16:creationId xmlns:a16="http://schemas.microsoft.com/office/drawing/2014/main" id="{DF6BBC47-AF93-4B51-BB19-37E8FA70A1FC}"/>
              </a:ext>
            </a:extLst>
          </p:cNvPr>
          <p:cNvSpPr>
            <a:spLocks noGrp="1"/>
          </p:cNvSpPr>
          <p:nvPr>
            <p:ph type="dt" sz="half" idx="2"/>
          </p:nvPr>
        </p:nvSpPr>
        <p:spPr/>
        <p:txBody>
          <a:bodyPr/>
          <a:lstStyle/>
          <a:p>
            <a:fld id="{1D326F97-033E-40DE-A683-79560FFFFEF4}" type="datetime1">
              <a:rPr lang="en-GB" smtClean="0"/>
              <a:t>24/04/2023</a:t>
            </a:fld>
            <a:endParaRPr lang="en-GB" dirty="0"/>
          </a:p>
        </p:txBody>
      </p:sp>
      <p:sp>
        <p:nvSpPr>
          <p:cNvPr id="5" name="Pladsholder til sidefod 4">
            <a:extLst>
              <a:ext uri="{FF2B5EF4-FFF2-40B4-BE49-F238E27FC236}">
                <a16:creationId xmlns:a16="http://schemas.microsoft.com/office/drawing/2014/main" id="{0A4065D9-777F-4BC2-8DA9-0E100CD3446A}"/>
              </a:ext>
            </a:extLst>
          </p:cNvPr>
          <p:cNvSpPr>
            <a:spLocks noGrp="1"/>
          </p:cNvSpPr>
          <p:nvPr>
            <p:ph type="ftr" sz="quarter" idx="14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6" name="Pladsholder til slidenummer 5">
            <a:extLst>
              <a:ext uri="{FF2B5EF4-FFF2-40B4-BE49-F238E27FC236}">
                <a16:creationId xmlns:a16="http://schemas.microsoft.com/office/drawing/2014/main" id="{1971CA48-5488-429E-869D-06623C5E5997}"/>
              </a:ext>
            </a:extLst>
          </p:cNvPr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fld id="{45D37B1E-C366-494F-A587-962AD9AABC83}" type="slidenum">
              <a:rPr lang="en-GB" smtClean="0"/>
              <a:pPr/>
              <a:t>57</a:t>
            </a:fld>
            <a:endParaRPr lang="en-GB" dirty="0"/>
          </a:p>
        </p:txBody>
      </p:sp>
      <p:sp>
        <p:nvSpPr>
          <p:cNvPr id="10" name="Content Placeholder 9">
            <a:extLst>
              <a:ext uri="{FF2B5EF4-FFF2-40B4-BE49-F238E27FC236}">
                <a16:creationId xmlns:a16="http://schemas.microsoft.com/office/drawing/2014/main" id="{040613FC-F94A-0712-DF75-092CF5474396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414696" y="1700212"/>
            <a:ext cx="10952578" cy="4408925"/>
          </a:xfrm>
        </p:spPr>
        <p:txBody>
          <a:bodyPr/>
          <a:lstStyle/>
          <a:p>
            <a:r>
              <a:rPr lang="da-DK" dirty="0" err="1"/>
              <a:t>Popular</a:t>
            </a:r>
            <a:r>
              <a:rPr lang="da-DK" dirty="0"/>
              <a:t> </a:t>
            </a:r>
            <a:r>
              <a:rPr lang="da-DK" dirty="0" err="1"/>
              <a:t>Testing</a:t>
            </a:r>
            <a:r>
              <a:rPr lang="da-DK" dirty="0"/>
              <a:t> Tools</a:t>
            </a:r>
          </a:p>
          <a:p>
            <a:endParaRPr lang="da-DK" dirty="0"/>
          </a:p>
          <a:p>
            <a:r>
              <a:rPr lang="da-DK" dirty="0"/>
              <a:t>End-to-end </a:t>
            </a:r>
            <a:r>
              <a:rPr lang="da-DK" dirty="0" err="1"/>
              <a:t>testing</a:t>
            </a:r>
            <a:r>
              <a:rPr lang="da-DK" dirty="0"/>
              <a:t>: </a:t>
            </a:r>
            <a:r>
              <a:rPr lang="da-DK" dirty="0" err="1"/>
              <a:t>Selenium</a:t>
            </a:r>
            <a:r>
              <a:rPr lang="da-DK" dirty="0"/>
              <a:t>, </a:t>
            </a:r>
            <a:r>
              <a:rPr lang="da-DK" dirty="0" err="1"/>
              <a:t>Cypress</a:t>
            </a:r>
            <a:r>
              <a:rPr lang="da-DK" dirty="0"/>
              <a:t>, </a:t>
            </a:r>
            <a:r>
              <a:rPr lang="da-DK" dirty="0" err="1"/>
              <a:t>Puppeteer</a:t>
            </a:r>
            <a:endParaRPr lang="da-DK" dirty="0"/>
          </a:p>
          <a:p>
            <a:r>
              <a:rPr lang="da-DK" dirty="0"/>
              <a:t>API </a:t>
            </a:r>
            <a:r>
              <a:rPr lang="da-DK" dirty="0" err="1"/>
              <a:t>testing</a:t>
            </a:r>
            <a:r>
              <a:rPr lang="da-DK" dirty="0"/>
              <a:t>: </a:t>
            </a:r>
            <a:r>
              <a:rPr lang="da-DK" dirty="0" err="1"/>
              <a:t>Postman</a:t>
            </a:r>
            <a:r>
              <a:rPr lang="da-DK" dirty="0"/>
              <a:t>, Rest-</a:t>
            </a:r>
            <a:r>
              <a:rPr lang="da-DK" dirty="0" err="1"/>
              <a:t>Assured</a:t>
            </a:r>
            <a:r>
              <a:rPr lang="da-DK" dirty="0"/>
              <a:t>, </a:t>
            </a:r>
            <a:r>
              <a:rPr lang="da-DK" dirty="0" err="1"/>
              <a:t>SoapUI</a:t>
            </a:r>
            <a:endParaRPr lang="da-DK" dirty="0"/>
          </a:p>
          <a:p>
            <a:r>
              <a:rPr lang="da-DK" dirty="0"/>
              <a:t>Accessibility </a:t>
            </a:r>
            <a:r>
              <a:rPr lang="da-DK" dirty="0" err="1"/>
              <a:t>testing</a:t>
            </a:r>
            <a:r>
              <a:rPr lang="da-DK" dirty="0"/>
              <a:t>: WAVE, </a:t>
            </a:r>
            <a:r>
              <a:rPr lang="da-DK" dirty="0" err="1"/>
              <a:t>Lighthouse</a:t>
            </a:r>
            <a:endParaRPr lang="en-DK" sz="500" dirty="0"/>
          </a:p>
        </p:txBody>
      </p:sp>
    </p:spTree>
    <p:extLst>
      <p:ext uri="{BB962C8B-B14F-4D97-AF65-F5344CB8AC3E}">
        <p14:creationId xmlns:p14="http://schemas.microsoft.com/office/powerpoint/2010/main" val="890582712"/>
      </p:ext>
    </p:extLst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9CBBB199-CEE7-4207-9B94-FABE54697AB5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da-DK" dirty="0"/>
              <a:t>Web Application </a:t>
            </a:r>
            <a:r>
              <a:rPr lang="da-DK" dirty="0" err="1"/>
              <a:t>Testing</a:t>
            </a:r>
            <a:endParaRPr lang="da-DK" dirty="0"/>
          </a:p>
        </p:txBody>
      </p:sp>
      <p:sp>
        <p:nvSpPr>
          <p:cNvPr id="4" name="Pladsholder til dato 3">
            <a:extLst>
              <a:ext uri="{FF2B5EF4-FFF2-40B4-BE49-F238E27FC236}">
                <a16:creationId xmlns:a16="http://schemas.microsoft.com/office/drawing/2014/main" id="{DF6BBC47-AF93-4B51-BB19-37E8FA70A1FC}"/>
              </a:ext>
            </a:extLst>
          </p:cNvPr>
          <p:cNvSpPr>
            <a:spLocks noGrp="1"/>
          </p:cNvSpPr>
          <p:nvPr>
            <p:ph type="dt" sz="half" idx="2"/>
          </p:nvPr>
        </p:nvSpPr>
        <p:spPr/>
        <p:txBody>
          <a:bodyPr/>
          <a:lstStyle/>
          <a:p>
            <a:fld id="{1D326F97-033E-40DE-A683-79560FFFFEF4}" type="datetime1">
              <a:rPr lang="en-GB" smtClean="0"/>
              <a:t>24/04/2023</a:t>
            </a:fld>
            <a:endParaRPr lang="en-GB" dirty="0"/>
          </a:p>
        </p:txBody>
      </p:sp>
      <p:sp>
        <p:nvSpPr>
          <p:cNvPr id="5" name="Pladsholder til sidefod 4">
            <a:extLst>
              <a:ext uri="{FF2B5EF4-FFF2-40B4-BE49-F238E27FC236}">
                <a16:creationId xmlns:a16="http://schemas.microsoft.com/office/drawing/2014/main" id="{0A4065D9-777F-4BC2-8DA9-0E100CD3446A}"/>
              </a:ext>
            </a:extLst>
          </p:cNvPr>
          <p:cNvSpPr>
            <a:spLocks noGrp="1"/>
          </p:cNvSpPr>
          <p:nvPr>
            <p:ph type="ftr" sz="quarter" idx="14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6" name="Pladsholder til slidenummer 5">
            <a:extLst>
              <a:ext uri="{FF2B5EF4-FFF2-40B4-BE49-F238E27FC236}">
                <a16:creationId xmlns:a16="http://schemas.microsoft.com/office/drawing/2014/main" id="{1971CA48-5488-429E-869D-06623C5E5997}"/>
              </a:ext>
            </a:extLst>
          </p:cNvPr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fld id="{45D37B1E-C366-494F-A587-962AD9AABC83}" type="slidenum">
              <a:rPr lang="en-GB" smtClean="0"/>
              <a:pPr/>
              <a:t>58</a:t>
            </a:fld>
            <a:endParaRPr lang="en-GB" dirty="0"/>
          </a:p>
        </p:txBody>
      </p:sp>
      <p:sp>
        <p:nvSpPr>
          <p:cNvPr id="10" name="Content Placeholder 9">
            <a:extLst>
              <a:ext uri="{FF2B5EF4-FFF2-40B4-BE49-F238E27FC236}">
                <a16:creationId xmlns:a16="http://schemas.microsoft.com/office/drawing/2014/main" id="{040613FC-F94A-0712-DF75-092CF5474396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414696" y="1700212"/>
            <a:ext cx="10952578" cy="4408925"/>
          </a:xfrm>
        </p:spPr>
        <p:txBody>
          <a:bodyPr/>
          <a:lstStyle/>
          <a:p>
            <a:r>
              <a:rPr lang="da-DK" dirty="0"/>
              <a:t>Web Application </a:t>
            </a:r>
            <a:r>
              <a:rPr lang="da-DK" dirty="0" err="1"/>
              <a:t>Testing</a:t>
            </a:r>
            <a:r>
              <a:rPr lang="da-DK" dirty="0"/>
              <a:t> </a:t>
            </a:r>
            <a:r>
              <a:rPr lang="da-DK" dirty="0" err="1"/>
              <a:t>Process</a:t>
            </a:r>
            <a:endParaRPr lang="da-DK" dirty="0"/>
          </a:p>
          <a:p>
            <a:endParaRPr lang="da-DK" dirty="0"/>
          </a:p>
          <a:p>
            <a:r>
              <a:rPr lang="da-DK" dirty="0" err="1"/>
              <a:t>Define</a:t>
            </a:r>
            <a:r>
              <a:rPr lang="da-DK" dirty="0"/>
              <a:t> test </a:t>
            </a:r>
            <a:r>
              <a:rPr lang="da-DK" dirty="0" err="1"/>
              <a:t>objectives</a:t>
            </a:r>
            <a:r>
              <a:rPr lang="da-DK" dirty="0"/>
              <a:t>: </a:t>
            </a:r>
            <a:r>
              <a:rPr lang="da-DK" dirty="0" err="1"/>
              <a:t>Establish</a:t>
            </a:r>
            <a:r>
              <a:rPr lang="da-DK" dirty="0"/>
              <a:t> the </a:t>
            </a:r>
            <a:r>
              <a:rPr lang="da-DK" dirty="0" err="1"/>
              <a:t>scope</a:t>
            </a:r>
            <a:r>
              <a:rPr lang="da-DK" dirty="0"/>
              <a:t>, </a:t>
            </a:r>
            <a:r>
              <a:rPr lang="da-DK" dirty="0" err="1"/>
              <a:t>goals</a:t>
            </a:r>
            <a:r>
              <a:rPr lang="da-DK" dirty="0"/>
              <a:t>, and </a:t>
            </a:r>
            <a:r>
              <a:rPr lang="da-DK" dirty="0" err="1"/>
              <a:t>criteria</a:t>
            </a:r>
            <a:r>
              <a:rPr lang="da-DK" dirty="0"/>
              <a:t> for </a:t>
            </a:r>
            <a:r>
              <a:rPr lang="da-DK" dirty="0" err="1"/>
              <a:t>evaluating</a:t>
            </a:r>
            <a:r>
              <a:rPr lang="da-DK" dirty="0"/>
              <a:t> the web </a:t>
            </a:r>
            <a:r>
              <a:rPr lang="da-DK" dirty="0" err="1"/>
              <a:t>application</a:t>
            </a:r>
            <a:endParaRPr lang="da-DK" dirty="0"/>
          </a:p>
          <a:p>
            <a:r>
              <a:rPr lang="da-DK" dirty="0" err="1"/>
              <a:t>Develop</a:t>
            </a:r>
            <a:r>
              <a:rPr lang="da-DK" dirty="0"/>
              <a:t> test scenarios: </a:t>
            </a:r>
            <a:r>
              <a:rPr lang="da-DK" dirty="0" err="1"/>
              <a:t>Create</a:t>
            </a:r>
            <a:r>
              <a:rPr lang="da-DK" dirty="0"/>
              <a:t> </a:t>
            </a:r>
            <a:r>
              <a:rPr lang="da-DK" dirty="0" err="1"/>
              <a:t>realistic</a:t>
            </a:r>
            <a:r>
              <a:rPr lang="da-DK" dirty="0"/>
              <a:t> user scenarios </a:t>
            </a:r>
            <a:r>
              <a:rPr lang="da-DK" dirty="0" err="1"/>
              <a:t>covering</a:t>
            </a:r>
            <a:r>
              <a:rPr lang="da-DK" dirty="0"/>
              <a:t> </a:t>
            </a:r>
            <a:r>
              <a:rPr lang="da-DK" dirty="0" err="1"/>
              <a:t>critical</a:t>
            </a:r>
            <a:r>
              <a:rPr lang="da-DK" dirty="0"/>
              <a:t> </a:t>
            </a:r>
            <a:r>
              <a:rPr lang="da-DK" dirty="0" err="1"/>
              <a:t>functionality</a:t>
            </a:r>
            <a:r>
              <a:rPr lang="da-DK" dirty="0"/>
              <a:t>, user flows, and browser/</a:t>
            </a:r>
            <a:r>
              <a:rPr lang="da-DK" dirty="0" err="1"/>
              <a:t>device</a:t>
            </a:r>
            <a:r>
              <a:rPr lang="da-DK" dirty="0"/>
              <a:t> </a:t>
            </a:r>
            <a:r>
              <a:rPr lang="da-DK" dirty="0" err="1"/>
              <a:t>combinations</a:t>
            </a:r>
            <a:endParaRPr lang="da-DK" dirty="0"/>
          </a:p>
          <a:p>
            <a:r>
              <a:rPr lang="da-DK" dirty="0"/>
              <a:t>Set up test </a:t>
            </a:r>
            <a:r>
              <a:rPr lang="da-DK" dirty="0" err="1"/>
              <a:t>environment</a:t>
            </a:r>
            <a:r>
              <a:rPr lang="da-DK" dirty="0"/>
              <a:t>: </a:t>
            </a:r>
            <a:r>
              <a:rPr lang="da-DK" dirty="0" err="1"/>
              <a:t>Configure</a:t>
            </a:r>
            <a:r>
              <a:rPr lang="da-DK" dirty="0"/>
              <a:t> a test </a:t>
            </a:r>
            <a:r>
              <a:rPr lang="da-DK" dirty="0" err="1"/>
              <a:t>environment</a:t>
            </a:r>
            <a:r>
              <a:rPr lang="da-DK" dirty="0"/>
              <a:t> with the </a:t>
            </a:r>
            <a:r>
              <a:rPr lang="da-DK" dirty="0" err="1"/>
              <a:t>necessary</a:t>
            </a:r>
            <a:r>
              <a:rPr lang="da-DK" dirty="0"/>
              <a:t> </a:t>
            </a:r>
            <a:r>
              <a:rPr lang="da-DK" dirty="0" err="1"/>
              <a:t>tools</a:t>
            </a:r>
            <a:r>
              <a:rPr lang="da-DK" dirty="0"/>
              <a:t>, browsers, and </a:t>
            </a:r>
            <a:r>
              <a:rPr lang="da-DK" dirty="0" err="1"/>
              <a:t>devices</a:t>
            </a:r>
            <a:endParaRPr lang="da-DK" dirty="0"/>
          </a:p>
          <a:p>
            <a:r>
              <a:rPr lang="da-DK" dirty="0" err="1"/>
              <a:t>Execute</a:t>
            </a:r>
            <a:r>
              <a:rPr lang="da-DK" dirty="0"/>
              <a:t> tests: Run tests </a:t>
            </a:r>
            <a:r>
              <a:rPr lang="da-DK" dirty="0" err="1"/>
              <a:t>manually</a:t>
            </a:r>
            <a:r>
              <a:rPr lang="da-DK" dirty="0"/>
              <a:t> or </a:t>
            </a:r>
            <a:r>
              <a:rPr lang="da-DK" dirty="0" err="1"/>
              <a:t>using</a:t>
            </a:r>
            <a:r>
              <a:rPr lang="da-DK" dirty="0"/>
              <a:t> </a:t>
            </a:r>
            <a:r>
              <a:rPr lang="da-DK" dirty="0" err="1"/>
              <a:t>automated</a:t>
            </a:r>
            <a:r>
              <a:rPr lang="da-DK" dirty="0"/>
              <a:t> </a:t>
            </a:r>
            <a:r>
              <a:rPr lang="da-DK" dirty="0" err="1"/>
              <a:t>tools</a:t>
            </a:r>
            <a:r>
              <a:rPr lang="da-DK" dirty="0"/>
              <a:t>, </a:t>
            </a:r>
            <a:r>
              <a:rPr lang="da-DK" dirty="0" err="1"/>
              <a:t>monitoring</a:t>
            </a:r>
            <a:r>
              <a:rPr lang="da-DK" dirty="0"/>
              <a:t> the </a:t>
            </a:r>
            <a:r>
              <a:rPr lang="da-DK" dirty="0" err="1"/>
              <a:t>application's</a:t>
            </a:r>
            <a:r>
              <a:rPr lang="da-DK" dirty="0"/>
              <a:t> </a:t>
            </a:r>
            <a:r>
              <a:rPr lang="da-DK" dirty="0" err="1"/>
              <a:t>behavior</a:t>
            </a:r>
            <a:r>
              <a:rPr lang="da-DK" dirty="0"/>
              <a:t> and performance</a:t>
            </a:r>
          </a:p>
          <a:p>
            <a:r>
              <a:rPr lang="da-DK" dirty="0" err="1"/>
              <a:t>Analyze</a:t>
            </a:r>
            <a:r>
              <a:rPr lang="da-DK" dirty="0"/>
              <a:t> </a:t>
            </a:r>
            <a:r>
              <a:rPr lang="da-DK" dirty="0" err="1"/>
              <a:t>results</a:t>
            </a:r>
            <a:r>
              <a:rPr lang="da-DK" dirty="0"/>
              <a:t>: </a:t>
            </a:r>
            <a:r>
              <a:rPr lang="da-DK" dirty="0" err="1"/>
              <a:t>Identify</a:t>
            </a:r>
            <a:r>
              <a:rPr lang="da-DK" dirty="0"/>
              <a:t> </a:t>
            </a:r>
            <a:r>
              <a:rPr lang="da-DK" dirty="0" err="1"/>
              <a:t>any</a:t>
            </a:r>
            <a:r>
              <a:rPr lang="da-DK" dirty="0"/>
              <a:t> issues, </a:t>
            </a:r>
            <a:r>
              <a:rPr lang="da-DK" dirty="0" err="1"/>
              <a:t>defects</a:t>
            </a:r>
            <a:r>
              <a:rPr lang="da-DK" dirty="0"/>
              <a:t>, or deviations from </a:t>
            </a:r>
            <a:r>
              <a:rPr lang="da-DK" dirty="0" err="1"/>
              <a:t>expected</a:t>
            </a:r>
            <a:r>
              <a:rPr lang="da-DK" dirty="0"/>
              <a:t> </a:t>
            </a:r>
            <a:r>
              <a:rPr lang="da-DK" dirty="0" err="1"/>
              <a:t>behavior</a:t>
            </a:r>
            <a:r>
              <a:rPr lang="da-DK" dirty="0"/>
              <a:t> and </a:t>
            </a:r>
            <a:r>
              <a:rPr lang="da-DK" dirty="0" err="1"/>
              <a:t>work</a:t>
            </a:r>
            <a:r>
              <a:rPr lang="da-DK" dirty="0"/>
              <a:t> with the </a:t>
            </a:r>
            <a:r>
              <a:rPr lang="da-DK" dirty="0" err="1"/>
              <a:t>development</a:t>
            </a:r>
            <a:r>
              <a:rPr lang="da-DK" dirty="0"/>
              <a:t> team to </a:t>
            </a:r>
            <a:r>
              <a:rPr lang="da-DK" dirty="0" err="1"/>
              <a:t>resolve</a:t>
            </a:r>
            <a:r>
              <a:rPr lang="da-DK" dirty="0"/>
              <a:t> </a:t>
            </a:r>
            <a:r>
              <a:rPr lang="da-DK" dirty="0" err="1"/>
              <a:t>them</a:t>
            </a:r>
            <a:endParaRPr lang="da-DK" dirty="0"/>
          </a:p>
          <a:p>
            <a:r>
              <a:rPr lang="da-DK" dirty="0" err="1"/>
              <a:t>Validate</a:t>
            </a:r>
            <a:r>
              <a:rPr lang="da-DK" dirty="0"/>
              <a:t> fixes and </a:t>
            </a:r>
            <a:r>
              <a:rPr lang="da-DK" dirty="0" err="1"/>
              <a:t>re-test</a:t>
            </a:r>
            <a:r>
              <a:rPr lang="da-DK" dirty="0"/>
              <a:t>: </a:t>
            </a:r>
            <a:r>
              <a:rPr lang="da-DK" dirty="0" err="1"/>
              <a:t>Ensure</a:t>
            </a:r>
            <a:r>
              <a:rPr lang="da-DK" dirty="0"/>
              <a:t> </a:t>
            </a:r>
            <a:r>
              <a:rPr lang="da-DK" dirty="0" err="1"/>
              <a:t>that</a:t>
            </a:r>
            <a:r>
              <a:rPr lang="da-DK" dirty="0"/>
              <a:t> issues have </a:t>
            </a:r>
            <a:r>
              <a:rPr lang="da-DK" dirty="0" err="1"/>
              <a:t>been</a:t>
            </a:r>
            <a:r>
              <a:rPr lang="da-DK" dirty="0"/>
              <a:t> </a:t>
            </a:r>
            <a:r>
              <a:rPr lang="da-DK" dirty="0" err="1"/>
              <a:t>effectively</a:t>
            </a:r>
            <a:r>
              <a:rPr lang="da-DK" dirty="0"/>
              <a:t> </a:t>
            </a:r>
            <a:r>
              <a:rPr lang="da-DK" dirty="0" err="1"/>
              <a:t>resolved</a:t>
            </a:r>
            <a:r>
              <a:rPr lang="da-DK" dirty="0"/>
              <a:t> and </a:t>
            </a:r>
            <a:r>
              <a:rPr lang="da-DK" dirty="0" err="1"/>
              <a:t>re-test</a:t>
            </a:r>
            <a:r>
              <a:rPr lang="da-DK" dirty="0"/>
              <a:t> as </a:t>
            </a:r>
            <a:r>
              <a:rPr lang="da-DK" dirty="0" err="1"/>
              <a:t>needed</a:t>
            </a:r>
            <a:endParaRPr lang="en-DK" sz="500" dirty="0"/>
          </a:p>
        </p:txBody>
      </p:sp>
    </p:spTree>
    <p:extLst>
      <p:ext uri="{BB962C8B-B14F-4D97-AF65-F5344CB8AC3E}">
        <p14:creationId xmlns:p14="http://schemas.microsoft.com/office/powerpoint/2010/main" val="2084037357"/>
      </p:ext>
    </p:extLst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9CBBB199-CEE7-4207-9B94-FABE54697AB5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da-DK" dirty="0"/>
              <a:t>Web Application </a:t>
            </a:r>
            <a:r>
              <a:rPr lang="da-DK" dirty="0" err="1"/>
              <a:t>Testing</a:t>
            </a:r>
            <a:endParaRPr lang="da-DK" dirty="0"/>
          </a:p>
        </p:txBody>
      </p:sp>
      <p:sp>
        <p:nvSpPr>
          <p:cNvPr id="4" name="Pladsholder til dato 3">
            <a:extLst>
              <a:ext uri="{FF2B5EF4-FFF2-40B4-BE49-F238E27FC236}">
                <a16:creationId xmlns:a16="http://schemas.microsoft.com/office/drawing/2014/main" id="{DF6BBC47-AF93-4B51-BB19-37E8FA70A1FC}"/>
              </a:ext>
            </a:extLst>
          </p:cNvPr>
          <p:cNvSpPr>
            <a:spLocks noGrp="1"/>
          </p:cNvSpPr>
          <p:nvPr>
            <p:ph type="dt" sz="half" idx="2"/>
          </p:nvPr>
        </p:nvSpPr>
        <p:spPr/>
        <p:txBody>
          <a:bodyPr/>
          <a:lstStyle/>
          <a:p>
            <a:fld id="{1D326F97-033E-40DE-A683-79560FFFFEF4}" type="datetime1">
              <a:rPr lang="en-GB" smtClean="0"/>
              <a:t>24/04/2023</a:t>
            </a:fld>
            <a:endParaRPr lang="en-GB" dirty="0"/>
          </a:p>
        </p:txBody>
      </p:sp>
      <p:sp>
        <p:nvSpPr>
          <p:cNvPr id="5" name="Pladsholder til sidefod 4">
            <a:extLst>
              <a:ext uri="{FF2B5EF4-FFF2-40B4-BE49-F238E27FC236}">
                <a16:creationId xmlns:a16="http://schemas.microsoft.com/office/drawing/2014/main" id="{0A4065D9-777F-4BC2-8DA9-0E100CD3446A}"/>
              </a:ext>
            </a:extLst>
          </p:cNvPr>
          <p:cNvSpPr>
            <a:spLocks noGrp="1"/>
          </p:cNvSpPr>
          <p:nvPr>
            <p:ph type="ftr" sz="quarter" idx="14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6" name="Pladsholder til slidenummer 5">
            <a:extLst>
              <a:ext uri="{FF2B5EF4-FFF2-40B4-BE49-F238E27FC236}">
                <a16:creationId xmlns:a16="http://schemas.microsoft.com/office/drawing/2014/main" id="{1971CA48-5488-429E-869D-06623C5E5997}"/>
              </a:ext>
            </a:extLst>
          </p:cNvPr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fld id="{45D37B1E-C366-494F-A587-962AD9AABC83}" type="slidenum">
              <a:rPr lang="en-GB" smtClean="0"/>
              <a:pPr/>
              <a:t>59</a:t>
            </a:fld>
            <a:endParaRPr lang="en-GB" dirty="0"/>
          </a:p>
        </p:txBody>
      </p:sp>
      <p:sp>
        <p:nvSpPr>
          <p:cNvPr id="10" name="Content Placeholder 9">
            <a:extLst>
              <a:ext uri="{FF2B5EF4-FFF2-40B4-BE49-F238E27FC236}">
                <a16:creationId xmlns:a16="http://schemas.microsoft.com/office/drawing/2014/main" id="{040613FC-F94A-0712-DF75-092CF5474396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414696" y="1700212"/>
            <a:ext cx="10952578" cy="4408925"/>
          </a:xfrm>
        </p:spPr>
        <p:txBody>
          <a:bodyPr/>
          <a:lstStyle/>
          <a:p>
            <a:r>
              <a:rPr lang="da-DK" dirty="0"/>
              <a:t>Tips for </a:t>
            </a:r>
            <a:r>
              <a:rPr lang="da-DK" dirty="0" err="1"/>
              <a:t>Effective</a:t>
            </a:r>
            <a:r>
              <a:rPr lang="da-DK" dirty="0"/>
              <a:t> Web Application </a:t>
            </a:r>
            <a:r>
              <a:rPr lang="da-DK" dirty="0" err="1"/>
              <a:t>Testing</a:t>
            </a:r>
            <a:endParaRPr lang="da-DK" dirty="0"/>
          </a:p>
          <a:p>
            <a:endParaRPr lang="da-DK" dirty="0"/>
          </a:p>
          <a:p>
            <a:r>
              <a:rPr lang="da-DK" dirty="0" err="1"/>
              <a:t>Prioritize</a:t>
            </a:r>
            <a:r>
              <a:rPr lang="da-DK" dirty="0"/>
              <a:t> </a:t>
            </a:r>
            <a:r>
              <a:rPr lang="da-DK" dirty="0" err="1"/>
              <a:t>testing</a:t>
            </a:r>
            <a:r>
              <a:rPr lang="da-DK" dirty="0"/>
              <a:t> </a:t>
            </a:r>
            <a:r>
              <a:rPr lang="da-DK" dirty="0" err="1"/>
              <a:t>based</a:t>
            </a:r>
            <a:r>
              <a:rPr lang="da-DK" dirty="0"/>
              <a:t> on </a:t>
            </a:r>
            <a:r>
              <a:rPr lang="da-DK" dirty="0" err="1"/>
              <a:t>critical</a:t>
            </a:r>
            <a:r>
              <a:rPr lang="da-DK" dirty="0"/>
              <a:t> </a:t>
            </a:r>
            <a:r>
              <a:rPr lang="da-DK" dirty="0" err="1"/>
              <a:t>functionality</a:t>
            </a:r>
            <a:r>
              <a:rPr lang="da-DK" dirty="0"/>
              <a:t>, user flows, and </a:t>
            </a:r>
            <a:r>
              <a:rPr lang="da-DK" dirty="0" err="1"/>
              <a:t>popular</a:t>
            </a:r>
            <a:r>
              <a:rPr lang="da-DK" dirty="0"/>
              <a:t> browser/</a:t>
            </a:r>
            <a:r>
              <a:rPr lang="da-DK" dirty="0" err="1"/>
              <a:t>device</a:t>
            </a:r>
            <a:r>
              <a:rPr lang="da-DK" dirty="0"/>
              <a:t> </a:t>
            </a:r>
            <a:r>
              <a:rPr lang="da-DK" dirty="0" err="1"/>
              <a:t>combinations</a:t>
            </a:r>
            <a:endParaRPr lang="da-DK" dirty="0"/>
          </a:p>
          <a:p>
            <a:r>
              <a:rPr lang="da-DK" dirty="0" err="1"/>
              <a:t>Use</a:t>
            </a:r>
            <a:r>
              <a:rPr lang="da-DK" dirty="0"/>
              <a:t> a </a:t>
            </a:r>
            <a:r>
              <a:rPr lang="da-DK" dirty="0" err="1"/>
              <a:t>combination</a:t>
            </a:r>
            <a:r>
              <a:rPr lang="da-DK" dirty="0"/>
              <a:t> of manual and </a:t>
            </a:r>
            <a:r>
              <a:rPr lang="da-DK" dirty="0" err="1"/>
              <a:t>automated</a:t>
            </a:r>
            <a:r>
              <a:rPr lang="da-DK" dirty="0"/>
              <a:t> </a:t>
            </a:r>
            <a:r>
              <a:rPr lang="da-DK" dirty="0" err="1"/>
              <a:t>testing</a:t>
            </a:r>
            <a:r>
              <a:rPr lang="da-DK" dirty="0"/>
              <a:t> </a:t>
            </a:r>
            <a:r>
              <a:rPr lang="da-DK" dirty="0" err="1"/>
              <a:t>techniques</a:t>
            </a:r>
            <a:r>
              <a:rPr lang="da-DK" dirty="0"/>
              <a:t> to </a:t>
            </a:r>
            <a:r>
              <a:rPr lang="da-DK" dirty="0" err="1"/>
              <a:t>maximize</a:t>
            </a:r>
            <a:r>
              <a:rPr lang="da-DK" dirty="0"/>
              <a:t> </a:t>
            </a:r>
            <a:r>
              <a:rPr lang="da-DK" dirty="0" err="1"/>
              <a:t>coverage</a:t>
            </a:r>
            <a:r>
              <a:rPr lang="da-DK" dirty="0"/>
              <a:t> and </a:t>
            </a:r>
            <a:r>
              <a:rPr lang="da-DK" dirty="0" err="1"/>
              <a:t>efficiency</a:t>
            </a:r>
            <a:endParaRPr lang="da-DK" dirty="0"/>
          </a:p>
          <a:p>
            <a:r>
              <a:rPr lang="da-DK" dirty="0" err="1"/>
              <a:t>Stay</a:t>
            </a:r>
            <a:r>
              <a:rPr lang="da-DK" dirty="0"/>
              <a:t> up-to-date with the </a:t>
            </a:r>
            <a:r>
              <a:rPr lang="da-DK" dirty="0" err="1"/>
              <a:t>latest</a:t>
            </a:r>
            <a:r>
              <a:rPr lang="da-DK" dirty="0"/>
              <a:t> web </a:t>
            </a:r>
            <a:r>
              <a:rPr lang="da-DK" dirty="0" err="1"/>
              <a:t>development</a:t>
            </a:r>
            <a:r>
              <a:rPr lang="da-DK" dirty="0"/>
              <a:t> trends, </a:t>
            </a:r>
            <a:r>
              <a:rPr lang="da-DK" dirty="0" err="1"/>
              <a:t>tools</a:t>
            </a:r>
            <a:r>
              <a:rPr lang="da-DK" dirty="0"/>
              <a:t>, and </a:t>
            </a:r>
            <a:r>
              <a:rPr lang="da-DK" dirty="0" err="1"/>
              <a:t>best</a:t>
            </a:r>
            <a:r>
              <a:rPr lang="da-DK" dirty="0"/>
              <a:t> practices</a:t>
            </a:r>
          </a:p>
          <a:p>
            <a:r>
              <a:rPr lang="da-DK" dirty="0"/>
              <a:t>Foster </a:t>
            </a:r>
            <a:r>
              <a:rPr lang="da-DK" dirty="0" err="1"/>
              <a:t>collaboration</a:t>
            </a:r>
            <a:r>
              <a:rPr lang="da-DK" dirty="0"/>
              <a:t> </a:t>
            </a:r>
            <a:r>
              <a:rPr lang="da-DK" dirty="0" err="1"/>
              <a:t>between</a:t>
            </a:r>
            <a:r>
              <a:rPr lang="da-DK" dirty="0"/>
              <a:t> developers, testers, and </a:t>
            </a:r>
            <a:r>
              <a:rPr lang="da-DK" dirty="0" err="1"/>
              <a:t>other</a:t>
            </a:r>
            <a:r>
              <a:rPr lang="da-DK" dirty="0"/>
              <a:t> stakeholders to </a:t>
            </a:r>
            <a:r>
              <a:rPr lang="da-DK" dirty="0" err="1"/>
              <a:t>ensure</a:t>
            </a:r>
            <a:r>
              <a:rPr lang="da-DK" dirty="0"/>
              <a:t> a high-</a:t>
            </a:r>
            <a:r>
              <a:rPr lang="da-DK" dirty="0" err="1"/>
              <a:t>quality</a:t>
            </a:r>
            <a:r>
              <a:rPr lang="da-DK" dirty="0"/>
              <a:t> end product</a:t>
            </a:r>
            <a:endParaRPr lang="en-DK" sz="500" dirty="0"/>
          </a:p>
        </p:txBody>
      </p:sp>
    </p:spTree>
    <p:extLst>
      <p:ext uri="{BB962C8B-B14F-4D97-AF65-F5344CB8AC3E}">
        <p14:creationId xmlns:p14="http://schemas.microsoft.com/office/powerpoint/2010/main" val="2994586935"/>
      </p:ext>
    </p:extLst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552FF25E-24BF-4225-87AB-B2869F94CB2B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da-DK"/>
          </a:p>
        </p:txBody>
      </p:sp>
      <p:sp>
        <p:nvSpPr>
          <p:cNvPr id="3" name="Pladsholder til dato 2">
            <a:extLst>
              <a:ext uri="{FF2B5EF4-FFF2-40B4-BE49-F238E27FC236}">
                <a16:creationId xmlns:a16="http://schemas.microsoft.com/office/drawing/2014/main" id="{4C93D788-8D9D-4045-B518-6692018D89DE}"/>
              </a:ext>
            </a:extLst>
          </p:cNvPr>
          <p:cNvSpPr>
            <a:spLocks noGrp="1"/>
          </p:cNvSpPr>
          <p:nvPr>
            <p:ph type="dt" sz="half" idx="2"/>
          </p:nvPr>
        </p:nvSpPr>
        <p:spPr/>
        <p:txBody>
          <a:bodyPr/>
          <a:lstStyle/>
          <a:p>
            <a:fld id="{B4C4C6FD-8607-43FF-8BC8-950EFB970BA3}" type="datetime1">
              <a:rPr lang="en-GB" smtClean="0"/>
              <a:t>24/04/2023</a:t>
            </a:fld>
            <a:endParaRPr lang="en-GB" dirty="0"/>
          </a:p>
        </p:txBody>
      </p:sp>
      <p:sp>
        <p:nvSpPr>
          <p:cNvPr id="4" name="Rektangel 3">
            <a:extLst>
              <a:ext uri="{FF2B5EF4-FFF2-40B4-BE49-F238E27FC236}">
                <a16:creationId xmlns:a16="http://schemas.microsoft.com/office/drawing/2014/main" id="{F994D39F-0217-4BCC-AD0B-429E7605B2F1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2">
              <a:lumMod val="60000"/>
              <a:lumOff val="40000"/>
            </a:schemeClr>
          </a:solidFill>
          <a:ln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tIns="72000" rIns="72000" bIns="72000" rtlCol="0" anchor="ctr"/>
          <a:lstStyle/>
          <a:p>
            <a:pPr algn="ctr"/>
            <a:r>
              <a:rPr lang="da-DK" sz="2800" b="1" dirty="0"/>
              <a:t>End to end </a:t>
            </a:r>
            <a:r>
              <a:rPr lang="da-DK" sz="2800" b="1" dirty="0" err="1"/>
              <a:t>testing</a:t>
            </a:r>
            <a:endParaRPr lang="da-DK" sz="2800" b="1" dirty="0"/>
          </a:p>
        </p:txBody>
      </p:sp>
    </p:spTree>
    <p:extLst>
      <p:ext uri="{BB962C8B-B14F-4D97-AF65-F5344CB8AC3E}">
        <p14:creationId xmlns:p14="http://schemas.microsoft.com/office/powerpoint/2010/main" val="3755985882"/>
      </p:ext>
    </p:extLst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9CBBB199-CEE7-4207-9B94-FABE54697AB5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da-DK" dirty="0"/>
              <a:t>End-to-End </a:t>
            </a:r>
            <a:r>
              <a:rPr lang="da-DK" dirty="0" err="1"/>
              <a:t>Testing</a:t>
            </a:r>
            <a:r>
              <a:rPr lang="da-DK" dirty="0"/>
              <a:t> for Web Applications</a:t>
            </a:r>
          </a:p>
        </p:txBody>
      </p:sp>
      <p:sp>
        <p:nvSpPr>
          <p:cNvPr id="4" name="Pladsholder til dato 3">
            <a:extLst>
              <a:ext uri="{FF2B5EF4-FFF2-40B4-BE49-F238E27FC236}">
                <a16:creationId xmlns:a16="http://schemas.microsoft.com/office/drawing/2014/main" id="{DF6BBC47-AF93-4B51-BB19-37E8FA70A1FC}"/>
              </a:ext>
            </a:extLst>
          </p:cNvPr>
          <p:cNvSpPr>
            <a:spLocks noGrp="1"/>
          </p:cNvSpPr>
          <p:nvPr>
            <p:ph type="dt" sz="half" idx="2"/>
          </p:nvPr>
        </p:nvSpPr>
        <p:spPr/>
        <p:txBody>
          <a:bodyPr/>
          <a:lstStyle/>
          <a:p>
            <a:fld id="{1D326F97-033E-40DE-A683-79560FFFFEF4}" type="datetime1">
              <a:rPr lang="en-GB" smtClean="0"/>
              <a:t>24/04/2023</a:t>
            </a:fld>
            <a:endParaRPr lang="en-GB" dirty="0"/>
          </a:p>
        </p:txBody>
      </p:sp>
      <p:sp>
        <p:nvSpPr>
          <p:cNvPr id="5" name="Pladsholder til sidefod 4">
            <a:extLst>
              <a:ext uri="{FF2B5EF4-FFF2-40B4-BE49-F238E27FC236}">
                <a16:creationId xmlns:a16="http://schemas.microsoft.com/office/drawing/2014/main" id="{0A4065D9-777F-4BC2-8DA9-0E100CD3446A}"/>
              </a:ext>
            </a:extLst>
          </p:cNvPr>
          <p:cNvSpPr>
            <a:spLocks noGrp="1"/>
          </p:cNvSpPr>
          <p:nvPr>
            <p:ph type="ftr" sz="quarter" idx="14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6" name="Pladsholder til slidenummer 5">
            <a:extLst>
              <a:ext uri="{FF2B5EF4-FFF2-40B4-BE49-F238E27FC236}">
                <a16:creationId xmlns:a16="http://schemas.microsoft.com/office/drawing/2014/main" id="{1971CA48-5488-429E-869D-06623C5E5997}"/>
              </a:ext>
            </a:extLst>
          </p:cNvPr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fld id="{45D37B1E-C366-494F-A587-962AD9AABC83}" type="slidenum">
              <a:rPr lang="en-GB" smtClean="0"/>
              <a:pPr/>
              <a:t>61</a:t>
            </a:fld>
            <a:endParaRPr lang="en-GB" dirty="0"/>
          </a:p>
        </p:txBody>
      </p:sp>
      <p:sp>
        <p:nvSpPr>
          <p:cNvPr id="10" name="Content Placeholder 9">
            <a:extLst>
              <a:ext uri="{FF2B5EF4-FFF2-40B4-BE49-F238E27FC236}">
                <a16:creationId xmlns:a16="http://schemas.microsoft.com/office/drawing/2014/main" id="{040613FC-F94A-0712-DF75-092CF5474396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414696" y="1700212"/>
            <a:ext cx="10952578" cy="4408925"/>
          </a:xfrm>
        </p:spPr>
        <p:txBody>
          <a:bodyPr/>
          <a:lstStyle/>
          <a:p>
            <a:r>
              <a:rPr lang="da-DK" dirty="0"/>
              <a:t>Purpose: </a:t>
            </a:r>
            <a:r>
              <a:rPr lang="da-DK" dirty="0" err="1"/>
              <a:t>Validates</a:t>
            </a:r>
            <a:r>
              <a:rPr lang="da-DK" dirty="0"/>
              <a:t> the </a:t>
            </a:r>
            <a:r>
              <a:rPr lang="da-DK" dirty="0" err="1"/>
              <a:t>entire</a:t>
            </a:r>
            <a:r>
              <a:rPr lang="da-DK" dirty="0"/>
              <a:t> user </a:t>
            </a:r>
            <a:r>
              <a:rPr lang="da-DK" dirty="0" err="1"/>
              <a:t>journey</a:t>
            </a:r>
            <a:r>
              <a:rPr lang="da-DK" dirty="0"/>
              <a:t>, from the front-end user interface to back-end components and </a:t>
            </a:r>
            <a:r>
              <a:rPr lang="da-DK" dirty="0" err="1"/>
              <a:t>APIs</a:t>
            </a:r>
            <a:endParaRPr lang="da-DK" dirty="0"/>
          </a:p>
          <a:p>
            <a:r>
              <a:rPr lang="da-DK" dirty="0" err="1"/>
              <a:t>Goals</a:t>
            </a:r>
            <a:r>
              <a:rPr lang="da-DK" dirty="0"/>
              <a:t>: </a:t>
            </a:r>
            <a:r>
              <a:rPr lang="da-DK" dirty="0" err="1"/>
              <a:t>Identify</a:t>
            </a:r>
            <a:r>
              <a:rPr lang="da-DK" dirty="0"/>
              <a:t> integration issues, </a:t>
            </a:r>
            <a:r>
              <a:rPr lang="da-DK" dirty="0" err="1"/>
              <a:t>confirm</a:t>
            </a:r>
            <a:r>
              <a:rPr lang="da-DK" dirty="0"/>
              <a:t> the </a:t>
            </a:r>
            <a:r>
              <a:rPr lang="da-DK" dirty="0" err="1"/>
              <a:t>application</a:t>
            </a:r>
            <a:r>
              <a:rPr lang="da-DK" dirty="0"/>
              <a:t> </a:t>
            </a:r>
            <a:r>
              <a:rPr lang="da-DK" dirty="0" err="1"/>
              <a:t>meets</a:t>
            </a:r>
            <a:r>
              <a:rPr lang="da-DK" dirty="0"/>
              <a:t> user </a:t>
            </a:r>
            <a:r>
              <a:rPr lang="da-DK" dirty="0" err="1"/>
              <a:t>requirements</a:t>
            </a:r>
            <a:r>
              <a:rPr lang="da-DK" dirty="0"/>
              <a:t>, and </a:t>
            </a:r>
            <a:r>
              <a:rPr lang="da-DK" dirty="0" err="1"/>
              <a:t>ensure</a:t>
            </a:r>
            <a:r>
              <a:rPr lang="da-DK" dirty="0"/>
              <a:t> a </a:t>
            </a:r>
            <a:r>
              <a:rPr lang="da-DK" dirty="0" err="1"/>
              <a:t>seamless</a:t>
            </a:r>
            <a:r>
              <a:rPr lang="da-DK" dirty="0"/>
              <a:t> user </a:t>
            </a:r>
            <a:r>
              <a:rPr lang="da-DK" dirty="0" err="1"/>
              <a:t>experience</a:t>
            </a:r>
            <a:endParaRPr lang="en-DK" sz="500" dirty="0"/>
          </a:p>
        </p:txBody>
      </p:sp>
    </p:spTree>
    <p:extLst>
      <p:ext uri="{BB962C8B-B14F-4D97-AF65-F5344CB8AC3E}">
        <p14:creationId xmlns:p14="http://schemas.microsoft.com/office/powerpoint/2010/main" val="3349994208"/>
      </p:ext>
    </p:extLst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9CBBB199-CEE7-4207-9B94-FABE54697AB5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da-DK" dirty="0"/>
              <a:t>End-to-End </a:t>
            </a:r>
            <a:r>
              <a:rPr lang="da-DK" dirty="0" err="1"/>
              <a:t>Testing</a:t>
            </a:r>
            <a:r>
              <a:rPr lang="da-DK" dirty="0"/>
              <a:t> for Web Applications</a:t>
            </a:r>
          </a:p>
        </p:txBody>
      </p:sp>
      <p:sp>
        <p:nvSpPr>
          <p:cNvPr id="4" name="Pladsholder til dato 3">
            <a:extLst>
              <a:ext uri="{FF2B5EF4-FFF2-40B4-BE49-F238E27FC236}">
                <a16:creationId xmlns:a16="http://schemas.microsoft.com/office/drawing/2014/main" id="{DF6BBC47-AF93-4B51-BB19-37E8FA70A1FC}"/>
              </a:ext>
            </a:extLst>
          </p:cNvPr>
          <p:cNvSpPr>
            <a:spLocks noGrp="1"/>
          </p:cNvSpPr>
          <p:nvPr>
            <p:ph type="dt" sz="half" idx="2"/>
          </p:nvPr>
        </p:nvSpPr>
        <p:spPr/>
        <p:txBody>
          <a:bodyPr/>
          <a:lstStyle/>
          <a:p>
            <a:fld id="{1D326F97-033E-40DE-A683-79560FFFFEF4}" type="datetime1">
              <a:rPr lang="en-GB" smtClean="0"/>
              <a:t>24/04/2023</a:t>
            </a:fld>
            <a:endParaRPr lang="en-GB" dirty="0"/>
          </a:p>
        </p:txBody>
      </p:sp>
      <p:sp>
        <p:nvSpPr>
          <p:cNvPr id="5" name="Pladsholder til sidefod 4">
            <a:extLst>
              <a:ext uri="{FF2B5EF4-FFF2-40B4-BE49-F238E27FC236}">
                <a16:creationId xmlns:a16="http://schemas.microsoft.com/office/drawing/2014/main" id="{0A4065D9-777F-4BC2-8DA9-0E100CD3446A}"/>
              </a:ext>
            </a:extLst>
          </p:cNvPr>
          <p:cNvSpPr>
            <a:spLocks noGrp="1"/>
          </p:cNvSpPr>
          <p:nvPr>
            <p:ph type="ftr" sz="quarter" idx="14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6" name="Pladsholder til slidenummer 5">
            <a:extLst>
              <a:ext uri="{FF2B5EF4-FFF2-40B4-BE49-F238E27FC236}">
                <a16:creationId xmlns:a16="http://schemas.microsoft.com/office/drawing/2014/main" id="{1971CA48-5488-429E-869D-06623C5E5997}"/>
              </a:ext>
            </a:extLst>
          </p:cNvPr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fld id="{45D37B1E-C366-494F-A587-962AD9AABC83}" type="slidenum">
              <a:rPr lang="en-GB" smtClean="0"/>
              <a:pPr/>
              <a:t>62</a:t>
            </a:fld>
            <a:endParaRPr lang="en-GB" dirty="0"/>
          </a:p>
        </p:txBody>
      </p:sp>
      <p:sp>
        <p:nvSpPr>
          <p:cNvPr id="10" name="Content Placeholder 9">
            <a:extLst>
              <a:ext uri="{FF2B5EF4-FFF2-40B4-BE49-F238E27FC236}">
                <a16:creationId xmlns:a16="http://schemas.microsoft.com/office/drawing/2014/main" id="{040613FC-F94A-0712-DF75-092CF5474396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414696" y="1700212"/>
            <a:ext cx="10952578" cy="4408925"/>
          </a:xfrm>
        </p:spPr>
        <p:txBody>
          <a:bodyPr/>
          <a:lstStyle/>
          <a:p>
            <a:r>
              <a:rPr lang="da-DK" dirty="0"/>
              <a:t>Key Components</a:t>
            </a:r>
          </a:p>
          <a:p>
            <a:endParaRPr lang="da-DK" dirty="0"/>
          </a:p>
          <a:p>
            <a:r>
              <a:rPr lang="da-DK" dirty="0"/>
              <a:t>User interface: Test the layout, design, and user </a:t>
            </a:r>
            <a:r>
              <a:rPr lang="da-DK" dirty="0" err="1"/>
              <a:t>interactions</a:t>
            </a:r>
            <a:r>
              <a:rPr lang="da-DK" dirty="0"/>
              <a:t> of the </a:t>
            </a:r>
            <a:r>
              <a:rPr lang="da-DK" dirty="0" err="1"/>
              <a:t>application</a:t>
            </a:r>
            <a:endParaRPr lang="da-DK" dirty="0"/>
          </a:p>
          <a:p>
            <a:r>
              <a:rPr lang="da-DK" dirty="0" err="1"/>
              <a:t>APIs</a:t>
            </a:r>
            <a:r>
              <a:rPr lang="da-DK" dirty="0"/>
              <a:t>: </a:t>
            </a:r>
            <a:r>
              <a:rPr lang="da-DK" dirty="0" err="1"/>
              <a:t>Validate</a:t>
            </a:r>
            <a:r>
              <a:rPr lang="da-DK" dirty="0"/>
              <a:t> the </a:t>
            </a:r>
            <a:r>
              <a:rPr lang="da-DK" dirty="0" err="1"/>
              <a:t>functionality</a:t>
            </a:r>
            <a:r>
              <a:rPr lang="da-DK" dirty="0"/>
              <a:t>, performance, and security of </a:t>
            </a:r>
            <a:r>
              <a:rPr lang="da-DK" dirty="0" err="1"/>
              <a:t>APIs</a:t>
            </a:r>
            <a:r>
              <a:rPr lang="da-DK" dirty="0"/>
              <a:t> </a:t>
            </a:r>
            <a:r>
              <a:rPr lang="da-DK" dirty="0" err="1"/>
              <a:t>used</a:t>
            </a:r>
            <a:r>
              <a:rPr lang="da-DK" dirty="0"/>
              <a:t> by the </a:t>
            </a:r>
            <a:r>
              <a:rPr lang="da-DK" dirty="0" err="1"/>
              <a:t>application</a:t>
            </a:r>
            <a:endParaRPr lang="da-DK" dirty="0"/>
          </a:p>
          <a:p>
            <a:r>
              <a:rPr lang="da-DK" dirty="0"/>
              <a:t>Databases: </a:t>
            </a:r>
            <a:r>
              <a:rPr lang="da-DK" dirty="0" err="1"/>
              <a:t>Ensure</a:t>
            </a:r>
            <a:r>
              <a:rPr lang="da-DK" dirty="0"/>
              <a:t> data </a:t>
            </a:r>
            <a:r>
              <a:rPr lang="da-DK" dirty="0" err="1"/>
              <a:t>storage</a:t>
            </a:r>
            <a:r>
              <a:rPr lang="da-DK" dirty="0"/>
              <a:t>, </a:t>
            </a:r>
            <a:r>
              <a:rPr lang="da-DK" dirty="0" err="1"/>
              <a:t>retrieval</a:t>
            </a:r>
            <a:r>
              <a:rPr lang="da-DK" dirty="0"/>
              <a:t>, and </a:t>
            </a:r>
            <a:r>
              <a:rPr lang="da-DK" dirty="0" err="1"/>
              <a:t>processing</a:t>
            </a:r>
            <a:r>
              <a:rPr lang="da-DK" dirty="0"/>
              <a:t> </a:t>
            </a:r>
            <a:r>
              <a:rPr lang="da-DK" dirty="0" err="1"/>
              <a:t>work</a:t>
            </a:r>
            <a:r>
              <a:rPr lang="da-DK" dirty="0"/>
              <a:t> as </a:t>
            </a:r>
            <a:r>
              <a:rPr lang="da-DK" dirty="0" err="1"/>
              <a:t>expected</a:t>
            </a:r>
            <a:endParaRPr lang="da-DK" dirty="0"/>
          </a:p>
          <a:p>
            <a:r>
              <a:rPr lang="da-DK" dirty="0"/>
              <a:t>Third-party integrations: Test the </a:t>
            </a:r>
            <a:r>
              <a:rPr lang="da-DK" dirty="0" err="1"/>
              <a:t>compatibility</a:t>
            </a:r>
            <a:r>
              <a:rPr lang="da-DK" dirty="0"/>
              <a:t> and </a:t>
            </a:r>
            <a:r>
              <a:rPr lang="da-DK" dirty="0" err="1"/>
              <a:t>reliability</a:t>
            </a:r>
            <a:r>
              <a:rPr lang="da-DK" dirty="0"/>
              <a:t> of third-party services </a:t>
            </a:r>
            <a:r>
              <a:rPr lang="da-DK" dirty="0" err="1"/>
              <a:t>used</a:t>
            </a:r>
            <a:r>
              <a:rPr lang="da-DK" dirty="0"/>
              <a:t> by the </a:t>
            </a:r>
            <a:r>
              <a:rPr lang="da-DK" dirty="0" err="1"/>
              <a:t>application</a:t>
            </a:r>
            <a:endParaRPr lang="en-DK" sz="500" dirty="0"/>
          </a:p>
        </p:txBody>
      </p:sp>
    </p:spTree>
    <p:extLst>
      <p:ext uri="{BB962C8B-B14F-4D97-AF65-F5344CB8AC3E}">
        <p14:creationId xmlns:p14="http://schemas.microsoft.com/office/powerpoint/2010/main" val="3428615095"/>
      </p:ext>
    </p:extLst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9CBBB199-CEE7-4207-9B94-FABE54697AB5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da-DK" dirty="0"/>
              <a:t>End-to-End </a:t>
            </a:r>
            <a:r>
              <a:rPr lang="da-DK" dirty="0" err="1"/>
              <a:t>Testing</a:t>
            </a:r>
            <a:r>
              <a:rPr lang="da-DK" dirty="0"/>
              <a:t> for Web Applications</a:t>
            </a:r>
          </a:p>
        </p:txBody>
      </p:sp>
      <p:sp>
        <p:nvSpPr>
          <p:cNvPr id="4" name="Pladsholder til dato 3">
            <a:extLst>
              <a:ext uri="{FF2B5EF4-FFF2-40B4-BE49-F238E27FC236}">
                <a16:creationId xmlns:a16="http://schemas.microsoft.com/office/drawing/2014/main" id="{DF6BBC47-AF93-4B51-BB19-37E8FA70A1FC}"/>
              </a:ext>
            </a:extLst>
          </p:cNvPr>
          <p:cNvSpPr>
            <a:spLocks noGrp="1"/>
          </p:cNvSpPr>
          <p:nvPr>
            <p:ph type="dt" sz="half" idx="2"/>
          </p:nvPr>
        </p:nvSpPr>
        <p:spPr/>
        <p:txBody>
          <a:bodyPr/>
          <a:lstStyle/>
          <a:p>
            <a:fld id="{1D326F97-033E-40DE-A683-79560FFFFEF4}" type="datetime1">
              <a:rPr lang="en-GB" smtClean="0"/>
              <a:t>24/04/2023</a:t>
            </a:fld>
            <a:endParaRPr lang="en-GB" dirty="0"/>
          </a:p>
        </p:txBody>
      </p:sp>
      <p:sp>
        <p:nvSpPr>
          <p:cNvPr id="5" name="Pladsholder til sidefod 4">
            <a:extLst>
              <a:ext uri="{FF2B5EF4-FFF2-40B4-BE49-F238E27FC236}">
                <a16:creationId xmlns:a16="http://schemas.microsoft.com/office/drawing/2014/main" id="{0A4065D9-777F-4BC2-8DA9-0E100CD3446A}"/>
              </a:ext>
            </a:extLst>
          </p:cNvPr>
          <p:cNvSpPr>
            <a:spLocks noGrp="1"/>
          </p:cNvSpPr>
          <p:nvPr>
            <p:ph type="ftr" sz="quarter" idx="14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6" name="Pladsholder til slidenummer 5">
            <a:extLst>
              <a:ext uri="{FF2B5EF4-FFF2-40B4-BE49-F238E27FC236}">
                <a16:creationId xmlns:a16="http://schemas.microsoft.com/office/drawing/2014/main" id="{1971CA48-5488-429E-869D-06623C5E5997}"/>
              </a:ext>
            </a:extLst>
          </p:cNvPr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fld id="{45D37B1E-C366-494F-A587-962AD9AABC83}" type="slidenum">
              <a:rPr lang="en-GB" smtClean="0"/>
              <a:pPr/>
              <a:t>63</a:t>
            </a:fld>
            <a:endParaRPr lang="en-GB" dirty="0"/>
          </a:p>
        </p:txBody>
      </p:sp>
      <p:sp>
        <p:nvSpPr>
          <p:cNvPr id="10" name="Content Placeholder 9">
            <a:extLst>
              <a:ext uri="{FF2B5EF4-FFF2-40B4-BE49-F238E27FC236}">
                <a16:creationId xmlns:a16="http://schemas.microsoft.com/office/drawing/2014/main" id="{040613FC-F94A-0712-DF75-092CF5474396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414696" y="1700212"/>
            <a:ext cx="10952578" cy="4408925"/>
          </a:xfrm>
        </p:spPr>
        <p:txBody>
          <a:bodyPr/>
          <a:lstStyle/>
          <a:p>
            <a:r>
              <a:rPr lang="da-DK" dirty="0" err="1"/>
              <a:t>Popular</a:t>
            </a:r>
            <a:r>
              <a:rPr lang="da-DK" dirty="0"/>
              <a:t> End-to-End </a:t>
            </a:r>
            <a:r>
              <a:rPr lang="da-DK" dirty="0" err="1"/>
              <a:t>Testing</a:t>
            </a:r>
            <a:r>
              <a:rPr lang="da-DK" dirty="0"/>
              <a:t> Tools</a:t>
            </a:r>
          </a:p>
          <a:p>
            <a:endParaRPr lang="da-DK" dirty="0"/>
          </a:p>
          <a:p>
            <a:r>
              <a:rPr lang="da-DK" dirty="0" err="1"/>
              <a:t>Selenium</a:t>
            </a:r>
            <a:r>
              <a:rPr lang="da-DK" dirty="0"/>
              <a:t> </a:t>
            </a:r>
            <a:r>
              <a:rPr lang="da-DK" dirty="0" err="1"/>
              <a:t>WebDriver</a:t>
            </a:r>
            <a:r>
              <a:rPr lang="da-DK" dirty="0"/>
              <a:t>: A browser automation framework for </a:t>
            </a:r>
            <a:r>
              <a:rPr lang="da-DK" dirty="0" err="1"/>
              <a:t>testing</a:t>
            </a:r>
            <a:r>
              <a:rPr lang="da-DK" dirty="0"/>
              <a:t> web </a:t>
            </a:r>
            <a:r>
              <a:rPr lang="da-DK" dirty="0" err="1"/>
              <a:t>applications</a:t>
            </a:r>
            <a:r>
              <a:rPr lang="da-DK" dirty="0"/>
              <a:t> </a:t>
            </a:r>
            <a:r>
              <a:rPr lang="da-DK" dirty="0" err="1"/>
              <a:t>across</a:t>
            </a:r>
            <a:r>
              <a:rPr lang="da-DK" dirty="0"/>
              <a:t> multiple browsers</a:t>
            </a:r>
          </a:p>
          <a:p>
            <a:r>
              <a:rPr lang="da-DK" dirty="0" err="1"/>
              <a:t>Cypress</a:t>
            </a:r>
            <a:r>
              <a:rPr lang="da-DK" dirty="0"/>
              <a:t>: A JavaScript-</a:t>
            </a:r>
            <a:r>
              <a:rPr lang="da-DK" dirty="0" err="1"/>
              <a:t>based</a:t>
            </a:r>
            <a:r>
              <a:rPr lang="da-DK" dirty="0"/>
              <a:t> end-to-end </a:t>
            </a:r>
            <a:r>
              <a:rPr lang="da-DK" dirty="0" err="1"/>
              <a:t>testing</a:t>
            </a:r>
            <a:r>
              <a:rPr lang="da-DK" dirty="0"/>
              <a:t> framework </a:t>
            </a:r>
            <a:r>
              <a:rPr lang="da-DK" dirty="0" err="1"/>
              <a:t>designed</a:t>
            </a:r>
            <a:r>
              <a:rPr lang="da-DK" dirty="0"/>
              <a:t> for </a:t>
            </a:r>
            <a:r>
              <a:rPr lang="da-DK" dirty="0" err="1"/>
              <a:t>modern</a:t>
            </a:r>
            <a:r>
              <a:rPr lang="da-DK" dirty="0"/>
              <a:t> web </a:t>
            </a:r>
            <a:r>
              <a:rPr lang="da-DK" dirty="0" err="1"/>
              <a:t>applications</a:t>
            </a:r>
            <a:endParaRPr lang="da-DK" dirty="0"/>
          </a:p>
          <a:p>
            <a:r>
              <a:rPr lang="da-DK" dirty="0" err="1"/>
              <a:t>Puppeteer</a:t>
            </a:r>
            <a:r>
              <a:rPr lang="da-DK" dirty="0"/>
              <a:t>: A </a:t>
            </a:r>
            <a:r>
              <a:rPr lang="da-DK" dirty="0" err="1"/>
              <a:t>Node.js</a:t>
            </a:r>
            <a:r>
              <a:rPr lang="da-DK" dirty="0"/>
              <a:t> </a:t>
            </a:r>
            <a:r>
              <a:rPr lang="da-DK" dirty="0" err="1"/>
              <a:t>library</a:t>
            </a:r>
            <a:r>
              <a:rPr lang="da-DK" dirty="0"/>
              <a:t> </a:t>
            </a:r>
            <a:r>
              <a:rPr lang="da-DK" dirty="0" err="1"/>
              <a:t>that</a:t>
            </a:r>
            <a:r>
              <a:rPr lang="da-DK" dirty="0"/>
              <a:t> provides a high-</a:t>
            </a:r>
            <a:r>
              <a:rPr lang="da-DK" dirty="0" err="1"/>
              <a:t>level</a:t>
            </a:r>
            <a:r>
              <a:rPr lang="da-DK" dirty="0"/>
              <a:t> API to </a:t>
            </a:r>
            <a:r>
              <a:rPr lang="da-DK" dirty="0" err="1"/>
              <a:t>control</a:t>
            </a:r>
            <a:r>
              <a:rPr lang="da-DK" dirty="0"/>
              <a:t> </a:t>
            </a:r>
            <a:r>
              <a:rPr lang="da-DK" dirty="0" err="1"/>
              <a:t>headless</a:t>
            </a:r>
            <a:r>
              <a:rPr lang="da-DK" dirty="0"/>
              <a:t> Chrome or </a:t>
            </a:r>
            <a:r>
              <a:rPr lang="da-DK" dirty="0" err="1"/>
              <a:t>Chromium</a:t>
            </a:r>
            <a:r>
              <a:rPr lang="da-DK" dirty="0"/>
              <a:t> browsers</a:t>
            </a:r>
            <a:endParaRPr lang="en-DK" sz="500" dirty="0"/>
          </a:p>
        </p:txBody>
      </p:sp>
    </p:spTree>
    <p:extLst>
      <p:ext uri="{BB962C8B-B14F-4D97-AF65-F5344CB8AC3E}">
        <p14:creationId xmlns:p14="http://schemas.microsoft.com/office/powerpoint/2010/main" val="256412590"/>
      </p:ext>
    </p:extLst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9CBBB199-CEE7-4207-9B94-FABE54697AB5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da-DK" dirty="0"/>
              <a:t>End-to-End </a:t>
            </a:r>
            <a:r>
              <a:rPr lang="da-DK" dirty="0" err="1"/>
              <a:t>Testing</a:t>
            </a:r>
            <a:r>
              <a:rPr lang="da-DK" dirty="0"/>
              <a:t> for Web Applications</a:t>
            </a:r>
          </a:p>
        </p:txBody>
      </p:sp>
      <p:sp>
        <p:nvSpPr>
          <p:cNvPr id="4" name="Pladsholder til dato 3">
            <a:extLst>
              <a:ext uri="{FF2B5EF4-FFF2-40B4-BE49-F238E27FC236}">
                <a16:creationId xmlns:a16="http://schemas.microsoft.com/office/drawing/2014/main" id="{DF6BBC47-AF93-4B51-BB19-37E8FA70A1FC}"/>
              </a:ext>
            </a:extLst>
          </p:cNvPr>
          <p:cNvSpPr>
            <a:spLocks noGrp="1"/>
          </p:cNvSpPr>
          <p:nvPr>
            <p:ph type="dt" sz="half" idx="2"/>
          </p:nvPr>
        </p:nvSpPr>
        <p:spPr/>
        <p:txBody>
          <a:bodyPr/>
          <a:lstStyle/>
          <a:p>
            <a:fld id="{1D326F97-033E-40DE-A683-79560FFFFEF4}" type="datetime1">
              <a:rPr lang="en-GB" smtClean="0"/>
              <a:t>24/04/2023</a:t>
            </a:fld>
            <a:endParaRPr lang="en-GB" dirty="0"/>
          </a:p>
        </p:txBody>
      </p:sp>
      <p:sp>
        <p:nvSpPr>
          <p:cNvPr id="5" name="Pladsholder til sidefod 4">
            <a:extLst>
              <a:ext uri="{FF2B5EF4-FFF2-40B4-BE49-F238E27FC236}">
                <a16:creationId xmlns:a16="http://schemas.microsoft.com/office/drawing/2014/main" id="{0A4065D9-777F-4BC2-8DA9-0E100CD3446A}"/>
              </a:ext>
            </a:extLst>
          </p:cNvPr>
          <p:cNvSpPr>
            <a:spLocks noGrp="1"/>
          </p:cNvSpPr>
          <p:nvPr>
            <p:ph type="ftr" sz="quarter" idx="14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6" name="Pladsholder til slidenummer 5">
            <a:extLst>
              <a:ext uri="{FF2B5EF4-FFF2-40B4-BE49-F238E27FC236}">
                <a16:creationId xmlns:a16="http://schemas.microsoft.com/office/drawing/2014/main" id="{1971CA48-5488-429E-869D-06623C5E5997}"/>
              </a:ext>
            </a:extLst>
          </p:cNvPr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fld id="{45D37B1E-C366-494F-A587-962AD9AABC83}" type="slidenum">
              <a:rPr lang="en-GB" smtClean="0"/>
              <a:pPr/>
              <a:t>64</a:t>
            </a:fld>
            <a:endParaRPr lang="en-GB" dirty="0"/>
          </a:p>
        </p:txBody>
      </p:sp>
      <p:sp>
        <p:nvSpPr>
          <p:cNvPr id="10" name="Content Placeholder 9">
            <a:extLst>
              <a:ext uri="{FF2B5EF4-FFF2-40B4-BE49-F238E27FC236}">
                <a16:creationId xmlns:a16="http://schemas.microsoft.com/office/drawing/2014/main" id="{040613FC-F94A-0712-DF75-092CF5474396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414696" y="1700212"/>
            <a:ext cx="10952578" cy="4408925"/>
          </a:xfrm>
        </p:spPr>
        <p:txBody>
          <a:bodyPr/>
          <a:lstStyle/>
          <a:p>
            <a:r>
              <a:rPr lang="da-DK" dirty="0"/>
              <a:t>End-to-End </a:t>
            </a:r>
            <a:r>
              <a:rPr lang="da-DK" dirty="0" err="1"/>
              <a:t>Testing</a:t>
            </a:r>
            <a:r>
              <a:rPr lang="da-DK" dirty="0"/>
              <a:t> </a:t>
            </a:r>
            <a:r>
              <a:rPr lang="da-DK" dirty="0" err="1"/>
              <a:t>Process</a:t>
            </a:r>
            <a:endParaRPr lang="da-DK" dirty="0"/>
          </a:p>
          <a:p>
            <a:endParaRPr lang="da-DK" dirty="0"/>
          </a:p>
          <a:p>
            <a:r>
              <a:rPr lang="da-DK" dirty="0" err="1"/>
              <a:t>Define</a:t>
            </a:r>
            <a:r>
              <a:rPr lang="da-DK" dirty="0"/>
              <a:t> test scenarios: </a:t>
            </a:r>
            <a:r>
              <a:rPr lang="da-DK" dirty="0" err="1"/>
              <a:t>Develop</a:t>
            </a:r>
            <a:r>
              <a:rPr lang="da-DK" dirty="0"/>
              <a:t> </a:t>
            </a:r>
            <a:r>
              <a:rPr lang="da-DK" dirty="0" err="1"/>
              <a:t>realistic</a:t>
            </a:r>
            <a:r>
              <a:rPr lang="da-DK" dirty="0"/>
              <a:t> user </a:t>
            </a:r>
            <a:r>
              <a:rPr lang="da-DK" dirty="0" err="1"/>
              <a:t>journeys</a:t>
            </a:r>
            <a:r>
              <a:rPr lang="da-DK" dirty="0"/>
              <a:t> </a:t>
            </a:r>
            <a:r>
              <a:rPr lang="da-DK" dirty="0" err="1"/>
              <a:t>that</a:t>
            </a:r>
            <a:r>
              <a:rPr lang="da-DK" dirty="0"/>
              <a:t> cover the most </a:t>
            </a:r>
            <a:r>
              <a:rPr lang="da-DK" dirty="0" err="1"/>
              <a:t>critical</a:t>
            </a:r>
            <a:r>
              <a:rPr lang="da-DK" dirty="0"/>
              <a:t> </a:t>
            </a:r>
            <a:r>
              <a:rPr lang="da-DK" dirty="0" err="1"/>
              <a:t>functionality</a:t>
            </a:r>
            <a:r>
              <a:rPr lang="da-DK" dirty="0"/>
              <a:t> of the web </a:t>
            </a:r>
            <a:r>
              <a:rPr lang="da-DK" dirty="0" err="1"/>
              <a:t>application</a:t>
            </a:r>
            <a:r>
              <a:rPr lang="da-DK" dirty="0"/>
              <a:t> (</a:t>
            </a:r>
            <a:r>
              <a:rPr lang="da-DK" dirty="0" err="1"/>
              <a:t>e.g</a:t>
            </a:r>
            <a:r>
              <a:rPr lang="da-DK" dirty="0"/>
              <a:t>., user </a:t>
            </a:r>
            <a:r>
              <a:rPr lang="da-DK" dirty="0" err="1"/>
              <a:t>registration</a:t>
            </a:r>
            <a:r>
              <a:rPr lang="da-DK" dirty="0"/>
              <a:t>, </a:t>
            </a:r>
            <a:r>
              <a:rPr lang="da-DK" dirty="0" err="1"/>
              <a:t>searching</a:t>
            </a:r>
            <a:r>
              <a:rPr lang="da-DK" dirty="0"/>
              <a:t>, and </a:t>
            </a:r>
            <a:r>
              <a:rPr lang="da-DK" dirty="0" err="1"/>
              <a:t>checkout</a:t>
            </a:r>
            <a:r>
              <a:rPr lang="da-DK" dirty="0"/>
              <a:t>)</a:t>
            </a:r>
          </a:p>
          <a:p>
            <a:r>
              <a:rPr lang="da-DK" dirty="0" err="1"/>
              <a:t>Create</a:t>
            </a:r>
            <a:r>
              <a:rPr lang="da-DK" dirty="0"/>
              <a:t> test cases: Design test cases </a:t>
            </a:r>
            <a:r>
              <a:rPr lang="da-DK" dirty="0" err="1"/>
              <a:t>that</a:t>
            </a:r>
            <a:r>
              <a:rPr lang="da-DK" dirty="0"/>
              <a:t> </a:t>
            </a:r>
            <a:r>
              <a:rPr lang="da-DK" dirty="0" err="1"/>
              <a:t>replicate</a:t>
            </a:r>
            <a:r>
              <a:rPr lang="da-DK" dirty="0"/>
              <a:t> user </a:t>
            </a:r>
            <a:r>
              <a:rPr lang="da-DK" dirty="0" err="1"/>
              <a:t>interactions</a:t>
            </a:r>
            <a:r>
              <a:rPr lang="da-DK" dirty="0"/>
              <a:t> and </a:t>
            </a:r>
            <a:r>
              <a:rPr lang="da-DK" dirty="0" err="1"/>
              <a:t>expected</a:t>
            </a:r>
            <a:r>
              <a:rPr lang="da-DK" dirty="0"/>
              <a:t> </a:t>
            </a:r>
            <a:r>
              <a:rPr lang="da-DK" dirty="0" err="1"/>
              <a:t>outcomes</a:t>
            </a:r>
            <a:r>
              <a:rPr lang="da-DK" dirty="0"/>
              <a:t> for </a:t>
            </a:r>
            <a:r>
              <a:rPr lang="da-DK" dirty="0" err="1"/>
              <a:t>each</a:t>
            </a:r>
            <a:r>
              <a:rPr lang="da-DK" dirty="0"/>
              <a:t> scenario</a:t>
            </a:r>
          </a:p>
          <a:p>
            <a:r>
              <a:rPr lang="da-DK" dirty="0"/>
              <a:t>Set up test </a:t>
            </a:r>
            <a:r>
              <a:rPr lang="da-DK" dirty="0" err="1"/>
              <a:t>environment</a:t>
            </a:r>
            <a:r>
              <a:rPr lang="da-DK" dirty="0"/>
              <a:t>: </a:t>
            </a:r>
            <a:r>
              <a:rPr lang="da-DK" dirty="0" err="1"/>
              <a:t>Configure</a:t>
            </a:r>
            <a:r>
              <a:rPr lang="da-DK" dirty="0"/>
              <a:t> a test </a:t>
            </a:r>
            <a:r>
              <a:rPr lang="da-DK" dirty="0" err="1"/>
              <a:t>environment</a:t>
            </a:r>
            <a:r>
              <a:rPr lang="da-DK" dirty="0"/>
              <a:t> </a:t>
            </a:r>
            <a:r>
              <a:rPr lang="da-DK" dirty="0" err="1"/>
              <a:t>that</a:t>
            </a:r>
            <a:r>
              <a:rPr lang="da-DK" dirty="0"/>
              <a:t> </a:t>
            </a:r>
            <a:r>
              <a:rPr lang="da-DK" dirty="0" err="1"/>
              <a:t>mimics</a:t>
            </a:r>
            <a:r>
              <a:rPr lang="da-DK" dirty="0"/>
              <a:t> the </a:t>
            </a:r>
            <a:r>
              <a:rPr lang="da-DK" dirty="0" err="1"/>
              <a:t>production</a:t>
            </a:r>
            <a:r>
              <a:rPr lang="da-DK" dirty="0"/>
              <a:t> </a:t>
            </a:r>
            <a:r>
              <a:rPr lang="da-DK" dirty="0" err="1"/>
              <a:t>environment</a:t>
            </a:r>
            <a:r>
              <a:rPr lang="da-DK" dirty="0"/>
              <a:t> as </a:t>
            </a:r>
            <a:r>
              <a:rPr lang="da-DK" dirty="0" err="1"/>
              <a:t>closely</a:t>
            </a:r>
            <a:r>
              <a:rPr lang="da-DK" dirty="0"/>
              <a:t> as </a:t>
            </a:r>
            <a:r>
              <a:rPr lang="da-DK" dirty="0" err="1"/>
              <a:t>possible</a:t>
            </a:r>
            <a:endParaRPr lang="da-DK" dirty="0"/>
          </a:p>
          <a:p>
            <a:r>
              <a:rPr lang="da-DK" dirty="0" err="1"/>
              <a:t>Execute</a:t>
            </a:r>
            <a:r>
              <a:rPr lang="da-DK" dirty="0"/>
              <a:t> tests: Run tests </a:t>
            </a:r>
            <a:r>
              <a:rPr lang="da-DK" dirty="0" err="1"/>
              <a:t>manually</a:t>
            </a:r>
            <a:r>
              <a:rPr lang="da-DK" dirty="0"/>
              <a:t> or </a:t>
            </a:r>
            <a:r>
              <a:rPr lang="da-DK" dirty="0" err="1"/>
              <a:t>using</a:t>
            </a:r>
            <a:r>
              <a:rPr lang="da-DK" dirty="0"/>
              <a:t> </a:t>
            </a:r>
            <a:r>
              <a:rPr lang="da-DK" dirty="0" err="1"/>
              <a:t>automated</a:t>
            </a:r>
            <a:r>
              <a:rPr lang="da-DK" dirty="0"/>
              <a:t> </a:t>
            </a:r>
            <a:r>
              <a:rPr lang="da-DK" dirty="0" err="1"/>
              <a:t>tools</a:t>
            </a:r>
            <a:r>
              <a:rPr lang="da-DK" dirty="0"/>
              <a:t>, </a:t>
            </a:r>
            <a:r>
              <a:rPr lang="da-DK" dirty="0" err="1"/>
              <a:t>monitoring</a:t>
            </a:r>
            <a:r>
              <a:rPr lang="da-DK" dirty="0"/>
              <a:t> the </a:t>
            </a:r>
            <a:r>
              <a:rPr lang="da-DK" dirty="0" err="1"/>
              <a:t>application's</a:t>
            </a:r>
            <a:r>
              <a:rPr lang="da-DK" dirty="0"/>
              <a:t> </a:t>
            </a:r>
            <a:r>
              <a:rPr lang="da-DK" dirty="0" err="1"/>
              <a:t>behavior</a:t>
            </a:r>
            <a:r>
              <a:rPr lang="da-DK" dirty="0"/>
              <a:t> and outputs</a:t>
            </a:r>
          </a:p>
          <a:p>
            <a:r>
              <a:rPr lang="da-DK" dirty="0" err="1"/>
              <a:t>Analyze</a:t>
            </a:r>
            <a:r>
              <a:rPr lang="da-DK" dirty="0"/>
              <a:t> </a:t>
            </a:r>
            <a:r>
              <a:rPr lang="da-DK" dirty="0" err="1"/>
              <a:t>results</a:t>
            </a:r>
            <a:r>
              <a:rPr lang="da-DK" dirty="0"/>
              <a:t>: </a:t>
            </a:r>
            <a:r>
              <a:rPr lang="da-DK" dirty="0" err="1"/>
              <a:t>Identify</a:t>
            </a:r>
            <a:r>
              <a:rPr lang="da-DK" dirty="0"/>
              <a:t> </a:t>
            </a:r>
            <a:r>
              <a:rPr lang="da-DK" dirty="0" err="1"/>
              <a:t>any</a:t>
            </a:r>
            <a:r>
              <a:rPr lang="da-DK" dirty="0"/>
              <a:t> issues, </a:t>
            </a:r>
            <a:r>
              <a:rPr lang="da-DK" dirty="0" err="1"/>
              <a:t>defects</a:t>
            </a:r>
            <a:r>
              <a:rPr lang="da-DK" dirty="0"/>
              <a:t>, or deviations from </a:t>
            </a:r>
            <a:r>
              <a:rPr lang="da-DK" dirty="0" err="1"/>
              <a:t>expected</a:t>
            </a:r>
            <a:r>
              <a:rPr lang="da-DK" dirty="0"/>
              <a:t> </a:t>
            </a:r>
            <a:r>
              <a:rPr lang="da-DK" dirty="0" err="1"/>
              <a:t>behavior</a:t>
            </a:r>
            <a:r>
              <a:rPr lang="da-DK" dirty="0"/>
              <a:t> and </a:t>
            </a:r>
            <a:r>
              <a:rPr lang="da-DK" dirty="0" err="1"/>
              <a:t>work</a:t>
            </a:r>
            <a:r>
              <a:rPr lang="da-DK" dirty="0"/>
              <a:t> with the </a:t>
            </a:r>
            <a:r>
              <a:rPr lang="da-DK" dirty="0" err="1"/>
              <a:t>development</a:t>
            </a:r>
            <a:r>
              <a:rPr lang="da-DK" dirty="0"/>
              <a:t> team to </a:t>
            </a:r>
            <a:r>
              <a:rPr lang="da-DK" dirty="0" err="1"/>
              <a:t>resolve</a:t>
            </a:r>
            <a:r>
              <a:rPr lang="da-DK" dirty="0"/>
              <a:t> </a:t>
            </a:r>
            <a:r>
              <a:rPr lang="da-DK" dirty="0" err="1"/>
              <a:t>them</a:t>
            </a:r>
            <a:endParaRPr lang="en-DK" sz="500" dirty="0"/>
          </a:p>
        </p:txBody>
      </p:sp>
    </p:spTree>
    <p:extLst>
      <p:ext uri="{BB962C8B-B14F-4D97-AF65-F5344CB8AC3E}">
        <p14:creationId xmlns:p14="http://schemas.microsoft.com/office/powerpoint/2010/main" val="3519010412"/>
      </p:ext>
    </p:extLst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9CBBB199-CEE7-4207-9B94-FABE54697AB5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da-DK" dirty="0"/>
              <a:t>End-to-End </a:t>
            </a:r>
            <a:r>
              <a:rPr lang="da-DK" dirty="0" err="1"/>
              <a:t>Testing</a:t>
            </a:r>
            <a:r>
              <a:rPr lang="da-DK" dirty="0"/>
              <a:t> for Web Applications</a:t>
            </a:r>
          </a:p>
        </p:txBody>
      </p:sp>
      <p:sp>
        <p:nvSpPr>
          <p:cNvPr id="4" name="Pladsholder til dato 3">
            <a:extLst>
              <a:ext uri="{FF2B5EF4-FFF2-40B4-BE49-F238E27FC236}">
                <a16:creationId xmlns:a16="http://schemas.microsoft.com/office/drawing/2014/main" id="{DF6BBC47-AF93-4B51-BB19-37E8FA70A1FC}"/>
              </a:ext>
            </a:extLst>
          </p:cNvPr>
          <p:cNvSpPr>
            <a:spLocks noGrp="1"/>
          </p:cNvSpPr>
          <p:nvPr>
            <p:ph type="dt" sz="half" idx="2"/>
          </p:nvPr>
        </p:nvSpPr>
        <p:spPr/>
        <p:txBody>
          <a:bodyPr/>
          <a:lstStyle/>
          <a:p>
            <a:fld id="{1D326F97-033E-40DE-A683-79560FFFFEF4}" type="datetime1">
              <a:rPr lang="en-GB" smtClean="0"/>
              <a:t>24/04/2023</a:t>
            </a:fld>
            <a:endParaRPr lang="en-GB" dirty="0"/>
          </a:p>
        </p:txBody>
      </p:sp>
      <p:sp>
        <p:nvSpPr>
          <p:cNvPr id="5" name="Pladsholder til sidefod 4">
            <a:extLst>
              <a:ext uri="{FF2B5EF4-FFF2-40B4-BE49-F238E27FC236}">
                <a16:creationId xmlns:a16="http://schemas.microsoft.com/office/drawing/2014/main" id="{0A4065D9-777F-4BC2-8DA9-0E100CD3446A}"/>
              </a:ext>
            </a:extLst>
          </p:cNvPr>
          <p:cNvSpPr>
            <a:spLocks noGrp="1"/>
          </p:cNvSpPr>
          <p:nvPr>
            <p:ph type="ftr" sz="quarter" idx="14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6" name="Pladsholder til slidenummer 5">
            <a:extLst>
              <a:ext uri="{FF2B5EF4-FFF2-40B4-BE49-F238E27FC236}">
                <a16:creationId xmlns:a16="http://schemas.microsoft.com/office/drawing/2014/main" id="{1971CA48-5488-429E-869D-06623C5E5997}"/>
              </a:ext>
            </a:extLst>
          </p:cNvPr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fld id="{45D37B1E-C366-494F-A587-962AD9AABC83}" type="slidenum">
              <a:rPr lang="en-GB" smtClean="0"/>
              <a:pPr/>
              <a:t>65</a:t>
            </a:fld>
            <a:endParaRPr lang="en-GB" dirty="0"/>
          </a:p>
        </p:txBody>
      </p:sp>
      <p:sp>
        <p:nvSpPr>
          <p:cNvPr id="10" name="Content Placeholder 9">
            <a:extLst>
              <a:ext uri="{FF2B5EF4-FFF2-40B4-BE49-F238E27FC236}">
                <a16:creationId xmlns:a16="http://schemas.microsoft.com/office/drawing/2014/main" id="{040613FC-F94A-0712-DF75-092CF5474396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414696" y="1700212"/>
            <a:ext cx="10952578" cy="4408925"/>
          </a:xfrm>
        </p:spPr>
        <p:txBody>
          <a:bodyPr/>
          <a:lstStyle/>
          <a:p>
            <a:r>
              <a:rPr lang="da-DK" dirty="0" err="1"/>
              <a:t>Example</a:t>
            </a:r>
            <a:r>
              <a:rPr lang="da-DK" dirty="0"/>
              <a:t> Test Scenario</a:t>
            </a:r>
          </a:p>
          <a:p>
            <a:endParaRPr lang="da-DK" dirty="0"/>
          </a:p>
          <a:p>
            <a:r>
              <a:rPr lang="da-DK" dirty="0"/>
              <a:t>Scenario: A user logs in, </a:t>
            </a:r>
            <a:r>
              <a:rPr lang="da-DK" dirty="0" err="1"/>
              <a:t>searches</a:t>
            </a:r>
            <a:r>
              <a:rPr lang="da-DK" dirty="0"/>
              <a:t> for a product, </a:t>
            </a:r>
            <a:r>
              <a:rPr lang="da-DK" dirty="0" err="1"/>
              <a:t>adds</a:t>
            </a:r>
            <a:r>
              <a:rPr lang="da-DK" dirty="0"/>
              <a:t> it to the cart, and </a:t>
            </a:r>
            <a:r>
              <a:rPr lang="da-DK" dirty="0" err="1"/>
              <a:t>completes</a:t>
            </a:r>
            <a:r>
              <a:rPr lang="da-DK" dirty="0"/>
              <a:t> the </a:t>
            </a:r>
            <a:r>
              <a:rPr lang="da-DK" dirty="0" err="1"/>
              <a:t>checkout</a:t>
            </a:r>
            <a:r>
              <a:rPr lang="da-DK" dirty="0"/>
              <a:t> </a:t>
            </a:r>
            <a:r>
              <a:rPr lang="da-DK" dirty="0" err="1"/>
              <a:t>process</a:t>
            </a:r>
            <a:endParaRPr lang="da-DK" dirty="0"/>
          </a:p>
          <a:p>
            <a:r>
              <a:rPr lang="da-DK" dirty="0"/>
              <a:t>Test cases:</a:t>
            </a:r>
          </a:p>
          <a:p>
            <a:pPr lvl="1"/>
            <a:r>
              <a:rPr lang="da-DK" dirty="0"/>
              <a:t>Log in with valid user </a:t>
            </a:r>
            <a:r>
              <a:rPr lang="da-DK" dirty="0" err="1"/>
              <a:t>credentials</a:t>
            </a:r>
            <a:r>
              <a:rPr lang="da-DK" dirty="0"/>
              <a:t> and </a:t>
            </a:r>
            <a:r>
              <a:rPr lang="da-DK" dirty="0" err="1"/>
              <a:t>access</a:t>
            </a:r>
            <a:r>
              <a:rPr lang="da-DK" dirty="0"/>
              <a:t> the </a:t>
            </a:r>
            <a:r>
              <a:rPr lang="da-DK" dirty="0" err="1"/>
              <a:t>main</a:t>
            </a:r>
            <a:r>
              <a:rPr lang="da-DK" dirty="0"/>
              <a:t> page</a:t>
            </a:r>
          </a:p>
          <a:p>
            <a:pPr lvl="1"/>
            <a:r>
              <a:rPr lang="da-DK" dirty="0"/>
              <a:t>Search for a product </a:t>
            </a:r>
            <a:r>
              <a:rPr lang="da-DK" dirty="0" err="1"/>
              <a:t>using</a:t>
            </a:r>
            <a:r>
              <a:rPr lang="da-DK" dirty="0"/>
              <a:t> the </a:t>
            </a:r>
            <a:r>
              <a:rPr lang="da-DK" dirty="0" err="1"/>
              <a:t>search</a:t>
            </a:r>
            <a:r>
              <a:rPr lang="da-DK" dirty="0"/>
              <a:t> bar and </a:t>
            </a:r>
            <a:r>
              <a:rPr lang="da-DK" dirty="0" err="1"/>
              <a:t>verify</a:t>
            </a:r>
            <a:r>
              <a:rPr lang="da-DK" dirty="0"/>
              <a:t> the </a:t>
            </a:r>
            <a:r>
              <a:rPr lang="da-DK" dirty="0" err="1"/>
              <a:t>search</a:t>
            </a:r>
            <a:r>
              <a:rPr lang="da-DK" dirty="0"/>
              <a:t> </a:t>
            </a:r>
            <a:r>
              <a:rPr lang="da-DK" dirty="0" err="1"/>
              <a:t>results</a:t>
            </a:r>
            <a:r>
              <a:rPr lang="da-DK" dirty="0"/>
              <a:t> </a:t>
            </a:r>
            <a:r>
              <a:rPr lang="da-DK" dirty="0" err="1"/>
              <a:t>are</a:t>
            </a:r>
            <a:r>
              <a:rPr lang="da-DK" dirty="0"/>
              <a:t> </a:t>
            </a:r>
            <a:r>
              <a:rPr lang="da-DK" dirty="0" err="1"/>
              <a:t>displayed</a:t>
            </a:r>
            <a:endParaRPr lang="da-DK" dirty="0"/>
          </a:p>
          <a:p>
            <a:pPr lvl="1"/>
            <a:r>
              <a:rPr lang="da-DK" dirty="0" err="1"/>
              <a:t>Add</a:t>
            </a:r>
            <a:r>
              <a:rPr lang="da-DK" dirty="0"/>
              <a:t> the product to the cart and </a:t>
            </a:r>
            <a:r>
              <a:rPr lang="da-DK" dirty="0" err="1"/>
              <a:t>confirm</a:t>
            </a:r>
            <a:r>
              <a:rPr lang="da-DK" dirty="0"/>
              <a:t> the cart is </a:t>
            </a:r>
            <a:r>
              <a:rPr lang="da-DK" dirty="0" err="1"/>
              <a:t>updated</a:t>
            </a:r>
            <a:endParaRPr lang="da-DK" dirty="0"/>
          </a:p>
          <a:p>
            <a:pPr lvl="1"/>
            <a:r>
              <a:rPr lang="da-DK" dirty="0"/>
              <a:t>Complete the </a:t>
            </a:r>
            <a:r>
              <a:rPr lang="da-DK" dirty="0" err="1"/>
              <a:t>checkout</a:t>
            </a:r>
            <a:r>
              <a:rPr lang="da-DK" dirty="0"/>
              <a:t> </a:t>
            </a:r>
            <a:r>
              <a:rPr lang="da-DK" dirty="0" err="1"/>
              <a:t>process</a:t>
            </a:r>
            <a:r>
              <a:rPr lang="da-DK" dirty="0"/>
              <a:t> and </a:t>
            </a:r>
            <a:r>
              <a:rPr lang="da-DK" dirty="0" err="1"/>
              <a:t>verify</a:t>
            </a:r>
            <a:r>
              <a:rPr lang="da-DK" dirty="0"/>
              <a:t> the </a:t>
            </a:r>
            <a:r>
              <a:rPr lang="da-DK" dirty="0" err="1"/>
              <a:t>order</a:t>
            </a:r>
            <a:r>
              <a:rPr lang="da-DK" dirty="0"/>
              <a:t> is </a:t>
            </a:r>
            <a:r>
              <a:rPr lang="da-DK" dirty="0" err="1"/>
              <a:t>placed</a:t>
            </a:r>
            <a:r>
              <a:rPr lang="da-DK" dirty="0"/>
              <a:t> </a:t>
            </a:r>
            <a:r>
              <a:rPr lang="da-DK" dirty="0" err="1"/>
              <a:t>successfully</a:t>
            </a:r>
            <a:endParaRPr lang="en-DK" sz="300" dirty="0"/>
          </a:p>
        </p:txBody>
      </p:sp>
    </p:spTree>
    <p:extLst>
      <p:ext uri="{BB962C8B-B14F-4D97-AF65-F5344CB8AC3E}">
        <p14:creationId xmlns:p14="http://schemas.microsoft.com/office/powerpoint/2010/main" val="3754682691"/>
      </p:ext>
    </p:extLst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9CBBB199-CEE7-4207-9B94-FABE54697AB5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da-DK" dirty="0"/>
              <a:t>End-to-End </a:t>
            </a:r>
            <a:r>
              <a:rPr lang="da-DK" dirty="0" err="1"/>
              <a:t>Testing</a:t>
            </a:r>
            <a:r>
              <a:rPr lang="da-DK" dirty="0"/>
              <a:t> for Web Applications</a:t>
            </a:r>
          </a:p>
        </p:txBody>
      </p:sp>
      <p:sp>
        <p:nvSpPr>
          <p:cNvPr id="4" name="Pladsholder til dato 3">
            <a:extLst>
              <a:ext uri="{FF2B5EF4-FFF2-40B4-BE49-F238E27FC236}">
                <a16:creationId xmlns:a16="http://schemas.microsoft.com/office/drawing/2014/main" id="{DF6BBC47-AF93-4B51-BB19-37E8FA70A1FC}"/>
              </a:ext>
            </a:extLst>
          </p:cNvPr>
          <p:cNvSpPr>
            <a:spLocks noGrp="1"/>
          </p:cNvSpPr>
          <p:nvPr>
            <p:ph type="dt" sz="half" idx="2"/>
          </p:nvPr>
        </p:nvSpPr>
        <p:spPr/>
        <p:txBody>
          <a:bodyPr/>
          <a:lstStyle/>
          <a:p>
            <a:fld id="{1D326F97-033E-40DE-A683-79560FFFFEF4}" type="datetime1">
              <a:rPr lang="en-GB" smtClean="0"/>
              <a:t>24/04/2023</a:t>
            </a:fld>
            <a:endParaRPr lang="en-GB" dirty="0"/>
          </a:p>
        </p:txBody>
      </p:sp>
      <p:sp>
        <p:nvSpPr>
          <p:cNvPr id="5" name="Pladsholder til sidefod 4">
            <a:extLst>
              <a:ext uri="{FF2B5EF4-FFF2-40B4-BE49-F238E27FC236}">
                <a16:creationId xmlns:a16="http://schemas.microsoft.com/office/drawing/2014/main" id="{0A4065D9-777F-4BC2-8DA9-0E100CD3446A}"/>
              </a:ext>
            </a:extLst>
          </p:cNvPr>
          <p:cNvSpPr>
            <a:spLocks noGrp="1"/>
          </p:cNvSpPr>
          <p:nvPr>
            <p:ph type="ftr" sz="quarter" idx="14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6" name="Pladsholder til slidenummer 5">
            <a:extLst>
              <a:ext uri="{FF2B5EF4-FFF2-40B4-BE49-F238E27FC236}">
                <a16:creationId xmlns:a16="http://schemas.microsoft.com/office/drawing/2014/main" id="{1971CA48-5488-429E-869D-06623C5E5997}"/>
              </a:ext>
            </a:extLst>
          </p:cNvPr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fld id="{45D37B1E-C366-494F-A587-962AD9AABC83}" type="slidenum">
              <a:rPr lang="en-GB" smtClean="0"/>
              <a:pPr/>
              <a:t>66</a:t>
            </a:fld>
            <a:endParaRPr lang="en-GB" dirty="0"/>
          </a:p>
        </p:txBody>
      </p:sp>
      <p:sp>
        <p:nvSpPr>
          <p:cNvPr id="10" name="Content Placeholder 9">
            <a:extLst>
              <a:ext uri="{FF2B5EF4-FFF2-40B4-BE49-F238E27FC236}">
                <a16:creationId xmlns:a16="http://schemas.microsoft.com/office/drawing/2014/main" id="{040613FC-F94A-0712-DF75-092CF5474396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414696" y="1700212"/>
            <a:ext cx="10952578" cy="4408925"/>
          </a:xfrm>
        </p:spPr>
        <p:txBody>
          <a:bodyPr/>
          <a:lstStyle/>
          <a:p>
            <a:r>
              <a:rPr lang="da-DK" dirty="0"/>
              <a:t>Tips for </a:t>
            </a:r>
            <a:r>
              <a:rPr lang="da-DK" dirty="0" err="1"/>
              <a:t>Effective</a:t>
            </a:r>
            <a:r>
              <a:rPr lang="da-DK" dirty="0"/>
              <a:t> End-to-End </a:t>
            </a:r>
            <a:r>
              <a:rPr lang="da-DK" dirty="0" err="1"/>
              <a:t>Testing</a:t>
            </a:r>
            <a:endParaRPr lang="da-DK" dirty="0"/>
          </a:p>
          <a:p>
            <a:endParaRPr lang="da-DK" dirty="0"/>
          </a:p>
          <a:p>
            <a:r>
              <a:rPr lang="da-DK" dirty="0" err="1"/>
              <a:t>Prioritize</a:t>
            </a:r>
            <a:r>
              <a:rPr lang="da-DK" dirty="0"/>
              <a:t> </a:t>
            </a:r>
            <a:r>
              <a:rPr lang="da-DK" dirty="0" err="1"/>
              <a:t>critical</a:t>
            </a:r>
            <a:r>
              <a:rPr lang="da-DK" dirty="0"/>
              <a:t> </a:t>
            </a:r>
            <a:r>
              <a:rPr lang="da-DK" dirty="0" err="1"/>
              <a:t>functionality</a:t>
            </a:r>
            <a:r>
              <a:rPr lang="da-DK" dirty="0"/>
              <a:t> and user </a:t>
            </a:r>
            <a:r>
              <a:rPr lang="da-DK" dirty="0" err="1"/>
              <a:t>journeys</a:t>
            </a:r>
            <a:r>
              <a:rPr lang="da-DK" dirty="0"/>
              <a:t> to </a:t>
            </a:r>
            <a:r>
              <a:rPr lang="da-DK" dirty="0" err="1"/>
              <a:t>maximize</a:t>
            </a:r>
            <a:r>
              <a:rPr lang="da-DK" dirty="0"/>
              <a:t> test </a:t>
            </a:r>
            <a:r>
              <a:rPr lang="da-DK" dirty="0" err="1"/>
              <a:t>coverage</a:t>
            </a:r>
            <a:endParaRPr lang="da-DK" dirty="0"/>
          </a:p>
          <a:p>
            <a:r>
              <a:rPr lang="da-DK" dirty="0" err="1"/>
              <a:t>Use</a:t>
            </a:r>
            <a:r>
              <a:rPr lang="da-DK" dirty="0"/>
              <a:t> </a:t>
            </a:r>
            <a:r>
              <a:rPr lang="da-DK" dirty="0" err="1"/>
              <a:t>automated</a:t>
            </a:r>
            <a:r>
              <a:rPr lang="da-DK" dirty="0"/>
              <a:t> </a:t>
            </a:r>
            <a:r>
              <a:rPr lang="da-DK" dirty="0" err="1"/>
              <a:t>tools</a:t>
            </a:r>
            <a:r>
              <a:rPr lang="da-DK" dirty="0"/>
              <a:t> </a:t>
            </a:r>
            <a:r>
              <a:rPr lang="da-DK" dirty="0" err="1"/>
              <a:t>when</a:t>
            </a:r>
            <a:r>
              <a:rPr lang="da-DK" dirty="0"/>
              <a:t> </a:t>
            </a:r>
            <a:r>
              <a:rPr lang="da-DK" dirty="0" err="1"/>
              <a:t>possible</a:t>
            </a:r>
            <a:r>
              <a:rPr lang="da-DK" dirty="0"/>
              <a:t> to </a:t>
            </a:r>
            <a:r>
              <a:rPr lang="da-DK" dirty="0" err="1"/>
              <a:t>improve</a:t>
            </a:r>
            <a:r>
              <a:rPr lang="da-DK" dirty="0"/>
              <a:t> </a:t>
            </a:r>
            <a:r>
              <a:rPr lang="da-DK" dirty="0" err="1"/>
              <a:t>efficiency</a:t>
            </a:r>
            <a:r>
              <a:rPr lang="da-DK" dirty="0"/>
              <a:t> and </a:t>
            </a:r>
            <a:r>
              <a:rPr lang="da-DK" dirty="0" err="1"/>
              <a:t>repeatability</a:t>
            </a:r>
            <a:endParaRPr lang="da-DK" dirty="0"/>
          </a:p>
          <a:p>
            <a:r>
              <a:rPr lang="da-DK" dirty="0"/>
              <a:t>Keep test cases up to date with </a:t>
            </a:r>
            <a:r>
              <a:rPr lang="da-DK" dirty="0" err="1"/>
              <a:t>any</a:t>
            </a:r>
            <a:r>
              <a:rPr lang="da-DK" dirty="0"/>
              <a:t> </a:t>
            </a:r>
            <a:r>
              <a:rPr lang="da-DK" dirty="0" err="1"/>
              <a:t>changes</a:t>
            </a:r>
            <a:r>
              <a:rPr lang="da-DK" dirty="0"/>
              <a:t> in </a:t>
            </a:r>
            <a:r>
              <a:rPr lang="da-DK" dirty="0" err="1"/>
              <a:t>requirements</a:t>
            </a:r>
            <a:r>
              <a:rPr lang="da-DK" dirty="0"/>
              <a:t> or </a:t>
            </a:r>
            <a:r>
              <a:rPr lang="da-DK" dirty="0" err="1"/>
              <a:t>functionality</a:t>
            </a:r>
            <a:endParaRPr lang="da-DK" dirty="0"/>
          </a:p>
          <a:p>
            <a:r>
              <a:rPr lang="da-DK" dirty="0"/>
              <a:t>Perform end-to-end </a:t>
            </a:r>
            <a:r>
              <a:rPr lang="da-DK" dirty="0" err="1"/>
              <a:t>testing</a:t>
            </a:r>
            <a:r>
              <a:rPr lang="da-DK" dirty="0"/>
              <a:t> in a </a:t>
            </a:r>
            <a:r>
              <a:rPr lang="da-DK" dirty="0" err="1"/>
              <a:t>realistic</a:t>
            </a:r>
            <a:r>
              <a:rPr lang="da-DK" dirty="0"/>
              <a:t> test </a:t>
            </a:r>
            <a:r>
              <a:rPr lang="da-DK" dirty="0" err="1"/>
              <a:t>environment</a:t>
            </a:r>
            <a:r>
              <a:rPr lang="da-DK" dirty="0"/>
              <a:t> to </a:t>
            </a:r>
            <a:r>
              <a:rPr lang="da-DK" dirty="0" err="1"/>
              <a:t>identify</a:t>
            </a:r>
            <a:r>
              <a:rPr lang="da-DK" dirty="0"/>
              <a:t> potential </a:t>
            </a:r>
            <a:r>
              <a:rPr lang="da-DK" dirty="0" err="1"/>
              <a:t>deployment</a:t>
            </a:r>
            <a:r>
              <a:rPr lang="da-DK" dirty="0"/>
              <a:t> issues</a:t>
            </a:r>
            <a:endParaRPr lang="en-DK" sz="500" dirty="0"/>
          </a:p>
        </p:txBody>
      </p:sp>
    </p:spTree>
    <p:extLst>
      <p:ext uri="{BB962C8B-B14F-4D97-AF65-F5344CB8AC3E}">
        <p14:creationId xmlns:p14="http://schemas.microsoft.com/office/powerpoint/2010/main" val="2606836052"/>
      </p:ext>
    </p:extLst>
  </p:cSld>
  <p:clrMapOvr>
    <a:masterClrMapping/>
  </p:clrMapOvr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552FF25E-24BF-4225-87AB-B2869F94CB2B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da-DK"/>
          </a:p>
        </p:txBody>
      </p:sp>
      <p:sp>
        <p:nvSpPr>
          <p:cNvPr id="3" name="Pladsholder til dato 2">
            <a:extLst>
              <a:ext uri="{FF2B5EF4-FFF2-40B4-BE49-F238E27FC236}">
                <a16:creationId xmlns:a16="http://schemas.microsoft.com/office/drawing/2014/main" id="{4C93D788-8D9D-4045-B518-6692018D89DE}"/>
              </a:ext>
            </a:extLst>
          </p:cNvPr>
          <p:cNvSpPr>
            <a:spLocks noGrp="1"/>
          </p:cNvSpPr>
          <p:nvPr>
            <p:ph type="dt" sz="half" idx="2"/>
          </p:nvPr>
        </p:nvSpPr>
        <p:spPr/>
        <p:txBody>
          <a:bodyPr/>
          <a:lstStyle/>
          <a:p>
            <a:fld id="{B4C4C6FD-8607-43FF-8BC8-950EFB970BA3}" type="datetime1">
              <a:rPr lang="en-GB" smtClean="0"/>
              <a:t>24/04/2023</a:t>
            </a:fld>
            <a:endParaRPr lang="en-GB" dirty="0"/>
          </a:p>
        </p:txBody>
      </p:sp>
      <p:sp>
        <p:nvSpPr>
          <p:cNvPr id="4" name="Rektangel 3">
            <a:extLst>
              <a:ext uri="{FF2B5EF4-FFF2-40B4-BE49-F238E27FC236}">
                <a16:creationId xmlns:a16="http://schemas.microsoft.com/office/drawing/2014/main" id="{F994D39F-0217-4BCC-AD0B-429E7605B2F1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2">
              <a:lumMod val="60000"/>
              <a:lumOff val="40000"/>
            </a:schemeClr>
          </a:solidFill>
          <a:ln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tIns="72000" rIns="72000" bIns="72000" rtlCol="0" anchor="ctr"/>
          <a:lstStyle/>
          <a:p>
            <a:pPr algn="ctr"/>
            <a:r>
              <a:rPr lang="da-DK" sz="2800" b="1" dirty="0"/>
              <a:t>API </a:t>
            </a:r>
            <a:r>
              <a:rPr lang="da-DK" sz="2800" b="1" dirty="0" err="1"/>
              <a:t>testing</a:t>
            </a:r>
            <a:endParaRPr lang="da-DK" sz="2800" b="1" dirty="0"/>
          </a:p>
        </p:txBody>
      </p:sp>
    </p:spTree>
    <p:extLst>
      <p:ext uri="{BB962C8B-B14F-4D97-AF65-F5344CB8AC3E}">
        <p14:creationId xmlns:p14="http://schemas.microsoft.com/office/powerpoint/2010/main" val="3562484424"/>
      </p:ext>
    </p:extLst>
  </p:cSld>
  <p:clrMapOvr>
    <a:masterClrMapping/>
  </p:clrMapOvr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9CBBB199-CEE7-4207-9B94-FABE54697AB5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da-DK" dirty="0"/>
              <a:t>API </a:t>
            </a:r>
            <a:r>
              <a:rPr lang="da-DK" dirty="0" err="1"/>
              <a:t>testing</a:t>
            </a:r>
            <a:endParaRPr lang="da-DK" dirty="0"/>
          </a:p>
        </p:txBody>
      </p:sp>
      <p:sp>
        <p:nvSpPr>
          <p:cNvPr id="4" name="Pladsholder til dato 3">
            <a:extLst>
              <a:ext uri="{FF2B5EF4-FFF2-40B4-BE49-F238E27FC236}">
                <a16:creationId xmlns:a16="http://schemas.microsoft.com/office/drawing/2014/main" id="{DF6BBC47-AF93-4B51-BB19-37E8FA70A1FC}"/>
              </a:ext>
            </a:extLst>
          </p:cNvPr>
          <p:cNvSpPr>
            <a:spLocks noGrp="1"/>
          </p:cNvSpPr>
          <p:nvPr>
            <p:ph type="dt" sz="half" idx="2"/>
          </p:nvPr>
        </p:nvSpPr>
        <p:spPr/>
        <p:txBody>
          <a:bodyPr/>
          <a:lstStyle/>
          <a:p>
            <a:fld id="{1D326F97-033E-40DE-A683-79560FFFFEF4}" type="datetime1">
              <a:rPr lang="en-GB" smtClean="0"/>
              <a:t>24/04/2023</a:t>
            </a:fld>
            <a:endParaRPr lang="en-GB" dirty="0"/>
          </a:p>
        </p:txBody>
      </p:sp>
      <p:sp>
        <p:nvSpPr>
          <p:cNvPr id="5" name="Pladsholder til sidefod 4">
            <a:extLst>
              <a:ext uri="{FF2B5EF4-FFF2-40B4-BE49-F238E27FC236}">
                <a16:creationId xmlns:a16="http://schemas.microsoft.com/office/drawing/2014/main" id="{0A4065D9-777F-4BC2-8DA9-0E100CD3446A}"/>
              </a:ext>
            </a:extLst>
          </p:cNvPr>
          <p:cNvSpPr>
            <a:spLocks noGrp="1"/>
          </p:cNvSpPr>
          <p:nvPr>
            <p:ph type="ftr" sz="quarter" idx="14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6" name="Pladsholder til slidenummer 5">
            <a:extLst>
              <a:ext uri="{FF2B5EF4-FFF2-40B4-BE49-F238E27FC236}">
                <a16:creationId xmlns:a16="http://schemas.microsoft.com/office/drawing/2014/main" id="{1971CA48-5488-429E-869D-06623C5E5997}"/>
              </a:ext>
            </a:extLst>
          </p:cNvPr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fld id="{45D37B1E-C366-494F-A587-962AD9AABC83}" type="slidenum">
              <a:rPr lang="en-GB" smtClean="0"/>
              <a:pPr/>
              <a:t>68</a:t>
            </a:fld>
            <a:endParaRPr lang="en-GB" dirty="0"/>
          </a:p>
        </p:txBody>
      </p:sp>
      <p:sp>
        <p:nvSpPr>
          <p:cNvPr id="10" name="Content Placeholder 9">
            <a:extLst>
              <a:ext uri="{FF2B5EF4-FFF2-40B4-BE49-F238E27FC236}">
                <a16:creationId xmlns:a16="http://schemas.microsoft.com/office/drawing/2014/main" id="{040613FC-F94A-0712-DF75-092CF5474396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414696" y="1700212"/>
            <a:ext cx="10952578" cy="4408925"/>
          </a:xfrm>
        </p:spPr>
        <p:txBody>
          <a:bodyPr/>
          <a:lstStyle/>
          <a:p>
            <a:r>
              <a:rPr lang="da-DK" dirty="0"/>
              <a:t>Purpose: </a:t>
            </a:r>
            <a:r>
              <a:rPr lang="da-DK" dirty="0" err="1"/>
              <a:t>Validates</a:t>
            </a:r>
            <a:r>
              <a:rPr lang="da-DK" dirty="0"/>
              <a:t> the </a:t>
            </a:r>
            <a:r>
              <a:rPr lang="da-DK" dirty="0" err="1"/>
              <a:t>functionality</a:t>
            </a:r>
            <a:r>
              <a:rPr lang="da-DK" dirty="0"/>
              <a:t>, performance, security, and </a:t>
            </a:r>
            <a:r>
              <a:rPr lang="da-DK" dirty="0" err="1"/>
              <a:t>reliability</a:t>
            </a:r>
            <a:r>
              <a:rPr lang="da-DK" dirty="0"/>
              <a:t> of </a:t>
            </a:r>
            <a:r>
              <a:rPr lang="da-DK" dirty="0" err="1"/>
              <a:t>application</a:t>
            </a:r>
            <a:r>
              <a:rPr lang="da-DK" dirty="0"/>
              <a:t> </a:t>
            </a:r>
            <a:r>
              <a:rPr lang="da-DK" dirty="0" err="1"/>
              <a:t>programming</a:t>
            </a:r>
            <a:r>
              <a:rPr lang="da-DK" dirty="0"/>
              <a:t> interfaces (</a:t>
            </a:r>
            <a:r>
              <a:rPr lang="da-DK" dirty="0" err="1"/>
              <a:t>APIs</a:t>
            </a:r>
            <a:r>
              <a:rPr lang="da-DK" dirty="0"/>
              <a:t>) </a:t>
            </a:r>
            <a:r>
              <a:rPr lang="da-DK" dirty="0" err="1"/>
              <a:t>used</a:t>
            </a:r>
            <a:r>
              <a:rPr lang="da-DK" dirty="0"/>
              <a:t> in web </a:t>
            </a:r>
            <a:r>
              <a:rPr lang="da-DK" dirty="0" err="1"/>
              <a:t>applications</a:t>
            </a:r>
            <a:endParaRPr lang="da-DK" dirty="0"/>
          </a:p>
          <a:p>
            <a:r>
              <a:rPr lang="da-DK" dirty="0" err="1"/>
              <a:t>Goals</a:t>
            </a:r>
            <a:r>
              <a:rPr lang="da-DK" dirty="0"/>
              <a:t>: </a:t>
            </a:r>
            <a:r>
              <a:rPr lang="da-DK" dirty="0" err="1"/>
              <a:t>Ensure</a:t>
            </a:r>
            <a:r>
              <a:rPr lang="da-DK" dirty="0"/>
              <a:t> </a:t>
            </a:r>
            <a:r>
              <a:rPr lang="da-DK" dirty="0" err="1"/>
              <a:t>APIs</a:t>
            </a:r>
            <a:r>
              <a:rPr lang="da-DK" dirty="0"/>
              <a:t> </a:t>
            </a:r>
            <a:r>
              <a:rPr lang="da-DK" dirty="0" err="1"/>
              <a:t>work</a:t>
            </a:r>
            <a:r>
              <a:rPr lang="da-DK" dirty="0"/>
              <a:t> as </a:t>
            </a:r>
            <a:r>
              <a:rPr lang="da-DK" dirty="0" err="1"/>
              <a:t>expected</a:t>
            </a:r>
            <a:r>
              <a:rPr lang="da-DK" dirty="0"/>
              <a:t>, </a:t>
            </a:r>
            <a:r>
              <a:rPr lang="da-DK" dirty="0" err="1"/>
              <a:t>maintain</a:t>
            </a:r>
            <a:r>
              <a:rPr lang="da-DK" dirty="0"/>
              <a:t> </a:t>
            </a:r>
            <a:r>
              <a:rPr lang="da-DK" dirty="0" err="1"/>
              <a:t>compatibility</a:t>
            </a:r>
            <a:r>
              <a:rPr lang="da-DK" dirty="0"/>
              <a:t> with </a:t>
            </a:r>
            <a:r>
              <a:rPr lang="da-DK" dirty="0" err="1"/>
              <a:t>clients</a:t>
            </a:r>
            <a:r>
              <a:rPr lang="da-DK" dirty="0"/>
              <a:t>, and </a:t>
            </a:r>
            <a:r>
              <a:rPr lang="da-DK" dirty="0" err="1"/>
              <a:t>adhere</a:t>
            </a:r>
            <a:r>
              <a:rPr lang="da-DK" dirty="0"/>
              <a:t> to </a:t>
            </a:r>
            <a:r>
              <a:rPr lang="da-DK" dirty="0" err="1"/>
              <a:t>industry</a:t>
            </a:r>
            <a:r>
              <a:rPr lang="da-DK" dirty="0"/>
              <a:t> standards</a:t>
            </a:r>
            <a:endParaRPr lang="en-DK" sz="500" dirty="0"/>
          </a:p>
        </p:txBody>
      </p:sp>
    </p:spTree>
    <p:extLst>
      <p:ext uri="{BB962C8B-B14F-4D97-AF65-F5344CB8AC3E}">
        <p14:creationId xmlns:p14="http://schemas.microsoft.com/office/powerpoint/2010/main" val="516813236"/>
      </p:ext>
    </p:extLst>
  </p:cSld>
  <p:clrMapOvr>
    <a:masterClrMapping/>
  </p:clrMapOvr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9CBBB199-CEE7-4207-9B94-FABE54697AB5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da-DK" dirty="0"/>
              <a:t>API </a:t>
            </a:r>
            <a:r>
              <a:rPr lang="da-DK" dirty="0" err="1"/>
              <a:t>testing</a:t>
            </a:r>
            <a:endParaRPr lang="da-DK" dirty="0"/>
          </a:p>
        </p:txBody>
      </p:sp>
      <p:sp>
        <p:nvSpPr>
          <p:cNvPr id="4" name="Pladsholder til dato 3">
            <a:extLst>
              <a:ext uri="{FF2B5EF4-FFF2-40B4-BE49-F238E27FC236}">
                <a16:creationId xmlns:a16="http://schemas.microsoft.com/office/drawing/2014/main" id="{DF6BBC47-AF93-4B51-BB19-37E8FA70A1FC}"/>
              </a:ext>
            </a:extLst>
          </p:cNvPr>
          <p:cNvSpPr>
            <a:spLocks noGrp="1"/>
          </p:cNvSpPr>
          <p:nvPr>
            <p:ph type="dt" sz="half" idx="2"/>
          </p:nvPr>
        </p:nvSpPr>
        <p:spPr/>
        <p:txBody>
          <a:bodyPr/>
          <a:lstStyle/>
          <a:p>
            <a:fld id="{1D326F97-033E-40DE-A683-79560FFFFEF4}" type="datetime1">
              <a:rPr lang="en-GB" smtClean="0"/>
              <a:t>24/04/2023</a:t>
            </a:fld>
            <a:endParaRPr lang="en-GB" dirty="0"/>
          </a:p>
        </p:txBody>
      </p:sp>
      <p:sp>
        <p:nvSpPr>
          <p:cNvPr id="5" name="Pladsholder til sidefod 4">
            <a:extLst>
              <a:ext uri="{FF2B5EF4-FFF2-40B4-BE49-F238E27FC236}">
                <a16:creationId xmlns:a16="http://schemas.microsoft.com/office/drawing/2014/main" id="{0A4065D9-777F-4BC2-8DA9-0E100CD3446A}"/>
              </a:ext>
            </a:extLst>
          </p:cNvPr>
          <p:cNvSpPr>
            <a:spLocks noGrp="1"/>
          </p:cNvSpPr>
          <p:nvPr>
            <p:ph type="ftr" sz="quarter" idx="14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6" name="Pladsholder til slidenummer 5">
            <a:extLst>
              <a:ext uri="{FF2B5EF4-FFF2-40B4-BE49-F238E27FC236}">
                <a16:creationId xmlns:a16="http://schemas.microsoft.com/office/drawing/2014/main" id="{1971CA48-5488-429E-869D-06623C5E5997}"/>
              </a:ext>
            </a:extLst>
          </p:cNvPr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fld id="{45D37B1E-C366-494F-A587-962AD9AABC83}" type="slidenum">
              <a:rPr lang="en-GB" smtClean="0"/>
              <a:pPr/>
              <a:t>69</a:t>
            </a:fld>
            <a:endParaRPr lang="en-GB" dirty="0"/>
          </a:p>
        </p:txBody>
      </p:sp>
      <p:sp>
        <p:nvSpPr>
          <p:cNvPr id="10" name="Content Placeholder 9">
            <a:extLst>
              <a:ext uri="{FF2B5EF4-FFF2-40B4-BE49-F238E27FC236}">
                <a16:creationId xmlns:a16="http://schemas.microsoft.com/office/drawing/2014/main" id="{040613FC-F94A-0712-DF75-092CF5474396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414696" y="1700212"/>
            <a:ext cx="10952578" cy="4408925"/>
          </a:xfrm>
        </p:spPr>
        <p:txBody>
          <a:bodyPr/>
          <a:lstStyle/>
          <a:p>
            <a:r>
              <a:rPr lang="da-DK" dirty="0"/>
              <a:t>Types of API </a:t>
            </a:r>
            <a:r>
              <a:rPr lang="da-DK" dirty="0" err="1"/>
              <a:t>Testing</a:t>
            </a:r>
            <a:endParaRPr lang="da-DK" dirty="0"/>
          </a:p>
          <a:p>
            <a:endParaRPr lang="da-DK" dirty="0"/>
          </a:p>
          <a:p>
            <a:r>
              <a:rPr lang="da-DK" dirty="0" err="1"/>
              <a:t>Functional</a:t>
            </a:r>
            <a:r>
              <a:rPr lang="da-DK" dirty="0"/>
              <a:t> </a:t>
            </a:r>
            <a:r>
              <a:rPr lang="da-DK" dirty="0" err="1"/>
              <a:t>testing</a:t>
            </a:r>
            <a:r>
              <a:rPr lang="da-DK" dirty="0"/>
              <a:t>: </a:t>
            </a:r>
            <a:r>
              <a:rPr lang="da-DK" dirty="0" err="1"/>
              <a:t>Verify</a:t>
            </a:r>
            <a:r>
              <a:rPr lang="da-DK" dirty="0"/>
              <a:t> </a:t>
            </a:r>
            <a:r>
              <a:rPr lang="da-DK" dirty="0" err="1"/>
              <a:t>that</a:t>
            </a:r>
            <a:r>
              <a:rPr lang="da-DK" dirty="0"/>
              <a:t> API </a:t>
            </a:r>
            <a:r>
              <a:rPr lang="da-DK" dirty="0" err="1"/>
              <a:t>endpoints</a:t>
            </a:r>
            <a:r>
              <a:rPr lang="da-DK" dirty="0"/>
              <a:t> return </a:t>
            </a:r>
            <a:r>
              <a:rPr lang="da-DK" dirty="0" err="1"/>
              <a:t>correct</a:t>
            </a:r>
            <a:r>
              <a:rPr lang="da-DK" dirty="0"/>
              <a:t> </a:t>
            </a:r>
            <a:r>
              <a:rPr lang="da-DK" dirty="0" err="1"/>
              <a:t>responses</a:t>
            </a:r>
            <a:r>
              <a:rPr lang="da-DK" dirty="0"/>
              <a:t> and handle </a:t>
            </a:r>
            <a:r>
              <a:rPr lang="da-DK" dirty="0" err="1"/>
              <a:t>various</a:t>
            </a:r>
            <a:r>
              <a:rPr lang="da-DK" dirty="0"/>
              <a:t> input data </a:t>
            </a:r>
            <a:r>
              <a:rPr lang="da-DK" dirty="0" err="1"/>
              <a:t>correctly</a:t>
            </a:r>
            <a:endParaRPr lang="da-DK" dirty="0"/>
          </a:p>
          <a:p>
            <a:r>
              <a:rPr lang="da-DK" dirty="0"/>
              <a:t>Performance </a:t>
            </a:r>
            <a:r>
              <a:rPr lang="da-DK" dirty="0" err="1"/>
              <a:t>testing</a:t>
            </a:r>
            <a:r>
              <a:rPr lang="da-DK" dirty="0"/>
              <a:t>: </a:t>
            </a:r>
            <a:r>
              <a:rPr lang="da-DK" dirty="0" err="1"/>
              <a:t>Assess</a:t>
            </a:r>
            <a:r>
              <a:rPr lang="da-DK" dirty="0"/>
              <a:t> the </a:t>
            </a:r>
            <a:r>
              <a:rPr lang="da-DK" dirty="0" err="1"/>
              <a:t>API's</a:t>
            </a:r>
            <a:r>
              <a:rPr lang="da-DK" dirty="0"/>
              <a:t> </a:t>
            </a:r>
            <a:r>
              <a:rPr lang="da-DK" dirty="0" err="1"/>
              <a:t>responsiveness</a:t>
            </a:r>
            <a:r>
              <a:rPr lang="da-DK" dirty="0"/>
              <a:t>, </a:t>
            </a:r>
            <a:r>
              <a:rPr lang="da-DK" dirty="0" err="1"/>
              <a:t>stability</a:t>
            </a:r>
            <a:r>
              <a:rPr lang="da-DK" dirty="0"/>
              <a:t>, and </a:t>
            </a:r>
            <a:r>
              <a:rPr lang="da-DK" dirty="0" err="1"/>
              <a:t>ability</a:t>
            </a:r>
            <a:r>
              <a:rPr lang="da-DK" dirty="0"/>
              <a:t> to handle high </a:t>
            </a:r>
            <a:r>
              <a:rPr lang="da-DK" dirty="0" err="1"/>
              <a:t>loads</a:t>
            </a:r>
            <a:endParaRPr lang="da-DK" dirty="0"/>
          </a:p>
          <a:p>
            <a:r>
              <a:rPr lang="da-DK" dirty="0"/>
              <a:t>Security </a:t>
            </a:r>
            <a:r>
              <a:rPr lang="da-DK" dirty="0" err="1"/>
              <a:t>testing</a:t>
            </a:r>
            <a:r>
              <a:rPr lang="da-DK" dirty="0"/>
              <a:t>: </a:t>
            </a:r>
            <a:r>
              <a:rPr lang="da-DK" dirty="0" err="1"/>
              <a:t>Evaluate</a:t>
            </a:r>
            <a:r>
              <a:rPr lang="da-DK" dirty="0"/>
              <a:t> the </a:t>
            </a:r>
            <a:r>
              <a:rPr lang="da-DK" dirty="0" err="1"/>
              <a:t>API's</a:t>
            </a:r>
            <a:r>
              <a:rPr lang="da-DK" dirty="0"/>
              <a:t> </a:t>
            </a:r>
            <a:r>
              <a:rPr lang="da-DK" dirty="0" err="1"/>
              <a:t>defenses</a:t>
            </a:r>
            <a:r>
              <a:rPr lang="da-DK" dirty="0"/>
              <a:t> </a:t>
            </a:r>
            <a:r>
              <a:rPr lang="da-DK" dirty="0" err="1"/>
              <a:t>against</a:t>
            </a:r>
            <a:r>
              <a:rPr lang="da-DK" dirty="0"/>
              <a:t> </a:t>
            </a:r>
            <a:r>
              <a:rPr lang="da-DK" dirty="0" err="1"/>
              <a:t>unauthorized</a:t>
            </a:r>
            <a:r>
              <a:rPr lang="da-DK" dirty="0"/>
              <a:t> </a:t>
            </a:r>
            <a:r>
              <a:rPr lang="da-DK" dirty="0" err="1"/>
              <a:t>access</a:t>
            </a:r>
            <a:r>
              <a:rPr lang="da-DK" dirty="0"/>
              <a:t> and potential </a:t>
            </a:r>
            <a:r>
              <a:rPr lang="da-DK" dirty="0" err="1"/>
              <a:t>attacks</a:t>
            </a:r>
            <a:endParaRPr lang="da-DK" dirty="0"/>
          </a:p>
          <a:p>
            <a:r>
              <a:rPr lang="da-DK" dirty="0"/>
              <a:t>Compatibility </a:t>
            </a:r>
            <a:r>
              <a:rPr lang="da-DK" dirty="0" err="1"/>
              <a:t>testing</a:t>
            </a:r>
            <a:r>
              <a:rPr lang="da-DK" dirty="0"/>
              <a:t>: </a:t>
            </a:r>
            <a:r>
              <a:rPr lang="da-DK" dirty="0" err="1"/>
              <a:t>Ensure</a:t>
            </a:r>
            <a:r>
              <a:rPr lang="da-DK" dirty="0"/>
              <a:t> the API </a:t>
            </a:r>
            <a:r>
              <a:rPr lang="da-DK" dirty="0" err="1"/>
              <a:t>works</a:t>
            </a:r>
            <a:r>
              <a:rPr lang="da-DK" dirty="0"/>
              <a:t> with </a:t>
            </a:r>
            <a:r>
              <a:rPr lang="da-DK" dirty="0" err="1"/>
              <a:t>different</a:t>
            </a:r>
            <a:r>
              <a:rPr lang="da-DK" dirty="0"/>
              <a:t> </a:t>
            </a:r>
            <a:r>
              <a:rPr lang="da-DK" dirty="0" err="1"/>
              <a:t>client</a:t>
            </a:r>
            <a:r>
              <a:rPr lang="da-DK" dirty="0"/>
              <a:t> platforms, </a:t>
            </a:r>
            <a:r>
              <a:rPr lang="da-DK" dirty="0" err="1"/>
              <a:t>devices</a:t>
            </a:r>
            <a:r>
              <a:rPr lang="da-DK" dirty="0"/>
              <a:t>, and </a:t>
            </a:r>
            <a:r>
              <a:rPr lang="da-DK" dirty="0" err="1"/>
              <a:t>configurations</a:t>
            </a:r>
            <a:endParaRPr lang="da-DK" dirty="0"/>
          </a:p>
          <a:p>
            <a:r>
              <a:rPr lang="da-DK" dirty="0" err="1"/>
              <a:t>Validation</a:t>
            </a:r>
            <a:r>
              <a:rPr lang="da-DK" dirty="0"/>
              <a:t> </a:t>
            </a:r>
            <a:r>
              <a:rPr lang="da-DK" dirty="0" err="1"/>
              <a:t>testing</a:t>
            </a:r>
            <a:r>
              <a:rPr lang="da-DK" dirty="0"/>
              <a:t>: Check the API </a:t>
            </a:r>
            <a:r>
              <a:rPr lang="da-DK" dirty="0" err="1"/>
              <a:t>against</a:t>
            </a:r>
            <a:r>
              <a:rPr lang="da-DK" dirty="0"/>
              <a:t> </a:t>
            </a:r>
            <a:r>
              <a:rPr lang="da-DK" dirty="0" err="1"/>
              <a:t>industry</a:t>
            </a:r>
            <a:r>
              <a:rPr lang="da-DK" dirty="0"/>
              <a:t> standards, </a:t>
            </a:r>
            <a:r>
              <a:rPr lang="da-DK" dirty="0" err="1"/>
              <a:t>such</a:t>
            </a:r>
            <a:r>
              <a:rPr lang="da-DK" dirty="0"/>
              <a:t> as REST or SOAP</a:t>
            </a:r>
            <a:endParaRPr lang="en-DK" sz="500" dirty="0"/>
          </a:p>
        </p:txBody>
      </p:sp>
    </p:spTree>
    <p:extLst>
      <p:ext uri="{BB962C8B-B14F-4D97-AF65-F5344CB8AC3E}">
        <p14:creationId xmlns:p14="http://schemas.microsoft.com/office/powerpoint/2010/main" val="1550609750"/>
      </p:ext>
    </p:extLst>
  </p:cSld>
  <p:clrMapOvr>
    <a:masterClrMapping/>
  </p:clrMapOvr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9CBBB199-CEE7-4207-9B94-FABE54697AB5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da-DK" dirty="0"/>
              <a:t>API </a:t>
            </a:r>
            <a:r>
              <a:rPr lang="da-DK" dirty="0" err="1"/>
              <a:t>testing</a:t>
            </a:r>
            <a:endParaRPr lang="da-DK" dirty="0"/>
          </a:p>
        </p:txBody>
      </p:sp>
      <p:sp>
        <p:nvSpPr>
          <p:cNvPr id="4" name="Pladsholder til dato 3">
            <a:extLst>
              <a:ext uri="{FF2B5EF4-FFF2-40B4-BE49-F238E27FC236}">
                <a16:creationId xmlns:a16="http://schemas.microsoft.com/office/drawing/2014/main" id="{DF6BBC47-AF93-4B51-BB19-37E8FA70A1FC}"/>
              </a:ext>
            </a:extLst>
          </p:cNvPr>
          <p:cNvSpPr>
            <a:spLocks noGrp="1"/>
          </p:cNvSpPr>
          <p:nvPr>
            <p:ph type="dt" sz="half" idx="2"/>
          </p:nvPr>
        </p:nvSpPr>
        <p:spPr/>
        <p:txBody>
          <a:bodyPr/>
          <a:lstStyle/>
          <a:p>
            <a:fld id="{1D326F97-033E-40DE-A683-79560FFFFEF4}" type="datetime1">
              <a:rPr lang="en-GB" smtClean="0"/>
              <a:t>24/04/2023</a:t>
            </a:fld>
            <a:endParaRPr lang="en-GB" dirty="0"/>
          </a:p>
        </p:txBody>
      </p:sp>
      <p:sp>
        <p:nvSpPr>
          <p:cNvPr id="5" name="Pladsholder til sidefod 4">
            <a:extLst>
              <a:ext uri="{FF2B5EF4-FFF2-40B4-BE49-F238E27FC236}">
                <a16:creationId xmlns:a16="http://schemas.microsoft.com/office/drawing/2014/main" id="{0A4065D9-777F-4BC2-8DA9-0E100CD3446A}"/>
              </a:ext>
            </a:extLst>
          </p:cNvPr>
          <p:cNvSpPr>
            <a:spLocks noGrp="1"/>
          </p:cNvSpPr>
          <p:nvPr>
            <p:ph type="ftr" sz="quarter" idx="14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6" name="Pladsholder til slidenummer 5">
            <a:extLst>
              <a:ext uri="{FF2B5EF4-FFF2-40B4-BE49-F238E27FC236}">
                <a16:creationId xmlns:a16="http://schemas.microsoft.com/office/drawing/2014/main" id="{1971CA48-5488-429E-869D-06623C5E5997}"/>
              </a:ext>
            </a:extLst>
          </p:cNvPr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fld id="{45D37B1E-C366-494F-A587-962AD9AABC83}" type="slidenum">
              <a:rPr lang="en-GB" smtClean="0"/>
              <a:pPr/>
              <a:t>70</a:t>
            </a:fld>
            <a:endParaRPr lang="en-GB" dirty="0"/>
          </a:p>
        </p:txBody>
      </p:sp>
      <p:sp>
        <p:nvSpPr>
          <p:cNvPr id="10" name="Content Placeholder 9">
            <a:extLst>
              <a:ext uri="{FF2B5EF4-FFF2-40B4-BE49-F238E27FC236}">
                <a16:creationId xmlns:a16="http://schemas.microsoft.com/office/drawing/2014/main" id="{040613FC-F94A-0712-DF75-092CF5474396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414696" y="1700212"/>
            <a:ext cx="10952578" cy="4408925"/>
          </a:xfrm>
        </p:spPr>
        <p:txBody>
          <a:bodyPr/>
          <a:lstStyle/>
          <a:p>
            <a:r>
              <a:rPr lang="da-DK" dirty="0" err="1"/>
              <a:t>Popular</a:t>
            </a:r>
            <a:r>
              <a:rPr lang="da-DK" dirty="0"/>
              <a:t> API </a:t>
            </a:r>
            <a:r>
              <a:rPr lang="da-DK" dirty="0" err="1"/>
              <a:t>Testing</a:t>
            </a:r>
            <a:r>
              <a:rPr lang="da-DK" dirty="0"/>
              <a:t> Tools</a:t>
            </a:r>
          </a:p>
          <a:p>
            <a:endParaRPr lang="da-DK" dirty="0"/>
          </a:p>
          <a:p>
            <a:r>
              <a:rPr lang="da-DK" dirty="0" err="1"/>
              <a:t>Postman</a:t>
            </a:r>
            <a:r>
              <a:rPr lang="da-DK" dirty="0"/>
              <a:t>: A </a:t>
            </a:r>
            <a:r>
              <a:rPr lang="da-DK" dirty="0" err="1"/>
              <a:t>comprehensive</a:t>
            </a:r>
            <a:r>
              <a:rPr lang="da-DK" dirty="0"/>
              <a:t> API </a:t>
            </a:r>
            <a:r>
              <a:rPr lang="da-DK" dirty="0" err="1"/>
              <a:t>testing</a:t>
            </a:r>
            <a:r>
              <a:rPr lang="da-DK" dirty="0"/>
              <a:t> </a:t>
            </a:r>
            <a:r>
              <a:rPr lang="da-DK" dirty="0" err="1"/>
              <a:t>tool</a:t>
            </a:r>
            <a:r>
              <a:rPr lang="da-DK" dirty="0"/>
              <a:t> with support for REST and SOAP </a:t>
            </a:r>
            <a:r>
              <a:rPr lang="da-DK" dirty="0" err="1"/>
              <a:t>APIs</a:t>
            </a:r>
            <a:endParaRPr lang="da-DK" dirty="0"/>
          </a:p>
          <a:p>
            <a:r>
              <a:rPr lang="da-DK" dirty="0"/>
              <a:t>Rest-</a:t>
            </a:r>
            <a:r>
              <a:rPr lang="da-DK" dirty="0" err="1"/>
              <a:t>Assured</a:t>
            </a:r>
            <a:r>
              <a:rPr lang="da-DK" dirty="0"/>
              <a:t>: A Java </a:t>
            </a:r>
            <a:r>
              <a:rPr lang="da-DK" dirty="0" err="1"/>
              <a:t>library</a:t>
            </a:r>
            <a:r>
              <a:rPr lang="da-DK" dirty="0"/>
              <a:t> for </a:t>
            </a:r>
            <a:r>
              <a:rPr lang="da-DK" dirty="0" err="1"/>
              <a:t>testing</a:t>
            </a:r>
            <a:r>
              <a:rPr lang="da-DK" dirty="0"/>
              <a:t> and </a:t>
            </a:r>
            <a:r>
              <a:rPr lang="da-DK" dirty="0" err="1"/>
              <a:t>validating</a:t>
            </a:r>
            <a:r>
              <a:rPr lang="da-DK" dirty="0"/>
              <a:t> </a:t>
            </a:r>
            <a:r>
              <a:rPr lang="da-DK" dirty="0" err="1"/>
              <a:t>RESTful</a:t>
            </a:r>
            <a:r>
              <a:rPr lang="da-DK" dirty="0"/>
              <a:t> </a:t>
            </a:r>
            <a:r>
              <a:rPr lang="da-DK" dirty="0" err="1"/>
              <a:t>APIs</a:t>
            </a:r>
            <a:r>
              <a:rPr lang="da-DK" dirty="0"/>
              <a:t> in an intuitive and </a:t>
            </a:r>
            <a:r>
              <a:rPr lang="da-DK" dirty="0" err="1"/>
              <a:t>fluent</a:t>
            </a:r>
            <a:r>
              <a:rPr lang="da-DK" dirty="0"/>
              <a:t> manner</a:t>
            </a:r>
          </a:p>
          <a:p>
            <a:r>
              <a:rPr lang="da-DK" dirty="0" err="1"/>
              <a:t>SoapUI</a:t>
            </a:r>
            <a:r>
              <a:rPr lang="da-DK" dirty="0"/>
              <a:t>: An open-source </a:t>
            </a:r>
            <a:r>
              <a:rPr lang="da-DK" dirty="0" err="1"/>
              <a:t>tool</a:t>
            </a:r>
            <a:r>
              <a:rPr lang="da-DK" dirty="0"/>
              <a:t> for </a:t>
            </a:r>
            <a:r>
              <a:rPr lang="da-DK" dirty="0" err="1"/>
              <a:t>functional</a:t>
            </a:r>
            <a:r>
              <a:rPr lang="da-DK" dirty="0"/>
              <a:t> and load </a:t>
            </a:r>
            <a:r>
              <a:rPr lang="da-DK" dirty="0" err="1"/>
              <a:t>testing</a:t>
            </a:r>
            <a:r>
              <a:rPr lang="da-DK" dirty="0"/>
              <a:t> of SOAP and </a:t>
            </a:r>
            <a:r>
              <a:rPr lang="da-DK" dirty="0" err="1"/>
              <a:t>RESTful</a:t>
            </a:r>
            <a:r>
              <a:rPr lang="da-DK" dirty="0"/>
              <a:t> web services</a:t>
            </a:r>
            <a:endParaRPr lang="en-DK" sz="500" dirty="0"/>
          </a:p>
        </p:txBody>
      </p:sp>
    </p:spTree>
    <p:extLst>
      <p:ext uri="{BB962C8B-B14F-4D97-AF65-F5344CB8AC3E}">
        <p14:creationId xmlns:p14="http://schemas.microsoft.com/office/powerpoint/2010/main" val="3823623531"/>
      </p:ext>
    </p:extLst>
  </p:cSld>
  <p:clrMapOvr>
    <a:masterClrMapping/>
  </p:clrMapOvr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9CBBB199-CEE7-4207-9B94-FABE54697AB5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da-DK" dirty="0"/>
              <a:t>API </a:t>
            </a:r>
            <a:r>
              <a:rPr lang="da-DK" dirty="0" err="1"/>
              <a:t>testing</a:t>
            </a:r>
            <a:endParaRPr lang="da-DK" dirty="0"/>
          </a:p>
        </p:txBody>
      </p:sp>
      <p:sp>
        <p:nvSpPr>
          <p:cNvPr id="4" name="Pladsholder til dato 3">
            <a:extLst>
              <a:ext uri="{FF2B5EF4-FFF2-40B4-BE49-F238E27FC236}">
                <a16:creationId xmlns:a16="http://schemas.microsoft.com/office/drawing/2014/main" id="{DF6BBC47-AF93-4B51-BB19-37E8FA70A1FC}"/>
              </a:ext>
            </a:extLst>
          </p:cNvPr>
          <p:cNvSpPr>
            <a:spLocks noGrp="1"/>
          </p:cNvSpPr>
          <p:nvPr>
            <p:ph type="dt" sz="half" idx="2"/>
          </p:nvPr>
        </p:nvSpPr>
        <p:spPr/>
        <p:txBody>
          <a:bodyPr/>
          <a:lstStyle/>
          <a:p>
            <a:fld id="{1D326F97-033E-40DE-A683-79560FFFFEF4}" type="datetime1">
              <a:rPr lang="en-GB" smtClean="0"/>
              <a:t>24/04/2023</a:t>
            </a:fld>
            <a:endParaRPr lang="en-GB" dirty="0"/>
          </a:p>
        </p:txBody>
      </p:sp>
      <p:sp>
        <p:nvSpPr>
          <p:cNvPr id="5" name="Pladsholder til sidefod 4">
            <a:extLst>
              <a:ext uri="{FF2B5EF4-FFF2-40B4-BE49-F238E27FC236}">
                <a16:creationId xmlns:a16="http://schemas.microsoft.com/office/drawing/2014/main" id="{0A4065D9-777F-4BC2-8DA9-0E100CD3446A}"/>
              </a:ext>
            </a:extLst>
          </p:cNvPr>
          <p:cNvSpPr>
            <a:spLocks noGrp="1"/>
          </p:cNvSpPr>
          <p:nvPr>
            <p:ph type="ftr" sz="quarter" idx="14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6" name="Pladsholder til slidenummer 5">
            <a:extLst>
              <a:ext uri="{FF2B5EF4-FFF2-40B4-BE49-F238E27FC236}">
                <a16:creationId xmlns:a16="http://schemas.microsoft.com/office/drawing/2014/main" id="{1971CA48-5488-429E-869D-06623C5E5997}"/>
              </a:ext>
            </a:extLst>
          </p:cNvPr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fld id="{45D37B1E-C366-494F-A587-962AD9AABC83}" type="slidenum">
              <a:rPr lang="en-GB" smtClean="0"/>
              <a:pPr/>
              <a:t>71</a:t>
            </a:fld>
            <a:endParaRPr lang="en-GB" dirty="0"/>
          </a:p>
        </p:txBody>
      </p:sp>
      <p:sp>
        <p:nvSpPr>
          <p:cNvPr id="10" name="Content Placeholder 9">
            <a:extLst>
              <a:ext uri="{FF2B5EF4-FFF2-40B4-BE49-F238E27FC236}">
                <a16:creationId xmlns:a16="http://schemas.microsoft.com/office/drawing/2014/main" id="{040613FC-F94A-0712-DF75-092CF5474396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414696" y="1700212"/>
            <a:ext cx="10952578" cy="4408925"/>
          </a:xfrm>
        </p:spPr>
        <p:txBody>
          <a:bodyPr/>
          <a:lstStyle/>
          <a:p>
            <a:r>
              <a:rPr lang="da-DK" dirty="0"/>
              <a:t>API </a:t>
            </a:r>
            <a:r>
              <a:rPr lang="da-DK" dirty="0" err="1"/>
              <a:t>Testing</a:t>
            </a:r>
            <a:r>
              <a:rPr lang="da-DK" dirty="0"/>
              <a:t> </a:t>
            </a:r>
            <a:r>
              <a:rPr lang="da-DK" dirty="0" err="1"/>
              <a:t>Process</a:t>
            </a:r>
            <a:endParaRPr lang="da-DK" dirty="0"/>
          </a:p>
          <a:p>
            <a:endParaRPr lang="da-DK" dirty="0"/>
          </a:p>
          <a:p>
            <a:r>
              <a:rPr lang="da-DK" dirty="0" err="1"/>
              <a:t>Define</a:t>
            </a:r>
            <a:r>
              <a:rPr lang="da-DK" dirty="0"/>
              <a:t> test </a:t>
            </a:r>
            <a:r>
              <a:rPr lang="da-DK" dirty="0" err="1"/>
              <a:t>objectives</a:t>
            </a:r>
            <a:r>
              <a:rPr lang="da-DK" dirty="0"/>
              <a:t>: </a:t>
            </a:r>
            <a:r>
              <a:rPr lang="da-DK" dirty="0" err="1"/>
              <a:t>Establish</a:t>
            </a:r>
            <a:r>
              <a:rPr lang="da-DK" dirty="0"/>
              <a:t> the </a:t>
            </a:r>
            <a:r>
              <a:rPr lang="da-DK" dirty="0" err="1"/>
              <a:t>scope</a:t>
            </a:r>
            <a:r>
              <a:rPr lang="da-DK" dirty="0"/>
              <a:t>, </a:t>
            </a:r>
            <a:r>
              <a:rPr lang="da-DK" dirty="0" err="1"/>
              <a:t>goals</a:t>
            </a:r>
            <a:r>
              <a:rPr lang="da-DK" dirty="0"/>
              <a:t>, and </a:t>
            </a:r>
            <a:r>
              <a:rPr lang="da-DK" dirty="0" err="1"/>
              <a:t>criteria</a:t>
            </a:r>
            <a:r>
              <a:rPr lang="da-DK" dirty="0"/>
              <a:t> for </a:t>
            </a:r>
            <a:r>
              <a:rPr lang="da-DK" dirty="0" err="1"/>
              <a:t>evaluating</a:t>
            </a:r>
            <a:r>
              <a:rPr lang="da-DK" dirty="0"/>
              <a:t> the API</a:t>
            </a:r>
          </a:p>
          <a:p>
            <a:r>
              <a:rPr lang="da-DK" dirty="0" err="1"/>
              <a:t>Develop</a:t>
            </a:r>
            <a:r>
              <a:rPr lang="da-DK" dirty="0"/>
              <a:t> test scenarios: </a:t>
            </a:r>
            <a:r>
              <a:rPr lang="da-DK" dirty="0" err="1"/>
              <a:t>Create</a:t>
            </a:r>
            <a:r>
              <a:rPr lang="da-DK" dirty="0"/>
              <a:t> test scenarios </a:t>
            </a:r>
            <a:r>
              <a:rPr lang="da-DK" dirty="0" err="1"/>
              <a:t>that</a:t>
            </a:r>
            <a:r>
              <a:rPr lang="da-DK" dirty="0"/>
              <a:t> cover the </a:t>
            </a:r>
            <a:r>
              <a:rPr lang="da-DK" dirty="0" err="1"/>
              <a:t>API's</a:t>
            </a:r>
            <a:r>
              <a:rPr lang="da-DK" dirty="0"/>
              <a:t> </a:t>
            </a:r>
            <a:r>
              <a:rPr lang="da-DK" dirty="0" err="1"/>
              <a:t>critical</a:t>
            </a:r>
            <a:r>
              <a:rPr lang="da-DK" dirty="0"/>
              <a:t> </a:t>
            </a:r>
            <a:r>
              <a:rPr lang="da-DK" dirty="0" err="1"/>
              <a:t>functionality</a:t>
            </a:r>
            <a:r>
              <a:rPr lang="da-DK" dirty="0"/>
              <a:t>, </a:t>
            </a:r>
            <a:r>
              <a:rPr lang="da-DK" dirty="0" err="1"/>
              <a:t>endpoints</a:t>
            </a:r>
            <a:r>
              <a:rPr lang="da-DK" dirty="0"/>
              <a:t>, and potential </a:t>
            </a:r>
            <a:r>
              <a:rPr lang="da-DK" dirty="0" err="1"/>
              <a:t>edge</a:t>
            </a:r>
            <a:r>
              <a:rPr lang="da-DK" dirty="0"/>
              <a:t> cases</a:t>
            </a:r>
          </a:p>
          <a:p>
            <a:r>
              <a:rPr lang="da-DK" dirty="0"/>
              <a:t>Set up test </a:t>
            </a:r>
            <a:r>
              <a:rPr lang="da-DK" dirty="0" err="1"/>
              <a:t>environment</a:t>
            </a:r>
            <a:r>
              <a:rPr lang="da-DK" dirty="0"/>
              <a:t>: </a:t>
            </a:r>
            <a:r>
              <a:rPr lang="da-DK" dirty="0" err="1"/>
              <a:t>Configure</a:t>
            </a:r>
            <a:r>
              <a:rPr lang="da-DK" dirty="0"/>
              <a:t> a test </a:t>
            </a:r>
            <a:r>
              <a:rPr lang="da-DK" dirty="0" err="1"/>
              <a:t>environment</a:t>
            </a:r>
            <a:r>
              <a:rPr lang="da-DK" dirty="0"/>
              <a:t> with the </a:t>
            </a:r>
            <a:r>
              <a:rPr lang="da-DK" dirty="0" err="1"/>
              <a:t>necessary</a:t>
            </a:r>
            <a:r>
              <a:rPr lang="da-DK" dirty="0"/>
              <a:t> </a:t>
            </a:r>
            <a:r>
              <a:rPr lang="da-DK" dirty="0" err="1"/>
              <a:t>tools</a:t>
            </a:r>
            <a:r>
              <a:rPr lang="da-DK" dirty="0"/>
              <a:t>, </a:t>
            </a:r>
            <a:r>
              <a:rPr lang="da-DK" dirty="0" err="1"/>
              <a:t>authentication</a:t>
            </a:r>
            <a:r>
              <a:rPr lang="da-DK" dirty="0"/>
              <a:t> </a:t>
            </a:r>
            <a:r>
              <a:rPr lang="da-DK" dirty="0" err="1"/>
              <a:t>credentials</a:t>
            </a:r>
            <a:r>
              <a:rPr lang="da-DK" dirty="0"/>
              <a:t>, and test data</a:t>
            </a:r>
          </a:p>
          <a:p>
            <a:r>
              <a:rPr lang="da-DK" dirty="0" err="1"/>
              <a:t>Execute</a:t>
            </a:r>
            <a:r>
              <a:rPr lang="da-DK" dirty="0"/>
              <a:t> tests: Run tests </a:t>
            </a:r>
            <a:r>
              <a:rPr lang="da-DK" dirty="0" err="1"/>
              <a:t>manually</a:t>
            </a:r>
            <a:r>
              <a:rPr lang="da-DK" dirty="0"/>
              <a:t> or </a:t>
            </a:r>
            <a:r>
              <a:rPr lang="da-DK" dirty="0" err="1"/>
              <a:t>using</a:t>
            </a:r>
            <a:r>
              <a:rPr lang="da-DK" dirty="0"/>
              <a:t> </a:t>
            </a:r>
            <a:r>
              <a:rPr lang="da-DK" dirty="0" err="1"/>
              <a:t>automated</a:t>
            </a:r>
            <a:r>
              <a:rPr lang="da-DK" dirty="0"/>
              <a:t> </a:t>
            </a:r>
            <a:r>
              <a:rPr lang="da-DK" dirty="0" err="1"/>
              <a:t>tools</a:t>
            </a:r>
            <a:r>
              <a:rPr lang="da-DK" dirty="0"/>
              <a:t>, </a:t>
            </a:r>
            <a:r>
              <a:rPr lang="da-DK" dirty="0" err="1"/>
              <a:t>monitoring</a:t>
            </a:r>
            <a:r>
              <a:rPr lang="da-DK" dirty="0"/>
              <a:t> the </a:t>
            </a:r>
            <a:r>
              <a:rPr lang="da-DK" dirty="0" err="1"/>
              <a:t>API's</a:t>
            </a:r>
            <a:r>
              <a:rPr lang="da-DK" dirty="0"/>
              <a:t> </a:t>
            </a:r>
            <a:r>
              <a:rPr lang="da-DK" dirty="0" err="1"/>
              <a:t>behavior</a:t>
            </a:r>
            <a:r>
              <a:rPr lang="da-DK" dirty="0"/>
              <a:t>, </a:t>
            </a:r>
            <a:r>
              <a:rPr lang="da-DK" dirty="0" err="1"/>
              <a:t>responses</a:t>
            </a:r>
            <a:r>
              <a:rPr lang="da-DK" dirty="0"/>
              <a:t>, and performance</a:t>
            </a:r>
          </a:p>
          <a:p>
            <a:r>
              <a:rPr lang="da-DK" dirty="0" err="1"/>
              <a:t>Analyze</a:t>
            </a:r>
            <a:r>
              <a:rPr lang="da-DK" dirty="0"/>
              <a:t> </a:t>
            </a:r>
            <a:r>
              <a:rPr lang="da-DK" dirty="0" err="1"/>
              <a:t>results</a:t>
            </a:r>
            <a:r>
              <a:rPr lang="da-DK" dirty="0"/>
              <a:t>: </a:t>
            </a:r>
            <a:r>
              <a:rPr lang="da-DK" dirty="0" err="1"/>
              <a:t>Identify</a:t>
            </a:r>
            <a:r>
              <a:rPr lang="da-DK" dirty="0"/>
              <a:t> </a:t>
            </a:r>
            <a:r>
              <a:rPr lang="da-DK" dirty="0" err="1"/>
              <a:t>any</a:t>
            </a:r>
            <a:r>
              <a:rPr lang="da-DK" dirty="0"/>
              <a:t> issues, </a:t>
            </a:r>
            <a:r>
              <a:rPr lang="da-DK" dirty="0" err="1"/>
              <a:t>defects</a:t>
            </a:r>
            <a:r>
              <a:rPr lang="da-DK" dirty="0"/>
              <a:t>, or deviations from </a:t>
            </a:r>
            <a:r>
              <a:rPr lang="da-DK" dirty="0" err="1"/>
              <a:t>expected</a:t>
            </a:r>
            <a:r>
              <a:rPr lang="da-DK" dirty="0"/>
              <a:t> </a:t>
            </a:r>
            <a:r>
              <a:rPr lang="da-DK" dirty="0" err="1"/>
              <a:t>behavior</a:t>
            </a:r>
            <a:r>
              <a:rPr lang="da-DK" dirty="0"/>
              <a:t> and </a:t>
            </a:r>
            <a:r>
              <a:rPr lang="da-DK" dirty="0" err="1"/>
              <a:t>work</a:t>
            </a:r>
            <a:r>
              <a:rPr lang="da-DK" dirty="0"/>
              <a:t> with the </a:t>
            </a:r>
            <a:r>
              <a:rPr lang="da-DK" dirty="0" err="1"/>
              <a:t>development</a:t>
            </a:r>
            <a:r>
              <a:rPr lang="da-DK" dirty="0"/>
              <a:t> team to </a:t>
            </a:r>
            <a:r>
              <a:rPr lang="da-DK" dirty="0" err="1"/>
              <a:t>resolve</a:t>
            </a:r>
            <a:r>
              <a:rPr lang="da-DK" dirty="0"/>
              <a:t> </a:t>
            </a:r>
            <a:r>
              <a:rPr lang="da-DK" dirty="0" err="1"/>
              <a:t>them</a:t>
            </a:r>
            <a:endParaRPr lang="da-DK" dirty="0"/>
          </a:p>
          <a:p>
            <a:r>
              <a:rPr lang="da-DK" dirty="0" err="1"/>
              <a:t>Validate</a:t>
            </a:r>
            <a:r>
              <a:rPr lang="da-DK" dirty="0"/>
              <a:t> fixes and </a:t>
            </a:r>
            <a:r>
              <a:rPr lang="da-DK" dirty="0" err="1"/>
              <a:t>re-test</a:t>
            </a:r>
            <a:r>
              <a:rPr lang="da-DK" dirty="0"/>
              <a:t>: </a:t>
            </a:r>
            <a:r>
              <a:rPr lang="da-DK" dirty="0" err="1"/>
              <a:t>Ensure</a:t>
            </a:r>
            <a:r>
              <a:rPr lang="da-DK" dirty="0"/>
              <a:t> </a:t>
            </a:r>
            <a:r>
              <a:rPr lang="da-DK" dirty="0" err="1"/>
              <a:t>that</a:t>
            </a:r>
            <a:r>
              <a:rPr lang="da-DK" dirty="0"/>
              <a:t> issues have </a:t>
            </a:r>
            <a:r>
              <a:rPr lang="da-DK" dirty="0" err="1"/>
              <a:t>been</a:t>
            </a:r>
            <a:r>
              <a:rPr lang="da-DK" dirty="0"/>
              <a:t> </a:t>
            </a:r>
            <a:r>
              <a:rPr lang="da-DK" dirty="0" err="1"/>
              <a:t>effectively</a:t>
            </a:r>
            <a:r>
              <a:rPr lang="da-DK" dirty="0"/>
              <a:t> </a:t>
            </a:r>
            <a:r>
              <a:rPr lang="da-DK" dirty="0" err="1"/>
              <a:t>resolved</a:t>
            </a:r>
            <a:r>
              <a:rPr lang="da-DK" dirty="0"/>
              <a:t> and </a:t>
            </a:r>
            <a:r>
              <a:rPr lang="da-DK" dirty="0" err="1"/>
              <a:t>re-test</a:t>
            </a:r>
            <a:r>
              <a:rPr lang="da-DK" dirty="0"/>
              <a:t> as </a:t>
            </a:r>
            <a:r>
              <a:rPr lang="da-DK" dirty="0" err="1"/>
              <a:t>needed</a:t>
            </a:r>
            <a:endParaRPr lang="en-DK" sz="500" dirty="0"/>
          </a:p>
        </p:txBody>
      </p:sp>
    </p:spTree>
    <p:extLst>
      <p:ext uri="{BB962C8B-B14F-4D97-AF65-F5344CB8AC3E}">
        <p14:creationId xmlns:p14="http://schemas.microsoft.com/office/powerpoint/2010/main" val="3420703591"/>
      </p:ext>
    </p:extLst>
  </p:cSld>
  <p:clrMapOvr>
    <a:masterClrMapping/>
  </p:clrMapOvr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9CBBB199-CEE7-4207-9B94-FABE54697AB5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da-DK" dirty="0"/>
              <a:t>API </a:t>
            </a:r>
            <a:r>
              <a:rPr lang="da-DK" dirty="0" err="1"/>
              <a:t>testing</a:t>
            </a:r>
            <a:endParaRPr lang="da-DK" dirty="0"/>
          </a:p>
        </p:txBody>
      </p:sp>
      <p:sp>
        <p:nvSpPr>
          <p:cNvPr id="4" name="Pladsholder til dato 3">
            <a:extLst>
              <a:ext uri="{FF2B5EF4-FFF2-40B4-BE49-F238E27FC236}">
                <a16:creationId xmlns:a16="http://schemas.microsoft.com/office/drawing/2014/main" id="{DF6BBC47-AF93-4B51-BB19-37E8FA70A1FC}"/>
              </a:ext>
            </a:extLst>
          </p:cNvPr>
          <p:cNvSpPr>
            <a:spLocks noGrp="1"/>
          </p:cNvSpPr>
          <p:nvPr>
            <p:ph type="dt" sz="half" idx="2"/>
          </p:nvPr>
        </p:nvSpPr>
        <p:spPr/>
        <p:txBody>
          <a:bodyPr/>
          <a:lstStyle/>
          <a:p>
            <a:fld id="{1D326F97-033E-40DE-A683-79560FFFFEF4}" type="datetime1">
              <a:rPr lang="en-GB" smtClean="0"/>
              <a:t>24/04/2023</a:t>
            </a:fld>
            <a:endParaRPr lang="en-GB" dirty="0"/>
          </a:p>
        </p:txBody>
      </p:sp>
      <p:sp>
        <p:nvSpPr>
          <p:cNvPr id="5" name="Pladsholder til sidefod 4">
            <a:extLst>
              <a:ext uri="{FF2B5EF4-FFF2-40B4-BE49-F238E27FC236}">
                <a16:creationId xmlns:a16="http://schemas.microsoft.com/office/drawing/2014/main" id="{0A4065D9-777F-4BC2-8DA9-0E100CD3446A}"/>
              </a:ext>
            </a:extLst>
          </p:cNvPr>
          <p:cNvSpPr>
            <a:spLocks noGrp="1"/>
          </p:cNvSpPr>
          <p:nvPr>
            <p:ph type="ftr" sz="quarter" idx="14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6" name="Pladsholder til slidenummer 5">
            <a:extLst>
              <a:ext uri="{FF2B5EF4-FFF2-40B4-BE49-F238E27FC236}">
                <a16:creationId xmlns:a16="http://schemas.microsoft.com/office/drawing/2014/main" id="{1971CA48-5488-429E-869D-06623C5E5997}"/>
              </a:ext>
            </a:extLst>
          </p:cNvPr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fld id="{45D37B1E-C366-494F-A587-962AD9AABC83}" type="slidenum">
              <a:rPr lang="en-GB" smtClean="0"/>
              <a:pPr/>
              <a:t>72</a:t>
            </a:fld>
            <a:endParaRPr lang="en-GB" dirty="0"/>
          </a:p>
        </p:txBody>
      </p:sp>
      <p:sp>
        <p:nvSpPr>
          <p:cNvPr id="10" name="Content Placeholder 9">
            <a:extLst>
              <a:ext uri="{FF2B5EF4-FFF2-40B4-BE49-F238E27FC236}">
                <a16:creationId xmlns:a16="http://schemas.microsoft.com/office/drawing/2014/main" id="{040613FC-F94A-0712-DF75-092CF5474396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414696" y="1700212"/>
            <a:ext cx="10952578" cy="4408925"/>
          </a:xfrm>
        </p:spPr>
        <p:txBody>
          <a:bodyPr/>
          <a:lstStyle/>
          <a:p>
            <a:r>
              <a:rPr lang="da-DK" dirty="0"/>
              <a:t>Tips for </a:t>
            </a:r>
            <a:r>
              <a:rPr lang="da-DK" dirty="0" err="1"/>
              <a:t>Effective</a:t>
            </a:r>
            <a:r>
              <a:rPr lang="da-DK" dirty="0"/>
              <a:t> API </a:t>
            </a:r>
            <a:r>
              <a:rPr lang="da-DK" dirty="0" err="1"/>
              <a:t>Testing</a:t>
            </a:r>
            <a:endParaRPr lang="da-DK" dirty="0"/>
          </a:p>
          <a:p>
            <a:endParaRPr lang="da-DK" dirty="0"/>
          </a:p>
          <a:p>
            <a:r>
              <a:rPr lang="da-DK" dirty="0" err="1"/>
              <a:t>Prioritize</a:t>
            </a:r>
            <a:r>
              <a:rPr lang="da-DK" dirty="0"/>
              <a:t> </a:t>
            </a:r>
            <a:r>
              <a:rPr lang="da-DK" dirty="0" err="1"/>
              <a:t>testing</a:t>
            </a:r>
            <a:r>
              <a:rPr lang="da-DK" dirty="0"/>
              <a:t> </a:t>
            </a:r>
            <a:r>
              <a:rPr lang="da-DK" dirty="0" err="1"/>
              <a:t>based</a:t>
            </a:r>
            <a:r>
              <a:rPr lang="da-DK" dirty="0"/>
              <a:t> on </a:t>
            </a:r>
            <a:r>
              <a:rPr lang="da-DK" dirty="0" err="1"/>
              <a:t>critical</a:t>
            </a:r>
            <a:r>
              <a:rPr lang="da-DK" dirty="0"/>
              <a:t> </a:t>
            </a:r>
            <a:r>
              <a:rPr lang="da-DK" dirty="0" err="1"/>
              <a:t>functionality</a:t>
            </a:r>
            <a:r>
              <a:rPr lang="da-DK" dirty="0"/>
              <a:t> and potential </a:t>
            </a:r>
            <a:r>
              <a:rPr lang="da-DK" dirty="0" err="1"/>
              <a:t>risks</a:t>
            </a:r>
            <a:endParaRPr lang="da-DK" dirty="0"/>
          </a:p>
          <a:p>
            <a:r>
              <a:rPr lang="da-DK" dirty="0" err="1"/>
              <a:t>Use</a:t>
            </a:r>
            <a:r>
              <a:rPr lang="da-DK" dirty="0"/>
              <a:t> a </a:t>
            </a:r>
            <a:r>
              <a:rPr lang="da-DK" dirty="0" err="1"/>
              <a:t>combination</a:t>
            </a:r>
            <a:r>
              <a:rPr lang="da-DK" dirty="0"/>
              <a:t> of manual and </a:t>
            </a:r>
            <a:r>
              <a:rPr lang="da-DK" dirty="0" err="1"/>
              <a:t>automated</a:t>
            </a:r>
            <a:r>
              <a:rPr lang="da-DK" dirty="0"/>
              <a:t> </a:t>
            </a:r>
            <a:r>
              <a:rPr lang="da-DK" dirty="0" err="1"/>
              <a:t>testing</a:t>
            </a:r>
            <a:r>
              <a:rPr lang="da-DK" dirty="0"/>
              <a:t> </a:t>
            </a:r>
            <a:r>
              <a:rPr lang="da-DK" dirty="0" err="1"/>
              <a:t>techniques</a:t>
            </a:r>
            <a:r>
              <a:rPr lang="da-DK" dirty="0"/>
              <a:t> to </a:t>
            </a:r>
            <a:r>
              <a:rPr lang="da-DK" dirty="0" err="1"/>
              <a:t>maximize</a:t>
            </a:r>
            <a:r>
              <a:rPr lang="da-DK" dirty="0"/>
              <a:t> </a:t>
            </a:r>
            <a:r>
              <a:rPr lang="da-DK" dirty="0" err="1"/>
              <a:t>coverage</a:t>
            </a:r>
            <a:r>
              <a:rPr lang="da-DK" dirty="0"/>
              <a:t> and </a:t>
            </a:r>
            <a:r>
              <a:rPr lang="da-DK" dirty="0" err="1"/>
              <a:t>efficiency</a:t>
            </a:r>
            <a:endParaRPr lang="da-DK" dirty="0"/>
          </a:p>
          <a:p>
            <a:r>
              <a:rPr lang="da-DK" dirty="0"/>
              <a:t>Test </a:t>
            </a:r>
            <a:r>
              <a:rPr lang="da-DK" dirty="0" err="1"/>
              <a:t>both</a:t>
            </a:r>
            <a:r>
              <a:rPr lang="da-DK" dirty="0"/>
              <a:t> positive and negative scenarios to </a:t>
            </a:r>
            <a:r>
              <a:rPr lang="da-DK" dirty="0" err="1"/>
              <a:t>ensure</a:t>
            </a:r>
            <a:r>
              <a:rPr lang="da-DK" dirty="0"/>
              <a:t> the API </a:t>
            </a:r>
            <a:r>
              <a:rPr lang="da-DK" dirty="0" err="1"/>
              <a:t>can</a:t>
            </a:r>
            <a:r>
              <a:rPr lang="da-DK" dirty="0"/>
              <a:t> handle </a:t>
            </a:r>
            <a:r>
              <a:rPr lang="da-DK" dirty="0" err="1"/>
              <a:t>various</a:t>
            </a:r>
            <a:r>
              <a:rPr lang="da-DK" dirty="0"/>
              <a:t> inputs and </a:t>
            </a:r>
            <a:r>
              <a:rPr lang="da-DK" dirty="0" err="1"/>
              <a:t>conditions</a:t>
            </a:r>
            <a:endParaRPr lang="da-DK" dirty="0"/>
          </a:p>
          <a:p>
            <a:r>
              <a:rPr lang="da-DK" dirty="0" err="1"/>
              <a:t>Maintain</a:t>
            </a:r>
            <a:r>
              <a:rPr lang="da-DK" dirty="0"/>
              <a:t> up-to-date </a:t>
            </a:r>
            <a:r>
              <a:rPr lang="da-DK" dirty="0" err="1"/>
              <a:t>documentation</a:t>
            </a:r>
            <a:r>
              <a:rPr lang="da-DK" dirty="0"/>
              <a:t> and test cases as the API </a:t>
            </a:r>
            <a:r>
              <a:rPr lang="da-DK" dirty="0" err="1"/>
              <a:t>evolves</a:t>
            </a:r>
            <a:endParaRPr lang="da-DK" dirty="0"/>
          </a:p>
          <a:p>
            <a:r>
              <a:rPr lang="da-DK" dirty="0"/>
              <a:t>Foster </a:t>
            </a:r>
            <a:r>
              <a:rPr lang="da-DK" dirty="0" err="1"/>
              <a:t>collaboration</a:t>
            </a:r>
            <a:r>
              <a:rPr lang="da-DK" dirty="0"/>
              <a:t> </a:t>
            </a:r>
            <a:r>
              <a:rPr lang="da-DK" dirty="0" err="1"/>
              <a:t>between</a:t>
            </a:r>
            <a:r>
              <a:rPr lang="da-DK" dirty="0"/>
              <a:t> developers, testers, and </a:t>
            </a:r>
            <a:r>
              <a:rPr lang="da-DK" dirty="0" err="1"/>
              <a:t>other</a:t>
            </a:r>
            <a:r>
              <a:rPr lang="da-DK" dirty="0"/>
              <a:t> stakeholders to </a:t>
            </a:r>
            <a:r>
              <a:rPr lang="da-DK" dirty="0" err="1"/>
              <a:t>ensure</a:t>
            </a:r>
            <a:r>
              <a:rPr lang="da-DK" dirty="0"/>
              <a:t> a high-</a:t>
            </a:r>
            <a:r>
              <a:rPr lang="da-DK" dirty="0" err="1"/>
              <a:t>quality</a:t>
            </a:r>
            <a:r>
              <a:rPr lang="da-DK" dirty="0"/>
              <a:t> API</a:t>
            </a:r>
          </a:p>
          <a:p>
            <a:r>
              <a:rPr lang="da-DK" dirty="0" err="1"/>
              <a:t>Use</a:t>
            </a:r>
            <a:r>
              <a:rPr lang="da-DK" dirty="0"/>
              <a:t> stubs for </a:t>
            </a:r>
            <a:r>
              <a:rPr lang="da-DK" dirty="0" err="1"/>
              <a:t>early</a:t>
            </a:r>
            <a:r>
              <a:rPr lang="da-DK" dirty="0"/>
              <a:t> </a:t>
            </a:r>
            <a:r>
              <a:rPr lang="da-DK" dirty="0" err="1"/>
              <a:t>implementation</a:t>
            </a:r>
            <a:r>
              <a:rPr lang="da-DK" dirty="0"/>
              <a:t>, </a:t>
            </a:r>
            <a:r>
              <a:rPr lang="da-DK" dirty="0" err="1"/>
              <a:t>validation</a:t>
            </a:r>
            <a:r>
              <a:rPr lang="da-DK" dirty="0"/>
              <a:t> and </a:t>
            </a:r>
            <a:r>
              <a:rPr lang="da-DK" dirty="0" err="1"/>
              <a:t>focused</a:t>
            </a:r>
            <a:r>
              <a:rPr lang="da-DK" dirty="0"/>
              <a:t> tests</a:t>
            </a:r>
          </a:p>
        </p:txBody>
      </p:sp>
    </p:spTree>
    <p:extLst>
      <p:ext uri="{BB962C8B-B14F-4D97-AF65-F5344CB8AC3E}">
        <p14:creationId xmlns:p14="http://schemas.microsoft.com/office/powerpoint/2010/main" val="3497058074"/>
      </p:ext>
    </p:extLst>
  </p:cSld>
  <p:clrMapOvr>
    <a:masterClrMapping/>
  </p:clrMapOvr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552FF25E-24BF-4225-87AB-B2869F94CB2B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da-DK"/>
          </a:p>
        </p:txBody>
      </p:sp>
      <p:sp>
        <p:nvSpPr>
          <p:cNvPr id="3" name="Pladsholder til dato 2">
            <a:extLst>
              <a:ext uri="{FF2B5EF4-FFF2-40B4-BE49-F238E27FC236}">
                <a16:creationId xmlns:a16="http://schemas.microsoft.com/office/drawing/2014/main" id="{4C93D788-8D9D-4045-B518-6692018D89DE}"/>
              </a:ext>
            </a:extLst>
          </p:cNvPr>
          <p:cNvSpPr>
            <a:spLocks noGrp="1"/>
          </p:cNvSpPr>
          <p:nvPr>
            <p:ph type="dt" sz="half" idx="2"/>
          </p:nvPr>
        </p:nvSpPr>
        <p:spPr/>
        <p:txBody>
          <a:bodyPr/>
          <a:lstStyle/>
          <a:p>
            <a:fld id="{B4C4C6FD-8607-43FF-8BC8-950EFB970BA3}" type="datetime1">
              <a:rPr lang="en-GB" smtClean="0"/>
              <a:t>24/04/2023</a:t>
            </a:fld>
            <a:endParaRPr lang="en-GB" dirty="0"/>
          </a:p>
        </p:txBody>
      </p:sp>
      <p:sp>
        <p:nvSpPr>
          <p:cNvPr id="4" name="Rektangel 3">
            <a:extLst>
              <a:ext uri="{FF2B5EF4-FFF2-40B4-BE49-F238E27FC236}">
                <a16:creationId xmlns:a16="http://schemas.microsoft.com/office/drawing/2014/main" id="{F994D39F-0217-4BCC-AD0B-429E7605B2F1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2">
              <a:lumMod val="60000"/>
              <a:lumOff val="40000"/>
            </a:schemeClr>
          </a:solidFill>
          <a:ln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tIns="72000" rIns="72000" bIns="72000" rtlCol="0" anchor="ctr"/>
          <a:lstStyle/>
          <a:p>
            <a:pPr algn="ctr"/>
            <a:r>
              <a:rPr lang="da-DK" sz="2800" b="1" dirty="0"/>
              <a:t>Accessibility </a:t>
            </a:r>
            <a:r>
              <a:rPr lang="da-DK" sz="2800" b="1" dirty="0" err="1"/>
              <a:t>Testing</a:t>
            </a:r>
            <a:endParaRPr lang="da-DK" sz="2800" b="1" dirty="0"/>
          </a:p>
        </p:txBody>
      </p:sp>
    </p:spTree>
    <p:extLst>
      <p:ext uri="{BB962C8B-B14F-4D97-AF65-F5344CB8AC3E}">
        <p14:creationId xmlns:p14="http://schemas.microsoft.com/office/powerpoint/2010/main" val="1687966356"/>
      </p:ext>
    </p:extLst>
  </p:cSld>
  <p:clrMapOvr>
    <a:masterClrMapping/>
  </p:clrMapOvr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9CBBB199-CEE7-4207-9B94-FABE54697AB5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da-DK" dirty="0"/>
              <a:t>Accessibility </a:t>
            </a:r>
            <a:r>
              <a:rPr lang="da-DK" dirty="0" err="1"/>
              <a:t>Testing</a:t>
            </a:r>
            <a:endParaRPr lang="da-DK" dirty="0"/>
          </a:p>
        </p:txBody>
      </p:sp>
      <p:sp>
        <p:nvSpPr>
          <p:cNvPr id="4" name="Pladsholder til dato 3">
            <a:extLst>
              <a:ext uri="{FF2B5EF4-FFF2-40B4-BE49-F238E27FC236}">
                <a16:creationId xmlns:a16="http://schemas.microsoft.com/office/drawing/2014/main" id="{DF6BBC47-AF93-4B51-BB19-37E8FA70A1FC}"/>
              </a:ext>
            </a:extLst>
          </p:cNvPr>
          <p:cNvSpPr>
            <a:spLocks noGrp="1"/>
          </p:cNvSpPr>
          <p:nvPr>
            <p:ph type="dt" sz="half" idx="2"/>
          </p:nvPr>
        </p:nvSpPr>
        <p:spPr/>
        <p:txBody>
          <a:bodyPr/>
          <a:lstStyle/>
          <a:p>
            <a:fld id="{1D326F97-033E-40DE-A683-79560FFFFEF4}" type="datetime1">
              <a:rPr lang="en-GB" smtClean="0"/>
              <a:t>24/04/2023</a:t>
            </a:fld>
            <a:endParaRPr lang="en-GB" dirty="0"/>
          </a:p>
        </p:txBody>
      </p:sp>
      <p:sp>
        <p:nvSpPr>
          <p:cNvPr id="5" name="Pladsholder til sidefod 4">
            <a:extLst>
              <a:ext uri="{FF2B5EF4-FFF2-40B4-BE49-F238E27FC236}">
                <a16:creationId xmlns:a16="http://schemas.microsoft.com/office/drawing/2014/main" id="{0A4065D9-777F-4BC2-8DA9-0E100CD3446A}"/>
              </a:ext>
            </a:extLst>
          </p:cNvPr>
          <p:cNvSpPr>
            <a:spLocks noGrp="1"/>
          </p:cNvSpPr>
          <p:nvPr>
            <p:ph type="ftr" sz="quarter" idx="14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6" name="Pladsholder til slidenummer 5">
            <a:extLst>
              <a:ext uri="{FF2B5EF4-FFF2-40B4-BE49-F238E27FC236}">
                <a16:creationId xmlns:a16="http://schemas.microsoft.com/office/drawing/2014/main" id="{1971CA48-5488-429E-869D-06623C5E5997}"/>
              </a:ext>
            </a:extLst>
          </p:cNvPr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fld id="{45D37B1E-C366-494F-A587-962AD9AABC83}" type="slidenum">
              <a:rPr lang="en-GB" smtClean="0"/>
              <a:pPr/>
              <a:t>74</a:t>
            </a:fld>
            <a:endParaRPr lang="en-GB" dirty="0"/>
          </a:p>
        </p:txBody>
      </p:sp>
      <p:sp>
        <p:nvSpPr>
          <p:cNvPr id="10" name="Content Placeholder 9">
            <a:extLst>
              <a:ext uri="{FF2B5EF4-FFF2-40B4-BE49-F238E27FC236}">
                <a16:creationId xmlns:a16="http://schemas.microsoft.com/office/drawing/2014/main" id="{040613FC-F94A-0712-DF75-092CF5474396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414696" y="1700212"/>
            <a:ext cx="10952578" cy="4408925"/>
          </a:xfrm>
        </p:spPr>
        <p:txBody>
          <a:bodyPr/>
          <a:lstStyle/>
          <a:p>
            <a:r>
              <a:rPr lang="da-DK" dirty="0"/>
              <a:t>Purpose: </a:t>
            </a:r>
            <a:r>
              <a:rPr lang="da-DK" dirty="0" err="1"/>
              <a:t>Evaluates</a:t>
            </a:r>
            <a:r>
              <a:rPr lang="da-DK" dirty="0"/>
              <a:t> the </a:t>
            </a:r>
            <a:r>
              <a:rPr lang="da-DK" dirty="0" err="1"/>
              <a:t>usability</a:t>
            </a:r>
            <a:r>
              <a:rPr lang="da-DK" dirty="0"/>
              <a:t> of a web </a:t>
            </a:r>
            <a:r>
              <a:rPr lang="da-DK" dirty="0" err="1"/>
              <a:t>application</a:t>
            </a:r>
            <a:r>
              <a:rPr lang="da-DK" dirty="0"/>
              <a:t> for </a:t>
            </a:r>
            <a:r>
              <a:rPr lang="da-DK" dirty="0" err="1"/>
              <a:t>people</a:t>
            </a:r>
            <a:r>
              <a:rPr lang="da-DK" dirty="0"/>
              <a:t> with </a:t>
            </a:r>
            <a:r>
              <a:rPr lang="da-DK" dirty="0" err="1"/>
              <a:t>disabilities</a:t>
            </a:r>
            <a:r>
              <a:rPr lang="da-DK" dirty="0"/>
              <a:t>, </a:t>
            </a:r>
            <a:r>
              <a:rPr lang="da-DK" dirty="0" err="1"/>
              <a:t>ensuring</a:t>
            </a:r>
            <a:r>
              <a:rPr lang="da-DK" dirty="0"/>
              <a:t> compliance with </a:t>
            </a:r>
            <a:r>
              <a:rPr lang="da-DK" dirty="0" err="1"/>
              <a:t>accessibility</a:t>
            </a:r>
            <a:r>
              <a:rPr lang="da-DK" dirty="0"/>
              <a:t> guidelines and standards</a:t>
            </a:r>
          </a:p>
          <a:p>
            <a:r>
              <a:rPr lang="da-DK" dirty="0" err="1"/>
              <a:t>Goals</a:t>
            </a:r>
            <a:r>
              <a:rPr lang="da-DK" dirty="0"/>
              <a:t>: Provide an inclusive user </a:t>
            </a:r>
            <a:r>
              <a:rPr lang="da-DK" dirty="0" err="1"/>
              <a:t>experience</a:t>
            </a:r>
            <a:r>
              <a:rPr lang="da-DK" dirty="0"/>
              <a:t>, </a:t>
            </a:r>
            <a:r>
              <a:rPr lang="da-DK" dirty="0" err="1"/>
              <a:t>meet</a:t>
            </a:r>
            <a:r>
              <a:rPr lang="da-DK" dirty="0"/>
              <a:t> legal and </a:t>
            </a:r>
            <a:r>
              <a:rPr lang="da-DK" dirty="0" err="1"/>
              <a:t>ethical</a:t>
            </a:r>
            <a:r>
              <a:rPr lang="da-DK" dirty="0"/>
              <a:t> </a:t>
            </a:r>
            <a:r>
              <a:rPr lang="da-DK" dirty="0" err="1"/>
              <a:t>requirements</a:t>
            </a:r>
            <a:r>
              <a:rPr lang="da-DK" dirty="0"/>
              <a:t>, and </a:t>
            </a:r>
            <a:r>
              <a:rPr lang="da-DK" dirty="0" err="1"/>
              <a:t>improve</a:t>
            </a:r>
            <a:r>
              <a:rPr lang="da-DK" dirty="0"/>
              <a:t> overall </a:t>
            </a:r>
            <a:r>
              <a:rPr lang="da-DK" dirty="0" err="1"/>
              <a:t>usability</a:t>
            </a:r>
            <a:endParaRPr lang="en-DK" sz="500" dirty="0"/>
          </a:p>
        </p:txBody>
      </p:sp>
    </p:spTree>
    <p:extLst>
      <p:ext uri="{BB962C8B-B14F-4D97-AF65-F5344CB8AC3E}">
        <p14:creationId xmlns:p14="http://schemas.microsoft.com/office/powerpoint/2010/main" val="4264666776"/>
      </p:ext>
    </p:extLst>
  </p:cSld>
  <p:clrMapOvr>
    <a:masterClrMapping/>
  </p:clrMapOvr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9CBBB199-CEE7-4207-9B94-FABE54697AB5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da-DK" dirty="0"/>
              <a:t>Accessibility </a:t>
            </a:r>
            <a:r>
              <a:rPr lang="da-DK" dirty="0" err="1"/>
              <a:t>Testing</a:t>
            </a:r>
            <a:endParaRPr lang="da-DK" dirty="0"/>
          </a:p>
        </p:txBody>
      </p:sp>
      <p:sp>
        <p:nvSpPr>
          <p:cNvPr id="4" name="Pladsholder til dato 3">
            <a:extLst>
              <a:ext uri="{FF2B5EF4-FFF2-40B4-BE49-F238E27FC236}">
                <a16:creationId xmlns:a16="http://schemas.microsoft.com/office/drawing/2014/main" id="{DF6BBC47-AF93-4B51-BB19-37E8FA70A1FC}"/>
              </a:ext>
            </a:extLst>
          </p:cNvPr>
          <p:cNvSpPr>
            <a:spLocks noGrp="1"/>
          </p:cNvSpPr>
          <p:nvPr>
            <p:ph type="dt" sz="half" idx="2"/>
          </p:nvPr>
        </p:nvSpPr>
        <p:spPr/>
        <p:txBody>
          <a:bodyPr/>
          <a:lstStyle/>
          <a:p>
            <a:fld id="{1D326F97-033E-40DE-A683-79560FFFFEF4}" type="datetime1">
              <a:rPr lang="en-GB" smtClean="0"/>
              <a:t>24/04/2023</a:t>
            </a:fld>
            <a:endParaRPr lang="en-GB" dirty="0"/>
          </a:p>
        </p:txBody>
      </p:sp>
      <p:sp>
        <p:nvSpPr>
          <p:cNvPr id="5" name="Pladsholder til sidefod 4">
            <a:extLst>
              <a:ext uri="{FF2B5EF4-FFF2-40B4-BE49-F238E27FC236}">
                <a16:creationId xmlns:a16="http://schemas.microsoft.com/office/drawing/2014/main" id="{0A4065D9-777F-4BC2-8DA9-0E100CD3446A}"/>
              </a:ext>
            </a:extLst>
          </p:cNvPr>
          <p:cNvSpPr>
            <a:spLocks noGrp="1"/>
          </p:cNvSpPr>
          <p:nvPr>
            <p:ph type="ftr" sz="quarter" idx="14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6" name="Pladsholder til slidenummer 5">
            <a:extLst>
              <a:ext uri="{FF2B5EF4-FFF2-40B4-BE49-F238E27FC236}">
                <a16:creationId xmlns:a16="http://schemas.microsoft.com/office/drawing/2014/main" id="{1971CA48-5488-429E-869D-06623C5E5997}"/>
              </a:ext>
            </a:extLst>
          </p:cNvPr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fld id="{45D37B1E-C366-494F-A587-962AD9AABC83}" type="slidenum">
              <a:rPr lang="en-GB" smtClean="0"/>
              <a:pPr/>
              <a:t>75</a:t>
            </a:fld>
            <a:endParaRPr lang="en-GB" dirty="0"/>
          </a:p>
        </p:txBody>
      </p:sp>
      <p:sp>
        <p:nvSpPr>
          <p:cNvPr id="10" name="Content Placeholder 9">
            <a:extLst>
              <a:ext uri="{FF2B5EF4-FFF2-40B4-BE49-F238E27FC236}">
                <a16:creationId xmlns:a16="http://schemas.microsoft.com/office/drawing/2014/main" id="{040613FC-F94A-0712-DF75-092CF5474396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414696" y="1700212"/>
            <a:ext cx="10952578" cy="4408925"/>
          </a:xfrm>
        </p:spPr>
        <p:txBody>
          <a:bodyPr/>
          <a:lstStyle/>
          <a:p>
            <a:r>
              <a:rPr lang="da-DK" dirty="0" err="1"/>
              <a:t>Importance</a:t>
            </a:r>
            <a:r>
              <a:rPr lang="da-DK" dirty="0"/>
              <a:t> of Accessibility </a:t>
            </a:r>
            <a:r>
              <a:rPr lang="da-DK" dirty="0" err="1"/>
              <a:t>Testing</a:t>
            </a:r>
            <a:endParaRPr lang="da-DK" dirty="0"/>
          </a:p>
          <a:p>
            <a:endParaRPr lang="da-DK" dirty="0"/>
          </a:p>
          <a:p>
            <a:r>
              <a:rPr lang="da-DK" dirty="0" err="1"/>
              <a:t>Inclusivity</a:t>
            </a:r>
            <a:r>
              <a:rPr lang="da-DK" dirty="0"/>
              <a:t>: </a:t>
            </a:r>
            <a:r>
              <a:rPr lang="da-DK" dirty="0" err="1"/>
              <a:t>Ensures</a:t>
            </a:r>
            <a:r>
              <a:rPr lang="da-DK" dirty="0"/>
              <a:t> </a:t>
            </a:r>
            <a:r>
              <a:rPr lang="da-DK" dirty="0" err="1"/>
              <a:t>that</a:t>
            </a:r>
            <a:r>
              <a:rPr lang="da-DK" dirty="0"/>
              <a:t> </a:t>
            </a:r>
            <a:r>
              <a:rPr lang="da-DK" dirty="0" err="1"/>
              <a:t>people</a:t>
            </a:r>
            <a:r>
              <a:rPr lang="da-DK" dirty="0"/>
              <a:t> with </a:t>
            </a:r>
            <a:r>
              <a:rPr lang="da-DK" dirty="0" err="1"/>
              <a:t>disabilities</a:t>
            </a:r>
            <a:r>
              <a:rPr lang="da-DK" dirty="0"/>
              <a:t> </a:t>
            </a:r>
            <a:r>
              <a:rPr lang="da-DK" dirty="0" err="1"/>
              <a:t>can</a:t>
            </a:r>
            <a:r>
              <a:rPr lang="da-DK" dirty="0"/>
              <a:t> </a:t>
            </a:r>
            <a:r>
              <a:rPr lang="da-DK" dirty="0" err="1"/>
              <a:t>access</a:t>
            </a:r>
            <a:r>
              <a:rPr lang="da-DK" dirty="0"/>
              <a:t> and </a:t>
            </a:r>
            <a:r>
              <a:rPr lang="da-DK" dirty="0" err="1"/>
              <a:t>use</a:t>
            </a:r>
            <a:r>
              <a:rPr lang="da-DK" dirty="0"/>
              <a:t> web </a:t>
            </a:r>
            <a:r>
              <a:rPr lang="da-DK" dirty="0" err="1"/>
              <a:t>applications</a:t>
            </a:r>
            <a:r>
              <a:rPr lang="da-DK" dirty="0"/>
              <a:t> </a:t>
            </a:r>
            <a:r>
              <a:rPr lang="da-DK" dirty="0" err="1"/>
              <a:t>effectively</a:t>
            </a:r>
            <a:endParaRPr lang="da-DK" dirty="0"/>
          </a:p>
          <a:p>
            <a:r>
              <a:rPr lang="da-DK" dirty="0"/>
              <a:t>Legal compliance: Helps </a:t>
            </a:r>
            <a:r>
              <a:rPr lang="da-DK" dirty="0" err="1"/>
              <a:t>organizations</a:t>
            </a:r>
            <a:r>
              <a:rPr lang="da-DK" dirty="0"/>
              <a:t> </a:t>
            </a:r>
            <a:r>
              <a:rPr lang="da-DK" dirty="0" err="1"/>
              <a:t>comply</a:t>
            </a:r>
            <a:r>
              <a:rPr lang="da-DK" dirty="0"/>
              <a:t> with </a:t>
            </a:r>
            <a:r>
              <a:rPr lang="da-DK" dirty="0" err="1"/>
              <a:t>accessibility</a:t>
            </a:r>
            <a:r>
              <a:rPr lang="da-DK" dirty="0"/>
              <a:t> </a:t>
            </a:r>
            <a:r>
              <a:rPr lang="da-DK" dirty="0" err="1"/>
              <a:t>regulations</a:t>
            </a:r>
            <a:r>
              <a:rPr lang="da-DK" dirty="0"/>
              <a:t>, </a:t>
            </a:r>
            <a:r>
              <a:rPr lang="da-DK" dirty="0" err="1"/>
              <a:t>such</a:t>
            </a:r>
            <a:r>
              <a:rPr lang="da-DK" dirty="0"/>
              <a:t> as the ADA (Americans with </a:t>
            </a:r>
            <a:r>
              <a:rPr lang="da-DK" dirty="0" err="1"/>
              <a:t>Disabilities</a:t>
            </a:r>
            <a:r>
              <a:rPr lang="da-DK" dirty="0"/>
              <a:t> </a:t>
            </a:r>
            <a:r>
              <a:rPr lang="da-DK" dirty="0" err="1"/>
              <a:t>Act</a:t>
            </a:r>
            <a:r>
              <a:rPr lang="da-DK" dirty="0"/>
              <a:t>) and WCAG (Web Content Accessibility Guidelines)</a:t>
            </a:r>
          </a:p>
          <a:p>
            <a:r>
              <a:rPr lang="da-DK" dirty="0" err="1"/>
              <a:t>Improved</a:t>
            </a:r>
            <a:r>
              <a:rPr lang="da-DK" dirty="0"/>
              <a:t> </a:t>
            </a:r>
            <a:r>
              <a:rPr lang="da-DK" dirty="0" err="1"/>
              <a:t>usability</a:t>
            </a:r>
            <a:r>
              <a:rPr lang="da-DK" dirty="0"/>
              <a:t>: </a:t>
            </a:r>
            <a:r>
              <a:rPr lang="da-DK" dirty="0" err="1"/>
              <a:t>Enhances</a:t>
            </a:r>
            <a:r>
              <a:rPr lang="da-DK" dirty="0"/>
              <a:t> the overall user </a:t>
            </a:r>
            <a:r>
              <a:rPr lang="da-DK" dirty="0" err="1"/>
              <a:t>experience</a:t>
            </a:r>
            <a:r>
              <a:rPr lang="da-DK" dirty="0"/>
              <a:t> by </a:t>
            </a:r>
            <a:r>
              <a:rPr lang="da-DK" dirty="0" err="1"/>
              <a:t>addressing</a:t>
            </a:r>
            <a:r>
              <a:rPr lang="da-DK" dirty="0"/>
              <a:t> potential issues and </a:t>
            </a:r>
            <a:r>
              <a:rPr lang="da-DK" dirty="0" err="1"/>
              <a:t>barriers</a:t>
            </a:r>
            <a:endParaRPr lang="en-DK" sz="500" dirty="0"/>
          </a:p>
        </p:txBody>
      </p:sp>
    </p:spTree>
    <p:extLst>
      <p:ext uri="{BB962C8B-B14F-4D97-AF65-F5344CB8AC3E}">
        <p14:creationId xmlns:p14="http://schemas.microsoft.com/office/powerpoint/2010/main" val="3856056229"/>
      </p:ext>
    </p:extLst>
  </p:cSld>
  <p:clrMapOvr>
    <a:masterClrMapping/>
  </p:clrMapOvr>
</p:sld>
</file>

<file path=ppt/slides/slide7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9CBBB199-CEE7-4207-9B94-FABE54697AB5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da-DK" dirty="0"/>
              <a:t>Accessibility </a:t>
            </a:r>
            <a:r>
              <a:rPr lang="da-DK" dirty="0" err="1"/>
              <a:t>Testing</a:t>
            </a:r>
            <a:endParaRPr lang="da-DK" dirty="0"/>
          </a:p>
        </p:txBody>
      </p:sp>
      <p:sp>
        <p:nvSpPr>
          <p:cNvPr id="4" name="Pladsholder til dato 3">
            <a:extLst>
              <a:ext uri="{FF2B5EF4-FFF2-40B4-BE49-F238E27FC236}">
                <a16:creationId xmlns:a16="http://schemas.microsoft.com/office/drawing/2014/main" id="{DF6BBC47-AF93-4B51-BB19-37E8FA70A1FC}"/>
              </a:ext>
            </a:extLst>
          </p:cNvPr>
          <p:cNvSpPr>
            <a:spLocks noGrp="1"/>
          </p:cNvSpPr>
          <p:nvPr>
            <p:ph type="dt" sz="half" idx="2"/>
          </p:nvPr>
        </p:nvSpPr>
        <p:spPr/>
        <p:txBody>
          <a:bodyPr/>
          <a:lstStyle/>
          <a:p>
            <a:fld id="{1D326F97-033E-40DE-A683-79560FFFFEF4}" type="datetime1">
              <a:rPr lang="en-GB" smtClean="0"/>
              <a:t>24/04/2023</a:t>
            </a:fld>
            <a:endParaRPr lang="en-GB" dirty="0"/>
          </a:p>
        </p:txBody>
      </p:sp>
      <p:sp>
        <p:nvSpPr>
          <p:cNvPr id="5" name="Pladsholder til sidefod 4">
            <a:extLst>
              <a:ext uri="{FF2B5EF4-FFF2-40B4-BE49-F238E27FC236}">
                <a16:creationId xmlns:a16="http://schemas.microsoft.com/office/drawing/2014/main" id="{0A4065D9-777F-4BC2-8DA9-0E100CD3446A}"/>
              </a:ext>
            </a:extLst>
          </p:cNvPr>
          <p:cNvSpPr>
            <a:spLocks noGrp="1"/>
          </p:cNvSpPr>
          <p:nvPr>
            <p:ph type="ftr" sz="quarter" idx="14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6" name="Pladsholder til slidenummer 5">
            <a:extLst>
              <a:ext uri="{FF2B5EF4-FFF2-40B4-BE49-F238E27FC236}">
                <a16:creationId xmlns:a16="http://schemas.microsoft.com/office/drawing/2014/main" id="{1971CA48-5488-429E-869D-06623C5E5997}"/>
              </a:ext>
            </a:extLst>
          </p:cNvPr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fld id="{45D37B1E-C366-494F-A587-962AD9AABC83}" type="slidenum">
              <a:rPr lang="en-GB" smtClean="0"/>
              <a:pPr/>
              <a:t>76</a:t>
            </a:fld>
            <a:endParaRPr lang="en-GB" dirty="0"/>
          </a:p>
        </p:txBody>
      </p:sp>
      <p:sp>
        <p:nvSpPr>
          <p:cNvPr id="10" name="Content Placeholder 9">
            <a:extLst>
              <a:ext uri="{FF2B5EF4-FFF2-40B4-BE49-F238E27FC236}">
                <a16:creationId xmlns:a16="http://schemas.microsoft.com/office/drawing/2014/main" id="{040613FC-F94A-0712-DF75-092CF5474396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414696" y="1700212"/>
            <a:ext cx="10952578" cy="4408925"/>
          </a:xfrm>
        </p:spPr>
        <p:txBody>
          <a:bodyPr/>
          <a:lstStyle/>
          <a:p>
            <a:r>
              <a:rPr lang="da-DK" dirty="0"/>
              <a:t>Key </a:t>
            </a:r>
            <a:r>
              <a:rPr lang="da-DK" dirty="0" err="1"/>
              <a:t>Areas</a:t>
            </a:r>
            <a:r>
              <a:rPr lang="da-DK" dirty="0"/>
              <a:t> of Accessibility </a:t>
            </a:r>
            <a:r>
              <a:rPr lang="da-DK" dirty="0" err="1"/>
              <a:t>Testing</a:t>
            </a:r>
            <a:endParaRPr lang="da-DK" dirty="0"/>
          </a:p>
          <a:p>
            <a:endParaRPr lang="da-DK" dirty="0"/>
          </a:p>
          <a:p>
            <a:r>
              <a:rPr lang="da-DK" dirty="0"/>
              <a:t>Keyboard navigation: </a:t>
            </a:r>
            <a:r>
              <a:rPr lang="da-DK" dirty="0" err="1"/>
              <a:t>Verify</a:t>
            </a:r>
            <a:r>
              <a:rPr lang="da-DK" dirty="0"/>
              <a:t> </a:t>
            </a:r>
            <a:r>
              <a:rPr lang="da-DK" dirty="0" err="1"/>
              <a:t>that</a:t>
            </a:r>
            <a:r>
              <a:rPr lang="da-DK" dirty="0"/>
              <a:t> all </a:t>
            </a:r>
            <a:r>
              <a:rPr lang="da-DK" dirty="0" err="1"/>
              <a:t>interactive</a:t>
            </a:r>
            <a:r>
              <a:rPr lang="da-DK" dirty="0"/>
              <a:t> elements </a:t>
            </a:r>
            <a:r>
              <a:rPr lang="da-DK" dirty="0" err="1"/>
              <a:t>can</a:t>
            </a:r>
            <a:r>
              <a:rPr lang="da-DK" dirty="0"/>
              <a:t> </a:t>
            </a:r>
            <a:r>
              <a:rPr lang="da-DK" dirty="0" err="1"/>
              <a:t>be</a:t>
            </a:r>
            <a:r>
              <a:rPr lang="da-DK" dirty="0"/>
              <a:t> </a:t>
            </a:r>
            <a:r>
              <a:rPr lang="da-DK" dirty="0" err="1"/>
              <a:t>accessed</a:t>
            </a:r>
            <a:r>
              <a:rPr lang="da-DK" dirty="0"/>
              <a:t> and </a:t>
            </a:r>
            <a:r>
              <a:rPr lang="da-DK" dirty="0" err="1"/>
              <a:t>used</a:t>
            </a:r>
            <a:r>
              <a:rPr lang="da-DK" dirty="0"/>
              <a:t> with a keyboard </a:t>
            </a:r>
            <a:r>
              <a:rPr lang="da-DK" dirty="0" err="1"/>
              <a:t>alone</a:t>
            </a:r>
            <a:endParaRPr lang="da-DK" dirty="0"/>
          </a:p>
          <a:p>
            <a:r>
              <a:rPr lang="da-DK" dirty="0"/>
              <a:t>Screen </a:t>
            </a:r>
            <a:r>
              <a:rPr lang="da-DK" dirty="0" err="1"/>
              <a:t>reader</a:t>
            </a:r>
            <a:r>
              <a:rPr lang="da-DK" dirty="0"/>
              <a:t> </a:t>
            </a:r>
            <a:r>
              <a:rPr lang="da-DK" dirty="0" err="1"/>
              <a:t>compatibility</a:t>
            </a:r>
            <a:r>
              <a:rPr lang="da-DK" dirty="0"/>
              <a:t>: Test the </a:t>
            </a:r>
            <a:r>
              <a:rPr lang="da-DK" dirty="0" err="1"/>
              <a:t>application</a:t>
            </a:r>
            <a:r>
              <a:rPr lang="da-DK" dirty="0"/>
              <a:t> with </a:t>
            </a:r>
            <a:r>
              <a:rPr lang="da-DK" dirty="0" err="1"/>
              <a:t>popular</a:t>
            </a:r>
            <a:r>
              <a:rPr lang="da-DK" dirty="0"/>
              <a:t> screen </a:t>
            </a:r>
            <a:r>
              <a:rPr lang="da-DK" dirty="0" err="1"/>
              <a:t>readers</a:t>
            </a:r>
            <a:r>
              <a:rPr lang="da-DK" dirty="0"/>
              <a:t> to </a:t>
            </a:r>
            <a:r>
              <a:rPr lang="da-DK" dirty="0" err="1"/>
              <a:t>ensure</a:t>
            </a:r>
            <a:r>
              <a:rPr lang="da-DK" dirty="0"/>
              <a:t> content is </a:t>
            </a:r>
            <a:r>
              <a:rPr lang="da-DK" dirty="0" err="1"/>
              <a:t>properly</a:t>
            </a:r>
            <a:r>
              <a:rPr lang="da-DK" dirty="0"/>
              <a:t> </a:t>
            </a:r>
            <a:r>
              <a:rPr lang="da-DK" dirty="0" err="1"/>
              <a:t>conveyed</a:t>
            </a:r>
            <a:r>
              <a:rPr lang="da-DK" dirty="0"/>
              <a:t> to </a:t>
            </a:r>
            <a:r>
              <a:rPr lang="da-DK" dirty="0" err="1"/>
              <a:t>visually</a:t>
            </a:r>
            <a:r>
              <a:rPr lang="da-DK" dirty="0"/>
              <a:t> </a:t>
            </a:r>
            <a:r>
              <a:rPr lang="da-DK" dirty="0" err="1"/>
              <a:t>impaired</a:t>
            </a:r>
            <a:r>
              <a:rPr lang="da-DK" dirty="0"/>
              <a:t> users</a:t>
            </a:r>
          </a:p>
          <a:p>
            <a:r>
              <a:rPr lang="da-DK" dirty="0" err="1"/>
              <a:t>Color</a:t>
            </a:r>
            <a:r>
              <a:rPr lang="da-DK" dirty="0"/>
              <a:t> </a:t>
            </a:r>
            <a:r>
              <a:rPr lang="da-DK" dirty="0" err="1"/>
              <a:t>contrast</a:t>
            </a:r>
            <a:r>
              <a:rPr lang="da-DK" dirty="0"/>
              <a:t> and </a:t>
            </a:r>
            <a:r>
              <a:rPr lang="da-DK" dirty="0" err="1"/>
              <a:t>readability</a:t>
            </a:r>
            <a:r>
              <a:rPr lang="da-DK" dirty="0"/>
              <a:t>: Check </a:t>
            </a:r>
            <a:r>
              <a:rPr lang="da-DK" dirty="0" err="1"/>
              <a:t>that</a:t>
            </a:r>
            <a:r>
              <a:rPr lang="da-DK" dirty="0"/>
              <a:t> </a:t>
            </a:r>
            <a:r>
              <a:rPr lang="da-DK" dirty="0" err="1"/>
              <a:t>text</a:t>
            </a:r>
            <a:r>
              <a:rPr lang="da-DK" dirty="0"/>
              <a:t> and </a:t>
            </a:r>
            <a:r>
              <a:rPr lang="da-DK" dirty="0" err="1"/>
              <a:t>visual</a:t>
            </a:r>
            <a:r>
              <a:rPr lang="da-DK" dirty="0"/>
              <a:t> elements have sufficient </a:t>
            </a:r>
            <a:r>
              <a:rPr lang="da-DK" dirty="0" err="1"/>
              <a:t>contrast</a:t>
            </a:r>
            <a:r>
              <a:rPr lang="da-DK" dirty="0"/>
              <a:t> for users with </a:t>
            </a:r>
            <a:r>
              <a:rPr lang="da-DK" dirty="0" err="1"/>
              <a:t>visual</a:t>
            </a:r>
            <a:r>
              <a:rPr lang="da-DK" dirty="0"/>
              <a:t> </a:t>
            </a:r>
            <a:r>
              <a:rPr lang="da-DK" dirty="0" err="1"/>
              <a:t>impairments</a:t>
            </a:r>
            <a:endParaRPr lang="da-DK" dirty="0"/>
          </a:p>
          <a:p>
            <a:r>
              <a:rPr lang="da-DK" dirty="0"/>
              <a:t>ARIA (</a:t>
            </a:r>
            <a:r>
              <a:rPr lang="da-DK" dirty="0" err="1"/>
              <a:t>Accessible</a:t>
            </a:r>
            <a:r>
              <a:rPr lang="da-DK" dirty="0"/>
              <a:t> Rich Internet Applications) landmarks: </a:t>
            </a:r>
            <a:r>
              <a:rPr lang="da-DK" dirty="0" err="1"/>
              <a:t>Validate</a:t>
            </a:r>
            <a:r>
              <a:rPr lang="da-DK" dirty="0"/>
              <a:t> the </a:t>
            </a:r>
            <a:r>
              <a:rPr lang="da-DK" dirty="0" err="1"/>
              <a:t>correct</a:t>
            </a:r>
            <a:r>
              <a:rPr lang="da-DK" dirty="0"/>
              <a:t> </a:t>
            </a:r>
            <a:r>
              <a:rPr lang="da-DK" dirty="0" err="1"/>
              <a:t>use</a:t>
            </a:r>
            <a:r>
              <a:rPr lang="da-DK" dirty="0"/>
              <a:t> of ARIA </a:t>
            </a:r>
            <a:r>
              <a:rPr lang="da-DK" dirty="0" err="1"/>
              <a:t>attributes</a:t>
            </a:r>
            <a:r>
              <a:rPr lang="da-DK" dirty="0"/>
              <a:t> to </a:t>
            </a:r>
            <a:r>
              <a:rPr lang="da-DK" dirty="0" err="1"/>
              <a:t>improve</a:t>
            </a:r>
            <a:r>
              <a:rPr lang="da-DK" dirty="0"/>
              <a:t> screen </a:t>
            </a:r>
            <a:r>
              <a:rPr lang="da-DK" dirty="0" err="1"/>
              <a:t>reader</a:t>
            </a:r>
            <a:r>
              <a:rPr lang="da-DK" dirty="0"/>
              <a:t> navigation</a:t>
            </a:r>
            <a:endParaRPr lang="en-DK" sz="500" dirty="0"/>
          </a:p>
        </p:txBody>
      </p:sp>
    </p:spTree>
    <p:extLst>
      <p:ext uri="{BB962C8B-B14F-4D97-AF65-F5344CB8AC3E}">
        <p14:creationId xmlns:p14="http://schemas.microsoft.com/office/powerpoint/2010/main" val="3612015846"/>
      </p:ext>
    </p:extLst>
  </p:cSld>
  <p:clrMapOvr>
    <a:masterClrMapping/>
  </p:clrMapOvr>
</p:sld>
</file>

<file path=ppt/slides/slide7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9CBBB199-CEE7-4207-9B94-FABE54697AB5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da-DK" dirty="0"/>
              <a:t>Accessibility </a:t>
            </a:r>
            <a:r>
              <a:rPr lang="da-DK" dirty="0" err="1"/>
              <a:t>Testing</a:t>
            </a:r>
            <a:endParaRPr lang="da-DK" dirty="0"/>
          </a:p>
        </p:txBody>
      </p:sp>
      <p:sp>
        <p:nvSpPr>
          <p:cNvPr id="4" name="Pladsholder til dato 3">
            <a:extLst>
              <a:ext uri="{FF2B5EF4-FFF2-40B4-BE49-F238E27FC236}">
                <a16:creationId xmlns:a16="http://schemas.microsoft.com/office/drawing/2014/main" id="{DF6BBC47-AF93-4B51-BB19-37E8FA70A1FC}"/>
              </a:ext>
            </a:extLst>
          </p:cNvPr>
          <p:cNvSpPr>
            <a:spLocks noGrp="1"/>
          </p:cNvSpPr>
          <p:nvPr>
            <p:ph type="dt" sz="half" idx="2"/>
          </p:nvPr>
        </p:nvSpPr>
        <p:spPr/>
        <p:txBody>
          <a:bodyPr/>
          <a:lstStyle/>
          <a:p>
            <a:fld id="{1D326F97-033E-40DE-A683-79560FFFFEF4}" type="datetime1">
              <a:rPr lang="en-GB" smtClean="0"/>
              <a:t>24/04/2023</a:t>
            </a:fld>
            <a:endParaRPr lang="en-GB" dirty="0"/>
          </a:p>
        </p:txBody>
      </p:sp>
      <p:sp>
        <p:nvSpPr>
          <p:cNvPr id="5" name="Pladsholder til sidefod 4">
            <a:extLst>
              <a:ext uri="{FF2B5EF4-FFF2-40B4-BE49-F238E27FC236}">
                <a16:creationId xmlns:a16="http://schemas.microsoft.com/office/drawing/2014/main" id="{0A4065D9-777F-4BC2-8DA9-0E100CD3446A}"/>
              </a:ext>
            </a:extLst>
          </p:cNvPr>
          <p:cNvSpPr>
            <a:spLocks noGrp="1"/>
          </p:cNvSpPr>
          <p:nvPr>
            <p:ph type="ftr" sz="quarter" idx="14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6" name="Pladsholder til slidenummer 5">
            <a:extLst>
              <a:ext uri="{FF2B5EF4-FFF2-40B4-BE49-F238E27FC236}">
                <a16:creationId xmlns:a16="http://schemas.microsoft.com/office/drawing/2014/main" id="{1971CA48-5488-429E-869D-06623C5E5997}"/>
              </a:ext>
            </a:extLst>
          </p:cNvPr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fld id="{45D37B1E-C366-494F-A587-962AD9AABC83}" type="slidenum">
              <a:rPr lang="en-GB" smtClean="0"/>
              <a:pPr/>
              <a:t>77</a:t>
            </a:fld>
            <a:endParaRPr lang="en-GB" dirty="0"/>
          </a:p>
        </p:txBody>
      </p:sp>
      <p:sp>
        <p:nvSpPr>
          <p:cNvPr id="10" name="Content Placeholder 9">
            <a:extLst>
              <a:ext uri="{FF2B5EF4-FFF2-40B4-BE49-F238E27FC236}">
                <a16:creationId xmlns:a16="http://schemas.microsoft.com/office/drawing/2014/main" id="{040613FC-F94A-0712-DF75-092CF5474396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414696" y="1700212"/>
            <a:ext cx="10952578" cy="4408925"/>
          </a:xfrm>
        </p:spPr>
        <p:txBody>
          <a:bodyPr/>
          <a:lstStyle/>
          <a:p>
            <a:r>
              <a:rPr lang="da-DK" dirty="0" err="1"/>
              <a:t>Popular</a:t>
            </a:r>
            <a:r>
              <a:rPr lang="da-DK" dirty="0"/>
              <a:t> Accessibility </a:t>
            </a:r>
            <a:r>
              <a:rPr lang="da-DK" dirty="0" err="1"/>
              <a:t>Testing</a:t>
            </a:r>
            <a:r>
              <a:rPr lang="da-DK" dirty="0"/>
              <a:t> Tools</a:t>
            </a:r>
          </a:p>
          <a:p>
            <a:endParaRPr lang="da-DK" dirty="0"/>
          </a:p>
          <a:p>
            <a:r>
              <a:rPr lang="da-DK" dirty="0"/>
              <a:t>WAVE: A web </a:t>
            </a:r>
            <a:r>
              <a:rPr lang="da-DK" dirty="0" err="1"/>
              <a:t>accessibility</a:t>
            </a:r>
            <a:r>
              <a:rPr lang="da-DK" dirty="0"/>
              <a:t> </a:t>
            </a:r>
            <a:r>
              <a:rPr lang="da-DK" dirty="0" err="1"/>
              <a:t>evaluation</a:t>
            </a:r>
            <a:r>
              <a:rPr lang="da-DK" dirty="0"/>
              <a:t> </a:t>
            </a:r>
            <a:r>
              <a:rPr lang="da-DK" dirty="0" err="1"/>
              <a:t>tool</a:t>
            </a:r>
            <a:r>
              <a:rPr lang="da-DK" dirty="0"/>
              <a:t> </a:t>
            </a:r>
            <a:r>
              <a:rPr lang="da-DK" dirty="0" err="1"/>
              <a:t>that</a:t>
            </a:r>
            <a:r>
              <a:rPr lang="da-DK" dirty="0"/>
              <a:t> provides </a:t>
            </a:r>
            <a:r>
              <a:rPr lang="da-DK" dirty="0" err="1"/>
              <a:t>visual</a:t>
            </a:r>
            <a:r>
              <a:rPr lang="da-DK" dirty="0"/>
              <a:t> feedback and </a:t>
            </a:r>
            <a:r>
              <a:rPr lang="da-DK" dirty="0" err="1"/>
              <a:t>detailed</a:t>
            </a:r>
            <a:r>
              <a:rPr lang="da-DK" dirty="0"/>
              <a:t> </a:t>
            </a:r>
            <a:r>
              <a:rPr lang="da-DK" dirty="0" err="1"/>
              <a:t>reports</a:t>
            </a:r>
            <a:r>
              <a:rPr lang="da-DK" dirty="0"/>
              <a:t> on </a:t>
            </a:r>
            <a:r>
              <a:rPr lang="da-DK" dirty="0" err="1"/>
              <a:t>accessibility</a:t>
            </a:r>
            <a:r>
              <a:rPr lang="da-DK" dirty="0"/>
              <a:t> issues</a:t>
            </a:r>
          </a:p>
          <a:p>
            <a:r>
              <a:rPr lang="da-DK" dirty="0" err="1"/>
              <a:t>axe</a:t>
            </a:r>
            <a:r>
              <a:rPr lang="da-DK" dirty="0"/>
              <a:t>: An open-source </a:t>
            </a:r>
            <a:r>
              <a:rPr lang="da-DK" dirty="0" err="1"/>
              <a:t>accessibility</a:t>
            </a:r>
            <a:r>
              <a:rPr lang="da-DK" dirty="0"/>
              <a:t> </a:t>
            </a:r>
            <a:r>
              <a:rPr lang="da-DK" dirty="0" err="1"/>
              <a:t>testing</a:t>
            </a:r>
            <a:r>
              <a:rPr lang="da-DK" dirty="0"/>
              <a:t> </a:t>
            </a:r>
            <a:r>
              <a:rPr lang="da-DK" dirty="0" err="1"/>
              <a:t>library</a:t>
            </a:r>
            <a:r>
              <a:rPr lang="da-DK" dirty="0"/>
              <a:t> </a:t>
            </a:r>
            <a:r>
              <a:rPr lang="da-DK" dirty="0" err="1"/>
              <a:t>that</a:t>
            </a:r>
            <a:r>
              <a:rPr lang="da-DK" dirty="0"/>
              <a:t> </a:t>
            </a:r>
            <a:r>
              <a:rPr lang="da-DK" dirty="0" err="1"/>
              <a:t>integrates</a:t>
            </a:r>
            <a:r>
              <a:rPr lang="da-DK" dirty="0"/>
              <a:t> with </a:t>
            </a:r>
            <a:r>
              <a:rPr lang="da-DK" dirty="0" err="1"/>
              <a:t>popular</a:t>
            </a:r>
            <a:r>
              <a:rPr lang="da-DK" dirty="0"/>
              <a:t> web </a:t>
            </a:r>
            <a:r>
              <a:rPr lang="da-DK" dirty="0" err="1"/>
              <a:t>development</a:t>
            </a:r>
            <a:r>
              <a:rPr lang="da-DK" dirty="0"/>
              <a:t> </a:t>
            </a:r>
            <a:r>
              <a:rPr lang="da-DK" dirty="0" err="1"/>
              <a:t>tools</a:t>
            </a:r>
            <a:r>
              <a:rPr lang="da-DK" dirty="0"/>
              <a:t> and frameworks</a:t>
            </a:r>
          </a:p>
          <a:p>
            <a:r>
              <a:rPr lang="da-DK" dirty="0" err="1"/>
              <a:t>Lighthouse</a:t>
            </a:r>
            <a:r>
              <a:rPr lang="da-DK" dirty="0"/>
              <a:t>: A </a:t>
            </a:r>
            <a:r>
              <a:rPr lang="da-DK" dirty="0" err="1"/>
              <a:t>comprehensive</a:t>
            </a:r>
            <a:r>
              <a:rPr lang="da-DK" dirty="0"/>
              <a:t> website </a:t>
            </a:r>
            <a:r>
              <a:rPr lang="da-DK" dirty="0" err="1"/>
              <a:t>auditing</a:t>
            </a:r>
            <a:r>
              <a:rPr lang="da-DK" dirty="0"/>
              <a:t> </a:t>
            </a:r>
            <a:r>
              <a:rPr lang="da-DK" dirty="0" err="1"/>
              <a:t>tool</a:t>
            </a:r>
            <a:r>
              <a:rPr lang="da-DK" dirty="0"/>
              <a:t> </a:t>
            </a:r>
            <a:r>
              <a:rPr lang="da-DK" dirty="0" err="1"/>
              <a:t>that</a:t>
            </a:r>
            <a:r>
              <a:rPr lang="da-DK" dirty="0"/>
              <a:t> </a:t>
            </a:r>
            <a:r>
              <a:rPr lang="da-DK" dirty="0" err="1"/>
              <a:t>includes</a:t>
            </a:r>
            <a:r>
              <a:rPr lang="da-DK" dirty="0"/>
              <a:t> </a:t>
            </a:r>
            <a:r>
              <a:rPr lang="da-DK" dirty="0" err="1"/>
              <a:t>accessibility</a:t>
            </a:r>
            <a:r>
              <a:rPr lang="da-DK" dirty="0"/>
              <a:t> </a:t>
            </a:r>
            <a:r>
              <a:rPr lang="da-DK" dirty="0" err="1"/>
              <a:t>testing</a:t>
            </a:r>
            <a:r>
              <a:rPr lang="da-DK" dirty="0"/>
              <a:t> as part of </a:t>
            </a:r>
            <a:r>
              <a:rPr lang="da-DK" dirty="0" err="1"/>
              <a:t>its</a:t>
            </a:r>
            <a:r>
              <a:rPr lang="da-DK" dirty="0"/>
              <a:t> performance </a:t>
            </a:r>
            <a:r>
              <a:rPr lang="da-DK" dirty="0" err="1"/>
              <a:t>analysis</a:t>
            </a:r>
            <a:endParaRPr lang="en-DK" sz="500" dirty="0"/>
          </a:p>
        </p:txBody>
      </p:sp>
    </p:spTree>
    <p:extLst>
      <p:ext uri="{BB962C8B-B14F-4D97-AF65-F5344CB8AC3E}">
        <p14:creationId xmlns:p14="http://schemas.microsoft.com/office/powerpoint/2010/main" val="361353029"/>
      </p:ext>
    </p:extLst>
  </p:cSld>
  <p:clrMapOvr>
    <a:masterClrMapping/>
  </p:clrMapOvr>
</p:sld>
</file>

<file path=ppt/slides/slide7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9CBBB199-CEE7-4207-9B94-FABE54697AB5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da-DK" dirty="0"/>
              <a:t>Accessibility </a:t>
            </a:r>
            <a:r>
              <a:rPr lang="da-DK" dirty="0" err="1"/>
              <a:t>Testing</a:t>
            </a:r>
            <a:endParaRPr lang="da-DK" dirty="0"/>
          </a:p>
        </p:txBody>
      </p:sp>
      <p:sp>
        <p:nvSpPr>
          <p:cNvPr id="4" name="Pladsholder til dato 3">
            <a:extLst>
              <a:ext uri="{FF2B5EF4-FFF2-40B4-BE49-F238E27FC236}">
                <a16:creationId xmlns:a16="http://schemas.microsoft.com/office/drawing/2014/main" id="{DF6BBC47-AF93-4B51-BB19-37E8FA70A1FC}"/>
              </a:ext>
            </a:extLst>
          </p:cNvPr>
          <p:cNvSpPr>
            <a:spLocks noGrp="1"/>
          </p:cNvSpPr>
          <p:nvPr>
            <p:ph type="dt" sz="half" idx="2"/>
          </p:nvPr>
        </p:nvSpPr>
        <p:spPr/>
        <p:txBody>
          <a:bodyPr/>
          <a:lstStyle/>
          <a:p>
            <a:fld id="{1D326F97-033E-40DE-A683-79560FFFFEF4}" type="datetime1">
              <a:rPr lang="en-GB" smtClean="0"/>
              <a:t>24/04/2023</a:t>
            </a:fld>
            <a:endParaRPr lang="en-GB" dirty="0"/>
          </a:p>
        </p:txBody>
      </p:sp>
      <p:sp>
        <p:nvSpPr>
          <p:cNvPr id="5" name="Pladsholder til sidefod 4">
            <a:extLst>
              <a:ext uri="{FF2B5EF4-FFF2-40B4-BE49-F238E27FC236}">
                <a16:creationId xmlns:a16="http://schemas.microsoft.com/office/drawing/2014/main" id="{0A4065D9-777F-4BC2-8DA9-0E100CD3446A}"/>
              </a:ext>
            </a:extLst>
          </p:cNvPr>
          <p:cNvSpPr>
            <a:spLocks noGrp="1"/>
          </p:cNvSpPr>
          <p:nvPr>
            <p:ph type="ftr" sz="quarter" idx="14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6" name="Pladsholder til slidenummer 5">
            <a:extLst>
              <a:ext uri="{FF2B5EF4-FFF2-40B4-BE49-F238E27FC236}">
                <a16:creationId xmlns:a16="http://schemas.microsoft.com/office/drawing/2014/main" id="{1971CA48-5488-429E-869D-06623C5E5997}"/>
              </a:ext>
            </a:extLst>
          </p:cNvPr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fld id="{45D37B1E-C366-494F-A587-962AD9AABC83}" type="slidenum">
              <a:rPr lang="en-GB" smtClean="0"/>
              <a:pPr/>
              <a:t>78</a:t>
            </a:fld>
            <a:endParaRPr lang="en-GB" dirty="0"/>
          </a:p>
        </p:txBody>
      </p:sp>
      <p:sp>
        <p:nvSpPr>
          <p:cNvPr id="10" name="Content Placeholder 9">
            <a:extLst>
              <a:ext uri="{FF2B5EF4-FFF2-40B4-BE49-F238E27FC236}">
                <a16:creationId xmlns:a16="http://schemas.microsoft.com/office/drawing/2014/main" id="{040613FC-F94A-0712-DF75-092CF5474396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414696" y="1700212"/>
            <a:ext cx="10952578" cy="4408925"/>
          </a:xfrm>
        </p:spPr>
        <p:txBody>
          <a:bodyPr/>
          <a:lstStyle/>
          <a:p>
            <a:r>
              <a:rPr lang="da-DK" dirty="0"/>
              <a:t>Accessibility </a:t>
            </a:r>
            <a:r>
              <a:rPr lang="da-DK" dirty="0" err="1"/>
              <a:t>Testing</a:t>
            </a:r>
            <a:r>
              <a:rPr lang="da-DK" dirty="0"/>
              <a:t> </a:t>
            </a:r>
            <a:r>
              <a:rPr lang="da-DK" dirty="0" err="1"/>
              <a:t>Process</a:t>
            </a:r>
            <a:endParaRPr lang="da-DK" dirty="0"/>
          </a:p>
          <a:p>
            <a:endParaRPr lang="da-DK" dirty="0"/>
          </a:p>
          <a:p>
            <a:r>
              <a:rPr lang="da-DK" dirty="0" err="1"/>
              <a:t>Define</a:t>
            </a:r>
            <a:r>
              <a:rPr lang="da-DK" dirty="0"/>
              <a:t> test </a:t>
            </a:r>
            <a:r>
              <a:rPr lang="da-DK" dirty="0" err="1"/>
              <a:t>objectives</a:t>
            </a:r>
            <a:r>
              <a:rPr lang="da-DK" dirty="0"/>
              <a:t>: </a:t>
            </a:r>
            <a:r>
              <a:rPr lang="da-DK" dirty="0" err="1"/>
              <a:t>Establish</a:t>
            </a:r>
            <a:r>
              <a:rPr lang="da-DK" dirty="0"/>
              <a:t> the </a:t>
            </a:r>
            <a:r>
              <a:rPr lang="da-DK" dirty="0" err="1"/>
              <a:t>scope</a:t>
            </a:r>
            <a:r>
              <a:rPr lang="da-DK" dirty="0"/>
              <a:t>, </a:t>
            </a:r>
            <a:r>
              <a:rPr lang="da-DK" dirty="0" err="1"/>
              <a:t>goals</a:t>
            </a:r>
            <a:r>
              <a:rPr lang="da-DK" dirty="0"/>
              <a:t>, and </a:t>
            </a:r>
            <a:r>
              <a:rPr lang="da-DK" dirty="0" err="1"/>
              <a:t>criteria</a:t>
            </a:r>
            <a:r>
              <a:rPr lang="da-DK" dirty="0"/>
              <a:t> for </a:t>
            </a:r>
            <a:r>
              <a:rPr lang="da-DK" dirty="0" err="1"/>
              <a:t>evaluating</a:t>
            </a:r>
            <a:r>
              <a:rPr lang="da-DK" dirty="0"/>
              <a:t> the web </a:t>
            </a:r>
            <a:r>
              <a:rPr lang="da-DK" dirty="0" err="1"/>
              <a:t>application's</a:t>
            </a:r>
            <a:r>
              <a:rPr lang="da-DK" dirty="0"/>
              <a:t> </a:t>
            </a:r>
            <a:r>
              <a:rPr lang="da-DK" dirty="0" err="1"/>
              <a:t>accessibility</a:t>
            </a:r>
            <a:endParaRPr lang="da-DK" dirty="0"/>
          </a:p>
          <a:p>
            <a:r>
              <a:rPr lang="da-DK" dirty="0" err="1"/>
              <a:t>Develop</a:t>
            </a:r>
            <a:r>
              <a:rPr lang="da-DK" dirty="0"/>
              <a:t> test scenarios: </a:t>
            </a:r>
            <a:r>
              <a:rPr lang="da-DK" dirty="0" err="1"/>
              <a:t>Create</a:t>
            </a:r>
            <a:r>
              <a:rPr lang="da-DK" dirty="0"/>
              <a:t> test scenarios </a:t>
            </a:r>
            <a:r>
              <a:rPr lang="da-DK" dirty="0" err="1"/>
              <a:t>that</a:t>
            </a:r>
            <a:r>
              <a:rPr lang="da-DK" dirty="0"/>
              <a:t> cover </a:t>
            </a:r>
            <a:r>
              <a:rPr lang="da-DK" dirty="0" err="1"/>
              <a:t>critical</a:t>
            </a:r>
            <a:r>
              <a:rPr lang="da-DK" dirty="0"/>
              <a:t> </a:t>
            </a:r>
            <a:r>
              <a:rPr lang="da-DK" dirty="0" err="1"/>
              <a:t>functionality</a:t>
            </a:r>
            <a:r>
              <a:rPr lang="da-DK" dirty="0"/>
              <a:t>, user flows, and potential </a:t>
            </a:r>
            <a:r>
              <a:rPr lang="da-DK" dirty="0" err="1"/>
              <a:t>accessibility</a:t>
            </a:r>
            <a:r>
              <a:rPr lang="da-DK" dirty="0"/>
              <a:t> </a:t>
            </a:r>
            <a:r>
              <a:rPr lang="da-DK" dirty="0" err="1"/>
              <a:t>barriers</a:t>
            </a:r>
            <a:endParaRPr lang="da-DK" dirty="0"/>
          </a:p>
          <a:p>
            <a:r>
              <a:rPr lang="da-DK" dirty="0"/>
              <a:t>Set up test </a:t>
            </a:r>
            <a:r>
              <a:rPr lang="da-DK" dirty="0" err="1"/>
              <a:t>environment</a:t>
            </a:r>
            <a:r>
              <a:rPr lang="da-DK" dirty="0"/>
              <a:t>: </a:t>
            </a:r>
            <a:r>
              <a:rPr lang="da-DK" dirty="0" err="1"/>
              <a:t>Configure</a:t>
            </a:r>
            <a:r>
              <a:rPr lang="da-DK" dirty="0"/>
              <a:t> a test </a:t>
            </a:r>
            <a:r>
              <a:rPr lang="da-DK" dirty="0" err="1"/>
              <a:t>environment</a:t>
            </a:r>
            <a:r>
              <a:rPr lang="da-DK" dirty="0"/>
              <a:t> with the </a:t>
            </a:r>
            <a:r>
              <a:rPr lang="da-DK" dirty="0" err="1"/>
              <a:t>necessary</a:t>
            </a:r>
            <a:r>
              <a:rPr lang="da-DK" dirty="0"/>
              <a:t> </a:t>
            </a:r>
            <a:r>
              <a:rPr lang="da-DK" dirty="0" err="1"/>
              <a:t>tools</a:t>
            </a:r>
            <a:r>
              <a:rPr lang="da-DK" dirty="0"/>
              <a:t>, </a:t>
            </a:r>
            <a:r>
              <a:rPr lang="da-DK" dirty="0" err="1"/>
              <a:t>devices</a:t>
            </a:r>
            <a:r>
              <a:rPr lang="da-DK" dirty="0"/>
              <a:t>, and assistive </a:t>
            </a:r>
            <a:r>
              <a:rPr lang="da-DK" dirty="0" err="1"/>
              <a:t>technologies</a:t>
            </a:r>
            <a:endParaRPr lang="da-DK" dirty="0"/>
          </a:p>
          <a:p>
            <a:r>
              <a:rPr lang="da-DK" dirty="0" err="1"/>
              <a:t>Execute</a:t>
            </a:r>
            <a:r>
              <a:rPr lang="da-DK" dirty="0"/>
              <a:t> tests: Run tests </a:t>
            </a:r>
            <a:r>
              <a:rPr lang="da-DK" dirty="0" err="1"/>
              <a:t>manually</a:t>
            </a:r>
            <a:r>
              <a:rPr lang="da-DK" dirty="0"/>
              <a:t> or </a:t>
            </a:r>
            <a:r>
              <a:rPr lang="da-DK" dirty="0" err="1"/>
              <a:t>using</a:t>
            </a:r>
            <a:r>
              <a:rPr lang="da-DK" dirty="0"/>
              <a:t> </a:t>
            </a:r>
            <a:r>
              <a:rPr lang="da-DK" dirty="0" err="1"/>
              <a:t>automated</a:t>
            </a:r>
            <a:r>
              <a:rPr lang="da-DK" dirty="0"/>
              <a:t> </a:t>
            </a:r>
            <a:r>
              <a:rPr lang="da-DK" dirty="0" err="1"/>
              <a:t>tools</a:t>
            </a:r>
            <a:r>
              <a:rPr lang="da-DK" dirty="0"/>
              <a:t>, </a:t>
            </a:r>
            <a:r>
              <a:rPr lang="da-DK" dirty="0" err="1"/>
              <a:t>monitoring</a:t>
            </a:r>
            <a:r>
              <a:rPr lang="da-DK" dirty="0"/>
              <a:t> the </a:t>
            </a:r>
            <a:r>
              <a:rPr lang="da-DK" dirty="0" err="1"/>
              <a:t>application's</a:t>
            </a:r>
            <a:r>
              <a:rPr lang="da-DK" dirty="0"/>
              <a:t> </a:t>
            </a:r>
            <a:r>
              <a:rPr lang="da-DK" dirty="0" err="1"/>
              <a:t>accessibility</a:t>
            </a:r>
            <a:r>
              <a:rPr lang="da-DK" dirty="0"/>
              <a:t> and compliance with guidelines</a:t>
            </a:r>
          </a:p>
          <a:p>
            <a:r>
              <a:rPr lang="da-DK" dirty="0" err="1"/>
              <a:t>Analyze</a:t>
            </a:r>
            <a:r>
              <a:rPr lang="da-DK" dirty="0"/>
              <a:t> </a:t>
            </a:r>
            <a:r>
              <a:rPr lang="da-DK" dirty="0" err="1"/>
              <a:t>results</a:t>
            </a:r>
            <a:r>
              <a:rPr lang="da-DK" dirty="0"/>
              <a:t>: </a:t>
            </a:r>
            <a:r>
              <a:rPr lang="da-DK" dirty="0" err="1"/>
              <a:t>Identify</a:t>
            </a:r>
            <a:r>
              <a:rPr lang="da-DK" dirty="0"/>
              <a:t> </a:t>
            </a:r>
            <a:r>
              <a:rPr lang="da-DK" dirty="0" err="1"/>
              <a:t>any</a:t>
            </a:r>
            <a:r>
              <a:rPr lang="da-DK" dirty="0"/>
              <a:t> issues, </a:t>
            </a:r>
            <a:r>
              <a:rPr lang="da-DK" dirty="0" err="1"/>
              <a:t>defects</a:t>
            </a:r>
            <a:r>
              <a:rPr lang="da-DK" dirty="0"/>
              <a:t>, or deviations from </a:t>
            </a:r>
            <a:r>
              <a:rPr lang="da-DK" dirty="0" err="1"/>
              <a:t>accessibility</a:t>
            </a:r>
            <a:r>
              <a:rPr lang="da-DK" dirty="0"/>
              <a:t> standards and </a:t>
            </a:r>
            <a:r>
              <a:rPr lang="da-DK" dirty="0" err="1"/>
              <a:t>work</a:t>
            </a:r>
            <a:r>
              <a:rPr lang="da-DK" dirty="0"/>
              <a:t> with the </a:t>
            </a:r>
            <a:r>
              <a:rPr lang="da-DK" dirty="0" err="1"/>
              <a:t>development</a:t>
            </a:r>
            <a:r>
              <a:rPr lang="da-DK" dirty="0"/>
              <a:t> team to </a:t>
            </a:r>
            <a:r>
              <a:rPr lang="da-DK" dirty="0" err="1"/>
              <a:t>resolve</a:t>
            </a:r>
            <a:r>
              <a:rPr lang="da-DK" dirty="0"/>
              <a:t> </a:t>
            </a:r>
            <a:r>
              <a:rPr lang="da-DK" dirty="0" err="1"/>
              <a:t>them</a:t>
            </a:r>
            <a:endParaRPr lang="en-DK" sz="500" dirty="0"/>
          </a:p>
        </p:txBody>
      </p:sp>
    </p:spTree>
    <p:extLst>
      <p:ext uri="{BB962C8B-B14F-4D97-AF65-F5344CB8AC3E}">
        <p14:creationId xmlns:p14="http://schemas.microsoft.com/office/powerpoint/2010/main" val="2159070605"/>
      </p:ext>
    </p:extLst>
  </p:cSld>
  <p:clrMapOvr>
    <a:masterClrMapping/>
  </p:clrMapOvr>
</p:sld>
</file>

<file path=ppt/slides/slide7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9CBBB199-CEE7-4207-9B94-FABE54697AB5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da-DK" dirty="0"/>
              <a:t>Accessibility </a:t>
            </a:r>
            <a:r>
              <a:rPr lang="da-DK" dirty="0" err="1"/>
              <a:t>Testing</a:t>
            </a:r>
            <a:endParaRPr lang="da-DK" dirty="0"/>
          </a:p>
        </p:txBody>
      </p:sp>
      <p:sp>
        <p:nvSpPr>
          <p:cNvPr id="4" name="Pladsholder til dato 3">
            <a:extLst>
              <a:ext uri="{FF2B5EF4-FFF2-40B4-BE49-F238E27FC236}">
                <a16:creationId xmlns:a16="http://schemas.microsoft.com/office/drawing/2014/main" id="{DF6BBC47-AF93-4B51-BB19-37E8FA70A1FC}"/>
              </a:ext>
            </a:extLst>
          </p:cNvPr>
          <p:cNvSpPr>
            <a:spLocks noGrp="1"/>
          </p:cNvSpPr>
          <p:nvPr>
            <p:ph type="dt" sz="half" idx="2"/>
          </p:nvPr>
        </p:nvSpPr>
        <p:spPr/>
        <p:txBody>
          <a:bodyPr/>
          <a:lstStyle/>
          <a:p>
            <a:fld id="{1D326F97-033E-40DE-A683-79560FFFFEF4}" type="datetime1">
              <a:rPr lang="en-GB" smtClean="0"/>
              <a:t>24/04/2023</a:t>
            </a:fld>
            <a:endParaRPr lang="en-GB" dirty="0"/>
          </a:p>
        </p:txBody>
      </p:sp>
      <p:sp>
        <p:nvSpPr>
          <p:cNvPr id="5" name="Pladsholder til sidefod 4">
            <a:extLst>
              <a:ext uri="{FF2B5EF4-FFF2-40B4-BE49-F238E27FC236}">
                <a16:creationId xmlns:a16="http://schemas.microsoft.com/office/drawing/2014/main" id="{0A4065D9-777F-4BC2-8DA9-0E100CD3446A}"/>
              </a:ext>
            </a:extLst>
          </p:cNvPr>
          <p:cNvSpPr>
            <a:spLocks noGrp="1"/>
          </p:cNvSpPr>
          <p:nvPr>
            <p:ph type="ftr" sz="quarter" idx="14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6" name="Pladsholder til slidenummer 5">
            <a:extLst>
              <a:ext uri="{FF2B5EF4-FFF2-40B4-BE49-F238E27FC236}">
                <a16:creationId xmlns:a16="http://schemas.microsoft.com/office/drawing/2014/main" id="{1971CA48-5488-429E-869D-06623C5E5997}"/>
              </a:ext>
            </a:extLst>
          </p:cNvPr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fld id="{45D37B1E-C366-494F-A587-962AD9AABC83}" type="slidenum">
              <a:rPr lang="en-GB" smtClean="0"/>
              <a:pPr/>
              <a:t>79</a:t>
            </a:fld>
            <a:endParaRPr lang="en-GB" dirty="0"/>
          </a:p>
        </p:txBody>
      </p:sp>
      <p:sp>
        <p:nvSpPr>
          <p:cNvPr id="10" name="Content Placeholder 9">
            <a:extLst>
              <a:ext uri="{FF2B5EF4-FFF2-40B4-BE49-F238E27FC236}">
                <a16:creationId xmlns:a16="http://schemas.microsoft.com/office/drawing/2014/main" id="{040613FC-F94A-0712-DF75-092CF5474396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414696" y="1700212"/>
            <a:ext cx="10952578" cy="4408925"/>
          </a:xfrm>
        </p:spPr>
        <p:txBody>
          <a:bodyPr/>
          <a:lstStyle/>
          <a:p>
            <a:r>
              <a:rPr lang="da-DK" dirty="0"/>
              <a:t>Tips for </a:t>
            </a:r>
            <a:r>
              <a:rPr lang="da-DK" dirty="0" err="1"/>
              <a:t>Effective</a:t>
            </a:r>
            <a:r>
              <a:rPr lang="da-DK" dirty="0"/>
              <a:t> Accessibility </a:t>
            </a:r>
            <a:r>
              <a:rPr lang="da-DK" dirty="0" err="1"/>
              <a:t>Testing</a:t>
            </a:r>
            <a:endParaRPr lang="da-DK" dirty="0"/>
          </a:p>
          <a:p>
            <a:endParaRPr lang="da-DK" dirty="0"/>
          </a:p>
          <a:p>
            <a:r>
              <a:rPr lang="da-DK" dirty="0" err="1"/>
              <a:t>Familiarize</a:t>
            </a:r>
            <a:r>
              <a:rPr lang="da-DK" dirty="0"/>
              <a:t> </a:t>
            </a:r>
            <a:r>
              <a:rPr lang="da-DK" dirty="0" err="1"/>
              <a:t>yourself</a:t>
            </a:r>
            <a:r>
              <a:rPr lang="da-DK" dirty="0"/>
              <a:t> with </a:t>
            </a:r>
            <a:r>
              <a:rPr lang="da-DK" dirty="0" err="1"/>
              <a:t>accessibility</a:t>
            </a:r>
            <a:r>
              <a:rPr lang="da-DK" dirty="0"/>
              <a:t> guidelines, </a:t>
            </a:r>
            <a:r>
              <a:rPr lang="da-DK" dirty="0" err="1"/>
              <a:t>such</a:t>
            </a:r>
            <a:r>
              <a:rPr lang="da-DK" dirty="0"/>
              <a:t> as WCAG and ARIA, to understand the </a:t>
            </a:r>
            <a:r>
              <a:rPr lang="da-DK" dirty="0" err="1"/>
              <a:t>requirements</a:t>
            </a:r>
            <a:r>
              <a:rPr lang="da-DK" dirty="0"/>
              <a:t> and </a:t>
            </a:r>
            <a:r>
              <a:rPr lang="da-DK" dirty="0" err="1"/>
              <a:t>best</a:t>
            </a:r>
            <a:r>
              <a:rPr lang="da-DK" dirty="0"/>
              <a:t> practices</a:t>
            </a:r>
          </a:p>
          <a:p>
            <a:r>
              <a:rPr lang="da-DK" dirty="0" err="1"/>
              <a:t>Prioritize</a:t>
            </a:r>
            <a:r>
              <a:rPr lang="da-DK" dirty="0"/>
              <a:t> </a:t>
            </a:r>
            <a:r>
              <a:rPr lang="da-DK" dirty="0" err="1"/>
              <a:t>testing</a:t>
            </a:r>
            <a:r>
              <a:rPr lang="da-DK" dirty="0"/>
              <a:t> </a:t>
            </a:r>
            <a:r>
              <a:rPr lang="da-DK" dirty="0" err="1"/>
              <a:t>based</a:t>
            </a:r>
            <a:r>
              <a:rPr lang="da-DK" dirty="0"/>
              <a:t> on </a:t>
            </a:r>
            <a:r>
              <a:rPr lang="da-DK" dirty="0" err="1"/>
              <a:t>critical</a:t>
            </a:r>
            <a:r>
              <a:rPr lang="da-DK" dirty="0"/>
              <a:t> </a:t>
            </a:r>
            <a:r>
              <a:rPr lang="da-DK" dirty="0" err="1"/>
              <a:t>functionality</a:t>
            </a:r>
            <a:r>
              <a:rPr lang="da-DK" dirty="0"/>
              <a:t>, user flows, and potential </a:t>
            </a:r>
            <a:r>
              <a:rPr lang="da-DK" dirty="0" err="1"/>
              <a:t>barriers</a:t>
            </a:r>
            <a:endParaRPr lang="da-DK" dirty="0"/>
          </a:p>
          <a:p>
            <a:r>
              <a:rPr lang="da-DK" dirty="0" err="1"/>
              <a:t>Use</a:t>
            </a:r>
            <a:r>
              <a:rPr lang="da-DK" dirty="0"/>
              <a:t> a </a:t>
            </a:r>
            <a:r>
              <a:rPr lang="da-DK" dirty="0" err="1"/>
              <a:t>combination</a:t>
            </a:r>
            <a:r>
              <a:rPr lang="da-DK" dirty="0"/>
              <a:t> of manual and </a:t>
            </a:r>
            <a:r>
              <a:rPr lang="da-DK" dirty="0" err="1"/>
              <a:t>automated</a:t>
            </a:r>
            <a:r>
              <a:rPr lang="da-DK" dirty="0"/>
              <a:t> </a:t>
            </a:r>
            <a:r>
              <a:rPr lang="da-DK" dirty="0" err="1"/>
              <a:t>testing</a:t>
            </a:r>
            <a:r>
              <a:rPr lang="da-DK" dirty="0"/>
              <a:t> </a:t>
            </a:r>
            <a:r>
              <a:rPr lang="da-DK" dirty="0" err="1"/>
              <a:t>techniques</a:t>
            </a:r>
            <a:r>
              <a:rPr lang="da-DK" dirty="0"/>
              <a:t> to </a:t>
            </a:r>
            <a:r>
              <a:rPr lang="da-DK" dirty="0" err="1"/>
              <a:t>maximize</a:t>
            </a:r>
            <a:r>
              <a:rPr lang="da-DK" dirty="0"/>
              <a:t> </a:t>
            </a:r>
            <a:r>
              <a:rPr lang="da-DK" dirty="0" err="1"/>
              <a:t>coverage</a:t>
            </a:r>
            <a:r>
              <a:rPr lang="da-DK" dirty="0"/>
              <a:t> and </a:t>
            </a:r>
            <a:r>
              <a:rPr lang="da-DK" dirty="0" err="1"/>
              <a:t>efficiency</a:t>
            </a:r>
            <a:endParaRPr lang="da-DK" dirty="0"/>
          </a:p>
          <a:p>
            <a:r>
              <a:rPr lang="da-DK" dirty="0" err="1"/>
              <a:t>Involve</a:t>
            </a:r>
            <a:r>
              <a:rPr lang="da-DK" dirty="0"/>
              <a:t> users with </a:t>
            </a:r>
            <a:r>
              <a:rPr lang="da-DK" dirty="0" err="1"/>
              <a:t>disabilities</a:t>
            </a:r>
            <a:r>
              <a:rPr lang="da-DK" dirty="0"/>
              <a:t> in the </a:t>
            </a:r>
            <a:r>
              <a:rPr lang="da-DK" dirty="0" err="1"/>
              <a:t>testing</a:t>
            </a:r>
            <a:r>
              <a:rPr lang="da-DK" dirty="0"/>
              <a:t> </a:t>
            </a:r>
            <a:r>
              <a:rPr lang="da-DK" dirty="0" err="1"/>
              <a:t>process</a:t>
            </a:r>
            <a:r>
              <a:rPr lang="da-DK" dirty="0"/>
              <a:t> to </a:t>
            </a:r>
            <a:r>
              <a:rPr lang="da-DK" dirty="0" err="1"/>
              <a:t>gain</a:t>
            </a:r>
            <a:r>
              <a:rPr lang="da-DK" dirty="0"/>
              <a:t> </a:t>
            </a:r>
            <a:r>
              <a:rPr lang="da-DK" dirty="0" err="1"/>
              <a:t>valuable</a:t>
            </a:r>
            <a:r>
              <a:rPr lang="da-DK" dirty="0"/>
              <a:t> </a:t>
            </a:r>
            <a:r>
              <a:rPr lang="da-DK" dirty="0" err="1"/>
              <a:t>insights</a:t>
            </a:r>
            <a:r>
              <a:rPr lang="da-DK" dirty="0"/>
              <a:t> and feedback</a:t>
            </a:r>
            <a:endParaRPr lang="en-DK" sz="500" dirty="0"/>
          </a:p>
        </p:txBody>
      </p:sp>
    </p:spTree>
    <p:extLst>
      <p:ext uri="{BB962C8B-B14F-4D97-AF65-F5344CB8AC3E}">
        <p14:creationId xmlns:p14="http://schemas.microsoft.com/office/powerpoint/2010/main" val="2554673495"/>
      </p:ext>
    </p:extLst>
  </p:cSld>
  <p:clrMapOvr>
    <a:masterClrMapping/>
  </p:clrMapOvr>
</p:sld>
</file>

<file path=ppt/slides/slide8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552FF25E-24BF-4225-87AB-B2869F94CB2B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da-DK"/>
          </a:p>
        </p:txBody>
      </p:sp>
      <p:sp>
        <p:nvSpPr>
          <p:cNvPr id="3" name="Pladsholder til dato 2">
            <a:extLst>
              <a:ext uri="{FF2B5EF4-FFF2-40B4-BE49-F238E27FC236}">
                <a16:creationId xmlns:a16="http://schemas.microsoft.com/office/drawing/2014/main" id="{4C93D788-8D9D-4045-B518-6692018D89DE}"/>
              </a:ext>
            </a:extLst>
          </p:cNvPr>
          <p:cNvSpPr>
            <a:spLocks noGrp="1"/>
          </p:cNvSpPr>
          <p:nvPr>
            <p:ph type="dt" sz="half" idx="2"/>
          </p:nvPr>
        </p:nvSpPr>
        <p:spPr/>
        <p:txBody>
          <a:bodyPr/>
          <a:lstStyle/>
          <a:p>
            <a:fld id="{B4C4C6FD-8607-43FF-8BC8-950EFB970BA3}" type="datetime1">
              <a:rPr lang="en-GB" smtClean="0"/>
              <a:t>24/04/2023</a:t>
            </a:fld>
            <a:endParaRPr lang="en-GB" dirty="0"/>
          </a:p>
        </p:txBody>
      </p:sp>
      <p:sp>
        <p:nvSpPr>
          <p:cNvPr id="4" name="Rektangel 3">
            <a:extLst>
              <a:ext uri="{FF2B5EF4-FFF2-40B4-BE49-F238E27FC236}">
                <a16:creationId xmlns:a16="http://schemas.microsoft.com/office/drawing/2014/main" id="{F994D39F-0217-4BCC-AD0B-429E7605B2F1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tIns="72000" rIns="72000" bIns="72000" rtlCol="0" anchor="ctr"/>
          <a:lstStyle/>
          <a:p>
            <a:pPr algn="ctr"/>
            <a:r>
              <a:rPr lang="da-DK" sz="2800" b="1" dirty="0"/>
              <a:t>Code </a:t>
            </a:r>
            <a:r>
              <a:rPr lang="da-DK" sz="2800" b="1" dirty="0" err="1"/>
              <a:t>Quality</a:t>
            </a:r>
            <a:r>
              <a:rPr lang="da-DK" sz="2800" b="1" dirty="0"/>
              <a:t> Control</a:t>
            </a:r>
          </a:p>
        </p:txBody>
      </p:sp>
    </p:spTree>
    <p:extLst>
      <p:ext uri="{BB962C8B-B14F-4D97-AF65-F5344CB8AC3E}">
        <p14:creationId xmlns:p14="http://schemas.microsoft.com/office/powerpoint/2010/main" val="421569373"/>
      </p:ext>
    </p:extLst>
  </p:cSld>
  <p:clrMapOvr>
    <a:masterClrMapping/>
  </p:clrMapOvr>
</p:sld>
</file>

<file path=ppt/slides/slide8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9CBBB199-CEE7-4207-9B94-FABE54697AB5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da-DK" dirty="0"/>
              <a:t>Code </a:t>
            </a:r>
            <a:r>
              <a:rPr lang="da-DK" dirty="0" err="1"/>
              <a:t>Quality</a:t>
            </a:r>
            <a:r>
              <a:rPr lang="da-DK" dirty="0"/>
              <a:t> Control</a:t>
            </a:r>
          </a:p>
        </p:txBody>
      </p:sp>
      <p:sp>
        <p:nvSpPr>
          <p:cNvPr id="4" name="Pladsholder til dato 3">
            <a:extLst>
              <a:ext uri="{FF2B5EF4-FFF2-40B4-BE49-F238E27FC236}">
                <a16:creationId xmlns:a16="http://schemas.microsoft.com/office/drawing/2014/main" id="{DF6BBC47-AF93-4B51-BB19-37E8FA70A1FC}"/>
              </a:ext>
            </a:extLst>
          </p:cNvPr>
          <p:cNvSpPr>
            <a:spLocks noGrp="1"/>
          </p:cNvSpPr>
          <p:nvPr>
            <p:ph type="dt" sz="half" idx="2"/>
          </p:nvPr>
        </p:nvSpPr>
        <p:spPr/>
        <p:txBody>
          <a:bodyPr/>
          <a:lstStyle/>
          <a:p>
            <a:fld id="{1D326F97-033E-40DE-A683-79560FFFFEF4}" type="datetime1">
              <a:rPr lang="en-GB" smtClean="0"/>
              <a:t>24/04/2023</a:t>
            </a:fld>
            <a:endParaRPr lang="en-GB" dirty="0"/>
          </a:p>
        </p:txBody>
      </p:sp>
      <p:sp>
        <p:nvSpPr>
          <p:cNvPr id="5" name="Pladsholder til sidefod 4">
            <a:extLst>
              <a:ext uri="{FF2B5EF4-FFF2-40B4-BE49-F238E27FC236}">
                <a16:creationId xmlns:a16="http://schemas.microsoft.com/office/drawing/2014/main" id="{0A4065D9-777F-4BC2-8DA9-0E100CD3446A}"/>
              </a:ext>
            </a:extLst>
          </p:cNvPr>
          <p:cNvSpPr>
            <a:spLocks noGrp="1"/>
          </p:cNvSpPr>
          <p:nvPr>
            <p:ph type="ftr" sz="quarter" idx="14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6" name="Pladsholder til slidenummer 5">
            <a:extLst>
              <a:ext uri="{FF2B5EF4-FFF2-40B4-BE49-F238E27FC236}">
                <a16:creationId xmlns:a16="http://schemas.microsoft.com/office/drawing/2014/main" id="{1971CA48-5488-429E-869D-06623C5E5997}"/>
              </a:ext>
            </a:extLst>
          </p:cNvPr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fld id="{45D37B1E-C366-494F-A587-962AD9AABC83}" type="slidenum">
              <a:rPr lang="en-GB" smtClean="0"/>
              <a:pPr/>
              <a:t>81</a:t>
            </a:fld>
            <a:endParaRPr lang="en-GB" dirty="0"/>
          </a:p>
        </p:txBody>
      </p:sp>
      <p:sp>
        <p:nvSpPr>
          <p:cNvPr id="10" name="Content Placeholder 9">
            <a:extLst>
              <a:ext uri="{FF2B5EF4-FFF2-40B4-BE49-F238E27FC236}">
                <a16:creationId xmlns:a16="http://schemas.microsoft.com/office/drawing/2014/main" id="{040613FC-F94A-0712-DF75-092CF5474396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414696" y="1700212"/>
            <a:ext cx="10952578" cy="4408925"/>
          </a:xfrm>
        </p:spPr>
        <p:txBody>
          <a:bodyPr/>
          <a:lstStyle/>
          <a:p>
            <a:r>
              <a:rPr lang="da-DK" dirty="0"/>
              <a:t>Purpose: The measure of a </a:t>
            </a:r>
            <a:r>
              <a:rPr lang="da-DK" dirty="0" err="1"/>
              <a:t>codebase's</a:t>
            </a:r>
            <a:r>
              <a:rPr lang="da-DK" dirty="0"/>
              <a:t> </a:t>
            </a:r>
            <a:r>
              <a:rPr lang="da-DK" dirty="0" err="1"/>
              <a:t>maintainability</a:t>
            </a:r>
            <a:r>
              <a:rPr lang="da-DK" dirty="0"/>
              <a:t>, </a:t>
            </a:r>
            <a:r>
              <a:rPr lang="da-DK" dirty="0" err="1"/>
              <a:t>readability</a:t>
            </a:r>
            <a:r>
              <a:rPr lang="da-DK" dirty="0"/>
              <a:t>, and </a:t>
            </a:r>
            <a:r>
              <a:rPr lang="da-DK" dirty="0" err="1"/>
              <a:t>efficiency</a:t>
            </a:r>
            <a:r>
              <a:rPr lang="da-DK" dirty="0"/>
              <a:t>, </a:t>
            </a:r>
            <a:r>
              <a:rPr lang="da-DK" dirty="0" err="1"/>
              <a:t>which</a:t>
            </a:r>
            <a:r>
              <a:rPr lang="da-DK" dirty="0"/>
              <a:t> </a:t>
            </a:r>
            <a:r>
              <a:rPr lang="da-DK" dirty="0" err="1"/>
              <a:t>directly</a:t>
            </a:r>
            <a:r>
              <a:rPr lang="da-DK" dirty="0"/>
              <a:t> </a:t>
            </a:r>
            <a:r>
              <a:rPr lang="da-DK" dirty="0" err="1"/>
              <a:t>impacts</a:t>
            </a:r>
            <a:r>
              <a:rPr lang="da-DK" dirty="0"/>
              <a:t> the </a:t>
            </a:r>
            <a:r>
              <a:rPr lang="da-DK" dirty="0" err="1"/>
              <a:t>application's</a:t>
            </a:r>
            <a:r>
              <a:rPr lang="da-DK" dirty="0"/>
              <a:t> </a:t>
            </a:r>
            <a:r>
              <a:rPr lang="da-DK" dirty="0" err="1"/>
              <a:t>stability</a:t>
            </a:r>
            <a:r>
              <a:rPr lang="da-DK" dirty="0"/>
              <a:t>, performance, and </a:t>
            </a:r>
            <a:r>
              <a:rPr lang="da-DK" dirty="0" err="1"/>
              <a:t>maintainability</a:t>
            </a:r>
            <a:endParaRPr lang="da-DK" dirty="0"/>
          </a:p>
          <a:p>
            <a:r>
              <a:rPr lang="da-DK" dirty="0" err="1"/>
              <a:t>Importance</a:t>
            </a:r>
            <a:r>
              <a:rPr lang="da-DK" dirty="0"/>
              <a:t>: High </a:t>
            </a:r>
            <a:r>
              <a:rPr lang="da-DK" dirty="0" err="1"/>
              <a:t>code</a:t>
            </a:r>
            <a:r>
              <a:rPr lang="da-DK" dirty="0"/>
              <a:t> </a:t>
            </a:r>
            <a:r>
              <a:rPr lang="da-DK" dirty="0" err="1"/>
              <a:t>quality</a:t>
            </a:r>
            <a:r>
              <a:rPr lang="da-DK" dirty="0"/>
              <a:t> </a:t>
            </a:r>
            <a:r>
              <a:rPr lang="da-DK" dirty="0" err="1"/>
              <a:t>leads</a:t>
            </a:r>
            <a:r>
              <a:rPr lang="da-DK" dirty="0"/>
              <a:t> to </a:t>
            </a:r>
            <a:r>
              <a:rPr lang="da-DK" dirty="0" err="1"/>
              <a:t>fewer</a:t>
            </a:r>
            <a:r>
              <a:rPr lang="da-DK" dirty="0"/>
              <a:t> bugs, </a:t>
            </a:r>
            <a:r>
              <a:rPr lang="da-DK" dirty="0" err="1"/>
              <a:t>easier</a:t>
            </a:r>
            <a:r>
              <a:rPr lang="da-DK" dirty="0"/>
              <a:t> </a:t>
            </a:r>
            <a:r>
              <a:rPr lang="da-DK" dirty="0" err="1"/>
              <a:t>collaboration</a:t>
            </a:r>
            <a:r>
              <a:rPr lang="da-DK" dirty="0"/>
              <a:t>, faster </a:t>
            </a:r>
            <a:r>
              <a:rPr lang="da-DK" dirty="0" err="1"/>
              <a:t>development</a:t>
            </a:r>
            <a:r>
              <a:rPr lang="da-DK" dirty="0"/>
              <a:t>, and </a:t>
            </a:r>
            <a:r>
              <a:rPr lang="da-DK" dirty="0" err="1"/>
              <a:t>lower</a:t>
            </a:r>
            <a:r>
              <a:rPr lang="da-DK" dirty="0"/>
              <a:t> long-term </a:t>
            </a:r>
            <a:r>
              <a:rPr lang="da-DK" dirty="0" err="1"/>
              <a:t>maintenance</a:t>
            </a:r>
            <a:r>
              <a:rPr lang="da-DK" dirty="0"/>
              <a:t> </a:t>
            </a:r>
            <a:r>
              <a:rPr lang="da-DK" dirty="0" err="1"/>
              <a:t>costs</a:t>
            </a:r>
            <a:endParaRPr lang="en-DK" sz="500" dirty="0"/>
          </a:p>
        </p:txBody>
      </p:sp>
    </p:spTree>
    <p:extLst>
      <p:ext uri="{BB962C8B-B14F-4D97-AF65-F5344CB8AC3E}">
        <p14:creationId xmlns:p14="http://schemas.microsoft.com/office/powerpoint/2010/main" val="1965242314"/>
      </p:ext>
    </p:extLst>
  </p:cSld>
  <p:clrMapOvr>
    <a:masterClrMapping/>
  </p:clrMapOvr>
</p:sld>
</file>

<file path=ppt/slides/slide8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9CBBB199-CEE7-4207-9B94-FABE54697AB5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da-DK" dirty="0"/>
              <a:t>Code </a:t>
            </a:r>
            <a:r>
              <a:rPr lang="da-DK" dirty="0" err="1"/>
              <a:t>Quality</a:t>
            </a:r>
            <a:r>
              <a:rPr lang="da-DK" dirty="0"/>
              <a:t> Control</a:t>
            </a:r>
          </a:p>
        </p:txBody>
      </p:sp>
      <p:sp>
        <p:nvSpPr>
          <p:cNvPr id="4" name="Pladsholder til dato 3">
            <a:extLst>
              <a:ext uri="{FF2B5EF4-FFF2-40B4-BE49-F238E27FC236}">
                <a16:creationId xmlns:a16="http://schemas.microsoft.com/office/drawing/2014/main" id="{DF6BBC47-AF93-4B51-BB19-37E8FA70A1FC}"/>
              </a:ext>
            </a:extLst>
          </p:cNvPr>
          <p:cNvSpPr>
            <a:spLocks noGrp="1"/>
          </p:cNvSpPr>
          <p:nvPr>
            <p:ph type="dt" sz="half" idx="2"/>
          </p:nvPr>
        </p:nvSpPr>
        <p:spPr/>
        <p:txBody>
          <a:bodyPr/>
          <a:lstStyle/>
          <a:p>
            <a:fld id="{1D326F97-033E-40DE-A683-79560FFFFEF4}" type="datetime1">
              <a:rPr lang="en-GB" smtClean="0"/>
              <a:t>24/04/2023</a:t>
            </a:fld>
            <a:endParaRPr lang="en-GB" dirty="0"/>
          </a:p>
        </p:txBody>
      </p:sp>
      <p:sp>
        <p:nvSpPr>
          <p:cNvPr id="5" name="Pladsholder til sidefod 4">
            <a:extLst>
              <a:ext uri="{FF2B5EF4-FFF2-40B4-BE49-F238E27FC236}">
                <a16:creationId xmlns:a16="http://schemas.microsoft.com/office/drawing/2014/main" id="{0A4065D9-777F-4BC2-8DA9-0E100CD3446A}"/>
              </a:ext>
            </a:extLst>
          </p:cNvPr>
          <p:cNvSpPr>
            <a:spLocks noGrp="1"/>
          </p:cNvSpPr>
          <p:nvPr>
            <p:ph type="ftr" sz="quarter" idx="14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6" name="Pladsholder til slidenummer 5">
            <a:extLst>
              <a:ext uri="{FF2B5EF4-FFF2-40B4-BE49-F238E27FC236}">
                <a16:creationId xmlns:a16="http://schemas.microsoft.com/office/drawing/2014/main" id="{1971CA48-5488-429E-869D-06623C5E5997}"/>
              </a:ext>
            </a:extLst>
          </p:cNvPr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fld id="{45D37B1E-C366-494F-A587-962AD9AABC83}" type="slidenum">
              <a:rPr lang="en-GB" smtClean="0"/>
              <a:pPr/>
              <a:t>82</a:t>
            </a:fld>
            <a:endParaRPr lang="en-GB" dirty="0"/>
          </a:p>
        </p:txBody>
      </p:sp>
      <p:sp>
        <p:nvSpPr>
          <p:cNvPr id="10" name="Content Placeholder 9">
            <a:extLst>
              <a:ext uri="{FF2B5EF4-FFF2-40B4-BE49-F238E27FC236}">
                <a16:creationId xmlns:a16="http://schemas.microsoft.com/office/drawing/2014/main" id="{040613FC-F94A-0712-DF75-092CF5474396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414696" y="1700212"/>
            <a:ext cx="10952578" cy="4408925"/>
          </a:xfrm>
        </p:spPr>
        <p:txBody>
          <a:bodyPr/>
          <a:lstStyle/>
          <a:p>
            <a:r>
              <a:rPr lang="da-DK" dirty="0"/>
              <a:t>Factors </a:t>
            </a:r>
            <a:r>
              <a:rPr lang="da-DK" dirty="0" err="1"/>
              <a:t>Affecting</a:t>
            </a:r>
            <a:r>
              <a:rPr lang="da-DK" dirty="0"/>
              <a:t> Code </a:t>
            </a:r>
            <a:r>
              <a:rPr lang="da-DK" dirty="0" err="1"/>
              <a:t>Quality</a:t>
            </a:r>
            <a:endParaRPr lang="da-DK" dirty="0"/>
          </a:p>
          <a:p>
            <a:endParaRPr lang="da-DK" dirty="0"/>
          </a:p>
          <a:p>
            <a:r>
              <a:rPr lang="da-DK" dirty="0" err="1"/>
              <a:t>Readability</a:t>
            </a:r>
            <a:r>
              <a:rPr lang="da-DK" dirty="0"/>
              <a:t>: Clear, </a:t>
            </a:r>
            <a:r>
              <a:rPr lang="da-DK" dirty="0" err="1"/>
              <a:t>concise</a:t>
            </a:r>
            <a:r>
              <a:rPr lang="da-DK" dirty="0"/>
              <a:t>, and </a:t>
            </a:r>
            <a:r>
              <a:rPr lang="da-DK" dirty="0" err="1"/>
              <a:t>well-organized</a:t>
            </a:r>
            <a:r>
              <a:rPr lang="da-DK" dirty="0"/>
              <a:t> </a:t>
            </a:r>
            <a:r>
              <a:rPr lang="da-DK" dirty="0" err="1"/>
              <a:t>code</a:t>
            </a:r>
            <a:r>
              <a:rPr lang="da-DK" dirty="0"/>
              <a:t> </a:t>
            </a:r>
            <a:r>
              <a:rPr lang="da-DK" dirty="0" err="1"/>
              <a:t>that</a:t>
            </a:r>
            <a:r>
              <a:rPr lang="da-DK" dirty="0"/>
              <a:t> is </a:t>
            </a:r>
            <a:r>
              <a:rPr lang="da-DK" dirty="0" err="1"/>
              <a:t>easy</a:t>
            </a:r>
            <a:r>
              <a:rPr lang="da-DK" dirty="0"/>
              <a:t> for </a:t>
            </a:r>
            <a:r>
              <a:rPr lang="da-DK" dirty="0" err="1"/>
              <a:t>others</a:t>
            </a:r>
            <a:r>
              <a:rPr lang="da-DK" dirty="0"/>
              <a:t> to understand and </a:t>
            </a:r>
            <a:r>
              <a:rPr lang="da-DK" dirty="0" err="1"/>
              <a:t>maintain</a:t>
            </a:r>
            <a:endParaRPr lang="da-DK" dirty="0"/>
          </a:p>
          <a:p>
            <a:r>
              <a:rPr lang="da-DK" dirty="0" err="1"/>
              <a:t>Modularity</a:t>
            </a:r>
            <a:r>
              <a:rPr lang="da-DK" dirty="0"/>
              <a:t>: </a:t>
            </a:r>
            <a:r>
              <a:rPr lang="da-DK" dirty="0" err="1"/>
              <a:t>Breaking</a:t>
            </a:r>
            <a:r>
              <a:rPr lang="da-DK" dirty="0"/>
              <a:t> </a:t>
            </a:r>
            <a:r>
              <a:rPr lang="da-DK" dirty="0" err="1"/>
              <a:t>down</a:t>
            </a:r>
            <a:r>
              <a:rPr lang="da-DK" dirty="0"/>
              <a:t> </a:t>
            </a:r>
            <a:r>
              <a:rPr lang="da-DK" dirty="0" err="1"/>
              <a:t>code</a:t>
            </a:r>
            <a:r>
              <a:rPr lang="da-DK" dirty="0"/>
              <a:t> </a:t>
            </a:r>
            <a:r>
              <a:rPr lang="da-DK" dirty="0" err="1"/>
              <a:t>into</a:t>
            </a:r>
            <a:r>
              <a:rPr lang="da-DK" dirty="0"/>
              <a:t> smaller, </a:t>
            </a:r>
            <a:r>
              <a:rPr lang="da-DK" dirty="0" err="1"/>
              <a:t>reusable</a:t>
            </a:r>
            <a:r>
              <a:rPr lang="da-DK" dirty="0"/>
              <a:t> components </a:t>
            </a:r>
            <a:r>
              <a:rPr lang="da-DK" dirty="0" err="1"/>
              <a:t>that</a:t>
            </a:r>
            <a:r>
              <a:rPr lang="da-DK" dirty="0"/>
              <a:t> </a:t>
            </a:r>
            <a:r>
              <a:rPr lang="da-DK" dirty="0" err="1"/>
              <a:t>can</a:t>
            </a:r>
            <a:r>
              <a:rPr lang="da-DK" dirty="0"/>
              <a:t> </a:t>
            </a:r>
            <a:r>
              <a:rPr lang="da-DK" dirty="0" err="1"/>
              <a:t>be</a:t>
            </a:r>
            <a:r>
              <a:rPr lang="da-DK" dirty="0"/>
              <a:t> </a:t>
            </a:r>
            <a:r>
              <a:rPr lang="da-DK" dirty="0" err="1"/>
              <a:t>easily</a:t>
            </a:r>
            <a:r>
              <a:rPr lang="da-DK" dirty="0"/>
              <a:t> </a:t>
            </a:r>
            <a:r>
              <a:rPr lang="da-DK" dirty="0" err="1"/>
              <a:t>tested</a:t>
            </a:r>
            <a:r>
              <a:rPr lang="da-DK" dirty="0"/>
              <a:t> and </a:t>
            </a:r>
            <a:r>
              <a:rPr lang="da-DK" dirty="0" err="1"/>
              <a:t>maintained</a:t>
            </a:r>
            <a:endParaRPr lang="da-DK" dirty="0"/>
          </a:p>
          <a:p>
            <a:r>
              <a:rPr lang="da-DK" dirty="0" err="1"/>
              <a:t>Efficiency</a:t>
            </a:r>
            <a:r>
              <a:rPr lang="da-DK" dirty="0"/>
              <a:t>: </a:t>
            </a:r>
            <a:r>
              <a:rPr lang="da-DK" dirty="0" err="1"/>
              <a:t>Optimized</a:t>
            </a:r>
            <a:r>
              <a:rPr lang="da-DK" dirty="0"/>
              <a:t> </a:t>
            </a:r>
            <a:r>
              <a:rPr lang="da-DK" dirty="0" err="1"/>
              <a:t>code</a:t>
            </a:r>
            <a:r>
              <a:rPr lang="da-DK" dirty="0"/>
              <a:t> </a:t>
            </a:r>
            <a:r>
              <a:rPr lang="da-DK" dirty="0" err="1"/>
              <a:t>that</a:t>
            </a:r>
            <a:r>
              <a:rPr lang="da-DK" dirty="0"/>
              <a:t> performs tasks </a:t>
            </a:r>
            <a:r>
              <a:rPr lang="da-DK" dirty="0" err="1"/>
              <a:t>quickly</a:t>
            </a:r>
            <a:r>
              <a:rPr lang="da-DK" dirty="0"/>
              <a:t> and with minimal </a:t>
            </a:r>
            <a:r>
              <a:rPr lang="da-DK" dirty="0" err="1"/>
              <a:t>resource</a:t>
            </a:r>
            <a:r>
              <a:rPr lang="da-DK" dirty="0"/>
              <a:t> </a:t>
            </a:r>
            <a:r>
              <a:rPr lang="da-DK" dirty="0" err="1"/>
              <a:t>usage</a:t>
            </a:r>
            <a:endParaRPr lang="da-DK" dirty="0"/>
          </a:p>
          <a:p>
            <a:r>
              <a:rPr lang="da-DK" dirty="0" err="1"/>
              <a:t>Consistency</a:t>
            </a:r>
            <a:r>
              <a:rPr lang="da-DK" dirty="0"/>
              <a:t>: </a:t>
            </a:r>
            <a:r>
              <a:rPr lang="da-DK" dirty="0" err="1"/>
              <a:t>Adherence</a:t>
            </a:r>
            <a:r>
              <a:rPr lang="da-DK" dirty="0"/>
              <a:t> to </a:t>
            </a:r>
            <a:r>
              <a:rPr lang="da-DK" dirty="0" err="1"/>
              <a:t>established</a:t>
            </a:r>
            <a:r>
              <a:rPr lang="da-DK" dirty="0"/>
              <a:t> </a:t>
            </a:r>
            <a:r>
              <a:rPr lang="da-DK" dirty="0" err="1"/>
              <a:t>coding</a:t>
            </a:r>
            <a:r>
              <a:rPr lang="da-DK" dirty="0"/>
              <a:t> standards, </a:t>
            </a:r>
            <a:r>
              <a:rPr lang="da-DK" dirty="0" err="1"/>
              <a:t>naming</a:t>
            </a:r>
            <a:r>
              <a:rPr lang="da-DK" dirty="0"/>
              <a:t> </a:t>
            </a:r>
            <a:r>
              <a:rPr lang="da-DK" dirty="0" err="1"/>
              <a:t>conventions</a:t>
            </a:r>
            <a:r>
              <a:rPr lang="da-DK" dirty="0"/>
              <a:t>, and </a:t>
            </a:r>
            <a:r>
              <a:rPr lang="da-DK" dirty="0" err="1"/>
              <a:t>best</a:t>
            </a:r>
            <a:r>
              <a:rPr lang="da-DK" dirty="0"/>
              <a:t> practices</a:t>
            </a:r>
            <a:endParaRPr lang="en-DK" sz="500" dirty="0"/>
          </a:p>
        </p:txBody>
      </p:sp>
    </p:spTree>
    <p:extLst>
      <p:ext uri="{BB962C8B-B14F-4D97-AF65-F5344CB8AC3E}">
        <p14:creationId xmlns:p14="http://schemas.microsoft.com/office/powerpoint/2010/main" val="2925340113"/>
      </p:ext>
    </p:extLst>
  </p:cSld>
  <p:clrMapOvr>
    <a:masterClrMapping/>
  </p:clrMapOvr>
</p:sld>
</file>

<file path=ppt/slides/slide8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9CBBB199-CEE7-4207-9B94-FABE54697AB5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da-DK" dirty="0"/>
              <a:t>Code </a:t>
            </a:r>
            <a:r>
              <a:rPr lang="da-DK" dirty="0" err="1"/>
              <a:t>Quality</a:t>
            </a:r>
            <a:r>
              <a:rPr lang="da-DK" dirty="0"/>
              <a:t> Control</a:t>
            </a:r>
          </a:p>
        </p:txBody>
      </p:sp>
      <p:sp>
        <p:nvSpPr>
          <p:cNvPr id="4" name="Pladsholder til dato 3">
            <a:extLst>
              <a:ext uri="{FF2B5EF4-FFF2-40B4-BE49-F238E27FC236}">
                <a16:creationId xmlns:a16="http://schemas.microsoft.com/office/drawing/2014/main" id="{DF6BBC47-AF93-4B51-BB19-37E8FA70A1FC}"/>
              </a:ext>
            </a:extLst>
          </p:cNvPr>
          <p:cNvSpPr>
            <a:spLocks noGrp="1"/>
          </p:cNvSpPr>
          <p:nvPr>
            <p:ph type="dt" sz="half" idx="2"/>
          </p:nvPr>
        </p:nvSpPr>
        <p:spPr/>
        <p:txBody>
          <a:bodyPr/>
          <a:lstStyle/>
          <a:p>
            <a:fld id="{1D326F97-033E-40DE-A683-79560FFFFEF4}" type="datetime1">
              <a:rPr lang="en-GB" smtClean="0"/>
              <a:t>24/04/2023</a:t>
            </a:fld>
            <a:endParaRPr lang="en-GB" dirty="0"/>
          </a:p>
        </p:txBody>
      </p:sp>
      <p:sp>
        <p:nvSpPr>
          <p:cNvPr id="5" name="Pladsholder til sidefod 4">
            <a:extLst>
              <a:ext uri="{FF2B5EF4-FFF2-40B4-BE49-F238E27FC236}">
                <a16:creationId xmlns:a16="http://schemas.microsoft.com/office/drawing/2014/main" id="{0A4065D9-777F-4BC2-8DA9-0E100CD3446A}"/>
              </a:ext>
            </a:extLst>
          </p:cNvPr>
          <p:cNvSpPr>
            <a:spLocks noGrp="1"/>
          </p:cNvSpPr>
          <p:nvPr>
            <p:ph type="ftr" sz="quarter" idx="14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6" name="Pladsholder til slidenummer 5">
            <a:extLst>
              <a:ext uri="{FF2B5EF4-FFF2-40B4-BE49-F238E27FC236}">
                <a16:creationId xmlns:a16="http://schemas.microsoft.com/office/drawing/2014/main" id="{1971CA48-5488-429E-869D-06623C5E5997}"/>
              </a:ext>
            </a:extLst>
          </p:cNvPr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fld id="{45D37B1E-C366-494F-A587-962AD9AABC83}" type="slidenum">
              <a:rPr lang="en-GB" smtClean="0"/>
              <a:pPr/>
              <a:t>83</a:t>
            </a:fld>
            <a:endParaRPr lang="en-GB" dirty="0"/>
          </a:p>
        </p:txBody>
      </p:sp>
      <p:sp>
        <p:nvSpPr>
          <p:cNvPr id="10" name="Content Placeholder 9">
            <a:extLst>
              <a:ext uri="{FF2B5EF4-FFF2-40B4-BE49-F238E27FC236}">
                <a16:creationId xmlns:a16="http://schemas.microsoft.com/office/drawing/2014/main" id="{040613FC-F94A-0712-DF75-092CF5474396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414696" y="1700212"/>
            <a:ext cx="10952578" cy="4408925"/>
          </a:xfrm>
        </p:spPr>
        <p:txBody>
          <a:bodyPr/>
          <a:lstStyle/>
          <a:p>
            <a:r>
              <a:rPr lang="da-DK" dirty="0"/>
              <a:t>Code </a:t>
            </a:r>
            <a:r>
              <a:rPr lang="da-DK" dirty="0" err="1"/>
              <a:t>Quality</a:t>
            </a:r>
            <a:r>
              <a:rPr lang="da-DK" dirty="0"/>
              <a:t> Best Practices</a:t>
            </a:r>
          </a:p>
          <a:p>
            <a:endParaRPr lang="da-DK" dirty="0"/>
          </a:p>
          <a:p>
            <a:r>
              <a:rPr lang="da-DK" dirty="0"/>
              <a:t>Write </a:t>
            </a:r>
            <a:r>
              <a:rPr lang="da-DK" dirty="0" err="1"/>
              <a:t>self-documenting</a:t>
            </a:r>
            <a:r>
              <a:rPr lang="da-DK" dirty="0"/>
              <a:t> </a:t>
            </a:r>
            <a:r>
              <a:rPr lang="da-DK" dirty="0" err="1"/>
              <a:t>code</a:t>
            </a:r>
            <a:r>
              <a:rPr lang="da-DK" dirty="0"/>
              <a:t>: </a:t>
            </a:r>
            <a:r>
              <a:rPr lang="da-DK" dirty="0" err="1"/>
              <a:t>Use</a:t>
            </a:r>
            <a:r>
              <a:rPr lang="da-DK" dirty="0"/>
              <a:t> </a:t>
            </a:r>
            <a:r>
              <a:rPr lang="da-DK" dirty="0" err="1"/>
              <a:t>meaningful</a:t>
            </a:r>
            <a:r>
              <a:rPr lang="da-DK" dirty="0"/>
              <a:t> variable and </a:t>
            </a:r>
            <a:r>
              <a:rPr lang="da-DK" dirty="0" err="1"/>
              <a:t>function</a:t>
            </a:r>
            <a:r>
              <a:rPr lang="da-DK" dirty="0"/>
              <a:t> </a:t>
            </a:r>
            <a:r>
              <a:rPr lang="da-DK" dirty="0" err="1"/>
              <a:t>names</a:t>
            </a:r>
            <a:r>
              <a:rPr lang="da-DK" dirty="0"/>
              <a:t>, and </a:t>
            </a:r>
            <a:r>
              <a:rPr lang="da-DK" dirty="0" err="1"/>
              <a:t>follow</a:t>
            </a:r>
            <a:r>
              <a:rPr lang="da-DK" dirty="0"/>
              <a:t> </a:t>
            </a:r>
            <a:r>
              <a:rPr lang="da-DK" dirty="0" err="1"/>
              <a:t>established</a:t>
            </a:r>
            <a:r>
              <a:rPr lang="da-DK" dirty="0"/>
              <a:t> </a:t>
            </a:r>
            <a:r>
              <a:rPr lang="da-DK" dirty="0" err="1"/>
              <a:t>coding</a:t>
            </a:r>
            <a:r>
              <a:rPr lang="da-DK" dirty="0"/>
              <a:t> </a:t>
            </a:r>
            <a:r>
              <a:rPr lang="da-DK" dirty="0" err="1"/>
              <a:t>conventions</a:t>
            </a:r>
            <a:r>
              <a:rPr lang="da-DK" dirty="0"/>
              <a:t> to </a:t>
            </a:r>
            <a:r>
              <a:rPr lang="da-DK" dirty="0" err="1"/>
              <a:t>make</a:t>
            </a:r>
            <a:r>
              <a:rPr lang="da-DK" dirty="0"/>
              <a:t> the </a:t>
            </a:r>
            <a:r>
              <a:rPr lang="da-DK" dirty="0" err="1"/>
              <a:t>code</a:t>
            </a:r>
            <a:r>
              <a:rPr lang="da-DK" dirty="0"/>
              <a:t> </a:t>
            </a:r>
            <a:r>
              <a:rPr lang="da-DK" dirty="0" err="1"/>
              <a:t>easy</a:t>
            </a:r>
            <a:r>
              <a:rPr lang="da-DK" dirty="0"/>
              <a:t> to understand</a:t>
            </a:r>
          </a:p>
          <a:p>
            <a:r>
              <a:rPr lang="da-DK" dirty="0" err="1"/>
              <a:t>Comment</a:t>
            </a:r>
            <a:r>
              <a:rPr lang="da-DK" dirty="0"/>
              <a:t> and </a:t>
            </a:r>
            <a:r>
              <a:rPr lang="da-DK" dirty="0" err="1"/>
              <a:t>document</a:t>
            </a:r>
            <a:r>
              <a:rPr lang="da-DK" dirty="0"/>
              <a:t>: </a:t>
            </a:r>
            <a:r>
              <a:rPr lang="da-DK" dirty="0" err="1"/>
              <a:t>Add</a:t>
            </a:r>
            <a:r>
              <a:rPr lang="da-DK" dirty="0"/>
              <a:t> </a:t>
            </a:r>
            <a:r>
              <a:rPr lang="da-DK" dirty="0" err="1"/>
              <a:t>comments</a:t>
            </a:r>
            <a:r>
              <a:rPr lang="da-DK" dirty="0"/>
              <a:t> and </a:t>
            </a:r>
            <a:r>
              <a:rPr lang="da-DK" dirty="0" err="1"/>
              <a:t>documentation</a:t>
            </a:r>
            <a:r>
              <a:rPr lang="da-DK" dirty="0"/>
              <a:t> to </a:t>
            </a:r>
            <a:r>
              <a:rPr lang="da-DK" dirty="0" err="1"/>
              <a:t>clarify</a:t>
            </a:r>
            <a:r>
              <a:rPr lang="da-DK" dirty="0"/>
              <a:t> </a:t>
            </a:r>
            <a:r>
              <a:rPr lang="da-DK" dirty="0" err="1"/>
              <a:t>complex</a:t>
            </a:r>
            <a:r>
              <a:rPr lang="da-DK" dirty="0"/>
              <a:t> </a:t>
            </a:r>
            <a:r>
              <a:rPr lang="da-DK" dirty="0" err="1"/>
              <a:t>sections</a:t>
            </a:r>
            <a:r>
              <a:rPr lang="da-DK" dirty="0"/>
              <a:t> of </a:t>
            </a:r>
            <a:r>
              <a:rPr lang="da-DK" dirty="0" err="1"/>
              <a:t>code</a:t>
            </a:r>
            <a:r>
              <a:rPr lang="da-DK" dirty="0"/>
              <a:t> and provide </a:t>
            </a:r>
            <a:r>
              <a:rPr lang="da-DK" dirty="0" err="1"/>
              <a:t>context</a:t>
            </a:r>
            <a:r>
              <a:rPr lang="da-DK" dirty="0"/>
              <a:t> for future developers</a:t>
            </a:r>
          </a:p>
          <a:p>
            <a:r>
              <a:rPr lang="da-DK" dirty="0"/>
              <a:t>Keep </a:t>
            </a:r>
            <a:r>
              <a:rPr lang="da-DK" dirty="0" err="1"/>
              <a:t>functions</a:t>
            </a:r>
            <a:r>
              <a:rPr lang="da-DK" dirty="0"/>
              <a:t> small and </a:t>
            </a:r>
            <a:r>
              <a:rPr lang="da-DK" dirty="0" err="1"/>
              <a:t>focused</a:t>
            </a:r>
            <a:r>
              <a:rPr lang="da-DK" dirty="0"/>
              <a:t>: Limit </a:t>
            </a:r>
            <a:r>
              <a:rPr lang="da-DK" dirty="0" err="1"/>
              <a:t>each</a:t>
            </a:r>
            <a:r>
              <a:rPr lang="da-DK" dirty="0"/>
              <a:t> </a:t>
            </a:r>
            <a:r>
              <a:rPr lang="da-DK" dirty="0" err="1"/>
              <a:t>function</a:t>
            </a:r>
            <a:r>
              <a:rPr lang="da-DK" dirty="0"/>
              <a:t> to a single </a:t>
            </a:r>
            <a:r>
              <a:rPr lang="da-DK" dirty="0" err="1"/>
              <a:t>responsibility</a:t>
            </a:r>
            <a:r>
              <a:rPr lang="da-DK" dirty="0"/>
              <a:t>, </a:t>
            </a:r>
            <a:r>
              <a:rPr lang="da-DK" dirty="0" err="1"/>
              <a:t>making</a:t>
            </a:r>
            <a:r>
              <a:rPr lang="da-DK" dirty="0"/>
              <a:t> it </a:t>
            </a:r>
            <a:r>
              <a:rPr lang="da-DK" dirty="0" err="1"/>
              <a:t>easier</a:t>
            </a:r>
            <a:r>
              <a:rPr lang="da-DK" dirty="0"/>
              <a:t> to understand, test, and </a:t>
            </a:r>
            <a:r>
              <a:rPr lang="da-DK" dirty="0" err="1"/>
              <a:t>maintain</a:t>
            </a:r>
            <a:endParaRPr lang="da-DK" dirty="0"/>
          </a:p>
          <a:p>
            <a:r>
              <a:rPr lang="da-DK" dirty="0" err="1"/>
              <a:t>Refactor</a:t>
            </a:r>
            <a:r>
              <a:rPr lang="da-DK" dirty="0"/>
              <a:t> </a:t>
            </a:r>
            <a:r>
              <a:rPr lang="da-DK" dirty="0" err="1"/>
              <a:t>regularly</a:t>
            </a:r>
            <a:r>
              <a:rPr lang="da-DK" dirty="0"/>
              <a:t>: </a:t>
            </a:r>
            <a:r>
              <a:rPr lang="da-DK" dirty="0" err="1"/>
              <a:t>Continuously</a:t>
            </a:r>
            <a:r>
              <a:rPr lang="da-DK" dirty="0"/>
              <a:t> </a:t>
            </a:r>
            <a:r>
              <a:rPr lang="da-DK" dirty="0" err="1"/>
              <a:t>review</a:t>
            </a:r>
            <a:r>
              <a:rPr lang="da-DK" dirty="0"/>
              <a:t> and </a:t>
            </a:r>
            <a:r>
              <a:rPr lang="da-DK" dirty="0" err="1"/>
              <a:t>improve</a:t>
            </a:r>
            <a:r>
              <a:rPr lang="da-DK" dirty="0"/>
              <a:t> the </a:t>
            </a:r>
            <a:r>
              <a:rPr lang="da-DK" dirty="0" err="1"/>
              <a:t>codebase</a:t>
            </a:r>
            <a:r>
              <a:rPr lang="da-DK" dirty="0"/>
              <a:t> to </a:t>
            </a:r>
            <a:r>
              <a:rPr lang="da-DK" dirty="0" err="1"/>
              <a:t>address</a:t>
            </a:r>
            <a:r>
              <a:rPr lang="da-DK" dirty="0"/>
              <a:t> </a:t>
            </a:r>
            <a:r>
              <a:rPr lang="da-DK" dirty="0" err="1"/>
              <a:t>technical</a:t>
            </a:r>
            <a:r>
              <a:rPr lang="da-DK" dirty="0"/>
              <a:t> </a:t>
            </a:r>
            <a:r>
              <a:rPr lang="da-DK" dirty="0" err="1"/>
              <a:t>debt</a:t>
            </a:r>
            <a:r>
              <a:rPr lang="da-DK" dirty="0"/>
              <a:t> and </a:t>
            </a:r>
            <a:r>
              <a:rPr lang="da-DK" dirty="0" err="1"/>
              <a:t>maintain</a:t>
            </a:r>
            <a:r>
              <a:rPr lang="da-DK" dirty="0"/>
              <a:t> high </a:t>
            </a:r>
            <a:r>
              <a:rPr lang="da-DK" dirty="0" err="1"/>
              <a:t>quality</a:t>
            </a:r>
            <a:endParaRPr lang="en-DK" sz="500" dirty="0"/>
          </a:p>
        </p:txBody>
      </p:sp>
    </p:spTree>
    <p:extLst>
      <p:ext uri="{BB962C8B-B14F-4D97-AF65-F5344CB8AC3E}">
        <p14:creationId xmlns:p14="http://schemas.microsoft.com/office/powerpoint/2010/main" val="796289818"/>
      </p:ext>
    </p:extLst>
  </p:cSld>
  <p:clrMapOvr>
    <a:masterClrMapping/>
  </p:clrMapOvr>
</p:sld>
</file>

<file path=ppt/slides/slide8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9CBBB199-CEE7-4207-9B94-FABE54697AB5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da-DK" dirty="0"/>
              <a:t>Code </a:t>
            </a:r>
            <a:r>
              <a:rPr lang="da-DK" dirty="0" err="1"/>
              <a:t>Quality</a:t>
            </a:r>
            <a:r>
              <a:rPr lang="da-DK" dirty="0"/>
              <a:t> Control</a:t>
            </a:r>
          </a:p>
        </p:txBody>
      </p:sp>
      <p:sp>
        <p:nvSpPr>
          <p:cNvPr id="4" name="Pladsholder til dato 3">
            <a:extLst>
              <a:ext uri="{FF2B5EF4-FFF2-40B4-BE49-F238E27FC236}">
                <a16:creationId xmlns:a16="http://schemas.microsoft.com/office/drawing/2014/main" id="{DF6BBC47-AF93-4B51-BB19-37E8FA70A1FC}"/>
              </a:ext>
            </a:extLst>
          </p:cNvPr>
          <p:cNvSpPr>
            <a:spLocks noGrp="1"/>
          </p:cNvSpPr>
          <p:nvPr>
            <p:ph type="dt" sz="half" idx="2"/>
          </p:nvPr>
        </p:nvSpPr>
        <p:spPr/>
        <p:txBody>
          <a:bodyPr/>
          <a:lstStyle/>
          <a:p>
            <a:fld id="{1D326F97-033E-40DE-A683-79560FFFFEF4}" type="datetime1">
              <a:rPr lang="en-GB" smtClean="0"/>
              <a:t>24/04/2023</a:t>
            </a:fld>
            <a:endParaRPr lang="en-GB" dirty="0"/>
          </a:p>
        </p:txBody>
      </p:sp>
      <p:sp>
        <p:nvSpPr>
          <p:cNvPr id="5" name="Pladsholder til sidefod 4">
            <a:extLst>
              <a:ext uri="{FF2B5EF4-FFF2-40B4-BE49-F238E27FC236}">
                <a16:creationId xmlns:a16="http://schemas.microsoft.com/office/drawing/2014/main" id="{0A4065D9-777F-4BC2-8DA9-0E100CD3446A}"/>
              </a:ext>
            </a:extLst>
          </p:cNvPr>
          <p:cNvSpPr>
            <a:spLocks noGrp="1"/>
          </p:cNvSpPr>
          <p:nvPr>
            <p:ph type="ftr" sz="quarter" idx="14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6" name="Pladsholder til slidenummer 5">
            <a:extLst>
              <a:ext uri="{FF2B5EF4-FFF2-40B4-BE49-F238E27FC236}">
                <a16:creationId xmlns:a16="http://schemas.microsoft.com/office/drawing/2014/main" id="{1971CA48-5488-429E-869D-06623C5E5997}"/>
              </a:ext>
            </a:extLst>
          </p:cNvPr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fld id="{45D37B1E-C366-494F-A587-962AD9AABC83}" type="slidenum">
              <a:rPr lang="en-GB" smtClean="0"/>
              <a:pPr/>
              <a:t>84</a:t>
            </a:fld>
            <a:endParaRPr lang="en-GB" dirty="0"/>
          </a:p>
        </p:txBody>
      </p:sp>
      <p:sp>
        <p:nvSpPr>
          <p:cNvPr id="10" name="Content Placeholder 9">
            <a:extLst>
              <a:ext uri="{FF2B5EF4-FFF2-40B4-BE49-F238E27FC236}">
                <a16:creationId xmlns:a16="http://schemas.microsoft.com/office/drawing/2014/main" id="{040613FC-F94A-0712-DF75-092CF5474396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414696" y="1700212"/>
            <a:ext cx="10952578" cy="4408925"/>
          </a:xfrm>
        </p:spPr>
        <p:txBody>
          <a:bodyPr/>
          <a:lstStyle/>
          <a:p>
            <a:r>
              <a:rPr lang="da-DK" dirty="0"/>
              <a:t>Code </a:t>
            </a:r>
            <a:r>
              <a:rPr lang="da-DK" dirty="0" err="1"/>
              <a:t>Quality</a:t>
            </a:r>
            <a:r>
              <a:rPr lang="da-DK" dirty="0"/>
              <a:t> </a:t>
            </a:r>
            <a:r>
              <a:rPr lang="da-DK" dirty="0" err="1"/>
              <a:t>Testing</a:t>
            </a:r>
            <a:r>
              <a:rPr lang="da-DK" dirty="0"/>
              <a:t> </a:t>
            </a:r>
            <a:r>
              <a:rPr lang="da-DK" dirty="0" err="1"/>
              <a:t>Techniques</a:t>
            </a:r>
            <a:endParaRPr lang="da-DK" dirty="0"/>
          </a:p>
          <a:p>
            <a:endParaRPr lang="da-DK" dirty="0"/>
          </a:p>
          <a:p>
            <a:r>
              <a:rPr lang="da-DK" dirty="0" err="1"/>
              <a:t>Static</a:t>
            </a:r>
            <a:r>
              <a:rPr lang="da-DK" dirty="0"/>
              <a:t> </a:t>
            </a:r>
            <a:r>
              <a:rPr lang="da-DK" dirty="0" err="1"/>
              <a:t>code</a:t>
            </a:r>
            <a:r>
              <a:rPr lang="da-DK" dirty="0"/>
              <a:t> </a:t>
            </a:r>
            <a:r>
              <a:rPr lang="da-DK" dirty="0" err="1"/>
              <a:t>analysis</a:t>
            </a:r>
            <a:r>
              <a:rPr lang="da-DK" dirty="0"/>
              <a:t>: </a:t>
            </a:r>
            <a:r>
              <a:rPr lang="da-DK" dirty="0" err="1"/>
              <a:t>Use</a:t>
            </a:r>
            <a:r>
              <a:rPr lang="da-DK" dirty="0"/>
              <a:t> </a:t>
            </a:r>
            <a:r>
              <a:rPr lang="da-DK" dirty="0" err="1"/>
              <a:t>automated</a:t>
            </a:r>
            <a:r>
              <a:rPr lang="da-DK" dirty="0"/>
              <a:t> </a:t>
            </a:r>
            <a:r>
              <a:rPr lang="da-DK" dirty="0" err="1"/>
              <a:t>tools</a:t>
            </a:r>
            <a:r>
              <a:rPr lang="da-DK" dirty="0"/>
              <a:t> to </a:t>
            </a:r>
            <a:r>
              <a:rPr lang="da-DK" dirty="0" err="1"/>
              <a:t>analyze</a:t>
            </a:r>
            <a:r>
              <a:rPr lang="da-DK" dirty="0"/>
              <a:t> the </a:t>
            </a:r>
            <a:r>
              <a:rPr lang="da-DK" dirty="0" err="1"/>
              <a:t>codebase</a:t>
            </a:r>
            <a:r>
              <a:rPr lang="da-DK" dirty="0"/>
              <a:t> for potential issues, </a:t>
            </a:r>
            <a:r>
              <a:rPr lang="da-DK" dirty="0" err="1"/>
              <a:t>such</a:t>
            </a:r>
            <a:r>
              <a:rPr lang="da-DK" dirty="0"/>
              <a:t> as </a:t>
            </a:r>
            <a:r>
              <a:rPr lang="da-DK" dirty="0" err="1"/>
              <a:t>coding</a:t>
            </a:r>
            <a:r>
              <a:rPr lang="da-DK" dirty="0"/>
              <a:t> standard </a:t>
            </a:r>
            <a:r>
              <a:rPr lang="da-DK" dirty="0" err="1"/>
              <a:t>violations</a:t>
            </a:r>
            <a:r>
              <a:rPr lang="da-DK" dirty="0"/>
              <a:t>, performance </a:t>
            </a:r>
            <a:r>
              <a:rPr lang="da-DK" dirty="0" err="1"/>
              <a:t>bottlenecks</a:t>
            </a:r>
            <a:r>
              <a:rPr lang="da-DK" dirty="0"/>
              <a:t>, or security </a:t>
            </a:r>
            <a:r>
              <a:rPr lang="da-DK" dirty="0" err="1"/>
              <a:t>vulnerabilities</a:t>
            </a:r>
            <a:endParaRPr lang="da-DK" dirty="0"/>
          </a:p>
          <a:p>
            <a:r>
              <a:rPr lang="da-DK" dirty="0"/>
              <a:t>Code </a:t>
            </a:r>
            <a:r>
              <a:rPr lang="da-DK" dirty="0" err="1"/>
              <a:t>reviews</a:t>
            </a:r>
            <a:r>
              <a:rPr lang="da-DK" dirty="0"/>
              <a:t>: </a:t>
            </a:r>
            <a:r>
              <a:rPr lang="da-DK" dirty="0" err="1"/>
              <a:t>Regularly</a:t>
            </a:r>
            <a:r>
              <a:rPr lang="da-DK" dirty="0"/>
              <a:t> </a:t>
            </a:r>
            <a:r>
              <a:rPr lang="da-DK" dirty="0" err="1"/>
              <a:t>conduct</a:t>
            </a:r>
            <a:r>
              <a:rPr lang="da-DK" dirty="0"/>
              <a:t> peer </a:t>
            </a:r>
            <a:r>
              <a:rPr lang="da-DK" dirty="0" err="1"/>
              <a:t>reviews</a:t>
            </a:r>
            <a:r>
              <a:rPr lang="da-DK" dirty="0"/>
              <a:t> of </a:t>
            </a:r>
            <a:r>
              <a:rPr lang="da-DK" dirty="0" err="1"/>
              <a:t>code</a:t>
            </a:r>
            <a:r>
              <a:rPr lang="da-DK" dirty="0"/>
              <a:t> </a:t>
            </a:r>
            <a:r>
              <a:rPr lang="da-DK" dirty="0" err="1"/>
              <a:t>changes</a:t>
            </a:r>
            <a:r>
              <a:rPr lang="da-DK" dirty="0"/>
              <a:t> to </a:t>
            </a:r>
            <a:r>
              <a:rPr lang="da-DK" dirty="0" err="1"/>
              <a:t>catch</a:t>
            </a:r>
            <a:r>
              <a:rPr lang="da-DK" dirty="0"/>
              <a:t> </a:t>
            </a:r>
            <a:r>
              <a:rPr lang="da-DK" dirty="0" err="1"/>
              <a:t>mistakes</a:t>
            </a:r>
            <a:r>
              <a:rPr lang="da-DK" dirty="0"/>
              <a:t>, </a:t>
            </a:r>
            <a:r>
              <a:rPr lang="da-DK" dirty="0" err="1"/>
              <a:t>share</a:t>
            </a:r>
            <a:r>
              <a:rPr lang="da-DK" dirty="0"/>
              <a:t> </a:t>
            </a:r>
            <a:r>
              <a:rPr lang="da-DK" dirty="0" err="1"/>
              <a:t>knowledge</a:t>
            </a:r>
            <a:r>
              <a:rPr lang="da-DK" dirty="0"/>
              <a:t>, and promote </a:t>
            </a:r>
            <a:r>
              <a:rPr lang="da-DK" dirty="0" err="1"/>
              <a:t>collaboration</a:t>
            </a:r>
            <a:endParaRPr lang="da-DK" dirty="0"/>
          </a:p>
          <a:p>
            <a:r>
              <a:rPr lang="da-DK" dirty="0" err="1"/>
              <a:t>Continuous</a:t>
            </a:r>
            <a:r>
              <a:rPr lang="da-DK" dirty="0"/>
              <a:t> integration: </a:t>
            </a:r>
            <a:r>
              <a:rPr lang="da-DK" dirty="0" err="1"/>
              <a:t>Implement</a:t>
            </a:r>
            <a:r>
              <a:rPr lang="da-DK" dirty="0"/>
              <a:t> a </a:t>
            </a:r>
            <a:r>
              <a:rPr lang="da-DK" dirty="0" err="1"/>
              <a:t>continuous</a:t>
            </a:r>
            <a:r>
              <a:rPr lang="da-DK" dirty="0"/>
              <a:t> integration pipeline to </a:t>
            </a:r>
            <a:r>
              <a:rPr lang="da-DK" dirty="0" err="1"/>
              <a:t>automatically</a:t>
            </a:r>
            <a:r>
              <a:rPr lang="da-DK" dirty="0"/>
              <a:t> </a:t>
            </a:r>
            <a:r>
              <a:rPr lang="da-DK" dirty="0" err="1"/>
              <a:t>build</a:t>
            </a:r>
            <a:r>
              <a:rPr lang="da-DK" dirty="0"/>
              <a:t>, test, and </a:t>
            </a:r>
            <a:r>
              <a:rPr lang="da-DK" dirty="0" err="1"/>
              <a:t>analyze</a:t>
            </a:r>
            <a:r>
              <a:rPr lang="da-DK" dirty="0"/>
              <a:t> the </a:t>
            </a:r>
            <a:r>
              <a:rPr lang="da-DK" dirty="0" err="1"/>
              <a:t>codebase</a:t>
            </a:r>
            <a:r>
              <a:rPr lang="da-DK" dirty="0"/>
              <a:t> for issues on a </a:t>
            </a:r>
            <a:r>
              <a:rPr lang="da-DK" dirty="0" err="1"/>
              <a:t>regular</a:t>
            </a:r>
            <a:r>
              <a:rPr lang="da-DK" dirty="0"/>
              <a:t> basis</a:t>
            </a:r>
            <a:endParaRPr lang="en-DK" sz="500" dirty="0"/>
          </a:p>
        </p:txBody>
      </p:sp>
    </p:spTree>
    <p:extLst>
      <p:ext uri="{BB962C8B-B14F-4D97-AF65-F5344CB8AC3E}">
        <p14:creationId xmlns:p14="http://schemas.microsoft.com/office/powerpoint/2010/main" val="925588918"/>
      </p:ext>
    </p:extLst>
  </p:cSld>
  <p:clrMapOvr>
    <a:masterClrMapping/>
  </p:clrMapOvr>
</p:sld>
</file>

<file path=ppt/slides/slide8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9CBBB199-CEE7-4207-9B94-FABE54697AB5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da-DK" dirty="0"/>
              <a:t>Code </a:t>
            </a:r>
            <a:r>
              <a:rPr lang="da-DK" dirty="0" err="1"/>
              <a:t>Quality</a:t>
            </a:r>
            <a:r>
              <a:rPr lang="da-DK" dirty="0"/>
              <a:t> Control</a:t>
            </a:r>
          </a:p>
        </p:txBody>
      </p:sp>
      <p:sp>
        <p:nvSpPr>
          <p:cNvPr id="4" name="Pladsholder til dato 3">
            <a:extLst>
              <a:ext uri="{FF2B5EF4-FFF2-40B4-BE49-F238E27FC236}">
                <a16:creationId xmlns:a16="http://schemas.microsoft.com/office/drawing/2014/main" id="{DF6BBC47-AF93-4B51-BB19-37E8FA70A1FC}"/>
              </a:ext>
            </a:extLst>
          </p:cNvPr>
          <p:cNvSpPr>
            <a:spLocks noGrp="1"/>
          </p:cNvSpPr>
          <p:nvPr>
            <p:ph type="dt" sz="half" idx="2"/>
          </p:nvPr>
        </p:nvSpPr>
        <p:spPr/>
        <p:txBody>
          <a:bodyPr/>
          <a:lstStyle/>
          <a:p>
            <a:fld id="{1D326F97-033E-40DE-A683-79560FFFFEF4}" type="datetime1">
              <a:rPr lang="en-GB" smtClean="0"/>
              <a:t>24/04/2023</a:t>
            </a:fld>
            <a:endParaRPr lang="en-GB" dirty="0"/>
          </a:p>
        </p:txBody>
      </p:sp>
      <p:sp>
        <p:nvSpPr>
          <p:cNvPr id="5" name="Pladsholder til sidefod 4">
            <a:extLst>
              <a:ext uri="{FF2B5EF4-FFF2-40B4-BE49-F238E27FC236}">
                <a16:creationId xmlns:a16="http://schemas.microsoft.com/office/drawing/2014/main" id="{0A4065D9-777F-4BC2-8DA9-0E100CD3446A}"/>
              </a:ext>
            </a:extLst>
          </p:cNvPr>
          <p:cNvSpPr>
            <a:spLocks noGrp="1"/>
          </p:cNvSpPr>
          <p:nvPr>
            <p:ph type="ftr" sz="quarter" idx="14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6" name="Pladsholder til slidenummer 5">
            <a:extLst>
              <a:ext uri="{FF2B5EF4-FFF2-40B4-BE49-F238E27FC236}">
                <a16:creationId xmlns:a16="http://schemas.microsoft.com/office/drawing/2014/main" id="{1971CA48-5488-429E-869D-06623C5E5997}"/>
              </a:ext>
            </a:extLst>
          </p:cNvPr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fld id="{45D37B1E-C366-494F-A587-962AD9AABC83}" type="slidenum">
              <a:rPr lang="en-GB" smtClean="0"/>
              <a:pPr/>
              <a:t>85</a:t>
            </a:fld>
            <a:endParaRPr lang="en-GB" dirty="0"/>
          </a:p>
        </p:txBody>
      </p:sp>
      <p:sp>
        <p:nvSpPr>
          <p:cNvPr id="10" name="Content Placeholder 9">
            <a:extLst>
              <a:ext uri="{FF2B5EF4-FFF2-40B4-BE49-F238E27FC236}">
                <a16:creationId xmlns:a16="http://schemas.microsoft.com/office/drawing/2014/main" id="{040613FC-F94A-0712-DF75-092CF5474396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414696" y="1700212"/>
            <a:ext cx="10952578" cy="4408925"/>
          </a:xfrm>
        </p:spPr>
        <p:txBody>
          <a:bodyPr/>
          <a:lstStyle/>
          <a:p>
            <a:r>
              <a:rPr lang="da-DK" dirty="0" err="1"/>
              <a:t>Popular</a:t>
            </a:r>
            <a:r>
              <a:rPr lang="da-DK" dirty="0"/>
              <a:t> Code </a:t>
            </a:r>
            <a:r>
              <a:rPr lang="da-DK" dirty="0" err="1"/>
              <a:t>Quality</a:t>
            </a:r>
            <a:r>
              <a:rPr lang="da-DK" dirty="0"/>
              <a:t> Tools</a:t>
            </a:r>
          </a:p>
          <a:p>
            <a:endParaRPr lang="da-DK" dirty="0"/>
          </a:p>
          <a:p>
            <a:r>
              <a:rPr lang="da-DK" dirty="0" err="1"/>
              <a:t>SonarQube</a:t>
            </a:r>
            <a:r>
              <a:rPr lang="da-DK" dirty="0"/>
              <a:t>: A </a:t>
            </a:r>
            <a:r>
              <a:rPr lang="da-DK" dirty="0" err="1"/>
              <a:t>comprehensive</a:t>
            </a:r>
            <a:r>
              <a:rPr lang="da-DK" dirty="0"/>
              <a:t> platform for </a:t>
            </a:r>
            <a:r>
              <a:rPr lang="da-DK" dirty="0" err="1"/>
              <a:t>continuous</a:t>
            </a:r>
            <a:r>
              <a:rPr lang="da-DK" dirty="0"/>
              <a:t> </a:t>
            </a:r>
            <a:r>
              <a:rPr lang="da-DK" dirty="0" err="1"/>
              <a:t>code</a:t>
            </a:r>
            <a:r>
              <a:rPr lang="da-DK" dirty="0"/>
              <a:t> </a:t>
            </a:r>
            <a:r>
              <a:rPr lang="da-DK" dirty="0" err="1"/>
              <a:t>quality</a:t>
            </a:r>
            <a:r>
              <a:rPr lang="da-DK" dirty="0"/>
              <a:t> </a:t>
            </a:r>
            <a:r>
              <a:rPr lang="da-DK" dirty="0" err="1"/>
              <a:t>inspection</a:t>
            </a:r>
            <a:r>
              <a:rPr lang="da-DK" dirty="0"/>
              <a:t> and management</a:t>
            </a:r>
          </a:p>
          <a:p>
            <a:r>
              <a:rPr lang="da-DK" dirty="0" err="1"/>
              <a:t>ESLint</a:t>
            </a:r>
            <a:r>
              <a:rPr lang="da-DK" dirty="0"/>
              <a:t>: A </a:t>
            </a:r>
            <a:r>
              <a:rPr lang="da-DK" dirty="0" err="1"/>
              <a:t>highly</a:t>
            </a:r>
            <a:r>
              <a:rPr lang="da-DK" dirty="0"/>
              <a:t> </a:t>
            </a:r>
            <a:r>
              <a:rPr lang="da-DK" dirty="0" err="1"/>
              <a:t>configurable</a:t>
            </a:r>
            <a:r>
              <a:rPr lang="da-DK" dirty="0"/>
              <a:t> JavaScript linting </a:t>
            </a:r>
            <a:r>
              <a:rPr lang="da-DK" dirty="0" err="1"/>
              <a:t>tool</a:t>
            </a:r>
            <a:r>
              <a:rPr lang="da-DK" dirty="0"/>
              <a:t> for </a:t>
            </a:r>
            <a:r>
              <a:rPr lang="da-DK" dirty="0" err="1"/>
              <a:t>identifying</a:t>
            </a:r>
            <a:r>
              <a:rPr lang="da-DK" dirty="0"/>
              <a:t> and </a:t>
            </a:r>
            <a:r>
              <a:rPr lang="da-DK" dirty="0" err="1"/>
              <a:t>fixing</a:t>
            </a:r>
            <a:r>
              <a:rPr lang="da-DK" dirty="0"/>
              <a:t> </a:t>
            </a:r>
            <a:r>
              <a:rPr lang="da-DK" dirty="0" err="1"/>
              <a:t>code</a:t>
            </a:r>
            <a:r>
              <a:rPr lang="da-DK" dirty="0"/>
              <a:t> </a:t>
            </a:r>
            <a:r>
              <a:rPr lang="da-DK" dirty="0" err="1"/>
              <a:t>quality</a:t>
            </a:r>
            <a:r>
              <a:rPr lang="da-DK" dirty="0"/>
              <a:t> issues</a:t>
            </a:r>
          </a:p>
          <a:p>
            <a:r>
              <a:rPr lang="da-DK" dirty="0" err="1"/>
              <a:t>Pylint</a:t>
            </a:r>
            <a:r>
              <a:rPr lang="da-DK" dirty="0"/>
              <a:t>: A </a:t>
            </a:r>
            <a:r>
              <a:rPr lang="da-DK" dirty="0" err="1"/>
              <a:t>powerful</a:t>
            </a:r>
            <a:r>
              <a:rPr lang="da-DK" dirty="0"/>
              <a:t> Python </a:t>
            </a:r>
            <a:r>
              <a:rPr lang="da-DK" dirty="0" err="1"/>
              <a:t>code</a:t>
            </a:r>
            <a:r>
              <a:rPr lang="da-DK" dirty="0"/>
              <a:t> </a:t>
            </a:r>
            <a:r>
              <a:rPr lang="da-DK" dirty="0" err="1"/>
              <a:t>analysis</a:t>
            </a:r>
            <a:r>
              <a:rPr lang="da-DK" dirty="0"/>
              <a:t> </a:t>
            </a:r>
            <a:r>
              <a:rPr lang="da-DK" dirty="0" err="1"/>
              <a:t>tool</a:t>
            </a:r>
            <a:r>
              <a:rPr lang="da-DK" dirty="0"/>
              <a:t> </a:t>
            </a:r>
            <a:r>
              <a:rPr lang="da-DK" dirty="0" err="1"/>
              <a:t>that</a:t>
            </a:r>
            <a:r>
              <a:rPr lang="da-DK" dirty="0"/>
              <a:t> checks for </a:t>
            </a:r>
            <a:r>
              <a:rPr lang="da-DK" dirty="0" err="1"/>
              <a:t>programming</a:t>
            </a:r>
            <a:r>
              <a:rPr lang="da-DK" dirty="0"/>
              <a:t> </a:t>
            </a:r>
            <a:r>
              <a:rPr lang="da-DK" dirty="0" err="1"/>
              <a:t>errors</a:t>
            </a:r>
            <a:r>
              <a:rPr lang="da-DK" dirty="0"/>
              <a:t>, </a:t>
            </a:r>
            <a:r>
              <a:rPr lang="da-DK" dirty="0" err="1"/>
              <a:t>enforces</a:t>
            </a:r>
            <a:r>
              <a:rPr lang="da-DK" dirty="0"/>
              <a:t> </a:t>
            </a:r>
            <a:r>
              <a:rPr lang="da-DK" dirty="0" err="1"/>
              <a:t>coding</a:t>
            </a:r>
            <a:r>
              <a:rPr lang="da-DK" dirty="0"/>
              <a:t> standards, and more</a:t>
            </a:r>
          </a:p>
          <a:p>
            <a:r>
              <a:rPr lang="da-DK" dirty="0" err="1"/>
              <a:t>StyleCop</a:t>
            </a:r>
            <a:r>
              <a:rPr lang="da-DK" dirty="0"/>
              <a:t>: A C# </a:t>
            </a:r>
            <a:r>
              <a:rPr lang="da-DK" dirty="0" err="1"/>
              <a:t>code</a:t>
            </a:r>
            <a:r>
              <a:rPr lang="da-DK" dirty="0"/>
              <a:t> </a:t>
            </a:r>
            <a:r>
              <a:rPr lang="da-DK" dirty="0" err="1"/>
              <a:t>analysis</a:t>
            </a:r>
            <a:r>
              <a:rPr lang="da-DK" dirty="0"/>
              <a:t> </a:t>
            </a:r>
            <a:r>
              <a:rPr lang="da-DK" dirty="0" err="1"/>
              <a:t>tool</a:t>
            </a:r>
            <a:r>
              <a:rPr lang="da-DK" dirty="0"/>
              <a:t> </a:t>
            </a:r>
            <a:r>
              <a:rPr lang="da-DK" dirty="0" err="1"/>
              <a:t>that</a:t>
            </a:r>
            <a:r>
              <a:rPr lang="da-DK" dirty="0"/>
              <a:t> </a:t>
            </a:r>
            <a:r>
              <a:rPr lang="da-DK" dirty="0" err="1"/>
              <a:t>enforces</a:t>
            </a:r>
            <a:r>
              <a:rPr lang="da-DK" dirty="0"/>
              <a:t> </a:t>
            </a:r>
            <a:r>
              <a:rPr lang="da-DK" dirty="0" err="1"/>
              <a:t>consistent</a:t>
            </a:r>
            <a:r>
              <a:rPr lang="da-DK" dirty="0"/>
              <a:t> </a:t>
            </a:r>
            <a:r>
              <a:rPr lang="da-DK" dirty="0" err="1"/>
              <a:t>coding</a:t>
            </a:r>
            <a:r>
              <a:rPr lang="da-DK" dirty="0"/>
              <a:t> style and </a:t>
            </a:r>
            <a:r>
              <a:rPr lang="da-DK" dirty="0" err="1"/>
              <a:t>best</a:t>
            </a:r>
            <a:r>
              <a:rPr lang="da-DK" dirty="0"/>
              <a:t> practices</a:t>
            </a:r>
            <a:endParaRPr lang="en-DK" sz="500" dirty="0"/>
          </a:p>
        </p:txBody>
      </p:sp>
    </p:spTree>
    <p:extLst>
      <p:ext uri="{BB962C8B-B14F-4D97-AF65-F5344CB8AC3E}">
        <p14:creationId xmlns:p14="http://schemas.microsoft.com/office/powerpoint/2010/main" val="1791523687"/>
      </p:ext>
    </p:extLst>
  </p:cSld>
  <p:clrMapOvr>
    <a:masterClrMapping/>
  </p:clrMapOvr>
</p:sld>
</file>

<file path=ppt/slides/slide8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9CBBB199-CEE7-4207-9B94-FABE54697AB5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da-DK" dirty="0"/>
              <a:t>Code </a:t>
            </a:r>
            <a:r>
              <a:rPr lang="da-DK" dirty="0" err="1"/>
              <a:t>Quality</a:t>
            </a:r>
            <a:r>
              <a:rPr lang="da-DK" dirty="0"/>
              <a:t> Control</a:t>
            </a:r>
          </a:p>
        </p:txBody>
      </p:sp>
      <p:sp>
        <p:nvSpPr>
          <p:cNvPr id="4" name="Pladsholder til dato 3">
            <a:extLst>
              <a:ext uri="{FF2B5EF4-FFF2-40B4-BE49-F238E27FC236}">
                <a16:creationId xmlns:a16="http://schemas.microsoft.com/office/drawing/2014/main" id="{DF6BBC47-AF93-4B51-BB19-37E8FA70A1FC}"/>
              </a:ext>
            </a:extLst>
          </p:cNvPr>
          <p:cNvSpPr>
            <a:spLocks noGrp="1"/>
          </p:cNvSpPr>
          <p:nvPr>
            <p:ph type="dt" sz="half" idx="2"/>
          </p:nvPr>
        </p:nvSpPr>
        <p:spPr/>
        <p:txBody>
          <a:bodyPr/>
          <a:lstStyle/>
          <a:p>
            <a:fld id="{1D326F97-033E-40DE-A683-79560FFFFEF4}" type="datetime1">
              <a:rPr lang="en-GB" smtClean="0"/>
              <a:t>24/04/2023</a:t>
            </a:fld>
            <a:endParaRPr lang="en-GB" dirty="0"/>
          </a:p>
        </p:txBody>
      </p:sp>
      <p:sp>
        <p:nvSpPr>
          <p:cNvPr id="5" name="Pladsholder til sidefod 4">
            <a:extLst>
              <a:ext uri="{FF2B5EF4-FFF2-40B4-BE49-F238E27FC236}">
                <a16:creationId xmlns:a16="http://schemas.microsoft.com/office/drawing/2014/main" id="{0A4065D9-777F-4BC2-8DA9-0E100CD3446A}"/>
              </a:ext>
            </a:extLst>
          </p:cNvPr>
          <p:cNvSpPr>
            <a:spLocks noGrp="1"/>
          </p:cNvSpPr>
          <p:nvPr>
            <p:ph type="ftr" sz="quarter" idx="14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6" name="Pladsholder til slidenummer 5">
            <a:extLst>
              <a:ext uri="{FF2B5EF4-FFF2-40B4-BE49-F238E27FC236}">
                <a16:creationId xmlns:a16="http://schemas.microsoft.com/office/drawing/2014/main" id="{1971CA48-5488-429E-869D-06623C5E5997}"/>
              </a:ext>
            </a:extLst>
          </p:cNvPr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fld id="{45D37B1E-C366-494F-A587-962AD9AABC83}" type="slidenum">
              <a:rPr lang="en-GB" smtClean="0"/>
              <a:pPr/>
              <a:t>86</a:t>
            </a:fld>
            <a:endParaRPr lang="en-GB" dirty="0"/>
          </a:p>
        </p:txBody>
      </p:sp>
      <p:sp>
        <p:nvSpPr>
          <p:cNvPr id="10" name="Content Placeholder 9">
            <a:extLst>
              <a:ext uri="{FF2B5EF4-FFF2-40B4-BE49-F238E27FC236}">
                <a16:creationId xmlns:a16="http://schemas.microsoft.com/office/drawing/2014/main" id="{040613FC-F94A-0712-DF75-092CF5474396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414696" y="1700212"/>
            <a:ext cx="10952578" cy="4408925"/>
          </a:xfrm>
        </p:spPr>
        <p:txBody>
          <a:bodyPr/>
          <a:lstStyle/>
          <a:p>
            <a:r>
              <a:rPr lang="da-DK" dirty="0"/>
              <a:t>Tips for </a:t>
            </a:r>
            <a:r>
              <a:rPr lang="da-DK" dirty="0" err="1"/>
              <a:t>Maintaining</a:t>
            </a:r>
            <a:r>
              <a:rPr lang="da-DK" dirty="0"/>
              <a:t> High Code </a:t>
            </a:r>
            <a:r>
              <a:rPr lang="da-DK" dirty="0" err="1"/>
              <a:t>Quality</a:t>
            </a:r>
            <a:endParaRPr lang="da-DK" dirty="0"/>
          </a:p>
          <a:p>
            <a:endParaRPr lang="da-DK" dirty="0"/>
          </a:p>
          <a:p>
            <a:r>
              <a:rPr lang="da-DK" dirty="0"/>
              <a:t>Foster a </a:t>
            </a:r>
            <a:r>
              <a:rPr lang="da-DK" dirty="0" err="1"/>
              <a:t>culture</a:t>
            </a:r>
            <a:r>
              <a:rPr lang="da-DK" dirty="0"/>
              <a:t> of </a:t>
            </a:r>
            <a:r>
              <a:rPr lang="da-DK" dirty="0" err="1"/>
              <a:t>code</a:t>
            </a:r>
            <a:r>
              <a:rPr lang="da-DK" dirty="0"/>
              <a:t> </a:t>
            </a:r>
            <a:r>
              <a:rPr lang="da-DK" dirty="0" err="1"/>
              <a:t>quality</a:t>
            </a:r>
            <a:r>
              <a:rPr lang="da-DK" dirty="0"/>
              <a:t> </a:t>
            </a:r>
            <a:r>
              <a:rPr lang="da-DK" dirty="0" err="1"/>
              <a:t>awareness</a:t>
            </a:r>
            <a:r>
              <a:rPr lang="da-DK" dirty="0"/>
              <a:t> </a:t>
            </a:r>
            <a:r>
              <a:rPr lang="da-DK" dirty="0" err="1"/>
              <a:t>among</a:t>
            </a:r>
            <a:r>
              <a:rPr lang="da-DK" dirty="0"/>
              <a:t> </a:t>
            </a:r>
            <a:r>
              <a:rPr lang="da-DK" dirty="0" err="1"/>
              <a:t>your</a:t>
            </a:r>
            <a:r>
              <a:rPr lang="da-DK" dirty="0"/>
              <a:t> </a:t>
            </a:r>
            <a:r>
              <a:rPr lang="da-DK" dirty="0" err="1"/>
              <a:t>development</a:t>
            </a:r>
            <a:r>
              <a:rPr lang="da-DK" dirty="0"/>
              <a:t> team</a:t>
            </a:r>
          </a:p>
          <a:p>
            <a:r>
              <a:rPr lang="da-DK" dirty="0"/>
              <a:t>Provide </a:t>
            </a:r>
            <a:r>
              <a:rPr lang="da-DK" dirty="0" err="1"/>
              <a:t>training</a:t>
            </a:r>
            <a:r>
              <a:rPr lang="da-DK" dirty="0"/>
              <a:t> and </a:t>
            </a:r>
            <a:r>
              <a:rPr lang="da-DK" dirty="0" err="1"/>
              <a:t>resources</a:t>
            </a:r>
            <a:r>
              <a:rPr lang="da-DK" dirty="0"/>
              <a:t> on </a:t>
            </a:r>
            <a:r>
              <a:rPr lang="da-DK" dirty="0" err="1"/>
              <a:t>best</a:t>
            </a:r>
            <a:r>
              <a:rPr lang="da-DK" dirty="0"/>
              <a:t> practices and </a:t>
            </a:r>
            <a:r>
              <a:rPr lang="da-DK" dirty="0" err="1"/>
              <a:t>coding</a:t>
            </a:r>
            <a:r>
              <a:rPr lang="da-DK" dirty="0"/>
              <a:t> standards</a:t>
            </a:r>
          </a:p>
          <a:p>
            <a:r>
              <a:rPr lang="da-DK" dirty="0" err="1"/>
              <a:t>Establish</a:t>
            </a:r>
            <a:r>
              <a:rPr lang="da-DK" dirty="0"/>
              <a:t> and </a:t>
            </a:r>
            <a:r>
              <a:rPr lang="da-DK" dirty="0" err="1"/>
              <a:t>enforce</a:t>
            </a:r>
            <a:r>
              <a:rPr lang="da-DK" dirty="0"/>
              <a:t> a </a:t>
            </a:r>
            <a:r>
              <a:rPr lang="da-DK" dirty="0" err="1"/>
              <a:t>consistent</a:t>
            </a:r>
            <a:r>
              <a:rPr lang="da-DK" dirty="0"/>
              <a:t> </a:t>
            </a:r>
            <a:r>
              <a:rPr lang="da-DK" dirty="0" err="1"/>
              <a:t>coding</a:t>
            </a:r>
            <a:r>
              <a:rPr lang="da-DK" dirty="0"/>
              <a:t> style </a:t>
            </a:r>
            <a:r>
              <a:rPr lang="da-DK" dirty="0" err="1"/>
              <a:t>across</a:t>
            </a:r>
            <a:r>
              <a:rPr lang="da-DK" dirty="0"/>
              <a:t> the </a:t>
            </a:r>
            <a:r>
              <a:rPr lang="da-DK" dirty="0" err="1"/>
              <a:t>entire</a:t>
            </a:r>
            <a:r>
              <a:rPr lang="da-DK" dirty="0"/>
              <a:t> team</a:t>
            </a:r>
          </a:p>
          <a:p>
            <a:r>
              <a:rPr lang="da-DK" dirty="0" err="1"/>
              <a:t>Continuously</a:t>
            </a:r>
            <a:r>
              <a:rPr lang="da-DK" dirty="0"/>
              <a:t> monitor and </a:t>
            </a:r>
            <a:r>
              <a:rPr lang="da-DK" dirty="0" err="1"/>
              <a:t>address</a:t>
            </a:r>
            <a:r>
              <a:rPr lang="da-DK" dirty="0"/>
              <a:t> </a:t>
            </a:r>
            <a:r>
              <a:rPr lang="da-DK" dirty="0" err="1"/>
              <a:t>code</a:t>
            </a:r>
            <a:r>
              <a:rPr lang="da-DK" dirty="0"/>
              <a:t> </a:t>
            </a:r>
            <a:r>
              <a:rPr lang="da-DK" dirty="0" err="1"/>
              <a:t>quality</a:t>
            </a:r>
            <a:r>
              <a:rPr lang="da-DK" dirty="0"/>
              <a:t> issues to </a:t>
            </a:r>
            <a:r>
              <a:rPr lang="da-DK" dirty="0" err="1"/>
              <a:t>prevent</a:t>
            </a:r>
            <a:r>
              <a:rPr lang="da-DK" dirty="0"/>
              <a:t> </a:t>
            </a:r>
            <a:r>
              <a:rPr lang="da-DK" dirty="0" err="1"/>
              <a:t>technical</a:t>
            </a:r>
            <a:r>
              <a:rPr lang="da-DK" dirty="0"/>
              <a:t> </a:t>
            </a:r>
            <a:r>
              <a:rPr lang="da-DK" dirty="0" err="1"/>
              <a:t>debt</a:t>
            </a:r>
            <a:r>
              <a:rPr lang="da-DK" dirty="0"/>
              <a:t> </a:t>
            </a:r>
            <a:r>
              <a:rPr lang="da-DK" dirty="0" err="1"/>
              <a:t>accumulation</a:t>
            </a:r>
            <a:endParaRPr lang="en-DK" sz="500" dirty="0"/>
          </a:p>
        </p:txBody>
      </p:sp>
    </p:spTree>
    <p:extLst>
      <p:ext uri="{BB962C8B-B14F-4D97-AF65-F5344CB8AC3E}">
        <p14:creationId xmlns:p14="http://schemas.microsoft.com/office/powerpoint/2010/main" val="2509713407"/>
      </p:ext>
    </p:extLst>
  </p:cSld>
  <p:clrMapOvr>
    <a:masterClrMapping/>
  </p:clrMapOvr>
</p:sld>
</file>

<file path=ppt/slides/slide8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552FF25E-24BF-4225-87AB-B2869F94CB2B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da-DK"/>
          </a:p>
        </p:txBody>
      </p:sp>
      <p:sp>
        <p:nvSpPr>
          <p:cNvPr id="3" name="Pladsholder til dato 2">
            <a:extLst>
              <a:ext uri="{FF2B5EF4-FFF2-40B4-BE49-F238E27FC236}">
                <a16:creationId xmlns:a16="http://schemas.microsoft.com/office/drawing/2014/main" id="{4C93D788-8D9D-4045-B518-6692018D89DE}"/>
              </a:ext>
            </a:extLst>
          </p:cNvPr>
          <p:cNvSpPr>
            <a:spLocks noGrp="1"/>
          </p:cNvSpPr>
          <p:nvPr>
            <p:ph type="dt" sz="half" idx="2"/>
          </p:nvPr>
        </p:nvSpPr>
        <p:spPr/>
        <p:txBody>
          <a:bodyPr/>
          <a:lstStyle/>
          <a:p>
            <a:fld id="{B4C4C6FD-8607-43FF-8BC8-950EFB970BA3}" type="datetime1">
              <a:rPr lang="en-GB" smtClean="0"/>
              <a:t>24/04/2023</a:t>
            </a:fld>
            <a:endParaRPr lang="en-GB" dirty="0"/>
          </a:p>
        </p:txBody>
      </p:sp>
      <p:sp>
        <p:nvSpPr>
          <p:cNvPr id="4" name="Rektangel 3">
            <a:extLst>
              <a:ext uri="{FF2B5EF4-FFF2-40B4-BE49-F238E27FC236}">
                <a16:creationId xmlns:a16="http://schemas.microsoft.com/office/drawing/2014/main" id="{F994D39F-0217-4BCC-AD0B-429E7605B2F1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tIns="72000" rIns="72000" bIns="72000" rtlCol="0" anchor="ctr"/>
          <a:lstStyle/>
          <a:p>
            <a:pPr algn="ctr"/>
            <a:r>
              <a:rPr lang="da-DK" sz="2800" b="1" dirty="0"/>
              <a:t>Test-Driven Development</a:t>
            </a:r>
          </a:p>
        </p:txBody>
      </p:sp>
    </p:spTree>
    <p:extLst>
      <p:ext uri="{BB962C8B-B14F-4D97-AF65-F5344CB8AC3E}">
        <p14:creationId xmlns:p14="http://schemas.microsoft.com/office/powerpoint/2010/main" val="3599465266"/>
      </p:ext>
    </p:extLst>
  </p:cSld>
  <p:clrMapOvr>
    <a:masterClrMapping/>
  </p:clrMapOvr>
</p:sld>
</file>

<file path=ppt/slides/slide8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9CBBB199-CEE7-4207-9B94-FABE54697AB5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da-DK" dirty="0"/>
              <a:t>Test-Driven Development</a:t>
            </a:r>
          </a:p>
        </p:txBody>
      </p:sp>
      <p:sp>
        <p:nvSpPr>
          <p:cNvPr id="4" name="Pladsholder til dato 3">
            <a:extLst>
              <a:ext uri="{FF2B5EF4-FFF2-40B4-BE49-F238E27FC236}">
                <a16:creationId xmlns:a16="http://schemas.microsoft.com/office/drawing/2014/main" id="{DF6BBC47-AF93-4B51-BB19-37E8FA70A1FC}"/>
              </a:ext>
            </a:extLst>
          </p:cNvPr>
          <p:cNvSpPr>
            <a:spLocks noGrp="1"/>
          </p:cNvSpPr>
          <p:nvPr>
            <p:ph type="dt" sz="half" idx="2"/>
          </p:nvPr>
        </p:nvSpPr>
        <p:spPr/>
        <p:txBody>
          <a:bodyPr/>
          <a:lstStyle/>
          <a:p>
            <a:fld id="{1D326F97-033E-40DE-A683-79560FFFFEF4}" type="datetime1">
              <a:rPr lang="en-GB" smtClean="0"/>
              <a:t>24/04/2023</a:t>
            </a:fld>
            <a:endParaRPr lang="en-GB" dirty="0"/>
          </a:p>
        </p:txBody>
      </p:sp>
      <p:sp>
        <p:nvSpPr>
          <p:cNvPr id="5" name="Pladsholder til sidefod 4">
            <a:extLst>
              <a:ext uri="{FF2B5EF4-FFF2-40B4-BE49-F238E27FC236}">
                <a16:creationId xmlns:a16="http://schemas.microsoft.com/office/drawing/2014/main" id="{0A4065D9-777F-4BC2-8DA9-0E100CD3446A}"/>
              </a:ext>
            </a:extLst>
          </p:cNvPr>
          <p:cNvSpPr>
            <a:spLocks noGrp="1"/>
          </p:cNvSpPr>
          <p:nvPr>
            <p:ph type="ftr" sz="quarter" idx="14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6" name="Pladsholder til slidenummer 5">
            <a:extLst>
              <a:ext uri="{FF2B5EF4-FFF2-40B4-BE49-F238E27FC236}">
                <a16:creationId xmlns:a16="http://schemas.microsoft.com/office/drawing/2014/main" id="{1971CA48-5488-429E-869D-06623C5E5997}"/>
              </a:ext>
            </a:extLst>
          </p:cNvPr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fld id="{45D37B1E-C366-494F-A587-962AD9AABC83}" type="slidenum">
              <a:rPr lang="en-GB" smtClean="0"/>
              <a:pPr/>
              <a:t>88</a:t>
            </a:fld>
            <a:endParaRPr lang="en-GB" dirty="0"/>
          </a:p>
        </p:txBody>
      </p:sp>
      <p:sp>
        <p:nvSpPr>
          <p:cNvPr id="10" name="Content Placeholder 9">
            <a:extLst>
              <a:ext uri="{FF2B5EF4-FFF2-40B4-BE49-F238E27FC236}">
                <a16:creationId xmlns:a16="http://schemas.microsoft.com/office/drawing/2014/main" id="{040613FC-F94A-0712-DF75-092CF5474396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414696" y="1700212"/>
            <a:ext cx="10952578" cy="4408925"/>
          </a:xfrm>
        </p:spPr>
        <p:txBody>
          <a:bodyPr/>
          <a:lstStyle/>
          <a:p>
            <a:r>
              <a:rPr lang="da-DK" dirty="0"/>
              <a:t>Purpose: A software </a:t>
            </a:r>
            <a:r>
              <a:rPr lang="da-DK" dirty="0" err="1"/>
              <a:t>development</a:t>
            </a:r>
            <a:r>
              <a:rPr lang="da-DK" dirty="0"/>
              <a:t> </a:t>
            </a:r>
            <a:r>
              <a:rPr lang="da-DK" dirty="0" err="1"/>
              <a:t>methodology</a:t>
            </a:r>
            <a:r>
              <a:rPr lang="da-DK" dirty="0"/>
              <a:t> </a:t>
            </a:r>
            <a:r>
              <a:rPr lang="da-DK" dirty="0" err="1"/>
              <a:t>that</a:t>
            </a:r>
            <a:r>
              <a:rPr lang="da-DK" dirty="0"/>
              <a:t> </a:t>
            </a:r>
            <a:r>
              <a:rPr lang="da-DK" dirty="0" err="1"/>
              <a:t>emphasizes</a:t>
            </a:r>
            <a:r>
              <a:rPr lang="da-DK" dirty="0"/>
              <a:t> </a:t>
            </a:r>
            <a:r>
              <a:rPr lang="da-DK" dirty="0" err="1"/>
              <a:t>writing</a:t>
            </a:r>
            <a:r>
              <a:rPr lang="da-DK" dirty="0"/>
              <a:t> tests </a:t>
            </a:r>
            <a:r>
              <a:rPr lang="da-DK" dirty="0" err="1"/>
              <a:t>before</a:t>
            </a:r>
            <a:r>
              <a:rPr lang="da-DK" dirty="0"/>
              <a:t> </a:t>
            </a:r>
            <a:r>
              <a:rPr lang="da-DK" dirty="0" err="1"/>
              <a:t>writing</a:t>
            </a:r>
            <a:r>
              <a:rPr lang="da-DK" dirty="0"/>
              <a:t> the </a:t>
            </a:r>
            <a:r>
              <a:rPr lang="da-DK" dirty="0" err="1"/>
              <a:t>actual</a:t>
            </a:r>
            <a:r>
              <a:rPr lang="da-DK" dirty="0"/>
              <a:t> </a:t>
            </a:r>
            <a:r>
              <a:rPr lang="da-DK" dirty="0" err="1"/>
              <a:t>code</a:t>
            </a:r>
            <a:endParaRPr lang="da-DK" dirty="0"/>
          </a:p>
          <a:p>
            <a:r>
              <a:rPr lang="da-DK" dirty="0" err="1"/>
              <a:t>Goals</a:t>
            </a:r>
            <a:r>
              <a:rPr lang="da-DK" dirty="0"/>
              <a:t>: </a:t>
            </a:r>
            <a:r>
              <a:rPr lang="da-DK" dirty="0" err="1"/>
              <a:t>Improve</a:t>
            </a:r>
            <a:r>
              <a:rPr lang="da-DK" dirty="0"/>
              <a:t> </a:t>
            </a:r>
            <a:r>
              <a:rPr lang="da-DK" dirty="0" err="1"/>
              <a:t>code</a:t>
            </a:r>
            <a:r>
              <a:rPr lang="da-DK" dirty="0"/>
              <a:t> </a:t>
            </a:r>
            <a:r>
              <a:rPr lang="da-DK" dirty="0" err="1"/>
              <a:t>quality</a:t>
            </a:r>
            <a:r>
              <a:rPr lang="da-DK" dirty="0"/>
              <a:t>, </a:t>
            </a:r>
            <a:r>
              <a:rPr lang="da-DK" dirty="0" err="1"/>
              <a:t>minimize</a:t>
            </a:r>
            <a:r>
              <a:rPr lang="da-DK" dirty="0"/>
              <a:t> bugs, and </a:t>
            </a:r>
            <a:r>
              <a:rPr lang="da-DK" dirty="0" err="1"/>
              <a:t>streamline</a:t>
            </a:r>
            <a:r>
              <a:rPr lang="da-DK" dirty="0"/>
              <a:t> the </a:t>
            </a:r>
            <a:r>
              <a:rPr lang="da-DK" dirty="0" err="1"/>
              <a:t>development</a:t>
            </a:r>
            <a:r>
              <a:rPr lang="da-DK" dirty="0"/>
              <a:t> </a:t>
            </a:r>
            <a:r>
              <a:rPr lang="da-DK" dirty="0" err="1"/>
              <a:t>process</a:t>
            </a:r>
            <a:endParaRPr lang="en-DK" sz="500" dirty="0"/>
          </a:p>
        </p:txBody>
      </p:sp>
    </p:spTree>
    <p:extLst>
      <p:ext uri="{BB962C8B-B14F-4D97-AF65-F5344CB8AC3E}">
        <p14:creationId xmlns:p14="http://schemas.microsoft.com/office/powerpoint/2010/main" val="1475202084"/>
      </p:ext>
    </p:extLst>
  </p:cSld>
  <p:clrMapOvr>
    <a:masterClrMapping/>
  </p:clrMapOvr>
</p:sld>
</file>

<file path=ppt/slides/slide8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9CBBB199-CEE7-4207-9B94-FABE54697AB5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da-DK" dirty="0"/>
              <a:t>Test-Driven Development</a:t>
            </a:r>
          </a:p>
        </p:txBody>
      </p:sp>
      <p:sp>
        <p:nvSpPr>
          <p:cNvPr id="4" name="Pladsholder til dato 3">
            <a:extLst>
              <a:ext uri="{FF2B5EF4-FFF2-40B4-BE49-F238E27FC236}">
                <a16:creationId xmlns:a16="http://schemas.microsoft.com/office/drawing/2014/main" id="{DF6BBC47-AF93-4B51-BB19-37E8FA70A1FC}"/>
              </a:ext>
            </a:extLst>
          </p:cNvPr>
          <p:cNvSpPr>
            <a:spLocks noGrp="1"/>
          </p:cNvSpPr>
          <p:nvPr>
            <p:ph type="dt" sz="half" idx="2"/>
          </p:nvPr>
        </p:nvSpPr>
        <p:spPr/>
        <p:txBody>
          <a:bodyPr/>
          <a:lstStyle/>
          <a:p>
            <a:fld id="{1D326F97-033E-40DE-A683-79560FFFFEF4}" type="datetime1">
              <a:rPr lang="en-GB" smtClean="0"/>
              <a:t>24/04/2023</a:t>
            </a:fld>
            <a:endParaRPr lang="en-GB" dirty="0"/>
          </a:p>
        </p:txBody>
      </p:sp>
      <p:sp>
        <p:nvSpPr>
          <p:cNvPr id="5" name="Pladsholder til sidefod 4">
            <a:extLst>
              <a:ext uri="{FF2B5EF4-FFF2-40B4-BE49-F238E27FC236}">
                <a16:creationId xmlns:a16="http://schemas.microsoft.com/office/drawing/2014/main" id="{0A4065D9-777F-4BC2-8DA9-0E100CD3446A}"/>
              </a:ext>
            </a:extLst>
          </p:cNvPr>
          <p:cNvSpPr>
            <a:spLocks noGrp="1"/>
          </p:cNvSpPr>
          <p:nvPr>
            <p:ph type="ftr" sz="quarter" idx="14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6" name="Pladsholder til slidenummer 5">
            <a:extLst>
              <a:ext uri="{FF2B5EF4-FFF2-40B4-BE49-F238E27FC236}">
                <a16:creationId xmlns:a16="http://schemas.microsoft.com/office/drawing/2014/main" id="{1971CA48-5488-429E-869D-06623C5E5997}"/>
              </a:ext>
            </a:extLst>
          </p:cNvPr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fld id="{45D37B1E-C366-494F-A587-962AD9AABC83}" type="slidenum">
              <a:rPr lang="en-GB" smtClean="0"/>
              <a:pPr/>
              <a:t>89</a:t>
            </a:fld>
            <a:endParaRPr lang="en-GB" dirty="0"/>
          </a:p>
        </p:txBody>
      </p:sp>
      <p:sp>
        <p:nvSpPr>
          <p:cNvPr id="10" name="Content Placeholder 9">
            <a:extLst>
              <a:ext uri="{FF2B5EF4-FFF2-40B4-BE49-F238E27FC236}">
                <a16:creationId xmlns:a16="http://schemas.microsoft.com/office/drawing/2014/main" id="{040613FC-F94A-0712-DF75-092CF5474396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414696" y="1700212"/>
            <a:ext cx="10952578" cy="4408925"/>
          </a:xfrm>
        </p:spPr>
        <p:txBody>
          <a:bodyPr/>
          <a:lstStyle/>
          <a:p>
            <a:r>
              <a:rPr lang="da-DK" dirty="0"/>
              <a:t>TDD </a:t>
            </a:r>
            <a:r>
              <a:rPr lang="da-DK" dirty="0" err="1"/>
              <a:t>Process</a:t>
            </a:r>
            <a:endParaRPr lang="da-DK" dirty="0"/>
          </a:p>
          <a:p>
            <a:endParaRPr lang="da-DK" dirty="0"/>
          </a:p>
          <a:p>
            <a:r>
              <a:rPr lang="da-DK" dirty="0"/>
              <a:t>Write a </a:t>
            </a:r>
            <a:r>
              <a:rPr lang="da-DK" dirty="0" err="1"/>
              <a:t>failing</a:t>
            </a:r>
            <a:r>
              <a:rPr lang="da-DK" dirty="0"/>
              <a:t> test: </a:t>
            </a:r>
            <a:r>
              <a:rPr lang="da-DK" dirty="0" err="1"/>
              <a:t>Create</a:t>
            </a:r>
            <a:r>
              <a:rPr lang="da-DK" dirty="0"/>
              <a:t> a test for a </a:t>
            </a:r>
            <a:r>
              <a:rPr lang="da-DK" dirty="0" err="1"/>
              <a:t>specific</a:t>
            </a:r>
            <a:r>
              <a:rPr lang="da-DK" dirty="0"/>
              <a:t> feature or </a:t>
            </a:r>
            <a:r>
              <a:rPr lang="da-DK" dirty="0" err="1"/>
              <a:t>functionality</a:t>
            </a:r>
            <a:r>
              <a:rPr lang="da-DK" dirty="0"/>
              <a:t> </a:t>
            </a:r>
            <a:r>
              <a:rPr lang="da-DK" dirty="0" err="1"/>
              <a:t>before</a:t>
            </a:r>
            <a:r>
              <a:rPr lang="da-DK" dirty="0"/>
              <a:t> </a:t>
            </a:r>
            <a:r>
              <a:rPr lang="da-DK" dirty="0" err="1"/>
              <a:t>writing</a:t>
            </a:r>
            <a:r>
              <a:rPr lang="da-DK" dirty="0"/>
              <a:t> </a:t>
            </a:r>
            <a:r>
              <a:rPr lang="da-DK" dirty="0" err="1"/>
              <a:t>any</a:t>
            </a:r>
            <a:r>
              <a:rPr lang="da-DK" dirty="0"/>
              <a:t> </a:t>
            </a:r>
            <a:r>
              <a:rPr lang="da-DK" dirty="0" err="1"/>
              <a:t>code</a:t>
            </a:r>
            <a:endParaRPr lang="da-DK" dirty="0"/>
          </a:p>
          <a:p>
            <a:r>
              <a:rPr lang="da-DK" dirty="0" err="1"/>
              <a:t>Implement</a:t>
            </a:r>
            <a:r>
              <a:rPr lang="da-DK" dirty="0"/>
              <a:t> the </a:t>
            </a:r>
            <a:r>
              <a:rPr lang="da-DK" dirty="0" err="1"/>
              <a:t>code</a:t>
            </a:r>
            <a:r>
              <a:rPr lang="da-DK" dirty="0"/>
              <a:t>: Write the minimal </a:t>
            </a:r>
            <a:r>
              <a:rPr lang="da-DK" dirty="0" err="1"/>
              <a:t>amount</a:t>
            </a:r>
            <a:r>
              <a:rPr lang="da-DK" dirty="0"/>
              <a:t> of </a:t>
            </a:r>
            <a:r>
              <a:rPr lang="da-DK" dirty="0" err="1"/>
              <a:t>code</a:t>
            </a:r>
            <a:r>
              <a:rPr lang="da-DK" dirty="0"/>
              <a:t> </a:t>
            </a:r>
            <a:r>
              <a:rPr lang="da-DK" dirty="0" err="1"/>
              <a:t>necessary</a:t>
            </a:r>
            <a:r>
              <a:rPr lang="da-DK" dirty="0"/>
              <a:t> to </a:t>
            </a:r>
            <a:r>
              <a:rPr lang="da-DK" dirty="0" err="1"/>
              <a:t>make</a:t>
            </a:r>
            <a:r>
              <a:rPr lang="da-DK" dirty="0"/>
              <a:t> the test </a:t>
            </a:r>
            <a:r>
              <a:rPr lang="da-DK" dirty="0" err="1"/>
              <a:t>pass</a:t>
            </a:r>
            <a:endParaRPr lang="da-DK" dirty="0"/>
          </a:p>
          <a:p>
            <a:r>
              <a:rPr lang="da-DK" dirty="0" err="1"/>
              <a:t>Refactor</a:t>
            </a:r>
            <a:r>
              <a:rPr lang="da-DK" dirty="0"/>
              <a:t>: Clean up and </a:t>
            </a:r>
            <a:r>
              <a:rPr lang="da-DK" dirty="0" err="1"/>
              <a:t>optimize</a:t>
            </a:r>
            <a:r>
              <a:rPr lang="da-DK" dirty="0"/>
              <a:t> the </a:t>
            </a:r>
            <a:r>
              <a:rPr lang="da-DK" dirty="0" err="1"/>
              <a:t>code</a:t>
            </a:r>
            <a:r>
              <a:rPr lang="da-DK" dirty="0"/>
              <a:t> </a:t>
            </a:r>
            <a:r>
              <a:rPr lang="da-DK" dirty="0" err="1"/>
              <a:t>while</a:t>
            </a:r>
            <a:r>
              <a:rPr lang="da-DK" dirty="0"/>
              <a:t> </a:t>
            </a:r>
            <a:r>
              <a:rPr lang="da-DK" dirty="0" err="1"/>
              <a:t>ensuring</a:t>
            </a:r>
            <a:r>
              <a:rPr lang="da-DK" dirty="0"/>
              <a:t> </a:t>
            </a:r>
            <a:r>
              <a:rPr lang="da-DK" dirty="0" err="1"/>
              <a:t>that</a:t>
            </a:r>
            <a:r>
              <a:rPr lang="da-DK" dirty="0"/>
              <a:t> the tests still </a:t>
            </a:r>
            <a:r>
              <a:rPr lang="da-DK" dirty="0" err="1"/>
              <a:t>pass</a:t>
            </a:r>
            <a:endParaRPr lang="da-DK" dirty="0"/>
          </a:p>
          <a:p>
            <a:r>
              <a:rPr lang="da-DK" dirty="0" err="1"/>
              <a:t>Repeat</a:t>
            </a:r>
            <a:r>
              <a:rPr lang="da-DK" dirty="0"/>
              <a:t>: </a:t>
            </a:r>
            <a:r>
              <a:rPr lang="da-DK" dirty="0" err="1"/>
              <a:t>Continue</a:t>
            </a:r>
            <a:r>
              <a:rPr lang="da-DK" dirty="0"/>
              <a:t> </a:t>
            </a:r>
            <a:r>
              <a:rPr lang="da-DK" dirty="0" err="1"/>
              <a:t>this</a:t>
            </a:r>
            <a:r>
              <a:rPr lang="da-DK" dirty="0"/>
              <a:t> </a:t>
            </a:r>
            <a:r>
              <a:rPr lang="da-DK" dirty="0" err="1"/>
              <a:t>cycle</a:t>
            </a:r>
            <a:r>
              <a:rPr lang="da-DK" dirty="0"/>
              <a:t> for </a:t>
            </a:r>
            <a:r>
              <a:rPr lang="da-DK" dirty="0" err="1"/>
              <a:t>each</a:t>
            </a:r>
            <a:r>
              <a:rPr lang="da-DK" dirty="0"/>
              <a:t> new feature or </a:t>
            </a:r>
            <a:r>
              <a:rPr lang="da-DK" dirty="0" err="1"/>
              <a:t>functionality</a:t>
            </a:r>
            <a:endParaRPr lang="en-DK" sz="500" dirty="0"/>
          </a:p>
        </p:txBody>
      </p:sp>
      <p:sp>
        <p:nvSpPr>
          <p:cNvPr id="3" name="Oval 2">
            <a:extLst>
              <a:ext uri="{FF2B5EF4-FFF2-40B4-BE49-F238E27FC236}">
                <a16:creationId xmlns:a16="http://schemas.microsoft.com/office/drawing/2014/main" id="{5C485E37-24F7-D0C6-5BBB-E9EB3B729F49}"/>
              </a:ext>
            </a:extLst>
          </p:cNvPr>
          <p:cNvSpPr/>
          <p:nvPr/>
        </p:nvSpPr>
        <p:spPr>
          <a:xfrm>
            <a:off x="5456583" y="3836504"/>
            <a:ext cx="1063487" cy="1003853"/>
          </a:xfrm>
          <a:prstGeom prst="ellipse">
            <a:avLst/>
          </a:prstGeom>
          <a:solidFill>
            <a:schemeClr val="accent1"/>
          </a:solidFill>
          <a:ln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tIns="72000" rIns="72000" bIns="72000" rtlCol="0" anchor="ctr"/>
          <a:lstStyle/>
          <a:p>
            <a:pPr algn="ctr"/>
            <a:r>
              <a:rPr lang="en-DK" sz="1600" dirty="0"/>
              <a:t>Implement</a:t>
            </a:r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916F14D8-C775-92E4-2BD9-0B46DC20160F}"/>
              </a:ext>
            </a:extLst>
          </p:cNvPr>
          <p:cNvSpPr/>
          <p:nvPr/>
        </p:nvSpPr>
        <p:spPr>
          <a:xfrm>
            <a:off x="6652591" y="5105284"/>
            <a:ext cx="1063487" cy="1003853"/>
          </a:xfrm>
          <a:prstGeom prst="ellipse">
            <a:avLst/>
          </a:prstGeom>
          <a:solidFill>
            <a:schemeClr val="accent1"/>
          </a:solidFill>
          <a:ln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tIns="72000" rIns="72000" bIns="72000" rtlCol="0" anchor="ctr"/>
          <a:lstStyle/>
          <a:p>
            <a:pPr algn="ctr"/>
            <a:r>
              <a:rPr lang="en-DK" sz="1600" dirty="0"/>
              <a:t>Refactor</a:t>
            </a:r>
          </a:p>
        </p:txBody>
      </p:sp>
      <p:sp>
        <p:nvSpPr>
          <p:cNvPr id="8" name="Oval 7">
            <a:extLst>
              <a:ext uri="{FF2B5EF4-FFF2-40B4-BE49-F238E27FC236}">
                <a16:creationId xmlns:a16="http://schemas.microsoft.com/office/drawing/2014/main" id="{BC50A823-FA20-88D6-895A-CFACB9D41BA6}"/>
              </a:ext>
            </a:extLst>
          </p:cNvPr>
          <p:cNvSpPr/>
          <p:nvPr/>
        </p:nvSpPr>
        <p:spPr>
          <a:xfrm>
            <a:off x="4287048" y="5089840"/>
            <a:ext cx="1063487" cy="1003853"/>
          </a:xfrm>
          <a:prstGeom prst="ellipse">
            <a:avLst/>
          </a:prstGeom>
          <a:solidFill>
            <a:schemeClr val="accent1"/>
          </a:solidFill>
          <a:ln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tIns="72000" rIns="72000" bIns="72000" rtlCol="0" anchor="ctr"/>
          <a:lstStyle/>
          <a:p>
            <a:pPr algn="ctr"/>
            <a:r>
              <a:rPr lang="en-DK" sz="1600" dirty="0"/>
              <a:t>Repeat</a:t>
            </a:r>
          </a:p>
        </p:txBody>
      </p:sp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EC387D05-C962-7FCE-E4D8-2277E4B2CB28}"/>
              </a:ext>
            </a:extLst>
          </p:cNvPr>
          <p:cNvCxnSpPr>
            <a:stCxn id="3" idx="5"/>
            <a:endCxn id="7" idx="1"/>
          </p:cNvCxnSpPr>
          <p:nvPr/>
        </p:nvCxnSpPr>
        <p:spPr>
          <a:xfrm>
            <a:off x="6364326" y="4693346"/>
            <a:ext cx="444009" cy="558949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D8DB848F-15C7-3F51-0749-EC7381ADE87D}"/>
              </a:ext>
            </a:extLst>
          </p:cNvPr>
          <p:cNvCxnSpPr>
            <a:stCxn id="7" idx="2"/>
            <a:endCxn id="8" idx="6"/>
          </p:cNvCxnSpPr>
          <p:nvPr/>
        </p:nvCxnSpPr>
        <p:spPr>
          <a:xfrm flipH="1" flipV="1">
            <a:off x="5350535" y="5591767"/>
            <a:ext cx="1302056" cy="15444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Straight Arrow Connector 14">
            <a:extLst>
              <a:ext uri="{FF2B5EF4-FFF2-40B4-BE49-F238E27FC236}">
                <a16:creationId xmlns:a16="http://schemas.microsoft.com/office/drawing/2014/main" id="{F2253727-237D-68F9-964C-228019678492}"/>
              </a:ext>
            </a:extLst>
          </p:cNvPr>
          <p:cNvCxnSpPr>
            <a:stCxn id="8" idx="7"/>
            <a:endCxn id="3" idx="3"/>
          </p:cNvCxnSpPr>
          <p:nvPr/>
        </p:nvCxnSpPr>
        <p:spPr>
          <a:xfrm flipV="1">
            <a:off x="5194791" y="4693346"/>
            <a:ext cx="417536" cy="543505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344790780"/>
      </p:ext>
    </p:extLst>
  </p:cSld>
  <p:clrMapOvr>
    <a:masterClrMapping/>
  </p:clrMapOvr>
</p:sld>
</file>

<file path=ppt/slides/slide9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9CBBB199-CEE7-4207-9B94-FABE54697AB5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da-DK" dirty="0"/>
              <a:t>Test-Driven Development</a:t>
            </a:r>
          </a:p>
        </p:txBody>
      </p:sp>
      <p:sp>
        <p:nvSpPr>
          <p:cNvPr id="4" name="Pladsholder til dato 3">
            <a:extLst>
              <a:ext uri="{FF2B5EF4-FFF2-40B4-BE49-F238E27FC236}">
                <a16:creationId xmlns:a16="http://schemas.microsoft.com/office/drawing/2014/main" id="{DF6BBC47-AF93-4B51-BB19-37E8FA70A1FC}"/>
              </a:ext>
            </a:extLst>
          </p:cNvPr>
          <p:cNvSpPr>
            <a:spLocks noGrp="1"/>
          </p:cNvSpPr>
          <p:nvPr>
            <p:ph type="dt" sz="half" idx="2"/>
          </p:nvPr>
        </p:nvSpPr>
        <p:spPr/>
        <p:txBody>
          <a:bodyPr/>
          <a:lstStyle/>
          <a:p>
            <a:fld id="{1D326F97-033E-40DE-A683-79560FFFFEF4}" type="datetime1">
              <a:rPr lang="en-GB" smtClean="0"/>
              <a:t>24/04/2023</a:t>
            </a:fld>
            <a:endParaRPr lang="en-GB" dirty="0"/>
          </a:p>
        </p:txBody>
      </p:sp>
      <p:sp>
        <p:nvSpPr>
          <p:cNvPr id="5" name="Pladsholder til sidefod 4">
            <a:extLst>
              <a:ext uri="{FF2B5EF4-FFF2-40B4-BE49-F238E27FC236}">
                <a16:creationId xmlns:a16="http://schemas.microsoft.com/office/drawing/2014/main" id="{0A4065D9-777F-4BC2-8DA9-0E100CD3446A}"/>
              </a:ext>
            </a:extLst>
          </p:cNvPr>
          <p:cNvSpPr>
            <a:spLocks noGrp="1"/>
          </p:cNvSpPr>
          <p:nvPr>
            <p:ph type="ftr" sz="quarter" idx="14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6" name="Pladsholder til slidenummer 5">
            <a:extLst>
              <a:ext uri="{FF2B5EF4-FFF2-40B4-BE49-F238E27FC236}">
                <a16:creationId xmlns:a16="http://schemas.microsoft.com/office/drawing/2014/main" id="{1971CA48-5488-429E-869D-06623C5E5997}"/>
              </a:ext>
            </a:extLst>
          </p:cNvPr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fld id="{45D37B1E-C366-494F-A587-962AD9AABC83}" type="slidenum">
              <a:rPr lang="en-GB" smtClean="0"/>
              <a:pPr/>
              <a:t>90</a:t>
            </a:fld>
            <a:endParaRPr lang="en-GB" dirty="0"/>
          </a:p>
        </p:txBody>
      </p:sp>
      <p:sp>
        <p:nvSpPr>
          <p:cNvPr id="10" name="Content Placeholder 9">
            <a:extLst>
              <a:ext uri="{FF2B5EF4-FFF2-40B4-BE49-F238E27FC236}">
                <a16:creationId xmlns:a16="http://schemas.microsoft.com/office/drawing/2014/main" id="{040613FC-F94A-0712-DF75-092CF5474396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414696" y="1700212"/>
            <a:ext cx="10952578" cy="4408925"/>
          </a:xfrm>
        </p:spPr>
        <p:txBody>
          <a:bodyPr/>
          <a:lstStyle/>
          <a:p>
            <a:r>
              <a:rPr lang="da-DK" dirty="0" err="1"/>
              <a:t>Benefits</a:t>
            </a:r>
            <a:r>
              <a:rPr lang="da-DK" dirty="0"/>
              <a:t> of TDD</a:t>
            </a:r>
          </a:p>
          <a:p>
            <a:endParaRPr lang="da-DK" dirty="0"/>
          </a:p>
          <a:p>
            <a:r>
              <a:rPr lang="da-DK" dirty="0" err="1"/>
              <a:t>Higher</a:t>
            </a:r>
            <a:r>
              <a:rPr lang="da-DK" dirty="0"/>
              <a:t> </a:t>
            </a:r>
            <a:r>
              <a:rPr lang="da-DK" dirty="0" err="1"/>
              <a:t>code</a:t>
            </a:r>
            <a:r>
              <a:rPr lang="da-DK" dirty="0"/>
              <a:t> </a:t>
            </a:r>
            <a:r>
              <a:rPr lang="da-DK" dirty="0" err="1"/>
              <a:t>quality</a:t>
            </a:r>
            <a:r>
              <a:rPr lang="da-DK" dirty="0"/>
              <a:t>: Writing tests </a:t>
            </a:r>
            <a:r>
              <a:rPr lang="da-DK" dirty="0" err="1"/>
              <a:t>first</a:t>
            </a:r>
            <a:r>
              <a:rPr lang="da-DK" dirty="0"/>
              <a:t> </a:t>
            </a:r>
            <a:r>
              <a:rPr lang="da-DK" dirty="0" err="1"/>
              <a:t>helps</a:t>
            </a:r>
            <a:r>
              <a:rPr lang="da-DK" dirty="0"/>
              <a:t> </a:t>
            </a:r>
            <a:r>
              <a:rPr lang="da-DK" dirty="0" err="1"/>
              <a:t>ensure</a:t>
            </a:r>
            <a:r>
              <a:rPr lang="da-DK" dirty="0"/>
              <a:t> </a:t>
            </a:r>
            <a:r>
              <a:rPr lang="da-DK" dirty="0" err="1"/>
              <a:t>code</a:t>
            </a:r>
            <a:r>
              <a:rPr lang="da-DK" dirty="0"/>
              <a:t> is </a:t>
            </a:r>
            <a:r>
              <a:rPr lang="da-DK" dirty="0" err="1"/>
              <a:t>correct</a:t>
            </a:r>
            <a:r>
              <a:rPr lang="da-DK" dirty="0"/>
              <a:t>, </a:t>
            </a:r>
            <a:r>
              <a:rPr lang="da-DK" dirty="0" err="1"/>
              <a:t>reliable</a:t>
            </a:r>
            <a:r>
              <a:rPr lang="da-DK" dirty="0"/>
              <a:t>, and efficient from the start</a:t>
            </a:r>
          </a:p>
          <a:p>
            <a:r>
              <a:rPr lang="da-DK" dirty="0" err="1"/>
              <a:t>Easier</a:t>
            </a:r>
            <a:r>
              <a:rPr lang="da-DK" dirty="0"/>
              <a:t> </a:t>
            </a:r>
            <a:r>
              <a:rPr lang="da-DK" dirty="0" err="1"/>
              <a:t>debugging</a:t>
            </a:r>
            <a:r>
              <a:rPr lang="da-DK" dirty="0"/>
              <a:t>: Tests </a:t>
            </a:r>
            <a:r>
              <a:rPr lang="da-DK" dirty="0" err="1"/>
              <a:t>pinpoint</a:t>
            </a:r>
            <a:r>
              <a:rPr lang="da-DK" dirty="0"/>
              <a:t> the source of </a:t>
            </a:r>
            <a:r>
              <a:rPr lang="da-DK" dirty="0" err="1"/>
              <a:t>any</a:t>
            </a:r>
            <a:r>
              <a:rPr lang="da-DK" dirty="0"/>
              <a:t> issues, </a:t>
            </a:r>
            <a:r>
              <a:rPr lang="da-DK" dirty="0" err="1"/>
              <a:t>making</a:t>
            </a:r>
            <a:r>
              <a:rPr lang="da-DK" dirty="0"/>
              <a:t> it </a:t>
            </a:r>
            <a:r>
              <a:rPr lang="da-DK" dirty="0" err="1"/>
              <a:t>easier</a:t>
            </a:r>
            <a:r>
              <a:rPr lang="da-DK" dirty="0"/>
              <a:t> to </a:t>
            </a:r>
            <a:r>
              <a:rPr lang="da-DK" dirty="0" err="1"/>
              <a:t>identify</a:t>
            </a:r>
            <a:r>
              <a:rPr lang="da-DK" dirty="0"/>
              <a:t> and fix bugs</a:t>
            </a:r>
          </a:p>
          <a:p>
            <a:r>
              <a:rPr lang="da-DK" dirty="0"/>
              <a:t>Faster </a:t>
            </a:r>
            <a:r>
              <a:rPr lang="da-DK" dirty="0" err="1"/>
              <a:t>development</a:t>
            </a:r>
            <a:r>
              <a:rPr lang="da-DK" dirty="0"/>
              <a:t>: TDD </a:t>
            </a:r>
            <a:r>
              <a:rPr lang="da-DK" dirty="0" err="1"/>
              <a:t>encourages</a:t>
            </a:r>
            <a:r>
              <a:rPr lang="da-DK" dirty="0"/>
              <a:t> </a:t>
            </a:r>
            <a:r>
              <a:rPr lang="da-DK" dirty="0" err="1"/>
              <a:t>breaking</a:t>
            </a:r>
            <a:r>
              <a:rPr lang="da-DK" dirty="0"/>
              <a:t> </a:t>
            </a:r>
            <a:r>
              <a:rPr lang="da-DK" dirty="0" err="1"/>
              <a:t>down</a:t>
            </a:r>
            <a:r>
              <a:rPr lang="da-DK" dirty="0"/>
              <a:t> </a:t>
            </a:r>
            <a:r>
              <a:rPr lang="da-DK" dirty="0" err="1"/>
              <a:t>complex</a:t>
            </a:r>
            <a:r>
              <a:rPr lang="da-DK" dirty="0"/>
              <a:t> features </a:t>
            </a:r>
            <a:r>
              <a:rPr lang="da-DK" dirty="0" err="1"/>
              <a:t>into</a:t>
            </a:r>
            <a:r>
              <a:rPr lang="da-DK" dirty="0"/>
              <a:t> smaller, </a:t>
            </a:r>
            <a:r>
              <a:rPr lang="da-DK" dirty="0" err="1"/>
              <a:t>manageable</a:t>
            </a:r>
            <a:r>
              <a:rPr lang="da-DK" dirty="0"/>
              <a:t> tasks, </a:t>
            </a:r>
            <a:r>
              <a:rPr lang="da-DK" dirty="0" err="1"/>
              <a:t>leading</a:t>
            </a:r>
            <a:r>
              <a:rPr lang="da-DK" dirty="0"/>
              <a:t> to </a:t>
            </a:r>
            <a:r>
              <a:rPr lang="da-DK" dirty="0" err="1"/>
              <a:t>quicker</a:t>
            </a:r>
            <a:r>
              <a:rPr lang="da-DK" dirty="0"/>
              <a:t> </a:t>
            </a:r>
            <a:r>
              <a:rPr lang="da-DK" dirty="0" err="1"/>
              <a:t>progress</a:t>
            </a:r>
            <a:endParaRPr lang="da-DK" dirty="0"/>
          </a:p>
          <a:p>
            <a:r>
              <a:rPr lang="da-DK" dirty="0" err="1"/>
              <a:t>Better</a:t>
            </a:r>
            <a:r>
              <a:rPr lang="da-DK" dirty="0"/>
              <a:t> </a:t>
            </a:r>
            <a:r>
              <a:rPr lang="da-DK" dirty="0" err="1"/>
              <a:t>collaboration</a:t>
            </a:r>
            <a:r>
              <a:rPr lang="da-DK" dirty="0"/>
              <a:t>: Tests </a:t>
            </a:r>
            <a:r>
              <a:rPr lang="da-DK" dirty="0" err="1"/>
              <a:t>serve</a:t>
            </a:r>
            <a:r>
              <a:rPr lang="da-DK" dirty="0"/>
              <a:t> as </a:t>
            </a:r>
            <a:r>
              <a:rPr lang="da-DK" dirty="0" err="1"/>
              <a:t>documentation</a:t>
            </a:r>
            <a:r>
              <a:rPr lang="da-DK" dirty="0"/>
              <a:t>, </a:t>
            </a:r>
            <a:r>
              <a:rPr lang="da-DK" dirty="0" err="1"/>
              <a:t>helping</a:t>
            </a:r>
            <a:r>
              <a:rPr lang="da-DK" dirty="0"/>
              <a:t> </a:t>
            </a:r>
            <a:r>
              <a:rPr lang="da-DK" dirty="0" err="1"/>
              <a:t>other</a:t>
            </a:r>
            <a:r>
              <a:rPr lang="da-DK" dirty="0"/>
              <a:t> developers understand the </a:t>
            </a:r>
            <a:r>
              <a:rPr lang="da-DK" dirty="0" err="1"/>
              <a:t>intended</a:t>
            </a:r>
            <a:r>
              <a:rPr lang="da-DK" dirty="0"/>
              <a:t> </a:t>
            </a:r>
            <a:r>
              <a:rPr lang="da-DK" dirty="0" err="1"/>
              <a:t>functionality</a:t>
            </a:r>
            <a:r>
              <a:rPr lang="da-DK" dirty="0"/>
              <a:t> and </a:t>
            </a:r>
            <a:r>
              <a:rPr lang="da-DK" dirty="0" err="1"/>
              <a:t>requirements</a:t>
            </a:r>
            <a:endParaRPr lang="en-DK" sz="500" dirty="0"/>
          </a:p>
        </p:txBody>
      </p:sp>
    </p:spTree>
    <p:extLst>
      <p:ext uri="{BB962C8B-B14F-4D97-AF65-F5344CB8AC3E}">
        <p14:creationId xmlns:p14="http://schemas.microsoft.com/office/powerpoint/2010/main" val="714054466"/>
      </p:ext>
    </p:extLst>
  </p:cSld>
  <p:clrMapOvr>
    <a:masterClrMapping/>
  </p:clrMapOvr>
</p:sld>
</file>

<file path=ppt/slides/slide9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9CBBB199-CEE7-4207-9B94-FABE54697AB5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da-DK" dirty="0"/>
              <a:t>Test-Driven Development</a:t>
            </a:r>
          </a:p>
        </p:txBody>
      </p:sp>
      <p:sp>
        <p:nvSpPr>
          <p:cNvPr id="4" name="Pladsholder til dato 3">
            <a:extLst>
              <a:ext uri="{FF2B5EF4-FFF2-40B4-BE49-F238E27FC236}">
                <a16:creationId xmlns:a16="http://schemas.microsoft.com/office/drawing/2014/main" id="{DF6BBC47-AF93-4B51-BB19-37E8FA70A1FC}"/>
              </a:ext>
            </a:extLst>
          </p:cNvPr>
          <p:cNvSpPr>
            <a:spLocks noGrp="1"/>
          </p:cNvSpPr>
          <p:nvPr>
            <p:ph type="dt" sz="half" idx="2"/>
          </p:nvPr>
        </p:nvSpPr>
        <p:spPr/>
        <p:txBody>
          <a:bodyPr/>
          <a:lstStyle/>
          <a:p>
            <a:fld id="{1D326F97-033E-40DE-A683-79560FFFFEF4}" type="datetime1">
              <a:rPr lang="en-GB" smtClean="0"/>
              <a:t>24/04/2023</a:t>
            </a:fld>
            <a:endParaRPr lang="en-GB" dirty="0"/>
          </a:p>
        </p:txBody>
      </p:sp>
      <p:sp>
        <p:nvSpPr>
          <p:cNvPr id="5" name="Pladsholder til sidefod 4">
            <a:extLst>
              <a:ext uri="{FF2B5EF4-FFF2-40B4-BE49-F238E27FC236}">
                <a16:creationId xmlns:a16="http://schemas.microsoft.com/office/drawing/2014/main" id="{0A4065D9-777F-4BC2-8DA9-0E100CD3446A}"/>
              </a:ext>
            </a:extLst>
          </p:cNvPr>
          <p:cNvSpPr>
            <a:spLocks noGrp="1"/>
          </p:cNvSpPr>
          <p:nvPr>
            <p:ph type="ftr" sz="quarter" idx="14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6" name="Pladsholder til slidenummer 5">
            <a:extLst>
              <a:ext uri="{FF2B5EF4-FFF2-40B4-BE49-F238E27FC236}">
                <a16:creationId xmlns:a16="http://schemas.microsoft.com/office/drawing/2014/main" id="{1971CA48-5488-429E-869D-06623C5E5997}"/>
              </a:ext>
            </a:extLst>
          </p:cNvPr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fld id="{45D37B1E-C366-494F-A587-962AD9AABC83}" type="slidenum">
              <a:rPr lang="en-GB" smtClean="0"/>
              <a:pPr/>
              <a:t>91</a:t>
            </a:fld>
            <a:endParaRPr lang="en-GB" dirty="0"/>
          </a:p>
        </p:txBody>
      </p:sp>
      <p:sp>
        <p:nvSpPr>
          <p:cNvPr id="10" name="Content Placeholder 9">
            <a:extLst>
              <a:ext uri="{FF2B5EF4-FFF2-40B4-BE49-F238E27FC236}">
                <a16:creationId xmlns:a16="http://schemas.microsoft.com/office/drawing/2014/main" id="{040613FC-F94A-0712-DF75-092CF5474396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414696" y="1700212"/>
            <a:ext cx="10952578" cy="4408925"/>
          </a:xfrm>
        </p:spPr>
        <p:txBody>
          <a:bodyPr/>
          <a:lstStyle/>
          <a:p>
            <a:r>
              <a:rPr lang="da-DK" dirty="0"/>
              <a:t>TDD Best Practices</a:t>
            </a:r>
          </a:p>
          <a:p>
            <a:endParaRPr lang="da-DK" dirty="0"/>
          </a:p>
          <a:p>
            <a:r>
              <a:rPr lang="da-DK" dirty="0"/>
              <a:t>Write small, </a:t>
            </a:r>
            <a:r>
              <a:rPr lang="da-DK" dirty="0" err="1"/>
              <a:t>focused</a:t>
            </a:r>
            <a:r>
              <a:rPr lang="da-DK" dirty="0"/>
              <a:t> tests: </a:t>
            </a:r>
            <a:r>
              <a:rPr lang="da-DK" dirty="0" err="1"/>
              <a:t>Ensure</a:t>
            </a:r>
            <a:r>
              <a:rPr lang="da-DK" dirty="0"/>
              <a:t> tests </a:t>
            </a:r>
            <a:r>
              <a:rPr lang="da-DK" dirty="0" err="1"/>
              <a:t>are</a:t>
            </a:r>
            <a:r>
              <a:rPr lang="da-DK" dirty="0"/>
              <a:t> </a:t>
            </a:r>
            <a:r>
              <a:rPr lang="da-DK" dirty="0" err="1"/>
              <a:t>specific</a:t>
            </a:r>
            <a:r>
              <a:rPr lang="da-DK" dirty="0"/>
              <a:t>, clear, and </a:t>
            </a:r>
            <a:r>
              <a:rPr lang="da-DK" dirty="0" err="1"/>
              <a:t>concise</a:t>
            </a:r>
            <a:r>
              <a:rPr lang="da-DK" dirty="0"/>
              <a:t>, </a:t>
            </a:r>
            <a:r>
              <a:rPr lang="da-DK" dirty="0" err="1"/>
              <a:t>targeting</a:t>
            </a:r>
            <a:r>
              <a:rPr lang="da-DK" dirty="0"/>
              <a:t> </a:t>
            </a:r>
            <a:r>
              <a:rPr lang="da-DK" dirty="0" err="1"/>
              <a:t>one</a:t>
            </a:r>
            <a:r>
              <a:rPr lang="da-DK" dirty="0"/>
              <a:t> </a:t>
            </a:r>
            <a:r>
              <a:rPr lang="da-DK" dirty="0" err="1"/>
              <a:t>aspect</a:t>
            </a:r>
            <a:r>
              <a:rPr lang="da-DK" dirty="0"/>
              <a:t> of </a:t>
            </a:r>
            <a:r>
              <a:rPr lang="da-DK" dirty="0" err="1"/>
              <a:t>functionality</a:t>
            </a:r>
            <a:r>
              <a:rPr lang="da-DK" dirty="0"/>
              <a:t> at a time</a:t>
            </a:r>
          </a:p>
          <a:p>
            <a:r>
              <a:rPr lang="da-DK" dirty="0"/>
              <a:t>Keep tests up to date: Update tests as </a:t>
            </a:r>
            <a:r>
              <a:rPr lang="da-DK" dirty="0" err="1"/>
              <a:t>requirements</a:t>
            </a:r>
            <a:r>
              <a:rPr lang="da-DK" dirty="0"/>
              <a:t> or </a:t>
            </a:r>
            <a:r>
              <a:rPr lang="da-DK" dirty="0" err="1"/>
              <a:t>functionality</a:t>
            </a:r>
            <a:r>
              <a:rPr lang="da-DK" dirty="0"/>
              <a:t> </a:t>
            </a:r>
            <a:r>
              <a:rPr lang="da-DK" dirty="0" err="1"/>
              <a:t>change</a:t>
            </a:r>
            <a:r>
              <a:rPr lang="da-DK" dirty="0"/>
              <a:t> to </a:t>
            </a:r>
            <a:r>
              <a:rPr lang="da-DK" dirty="0" err="1"/>
              <a:t>maintain</a:t>
            </a:r>
            <a:r>
              <a:rPr lang="da-DK" dirty="0"/>
              <a:t> </a:t>
            </a:r>
            <a:r>
              <a:rPr lang="da-DK" dirty="0" err="1"/>
              <a:t>their</a:t>
            </a:r>
            <a:r>
              <a:rPr lang="da-DK" dirty="0"/>
              <a:t> </a:t>
            </a:r>
            <a:r>
              <a:rPr lang="da-DK" dirty="0" err="1"/>
              <a:t>relevance</a:t>
            </a:r>
            <a:r>
              <a:rPr lang="da-DK" dirty="0"/>
              <a:t> and </a:t>
            </a:r>
            <a:r>
              <a:rPr lang="da-DK" dirty="0" err="1"/>
              <a:t>effectiveness</a:t>
            </a:r>
            <a:endParaRPr lang="da-DK" dirty="0"/>
          </a:p>
          <a:p>
            <a:r>
              <a:rPr lang="da-DK" dirty="0" err="1"/>
              <a:t>Prioritize</a:t>
            </a:r>
            <a:r>
              <a:rPr lang="da-DK" dirty="0"/>
              <a:t> test </a:t>
            </a:r>
            <a:r>
              <a:rPr lang="da-DK" dirty="0" err="1"/>
              <a:t>coverage</a:t>
            </a:r>
            <a:r>
              <a:rPr lang="da-DK" dirty="0"/>
              <a:t>: </a:t>
            </a:r>
            <a:r>
              <a:rPr lang="da-DK" dirty="0" err="1"/>
              <a:t>Strive</a:t>
            </a:r>
            <a:r>
              <a:rPr lang="da-DK" dirty="0"/>
              <a:t> to cover as </a:t>
            </a:r>
            <a:r>
              <a:rPr lang="da-DK" dirty="0" err="1"/>
              <a:t>much</a:t>
            </a:r>
            <a:r>
              <a:rPr lang="da-DK" dirty="0"/>
              <a:t> of the </a:t>
            </a:r>
            <a:r>
              <a:rPr lang="da-DK" dirty="0" err="1"/>
              <a:t>codebase</a:t>
            </a:r>
            <a:r>
              <a:rPr lang="da-DK" dirty="0"/>
              <a:t> as </a:t>
            </a:r>
            <a:r>
              <a:rPr lang="da-DK" dirty="0" err="1"/>
              <a:t>possible</a:t>
            </a:r>
            <a:r>
              <a:rPr lang="da-DK" dirty="0"/>
              <a:t> with tests to </a:t>
            </a:r>
            <a:r>
              <a:rPr lang="da-DK" dirty="0" err="1"/>
              <a:t>maximize</a:t>
            </a:r>
            <a:r>
              <a:rPr lang="da-DK" dirty="0"/>
              <a:t> the </a:t>
            </a:r>
            <a:r>
              <a:rPr lang="da-DK" dirty="0" err="1"/>
              <a:t>benefits</a:t>
            </a:r>
            <a:r>
              <a:rPr lang="da-DK" dirty="0"/>
              <a:t> of TDD</a:t>
            </a:r>
          </a:p>
          <a:p>
            <a:r>
              <a:rPr lang="da-DK" dirty="0" err="1"/>
              <a:t>Use</a:t>
            </a:r>
            <a:r>
              <a:rPr lang="da-DK" dirty="0"/>
              <a:t> </a:t>
            </a:r>
            <a:r>
              <a:rPr lang="da-DK" dirty="0" err="1"/>
              <a:t>automated</a:t>
            </a:r>
            <a:r>
              <a:rPr lang="da-DK" dirty="0"/>
              <a:t> </a:t>
            </a:r>
            <a:r>
              <a:rPr lang="da-DK" dirty="0" err="1"/>
              <a:t>testing</a:t>
            </a:r>
            <a:r>
              <a:rPr lang="da-DK" dirty="0"/>
              <a:t> </a:t>
            </a:r>
            <a:r>
              <a:rPr lang="da-DK" dirty="0" err="1"/>
              <a:t>tools</a:t>
            </a:r>
            <a:r>
              <a:rPr lang="da-DK" dirty="0"/>
              <a:t>: </a:t>
            </a:r>
            <a:r>
              <a:rPr lang="da-DK" dirty="0" err="1"/>
              <a:t>Utilize</a:t>
            </a:r>
            <a:r>
              <a:rPr lang="da-DK" dirty="0"/>
              <a:t> </a:t>
            </a:r>
            <a:r>
              <a:rPr lang="da-DK" dirty="0" err="1"/>
              <a:t>testing</a:t>
            </a:r>
            <a:r>
              <a:rPr lang="da-DK" dirty="0"/>
              <a:t> frameworks and </a:t>
            </a:r>
            <a:r>
              <a:rPr lang="da-DK" dirty="0" err="1"/>
              <a:t>libraries</a:t>
            </a:r>
            <a:r>
              <a:rPr lang="da-DK" dirty="0"/>
              <a:t> to </a:t>
            </a:r>
            <a:r>
              <a:rPr lang="da-DK" dirty="0" err="1"/>
              <a:t>automate</a:t>
            </a:r>
            <a:r>
              <a:rPr lang="da-DK" dirty="0"/>
              <a:t> tests and </a:t>
            </a:r>
            <a:r>
              <a:rPr lang="da-DK" dirty="0" err="1"/>
              <a:t>improve</a:t>
            </a:r>
            <a:r>
              <a:rPr lang="da-DK" dirty="0"/>
              <a:t> </a:t>
            </a:r>
            <a:r>
              <a:rPr lang="da-DK" dirty="0" err="1"/>
              <a:t>efficiency</a:t>
            </a:r>
            <a:endParaRPr lang="en-DK" sz="500" dirty="0"/>
          </a:p>
        </p:txBody>
      </p:sp>
    </p:spTree>
    <p:extLst>
      <p:ext uri="{BB962C8B-B14F-4D97-AF65-F5344CB8AC3E}">
        <p14:creationId xmlns:p14="http://schemas.microsoft.com/office/powerpoint/2010/main" val="3569231388"/>
      </p:ext>
    </p:extLst>
  </p:cSld>
  <p:clrMapOvr>
    <a:masterClrMapping/>
  </p:clrMapOvr>
</p:sld>
</file>

<file path=ppt/slides/slide9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9CBBB199-CEE7-4207-9B94-FABE54697AB5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da-DK" dirty="0"/>
              <a:t>Test-Driven Development</a:t>
            </a:r>
          </a:p>
        </p:txBody>
      </p:sp>
      <p:sp>
        <p:nvSpPr>
          <p:cNvPr id="4" name="Pladsholder til dato 3">
            <a:extLst>
              <a:ext uri="{FF2B5EF4-FFF2-40B4-BE49-F238E27FC236}">
                <a16:creationId xmlns:a16="http://schemas.microsoft.com/office/drawing/2014/main" id="{DF6BBC47-AF93-4B51-BB19-37E8FA70A1FC}"/>
              </a:ext>
            </a:extLst>
          </p:cNvPr>
          <p:cNvSpPr>
            <a:spLocks noGrp="1"/>
          </p:cNvSpPr>
          <p:nvPr>
            <p:ph type="dt" sz="half" idx="2"/>
          </p:nvPr>
        </p:nvSpPr>
        <p:spPr/>
        <p:txBody>
          <a:bodyPr/>
          <a:lstStyle/>
          <a:p>
            <a:fld id="{1D326F97-033E-40DE-A683-79560FFFFEF4}" type="datetime1">
              <a:rPr lang="en-GB" smtClean="0"/>
              <a:t>24/04/2023</a:t>
            </a:fld>
            <a:endParaRPr lang="en-GB" dirty="0"/>
          </a:p>
        </p:txBody>
      </p:sp>
      <p:sp>
        <p:nvSpPr>
          <p:cNvPr id="5" name="Pladsholder til sidefod 4">
            <a:extLst>
              <a:ext uri="{FF2B5EF4-FFF2-40B4-BE49-F238E27FC236}">
                <a16:creationId xmlns:a16="http://schemas.microsoft.com/office/drawing/2014/main" id="{0A4065D9-777F-4BC2-8DA9-0E100CD3446A}"/>
              </a:ext>
            </a:extLst>
          </p:cNvPr>
          <p:cNvSpPr>
            <a:spLocks noGrp="1"/>
          </p:cNvSpPr>
          <p:nvPr>
            <p:ph type="ftr" sz="quarter" idx="14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6" name="Pladsholder til slidenummer 5">
            <a:extLst>
              <a:ext uri="{FF2B5EF4-FFF2-40B4-BE49-F238E27FC236}">
                <a16:creationId xmlns:a16="http://schemas.microsoft.com/office/drawing/2014/main" id="{1971CA48-5488-429E-869D-06623C5E5997}"/>
              </a:ext>
            </a:extLst>
          </p:cNvPr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fld id="{45D37B1E-C366-494F-A587-962AD9AABC83}" type="slidenum">
              <a:rPr lang="en-GB" smtClean="0"/>
              <a:pPr/>
              <a:t>92</a:t>
            </a:fld>
            <a:endParaRPr lang="en-GB" dirty="0"/>
          </a:p>
        </p:txBody>
      </p:sp>
      <p:sp>
        <p:nvSpPr>
          <p:cNvPr id="10" name="Content Placeholder 9">
            <a:extLst>
              <a:ext uri="{FF2B5EF4-FFF2-40B4-BE49-F238E27FC236}">
                <a16:creationId xmlns:a16="http://schemas.microsoft.com/office/drawing/2014/main" id="{040613FC-F94A-0712-DF75-092CF5474396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414696" y="1700212"/>
            <a:ext cx="10952578" cy="4408925"/>
          </a:xfrm>
        </p:spPr>
        <p:txBody>
          <a:bodyPr/>
          <a:lstStyle/>
          <a:p>
            <a:r>
              <a:rPr lang="da-DK" dirty="0" err="1"/>
              <a:t>Popular</a:t>
            </a:r>
            <a:r>
              <a:rPr lang="da-DK" dirty="0"/>
              <a:t> TDD Frameworks and Tools</a:t>
            </a:r>
          </a:p>
          <a:p>
            <a:endParaRPr lang="da-DK" dirty="0"/>
          </a:p>
          <a:p>
            <a:r>
              <a:rPr lang="da-DK" dirty="0" err="1"/>
              <a:t>JUnit</a:t>
            </a:r>
            <a:r>
              <a:rPr lang="da-DK" dirty="0"/>
              <a:t>: A </a:t>
            </a:r>
            <a:r>
              <a:rPr lang="da-DK" dirty="0" err="1"/>
              <a:t>widely-used</a:t>
            </a:r>
            <a:r>
              <a:rPr lang="da-DK" dirty="0"/>
              <a:t> </a:t>
            </a:r>
            <a:r>
              <a:rPr lang="da-DK" dirty="0" err="1"/>
              <a:t>testing</a:t>
            </a:r>
            <a:r>
              <a:rPr lang="da-DK" dirty="0"/>
              <a:t> framework for Java </a:t>
            </a:r>
            <a:r>
              <a:rPr lang="da-DK" dirty="0" err="1"/>
              <a:t>applications</a:t>
            </a:r>
            <a:endParaRPr lang="da-DK" dirty="0"/>
          </a:p>
          <a:p>
            <a:r>
              <a:rPr lang="da-DK" dirty="0" err="1"/>
              <a:t>pytest</a:t>
            </a:r>
            <a:r>
              <a:rPr lang="da-DK" dirty="0"/>
              <a:t>: A </a:t>
            </a:r>
            <a:r>
              <a:rPr lang="da-DK" dirty="0" err="1"/>
              <a:t>powerful</a:t>
            </a:r>
            <a:r>
              <a:rPr lang="da-DK" dirty="0"/>
              <a:t> and </a:t>
            </a:r>
            <a:r>
              <a:rPr lang="da-DK" dirty="0" err="1"/>
              <a:t>flexible</a:t>
            </a:r>
            <a:r>
              <a:rPr lang="da-DK" dirty="0"/>
              <a:t> </a:t>
            </a:r>
            <a:r>
              <a:rPr lang="da-DK" dirty="0" err="1"/>
              <a:t>testing</a:t>
            </a:r>
            <a:r>
              <a:rPr lang="da-DK" dirty="0"/>
              <a:t> framework for Python </a:t>
            </a:r>
            <a:r>
              <a:rPr lang="da-DK" dirty="0" err="1"/>
              <a:t>applications</a:t>
            </a:r>
            <a:endParaRPr lang="da-DK" dirty="0"/>
          </a:p>
          <a:p>
            <a:r>
              <a:rPr lang="da-DK" dirty="0" err="1"/>
              <a:t>Mocha</a:t>
            </a:r>
            <a:r>
              <a:rPr lang="da-DK" dirty="0"/>
              <a:t>: A feature-</a:t>
            </a:r>
            <a:r>
              <a:rPr lang="da-DK" dirty="0" err="1"/>
              <a:t>rich</a:t>
            </a:r>
            <a:r>
              <a:rPr lang="da-DK" dirty="0"/>
              <a:t> JavaScript test framework for </a:t>
            </a:r>
            <a:r>
              <a:rPr lang="da-DK" dirty="0" err="1"/>
              <a:t>Node.js</a:t>
            </a:r>
            <a:r>
              <a:rPr lang="da-DK" dirty="0"/>
              <a:t> and browser </a:t>
            </a:r>
            <a:r>
              <a:rPr lang="da-DK" dirty="0" err="1"/>
              <a:t>applications</a:t>
            </a:r>
            <a:endParaRPr lang="da-DK" dirty="0"/>
          </a:p>
          <a:p>
            <a:r>
              <a:rPr lang="da-DK" dirty="0" err="1"/>
              <a:t>RSpec</a:t>
            </a:r>
            <a:r>
              <a:rPr lang="da-DK" dirty="0"/>
              <a:t>: A </a:t>
            </a:r>
            <a:r>
              <a:rPr lang="da-DK" dirty="0" err="1"/>
              <a:t>popular</a:t>
            </a:r>
            <a:r>
              <a:rPr lang="da-DK" dirty="0"/>
              <a:t> </a:t>
            </a:r>
            <a:r>
              <a:rPr lang="da-DK" dirty="0" err="1"/>
              <a:t>testing</a:t>
            </a:r>
            <a:r>
              <a:rPr lang="da-DK" dirty="0"/>
              <a:t> framework for Ruby </a:t>
            </a:r>
            <a:r>
              <a:rPr lang="da-DK" dirty="0" err="1"/>
              <a:t>applications</a:t>
            </a:r>
            <a:endParaRPr lang="en-DK" sz="500" dirty="0"/>
          </a:p>
        </p:txBody>
      </p:sp>
    </p:spTree>
    <p:extLst>
      <p:ext uri="{BB962C8B-B14F-4D97-AF65-F5344CB8AC3E}">
        <p14:creationId xmlns:p14="http://schemas.microsoft.com/office/powerpoint/2010/main" val="1526598071"/>
      </p:ext>
    </p:extLst>
  </p:cSld>
  <p:clrMapOvr>
    <a:masterClrMapping/>
  </p:clrMapOvr>
</p:sld>
</file>

<file path=ppt/slides/slide9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9CBBB199-CEE7-4207-9B94-FABE54697AB5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da-DK" dirty="0"/>
              <a:t>Test-Driven Development</a:t>
            </a:r>
          </a:p>
        </p:txBody>
      </p:sp>
      <p:sp>
        <p:nvSpPr>
          <p:cNvPr id="4" name="Pladsholder til dato 3">
            <a:extLst>
              <a:ext uri="{FF2B5EF4-FFF2-40B4-BE49-F238E27FC236}">
                <a16:creationId xmlns:a16="http://schemas.microsoft.com/office/drawing/2014/main" id="{DF6BBC47-AF93-4B51-BB19-37E8FA70A1FC}"/>
              </a:ext>
            </a:extLst>
          </p:cNvPr>
          <p:cNvSpPr>
            <a:spLocks noGrp="1"/>
          </p:cNvSpPr>
          <p:nvPr>
            <p:ph type="dt" sz="half" idx="2"/>
          </p:nvPr>
        </p:nvSpPr>
        <p:spPr/>
        <p:txBody>
          <a:bodyPr/>
          <a:lstStyle/>
          <a:p>
            <a:fld id="{1D326F97-033E-40DE-A683-79560FFFFEF4}" type="datetime1">
              <a:rPr lang="en-GB" smtClean="0"/>
              <a:t>24/04/2023</a:t>
            </a:fld>
            <a:endParaRPr lang="en-GB" dirty="0"/>
          </a:p>
        </p:txBody>
      </p:sp>
      <p:sp>
        <p:nvSpPr>
          <p:cNvPr id="5" name="Pladsholder til sidefod 4">
            <a:extLst>
              <a:ext uri="{FF2B5EF4-FFF2-40B4-BE49-F238E27FC236}">
                <a16:creationId xmlns:a16="http://schemas.microsoft.com/office/drawing/2014/main" id="{0A4065D9-777F-4BC2-8DA9-0E100CD3446A}"/>
              </a:ext>
            </a:extLst>
          </p:cNvPr>
          <p:cNvSpPr>
            <a:spLocks noGrp="1"/>
          </p:cNvSpPr>
          <p:nvPr>
            <p:ph type="ftr" sz="quarter" idx="14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6" name="Pladsholder til slidenummer 5">
            <a:extLst>
              <a:ext uri="{FF2B5EF4-FFF2-40B4-BE49-F238E27FC236}">
                <a16:creationId xmlns:a16="http://schemas.microsoft.com/office/drawing/2014/main" id="{1971CA48-5488-429E-869D-06623C5E5997}"/>
              </a:ext>
            </a:extLst>
          </p:cNvPr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fld id="{45D37B1E-C366-494F-A587-962AD9AABC83}" type="slidenum">
              <a:rPr lang="en-GB" smtClean="0"/>
              <a:pPr/>
              <a:t>93</a:t>
            </a:fld>
            <a:endParaRPr lang="en-GB" dirty="0"/>
          </a:p>
        </p:txBody>
      </p:sp>
      <p:sp>
        <p:nvSpPr>
          <p:cNvPr id="10" name="Content Placeholder 9">
            <a:extLst>
              <a:ext uri="{FF2B5EF4-FFF2-40B4-BE49-F238E27FC236}">
                <a16:creationId xmlns:a16="http://schemas.microsoft.com/office/drawing/2014/main" id="{040613FC-F94A-0712-DF75-092CF5474396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414696" y="1700212"/>
            <a:ext cx="10952578" cy="4408925"/>
          </a:xfrm>
        </p:spPr>
        <p:txBody>
          <a:bodyPr/>
          <a:lstStyle/>
          <a:p>
            <a:r>
              <a:rPr lang="da-DK" dirty="0"/>
              <a:t>Tips for </a:t>
            </a:r>
            <a:r>
              <a:rPr lang="da-DK" dirty="0" err="1"/>
              <a:t>Successful</a:t>
            </a:r>
            <a:r>
              <a:rPr lang="da-DK" dirty="0"/>
              <a:t> TDD Adoption</a:t>
            </a:r>
          </a:p>
          <a:p>
            <a:endParaRPr lang="da-DK" dirty="0"/>
          </a:p>
          <a:p>
            <a:r>
              <a:rPr lang="da-DK" dirty="0"/>
              <a:t>Start with simple tests and </a:t>
            </a:r>
            <a:r>
              <a:rPr lang="da-DK" dirty="0" err="1"/>
              <a:t>gradually</a:t>
            </a:r>
            <a:r>
              <a:rPr lang="da-DK" dirty="0"/>
              <a:t> </a:t>
            </a:r>
            <a:r>
              <a:rPr lang="da-DK" dirty="0" err="1"/>
              <a:t>increase</a:t>
            </a:r>
            <a:r>
              <a:rPr lang="da-DK" dirty="0"/>
              <a:t> </a:t>
            </a:r>
            <a:r>
              <a:rPr lang="da-DK" dirty="0" err="1"/>
              <a:t>complexity</a:t>
            </a:r>
            <a:r>
              <a:rPr lang="da-DK" dirty="0"/>
              <a:t> as </a:t>
            </a:r>
            <a:r>
              <a:rPr lang="da-DK" dirty="0" err="1"/>
              <a:t>you</a:t>
            </a:r>
            <a:r>
              <a:rPr lang="da-DK" dirty="0"/>
              <a:t> </a:t>
            </a:r>
            <a:r>
              <a:rPr lang="da-DK" dirty="0" err="1"/>
              <a:t>become</a:t>
            </a:r>
            <a:r>
              <a:rPr lang="da-DK" dirty="0"/>
              <a:t> more </a:t>
            </a:r>
            <a:r>
              <a:rPr lang="da-DK" dirty="0" err="1"/>
              <a:t>comfortable</a:t>
            </a:r>
            <a:r>
              <a:rPr lang="da-DK" dirty="0"/>
              <a:t> with TDD</a:t>
            </a:r>
          </a:p>
          <a:p>
            <a:r>
              <a:rPr lang="da-DK" dirty="0" err="1"/>
              <a:t>Encourage</a:t>
            </a:r>
            <a:r>
              <a:rPr lang="da-DK" dirty="0"/>
              <a:t> a TDD mindset </a:t>
            </a:r>
            <a:r>
              <a:rPr lang="da-DK" dirty="0" err="1"/>
              <a:t>among</a:t>
            </a:r>
            <a:r>
              <a:rPr lang="da-DK" dirty="0"/>
              <a:t> </a:t>
            </a:r>
            <a:r>
              <a:rPr lang="da-DK" dirty="0" err="1"/>
              <a:t>your</a:t>
            </a:r>
            <a:r>
              <a:rPr lang="da-DK" dirty="0"/>
              <a:t> </a:t>
            </a:r>
            <a:r>
              <a:rPr lang="da-DK" dirty="0" err="1"/>
              <a:t>development</a:t>
            </a:r>
            <a:r>
              <a:rPr lang="da-DK" dirty="0"/>
              <a:t> team by </a:t>
            </a:r>
            <a:r>
              <a:rPr lang="da-DK" dirty="0" err="1"/>
              <a:t>promoting</a:t>
            </a:r>
            <a:r>
              <a:rPr lang="da-DK" dirty="0"/>
              <a:t> </a:t>
            </a:r>
            <a:r>
              <a:rPr lang="da-DK" dirty="0" err="1"/>
              <a:t>its</a:t>
            </a:r>
            <a:r>
              <a:rPr lang="da-DK" dirty="0"/>
              <a:t> </a:t>
            </a:r>
            <a:r>
              <a:rPr lang="da-DK" dirty="0" err="1"/>
              <a:t>benefits</a:t>
            </a:r>
            <a:r>
              <a:rPr lang="da-DK" dirty="0"/>
              <a:t> and </a:t>
            </a:r>
            <a:r>
              <a:rPr lang="da-DK" dirty="0" err="1"/>
              <a:t>best</a:t>
            </a:r>
            <a:r>
              <a:rPr lang="da-DK" dirty="0"/>
              <a:t> practices</a:t>
            </a:r>
          </a:p>
          <a:p>
            <a:r>
              <a:rPr lang="da-DK" dirty="0"/>
              <a:t>Be patient and </a:t>
            </a:r>
            <a:r>
              <a:rPr lang="da-DK" dirty="0" err="1"/>
              <a:t>persistent</a:t>
            </a:r>
            <a:r>
              <a:rPr lang="da-DK" dirty="0"/>
              <a:t>, as it </a:t>
            </a:r>
            <a:r>
              <a:rPr lang="da-DK" dirty="0" err="1"/>
              <a:t>may</a:t>
            </a:r>
            <a:r>
              <a:rPr lang="da-DK" dirty="0"/>
              <a:t> </a:t>
            </a:r>
            <a:r>
              <a:rPr lang="da-DK" dirty="0" err="1"/>
              <a:t>take</a:t>
            </a:r>
            <a:r>
              <a:rPr lang="da-DK" dirty="0"/>
              <a:t> time to </a:t>
            </a:r>
            <a:r>
              <a:rPr lang="da-DK" dirty="0" err="1"/>
              <a:t>fully</a:t>
            </a:r>
            <a:r>
              <a:rPr lang="da-DK" dirty="0"/>
              <a:t> </a:t>
            </a:r>
            <a:r>
              <a:rPr lang="da-DK" dirty="0" err="1"/>
              <a:t>adopt</a:t>
            </a:r>
            <a:r>
              <a:rPr lang="da-DK" dirty="0"/>
              <a:t> and </a:t>
            </a:r>
            <a:r>
              <a:rPr lang="da-DK" dirty="0" err="1"/>
              <a:t>see</a:t>
            </a:r>
            <a:r>
              <a:rPr lang="da-DK" dirty="0"/>
              <a:t> the </a:t>
            </a:r>
            <a:r>
              <a:rPr lang="da-DK" dirty="0" err="1"/>
              <a:t>benefits</a:t>
            </a:r>
            <a:r>
              <a:rPr lang="da-DK" dirty="0"/>
              <a:t> of TDD</a:t>
            </a:r>
          </a:p>
          <a:p>
            <a:r>
              <a:rPr lang="da-DK" dirty="0" err="1"/>
              <a:t>Evaluate</a:t>
            </a:r>
            <a:r>
              <a:rPr lang="da-DK" dirty="0"/>
              <a:t> and </a:t>
            </a:r>
            <a:r>
              <a:rPr lang="da-DK" dirty="0" err="1"/>
              <a:t>refine</a:t>
            </a:r>
            <a:r>
              <a:rPr lang="da-DK" dirty="0"/>
              <a:t> </a:t>
            </a:r>
            <a:r>
              <a:rPr lang="da-DK" dirty="0" err="1"/>
              <a:t>your</a:t>
            </a:r>
            <a:r>
              <a:rPr lang="da-DK" dirty="0"/>
              <a:t> TDD </a:t>
            </a:r>
            <a:r>
              <a:rPr lang="da-DK" dirty="0" err="1"/>
              <a:t>process</a:t>
            </a:r>
            <a:r>
              <a:rPr lang="da-DK" dirty="0"/>
              <a:t> </a:t>
            </a:r>
            <a:r>
              <a:rPr lang="da-DK" dirty="0" err="1"/>
              <a:t>regularly</a:t>
            </a:r>
            <a:r>
              <a:rPr lang="da-DK" dirty="0"/>
              <a:t> to </a:t>
            </a:r>
            <a:r>
              <a:rPr lang="da-DK" dirty="0" err="1"/>
              <a:t>ensure</a:t>
            </a:r>
            <a:r>
              <a:rPr lang="da-DK" dirty="0"/>
              <a:t> </a:t>
            </a:r>
            <a:r>
              <a:rPr lang="da-DK" dirty="0" err="1"/>
              <a:t>its</a:t>
            </a:r>
            <a:r>
              <a:rPr lang="da-DK" dirty="0"/>
              <a:t> </a:t>
            </a:r>
            <a:r>
              <a:rPr lang="da-DK" dirty="0" err="1"/>
              <a:t>effectiveness</a:t>
            </a:r>
            <a:r>
              <a:rPr lang="da-DK" dirty="0"/>
              <a:t> and alignment with </a:t>
            </a:r>
            <a:r>
              <a:rPr lang="da-DK" dirty="0" err="1"/>
              <a:t>project</a:t>
            </a:r>
            <a:r>
              <a:rPr lang="da-DK" dirty="0"/>
              <a:t> </a:t>
            </a:r>
            <a:r>
              <a:rPr lang="da-DK" dirty="0" err="1"/>
              <a:t>goals</a:t>
            </a:r>
            <a:endParaRPr lang="en-DK" sz="500" dirty="0"/>
          </a:p>
        </p:txBody>
      </p:sp>
    </p:spTree>
    <p:extLst>
      <p:ext uri="{BB962C8B-B14F-4D97-AF65-F5344CB8AC3E}">
        <p14:creationId xmlns:p14="http://schemas.microsoft.com/office/powerpoint/2010/main" val="2350899038"/>
      </p:ext>
    </p:extLst>
  </p:cSld>
  <p:clrMapOvr>
    <a:masterClrMapping/>
  </p:clrMapOvr>
</p:sld>
</file>

<file path=ppt/slides/slide9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552FF25E-24BF-4225-87AB-B2869F94CB2B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da-DK"/>
          </a:p>
        </p:txBody>
      </p:sp>
      <p:sp>
        <p:nvSpPr>
          <p:cNvPr id="3" name="Pladsholder til dato 2">
            <a:extLst>
              <a:ext uri="{FF2B5EF4-FFF2-40B4-BE49-F238E27FC236}">
                <a16:creationId xmlns:a16="http://schemas.microsoft.com/office/drawing/2014/main" id="{4C93D788-8D9D-4045-B518-6692018D89DE}"/>
              </a:ext>
            </a:extLst>
          </p:cNvPr>
          <p:cNvSpPr>
            <a:spLocks noGrp="1"/>
          </p:cNvSpPr>
          <p:nvPr>
            <p:ph type="dt" sz="half" idx="2"/>
          </p:nvPr>
        </p:nvSpPr>
        <p:spPr/>
        <p:txBody>
          <a:bodyPr/>
          <a:lstStyle/>
          <a:p>
            <a:fld id="{B4C4C6FD-8607-43FF-8BC8-950EFB970BA3}" type="datetime1">
              <a:rPr lang="en-GB" smtClean="0"/>
              <a:t>24/04/2023</a:t>
            </a:fld>
            <a:endParaRPr lang="en-GB" dirty="0"/>
          </a:p>
        </p:txBody>
      </p:sp>
      <p:sp>
        <p:nvSpPr>
          <p:cNvPr id="4" name="Rektangel 3">
            <a:extLst>
              <a:ext uri="{FF2B5EF4-FFF2-40B4-BE49-F238E27FC236}">
                <a16:creationId xmlns:a16="http://schemas.microsoft.com/office/drawing/2014/main" id="{F994D39F-0217-4BCC-AD0B-429E7605B2F1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tIns="72000" rIns="72000" bIns="72000" rtlCol="0" anchor="ctr"/>
          <a:lstStyle/>
          <a:p>
            <a:pPr algn="ctr"/>
            <a:r>
              <a:rPr lang="da-DK" sz="2800" b="1" dirty="0"/>
              <a:t>Key Points</a:t>
            </a:r>
          </a:p>
        </p:txBody>
      </p:sp>
    </p:spTree>
    <p:extLst>
      <p:ext uri="{BB962C8B-B14F-4D97-AF65-F5344CB8AC3E}">
        <p14:creationId xmlns:p14="http://schemas.microsoft.com/office/powerpoint/2010/main" val="3128389589"/>
      </p:ext>
    </p:extLst>
  </p:cSld>
  <p:clrMapOvr>
    <a:masterClrMapping/>
  </p:clrMapOvr>
</p:sld>
</file>

<file path=ppt/slides/slide9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Key points</a:t>
            </a:r>
          </a:p>
        </p:txBody>
      </p:sp>
      <p:sp>
        <p:nvSpPr>
          <p:cNvPr id="5" name="Content Placeholder 4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sz="2000" dirty="0"/>
              <a:t>Test Planning and Strategy</a:t>
            </a:r>
          </a:p>
          <a:p>
            <a:pPr lvl="1"/>
            <a:r>
              <a:rPr lang="en-GB" sz="1600" dirty="0"/>
              <a:t>Develop a comprehensive test plan that covers all critical aspects of the application</a:t>
            </a:r>
          </a:p>
          <a:p>
            <a:pPr lvl="1"/>
            <a:r>
              <a:rPr lang="en-GB" sz="1600" dirty="0"/>
              <a:t>Prioritize testing based on risk, user impact, and development resources</a:t>
            </a:r>
          </a:p>
          <a:p>
            <a:r>
              <a:rPr lang="en-GB" sz="2000" dirty="0"/>
              <a:t>General Test Methods</a:t>
            </a:r>
          </a:p>
          <a:p>
            <a:pPr lvl="1"/>
            <a:r>
              <a:rPr lang="en-GB" sz="1600" dirty="0"/>
              <a:t>Utilize a variety of testing methods, such as Acceptance, Usability, Unit, End-to-End, Security, and Performance Testing, to ensure thorough coverage</a:t>
            </a:r>
          </a:p>
          <a:p>
            <a:r>
              <a:rPr lang="en-GB" sz="2000" dirty="0"/>
              <a:t>Web Application Testing</a:t>
            </a:r>
          </a:p>
          <a:p>
            <a:pPr lvl="1"/>
            <a:r>
              <a:rPr lang="en-GB" sz="1600" dirty="0"/>
              <a:t>Employ specialized testing techniques like End-to-End testing with Selenium, API testing with Postman, and Accessibility Testing with WAVE to validate web application functionality</a:t>
            </a:r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Chapter 5 System Modeling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964AD586-7C25-0244-A129-E014CC0A164A}" type="slidenum">
              <a:rPr lang="en-US" smtClean="0"/>
              <a:pPr>
                <a:defRPr/>
              </a:pPr>
              <a:t>95</a:t>
            </a:fld>
            <a:endParaRPr lang="en-US"/>
          </a:p>
        </p:txBody>
      </p:sp>
      <p:sp>
        <p:nvSpPr>
          <p:cNvPr id="6" name="Date Placeholder 5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r>
              <a:rPr lang="en-GB"/>
              <a:t>30/10/2014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20102005"/>
      </p:ext>
    </p:extLst>
  </p:cSld>
  <p:clrMapOvr>
    <a:masterClrMapping/>
  </p:clrMapOvr>
  <p:transition spd="med">
    <p:wipe dir="r"/>
  </p:transition>
</p:sld>
</file>

<file path=ppt/slides/slide9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Key points</a:t>
            </a:r>
          </a:p>
        </p:txBody>
      </p:sp>
      <p:sp>
        <p:nvSpPr>
          <p:cNvPr id="5" name="Content Placeholder 4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sz="2000" dirty="0"/>
              <a:t>Code Quality</a:t>
            </a:r>
          </a:p>
          <a:p>
            <a:pPr lvl="1"/>
            <a:r>
              <a:rPr lang="en-GB" sz="1600" dirty="0"/>
              <a:t>Incorporate code reviews and code quality testing tools to maintain high standards and prevent issues from reaching production</a:t>
            </a:r>
          </a:p>
          <a:p>
            <a:r>
              <a:rPr lang="en-GB" sz="2000" dirty="0"/>
              <a:t>Test-Driven Development (TDD)</a:t>
            </a:r>
          </a:p>
          <a:p>
            <a:pPr lvl="1"/>
            <a:r>
              <a:rPr lang="en-GB" sz="1600" dirty="0"/>
              <a:t>Adopt a TDD mindset, writing tests before implementing code to improve code quality and streamline the development process</a:t>
            </a:r>
          </a:p>
          <a:p>
            <a:r>
              <a:rPr lang="en-GB" sz="2000" dirty="0"/>
              <a:t>Accessibility Testing</a:t>
            </a:r>
          </a:p>
          <a:p>
            <a:pPr lvl="1"/>
            <a:r>
              <a:rPr lang="en-GB" sz="1600" dirty="0"/>
              <a:t>Ensure your web application is accessible to users with disabilities by following accessibility guidelines and conducting thorough testing</a:t>
            </a:r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Chapter 5 System Modeling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964AD586-7C25-0244-A129-E014CC0A164A}" type="slidenum">
              <a:rPr lang="en-US" smtClean="0"/>
              <a:pPr>
                <a:defRPr/>
              </a:pPr>
              <a:t>96</a:t>
            </a:fld>
            <a:endParaRPr lang="en-US"/>
          </a:p>
        </p:txBody>
      </p:sp>
      <p:sp>
        <p:nvSpPr>
          <p:cNvPr id="6" name="Date Placeholder 5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r>
              <a:rPr lang="en-GB"/>
              <a:t>30/10/2014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36718502"/>
      </p:ext>
    </p:extLst>
  </p:cSld>
  <p:clrMapOvr>
    <a:masterClrMapping/>
  </p:clrMapOvr>
  <p:transition spd="med">
    <p:wipe dir="r"/>
  </p:transition>
</p:sld>
</file>

<file path=ppt/slides/slide9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Key points</a:t>
            </a:r>
          </a:p>
        </p:txBody>
      </p:sp>
      <p:sp>
        <p:nvSpPr>
          <p:cNvPr id="5" name="Content Placeholder 4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sz="2000" dirty="0"/>
              <a:t>Use of Stubs</a:t>
            </a:r>
          </a:p>
          <a:p>
            <a:pPr lvl="1"/>
            <a:r>
              <a:rPr lang="en-GB" sz="1600" dirty="0"/>
              <a:t>Simplify testing and enable parallel development by using stubs to simulate external dependencies or incomplete components</a:t>
            </a:r>
          </a:p>
          <a:p>
            <a:r>
              <a:rPr lang="en-GB" sz="2000" dirty="0"/>
              <a:t>Tools and Frameworks</a:t>
            </a:r>
          </a:p>
          <a:p>
            <a:pPr lvl="1"/>
            <a:r>
              <a:rPr lang="en-GB" sz="1600" dirty="0"/>
              <a:t>Leverage popular testing tools and frameworks, such as JUnit, </a:t>
            </a:r>
            <a:r>
              <a:rPr lang="en-GB" sz="1600" dirty="0" err="1"/>
              <a:t>pytest</a:t>
            </a:r>
            <a:r>
              <a:rPr lang="en-GB" sz="1600" dirty="0"/>
              <a:t>, Mocha, </a:t>
            </a:r>
            <a:r>
              <a:rPr lang="en-GB" sz="1600" dirty="0" err="1"/>
              <a:t>RSpec</a:t>
            </a:r>
            <a:r>
              <a:rPr lang="en-GB" sz="1600" dirty="0"/>
              <a:t>, Selenium, Postman, and WAVE, to automate and streamline testing efforts</a:t>
            </a:r>
          </a:p>
          <a:p>
            <a:r>
              <a:rPr lang="en-GB" sz="2000" dirty="0"/>
              <a:t>Continuous Improvement</a:t>
            </a:r>
          </a:p>
          <a:p>
            <a:pPr lvl="1"/>
            <a:r>
              <a:rPr lang="en-GB" sz="1600" dirty="0"/>
              <a:t>Regularly evaluate and refine your testing process to ensure its effectiveness and alignment with project goals</a:t>
            </a:r>
          </a:p>
          <a:p>
            <a:pPr lvl="1"/>
            <a:r>
              <a:rPr lang="en-GB" sz="1600" dirty="0"/>
              <a:t>Foster a culture of collaboration and open communication between developers, testers, and stakeholders to ensure high-quality software</a:t>
            </a:r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Chapter 5 System Modeling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964AD586-7C25-0244-A129-E014CC0A164A}" type="slidenum">
              <a:rPr lang="en-US" smtClean="0"/>
              <a:pPr>
                <a:defRPr/>
              </a:pPr>
              <a:t>97</a:t>
            </a:fld>
            <a:endParaRPr lang="en-US"/>
          </a:p>
        </p:txBody>
      </p:sp>
      <p:sp>
        <p:nvSpPr>
          <p:cNvPr id="6" name="Date Placeholder 5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r>
              <a:rPr lang="en-GB"/>
              <a:t>30/10/2014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07023212"/>
      </p:ext>
    </p:extLst>
  </p:cSld>
  <p:clrMapOvr>
    <a:masterClrMapping/>
  </p:clrMapOvr>
  <p:transition spd="med">
    <p:wipe dir="r"/>
  </p:transition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EMPLAFYSLIDEID" val="a56b0fb8-d552-4215-bd97-31ad12d99a5c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EMPLAFYSLIDEID" val="a56b0fb8-d552-4215-bd97-31ad12d99a5c"/>
</p:tagLst>
</file>

<file path=ppt/theme/theme1.xml><?xml version="1.0" encoding="utf-8"?>
<a:theme xmlns:a="http://schemas.openxmlformats.org/drawingml/2006/main" name="Blank">
  <a:themeElements>
    <a:clrScheme name="SDU">
      <a:dk1>
        <a:srgbClr val="000000"/>
      </a:dk1>
      <a:lt1>
        <a:srgbClr val="FFFFFF"/>
      </a:lt1>
      <a:dk2>
        <a:srgbClr val="7A6040"/>
      </a:dk2>
      <a:lt2>
        <a:srgbClr val="DDCBA4"/>
      </a:lt2>
      <a:accent1>
        <a:srgbClr val="AEB862"/>
      </a:accent1>
      <a:accent2>
        <a:srgbClr val="789D4A"/>
      </a:accent2>
      <a:accent3>
        <a:srgbClr val="F2C75C"/>
      </a:accent3>
      <a:accent4>
        <a:srgbClr val="E07E3C"/>
      </a:accent4>
      <a:accent5>
        <a:srgbClr val="E1BBB4"/>
      </a:accent5>
      <a:accent6>
        <a:srgbClr val="D05A57"/>
      </a:accent6>
      <a:hlink>
        <a:srgbClr val="0563C1"/>
      </a:hlink>
      <a:folHlink>
        <a:srgbClr val="954F72"/>
      </a:folHlink>
    </a:clrScheme>
    <a:fontScheme name="SDU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chemeClr val="accent1"/>
        </a:solidFill>
        <a:ln>
          <a:solidFill>
            <a:schemeClr val="accent1"/>
          </a:solidFill>
        </a:ln>
      </a:spPr>
      <a:bodyPr lIns="72000" tIns="72000" rIns="72000" bIns="72000" rtlCol="0" anchor="ctr"/>
      <a:lstStyle>
        <a:defPPr algn="ctr">
          <a:defRPr sz="1600" dirty="0" err="1"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>
          <a:solidFill>
            <a:schemeClr val="tx1"/>
          </a:solidFill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noFill/>
      </a:spPr>
      <a:bodyPr wrap="square" lIns="0" tIns="0" rIns="0" bIns="0" rtlCol="0">
        <a:spAutoFit/>
      </a:bodyPr>
      <a:lstStyle>
        <a:defPPr>
          <a:defRPr sz="1600" dirty="0" err="1"/>
        </a:defPPr>
      </a:lstStyle>
    </a:txDef>
  </a:objectDefaults>
  <a:extraClrSchemeLst/>
  <a:custClrLst>
    <a:custClr name="Grøn 1">
      <a:srgbClr val="4E5B31"/>
    </a:custClr>
    <a:custClr name="Grøn 2">
      <a:srgbClr val="789D4A"/>
    </a:custClr>
    <a:custClr name="Grøn 3">
      <a:srgbClr val="AEB862"/>
    </a:custClr>
    <a:custClr name="Grøn 4">
      <a:srgbClr val="EAE7B9"/>
    </a:custClr>
    <a:custClr name="Color has no name">
      <a:srgbClr val="FFFFFF"/>
    </a:custClr>
    <a:custClr name="Color has no name">
      <a:srgbClr val="FFFFFF"/>
    </a:custClr>
    <a:custClr name="Color has no name">
      <a:srgbClr val="FFFFFF"/>
    </a:custClr>
    <a:custClr name="Color has no name">
      <a:srgbClr val="FFFFFF"/>
    </a:custClr>
    <a:custClr name="Color has no name">
      <a:srgbClr val="FFFFFF"/>
    </a:custClr>
    <a:custClr name="Color has no name">
      <a:srgbClr val="FFFFFF"/>
    </a:custClr>
    <a:custClr name="Orange 1">
      <a:srgbClr val="D38235"/>
    </a:custClr>
    <a:custClr name="Orange 2">
      <a:srgbClr val="E0A526"/>
    </a:custClr>
    <a:custClr name="Orange 3">
      <a:srgbClr val="EED484"/>
    </a:custClr>
    <a:custClr name="Orange 4">
      <a:srgbClr val="FCF0C4"/>
    </a:custClr>
    <a:custClr name="Color has no name">
      <a:srgbClr val="FFFFFF"/>
    </a:custClr>
    <a:custClr name="Color has no name">
      <a:srgbClr val="FFFFFF"/>
    </a:custClr>
    <a:custClr name="Color has no name">
      <a:srgbClr val="FFFFFF"/>
    </a:custClr>
    <a:custClr name="Color has no name">
      <a:srgbClr val="FFFFFF"/>
    </a:custClr>
    <a:custClr name="Color has no name">
      <a:srgbClr val="FFFFFF"/>
    </a:custClr>
    <a:custClr name="Color has no name">
      <a:srgbClr val="FFFFFF"/>
    </a:custClr>
    <a:custClr name="Rød 1">
      <a:srgbClr val="862633"/>
    </a:custClr>
    <a:custClr name="Rød 2">
      <a:srgbClr val="D05A57"/>
    </a:custClr>
    <a:custClr name="Rød 3">
      <a:srgbClr val="E1BBB4"/>
    </a:custClr>
    <a:custClr name="Rød 4">
      <a:srgbClr val="F4E2DE"/>
    </a:custClr>
    <a:custClr name="Color has no name">
      <a:srgbClr val="FFFFFF"/>
    </a:custClr>
    <a:custClr name="Color has no name">
      <a:srgbClr val="FFFFFF"/>
    </a:custClr>
    <a:custClr name="Color has no name">
      <a:srgbClr val="FFFFFF"/>
    </a:custClr>
    <a:custClr name="Color has no name">
      <a:srgbClr val="FFFFFF"/>
    </a:custClr>
    <a:custClr name="Color has no name">
      <a:srgbClr val="FFFFFF"/>
    </a:custClr>
    <a:custClr name="Color has no name">
      <a:srgbClr val="FFFFFF"/>
    </a:custClr>
    <a:custClr name="Brun 1">
      <a:srgbClr val="473729"/>
    </a:custClr>
    <a:custClr name="Brun 2">
      <a:srgbClr val="946037"/>
    </a:custClr>
    <a:custClr name="Brun 3">
      <a:srgbClr val="DDCBA4"/>
    </a:custClr>
    <a:custClr name="Brun 4">
      <a:srgbClr val="EFE5D1"/>
    </a:custClr>
    <a:custClr name="Color has no name">
      <a:srgbClr val="FFFFFF"/>
    </a:custClr>
    <a:custClr name="Color has no name">
      <a:srgbClr val="FFFFFF"/>
    </a:custClr>
    <a:custClr name="Color has no name">
      <a:srgbClr val="FFFFFF"/>
    </a:custClr>
    <a:custClr name="Color has no name">
      <a:srgbClr val="FFFFFF"/>
    </a:custClr>
    <a:custClr name="Color has no name">
      <a:srgbClr val="FFFFFF"/>
    </a:custClr>
    <a:custClr name="Color has no name">
      <a:srgbClr val="FFFFFF"/>
    </a:custClr>
    <a:custClr name="Sort">
      <a:srgbClr val="000000"/>
    </a:custClr>
    <a:custClr name="Hvid">
      <a:srgbClr val="FFFFFF"/>
    </a:custClr>
  </a:custClrLst>
  <a:extLst>
    <a:ext uri="{05A4C25C-085E-4340-85A3-A5531E510DB2}">
      <thm15:themeFamily xmlns:thm15="http://schemas.microsoft.com/office/thememl/2012/main" name="SDU widescreen.potx" id="{1C4F8E8D-0334-4267-96F7-9CAC143C1229}" vid="{6887ADA9-E5D5-4F4B-ACE2-4324069191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custClrLst>
    <a:custClr name="Grøn 1">
      <a:srgbClr val="4E5B31"/>
    </a:custClr>
    <a:custClr name="Grøn 2">
      <a:srgbClr val="789D4A"/>
    </a:custClr>
    <a:custClr name="Grøn 3">
      <a:srgbClr val="AEB862"/>
    </a:custClr>
    <a:custClr name="Grøn 4">
      <a:srgbClr val="EAE7B9"/>
    </a:custClr>
    <a:custClr name="Color has no name">
      <a:srgbClr val="FFFFFF"/>
    </a:custClr>
    <a:custClr name="Color has no name">
      <a:srgbClr val="FFFFFF"/>
    </a:custClr>
    <a:custClr name="Color has no name">
      <a:srgbClr val="FFFFFF"/>
    </a:custClr>
    <a:custClr name="Color has no name">
      <a:srgbClr val="FFFFFF"/>
    </a:custClr>
    <a:custClr name="Color has no name">
      <a:srgbClr val="FFFFFF"/>
    </a:custClr>
    <a:custClr name="Color has no name">
      <a:srgbClr val="FFFFFF"/>
    </a:custClr>
    <a:custClr name="Orange 1">
      <a:srgbClr val="D38235"/>
    </a:custClr>
    <a:custClr name="Orange 2">
      <a:srgbClr val="E0A526"/>
    </a:custClr>
    <a:custClr name="Orange 3">
      <a:srgbClr val="EED484"/>
    </a:custClr>
    <a:custClr name="Orange 4">
      <a:srgbClr val="FCF0C4"/>
    </a:custClr>
    <a:custClr name="Color has no name">
      <a:srgbClr val="FFFFFF"/>
    </a:custClr>
    <a:custClr name="Color has no name">
      <a:srgbClr val="FFFFFF"/>
    </a:custClr>
    <a:custClr name="Color has no name">
      <a:srgbClr val="FFFFFF"/>
    </a:custClr>
    <a:custClr name="Color has no name">
      <a:srgbClr val="FFFFFF"/>
    </a:custClr>
    <a:custClr name="Color has no name">
      <a:srgbClr val="FFFFFF"/>
    </a:custClr>
    <a:custClr name="Color has no name">
      <a:srgbClr val="FFFFFF"/>
    </a:custClr>
    <a:custClr name="Rød 1">
      <a:srgbClr val="862633"/>
    </a:custClr>
    <a:custClr name="Rød 2">
      <a:srgbClr val="D05A57"/>
    </a:custClr>
    <a:custClr name="Rød 3">
      <a:srgbClr val="E1BBB4"/>
    </a:custClr>
    <a:custClr name="Rød 4">
      <a:srgbClr val="F4E2DE"/>
    </a:custClr>
    <a:custClr name="Color has no name">
      <a:srgbClr val="FFFFFF"/>
    </a:custClr>
    <a:custClr name="Color has no name">
      <a:srgbClr val="FFFFFF"/>
    </a:custClr>
    <a:custClr name="Color has no name">
      <a:srgbClr val="FFFFFF"/>
    </a:custClr>
    <a:custClr name="Color has no name">
      <a:srgbClr val="FFFFFF"/>
    </a:custClr>
    <a:custClr name="Color has no name">
      <a:srgbClr val="FFFFFF"/>
    </a:custClr>
    <a:custClr name="Color has no name">
      <a:srgbClr val="FFFFFF"/>
    </a:custClr>
    <a:custClr name="Brun 1">
      <a:srgbClr val="473729"/>
    </a:custClr>
    <a:custClr name="Brun 2">
      <a:srgbClr val="946037"/>
    </a:custClr>
    <a:custClr name="Brun 3">
      <a:srgbClr val="DDCBA4"/>
    </a:custClr>
    <a:custClr name="Brun 4">
      <a:srgbClr val="EFE5D1"/>
    </a:custClr>
    <a:custClr name="Color has no name">
      <a:srgbClr val="FFFFFF"/>
    </a:custClr>
    <a:custClr name="Color has no name">
      <a:srgbClr val="FFFFFF"/>
    </a:custClr>
    <a:custClr name="Color has no name">
      <a:srgbClr val="FFFFFF"/>
    </a:custClr>
    <a:custClr name="Color has no name">
      <a:srgbClr val="FFFFFF"/>
    </a:custClr>
    <a:custClr name="Color has no name">
      <a:srgbClr val="FFFFFF"/>
    </a:custClr>
    <a:custClr name="Color has no name">
      <a:srgbClr val="FFFFFF"/>
    </a:custClr>
    <a:custClr name="Sort">
      <a:srgbClr val="000000"/>
    </a:custClr>
    <a:custClr name="Hvid">
      <a:srgbClr val="FFFFFF"/>
    </a:custClr>
  </a:custClr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_rels/item4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4.xml"/></Relationships>
</file>

<file path=customXml/_rels/item5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5.xml"/></Relationships>
</file>

<file path=customXml/_rels/item6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6.xml"/></Relationships>
</file>

<file path=customXml/_rels/item7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7.xml"/></Relationships>
</file>

<file path=customXml/_rels/item8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8.xml"/></Relationships>
</file>

<file path=customXml/_rels/item9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9.xml"/></Relationships>
</file>

<file path=customXml/_rels/item10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0.xml"/></Relationships>
</file>

<file path=customXml/_rels/item1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1.xml"/></Relationships>
</file>

<file path=customXml/_rels/item1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2.xml"/></Relationships>
</file>

<file path=customXml/_rels/item1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3.xml"/></Relationships>
</file>

<file path=customXml/_rels/item14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4.xml"/></Relationships>
</file>

<file path=customXml/_rels/item15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5.xml"/></Relationships>
</file>

<file path=customXml/_rels/item16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6.xml"/></Relationships>
</file>

<file path=customXml/_rels/item17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7.xml"/></Relationships>
</file>

<file path=customXml/_rels/item18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8.xml"/></Relationships>
</file>

<file path=customXml/_rels/item19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9.xml"/></Relationships>
</file>

<file path=customXml/_rels/item20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0.xml"/></Relationships>
</file>

<file path=customXml/_rels/item2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1.xml"/></Relationships>
</file>

<file path=customXml/_rels/item2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2.xml"/></Relationships>
</file>

<file path=customXml/_rels/item2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3.xml"/></Relationships>
</file>

<file path=customXml/_rels/item24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4.xml"/></Relationships>
</file>

<file path=customXml/_rels/item25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5.xml"/></Relationships>
</file>

<file path=customXml/_rels/item26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6.xml"/></Relationships>
</file>

<file path=customXml/_rels/item27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7.xml"/></Relationships>
</file>

<file path=customXml/_rels/item28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8.xml"/></Relationships>
</file>

<file path=customXml/_rels/item29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9.xml"/></Relationships>
</file>

<file path=customXml/_rels/item30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0.xml"/></Relationships>
</file>

<file path=customXml/_rels/item3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1.xml"/></Relationships>
</file>

<file path=customXml/_rels/item3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2.xml"/></Relationships>
</file>

<file path=customXml/item1.xml><?xml version="1.0" encoding="utf-8"?>
<TemplafySlideTemplateConfiguration><![CDATA[{"documentContentValidatorConfiguration":{"enableDocumentContentValidator":false,"documentContentValidatorVersion":0},"elementsMetadata":[],"slideId":"636891895636636524","enableDocumentContentUpdater":true,"version":"1.3"}]]></TemplafySlideTemplateConfiguration>
</file>

<file path=customXml/item2.xml><?xml version="1.0" encoding="utf-8"?>
<TemplafySlideTemplateConfiguration><![CDATA[{"documentContentValidatorConfiguration":{"enableDocumentContentValidator":false,"documentContentValidatorVersion":0},"elementsMetadata":[],"slideId":"636891895634292863","enableDocumentContentUpdater":true,"version":"1.3"}]]></TemplafySlideTemplateConfiguration>
</file>

<file path=customXml/item3.xml><?xml version="1.0" encoding="utf-8"?>
<TemplafySlideTemplateConfiguration><![CDATA[{"documentContentValidatorConfiguration":{"enableDocumentContentValidator":false,"documentContentValidatorVersion":0},"elementsMetadata":[],"slideId":"636891895636949350","enableDocumentContentUpdater":true,"version":"1.3"}]]></TemplafySlideTemplateConfiguration>
</file>

<file path=customXml/item4.xml><?xml version="1.0" encoding="utf-8"?>
<TemplafySlideFormConfiguration><![CDATA[{"formFields":[],"formDataEntries":[]}]]></TemplafySlideFormConfiguration>
</file>

<file path=customXml/item5.xml><?xml version="1.0" encoding="utf-8"?>
<TemplafySlideTemplateConfiguration><![CDATA[{"documentContentValidatorConfiguration":{"enableDocumentContentValidator":false,"documentContentValidatorVersion":0},"elementsMetadata":[],"slideId":"636891895635073635","enableDocumentContentUpdater":true,"version":"1.3"}]]></TemplafySlideTemplateConfiguration>
</file>

<file path=customXml/item6.xml><?xml version="1.0" encoding="utf-8"?>
<TemplafySlideFormConfiguration><![CDATA[{"formFields":[],"formDataEntries":[]}]]></TemplafySlideFormConfiguration>
</file>

<file path=customXml/item7.xml><?xml version="1.0" encoding="utf-8"?>
<TemplafySlideTemplateConfiguration><![CDATA[{"documentContentValidatorConfiguration":{"enableDocumentContentValidator":false,"documentContentValidatorVersion":0},"elementsMetadata":[],"slideId":"636891895634761137","enableDocumentContentUpdater":true,"version":"1.3"}]]></TemplafySlideTemplateConfiguration>
</file>

<file path=customXml/item8.xml><?xml version="1.0" encoding="utf-8"?>
<TemplafyTemplateConfiguration><![CDATA[{"elementsMetadata":[{"type":"shape","id":"d572fa25-8edd-43b8-9b55-27d872b6b1fc","elementConfiguration":{"format":"{{DateFormats.MonthYear}}","binding":"Form.Date","disableUpdates":false,"type":"date"}},{"type":"shape","id":"bbb50dc8-a7c0-4554-930d-663460fed123","elementConfiguration":{"binding":"UserProfile.Institut.InstituteDCU_{{DocumentLanguage}}","disableUpdates":false,"type":"text"}},{"type":"shape","id":"f39ab476-473e-4cbc-a735-08e8467cfb7b","elementConfiguration":{"binding":"UserProfile.Institut.InstituteDCU_{{DocumentLanguage}}","disableUpdates":false,"type":"text"}},{"type":"shape","id":"8f4f5ab2-38ae-4794-9556-95edf115af0a","elementConfiguration":{"format":"{{DateFormats.MonthYear}}","binding":"Form.Date","disableUpdates":false,"type":"date"}},{"type":"shape","id":"535c2e69-01e7-4dce-95a6-4de9d99d38ac","elementConfiguration":{"binding":"UserProfile.Institut.InstituteDCU_{{DocumentLanguage}}","disableUpdates":false,"type":"text"}},{"type":"shape","id":"4580039a-6a0b-47c3-8582-fb9e2e105f97","elementConfiguration":{"format":"{{DateFormats.MonthYear}}","binding":"Form.Date","disableUpdates":false,"type":"date"}},{"type":"shape","id":"9e66ba45-e00c-4751-bf02-a4956d240516","elementConfiguration":{"binding":"UserProfile.Institut.InstituteDCU_{{DocumentLanguage}}","disableUpdates":false,"type":"text"}},{"type":"shape","id":"e93eeae9-b581-4184-9cc7-9a0f9897d348","elementConfiguration":{"format":"{{DateFormats.MonthYear}}","binding":"Form.Date","disableUpdates":false,"type":"date"}},{"type":"shape","id":"b451176b-5c0c-4d4d-9060-3837f3de11a8","elementConfiguration":{"format":"{{DateFormats.MonthYear}}","binding":"Form.Date","disableUpdates":false,"type":"date"}},{"type":"shape","id":"c68689c9-e668-4c96-a109-f982a524f861","elementConfiguration":{"binding":"UserProfile.Institut.InstituteDCU_{{DocumentLanguage}}","disableUpdates":false,"type":"text"}},{"type":"shape","id":"c5e3364f-695b-4164-8ae0-df0baedf3be1","elementConfiguration":{"binding":"UserProfile.Institut.InstituteDCU_{{DocumentLanguage}}","disableUpdates":false,"type":"text"}},{"type":"shape","id":"19392b15-c614-4755-aea8-28d38b6bbe91","elementConfiguration":{"binding":"UserProfile.Institut.InstituteDCU_{{DocumentLanguage}}","disableUpdates":false,"type":"text"}},{"type":"shape","id":"7c8a4e8f-f1eb-4af7-b254-c88f4a86ec48","elementConfiguration":{"format":"{{DateFormats.MonthYear}}","binding":"Form.Date","disableUpdates":false,"type":"date"}}],"transformationConfigurations":[{"language":"{{DocumentLanguage}}","disableUpdates":false,"type":"proofingLanguage"}],"templateName":"SDU widescreen 16:9 template","templateDescription":"Tom bredformat skabelon til Powerpoint med enhed, dato og links","enableDocumentContentUpdater":true,"version":"1.3"}]]></TemplafyTemplateConfiguration>
</file>

<file path=customXml/item9.xml><?xml version="1.0" encoding="utf-8"?>
<TemplafySlideTemplateConfiguration><![CDATA[{"documentContentValidatorConfiguration":{"enableDocumentContentValidator":false,"documentContentValidatorVersion":0},"elementsMetadata":[],"slideId":"636891895634292863","enableDocumentContentUpdater":true,"version":"1.3"}]]></TemplafySlideTemplateConfiguration>
</file>

<file path=customXml/item10.xml><?xml version="1.0" encoding="utf-8"?>
<TemplafySlideFormConfiguration><![CDATA[{"formFields":[],"formDataEntries":[]}]]></TemplafySlideFormConfiguration>
</file>

<file path=customXml/item11.xml><?xml version="1.0" encoding="utf-8"?>
<TemplafySlideFormConfiguration><![CDATA[{"formFields":[],"formDataEntries":[]}]]></TemplafySlideFormConfiguration>
</file>

<file path=customXml/item12.xml><?xml version="1.0" encoding="utf-8"?>
<TemplafySlideTemplateConfiguration><![CDATA[{"documentContentValidatorConfiguration":{"enableDocumentContentValidator":false,"documentContentValidatorVersion":0},"elementsMetadata":[],"slideId":"636891895634292862","enableDocumentContentUpdater":true,"version":"1.3"}]]></TemplafySlideTemplateConfiguration>
</file>

<file path=customXml/item13.xml><?xml version="1.0" encoding="utf-8"?>
<TemplafySlideFormConfiguration><![CDATA[{"formFields":[],"formDataEntries":[]}]]></TemplafySlideFormConfiguration>
</file>

<file path=customXml/item14.xml><?xml version="1.0" encoding="utf-8"?>
<TemplafySlideFormConfiguration><![CDATA[{"formFields":[],"formDataEntries":[]}]]></TemplafySlideFormConfiguration>
</file>

<file path=customXml/item15.xml><?xml version="1.0" encoding="utf-8"?>
<TemplafySlideFormConfiguration><![CDATA[{"formFields":[],"formDataEntries":[]}]]></TemplafySlideFormConfiguration>
</file>

<file path=customXml/item16.xml><?xml version="1.0" encoding="utf-8"?>
<TemplafySlideTemplateConfiguration><![CDATA[{"documentContentValidatorConfiguration":{"enableDocumentContentValidator":false,"documentContentValidatorVersion":0},"elementsMetadata":[],"slideId":"636891895637261154","enableDocumentContentUpdater":true,"version":"1.3"}]]></TemplafySlideTemplateConfiguration>
</file>

<file path=customXml/item17.xml><?xml version="1.0" encoding="utf-8"?>
<TemplafySlideTemplateConfiguration><![CDATA[{"documentContentValidatorConfiguration":{"enableDocumentContentValidator":false,"documentContentValidatorVersion":0},"elementsMetadata":[],"slideId":"636891895636479881","enableDocumentContentUpdater":true,"version":"1.3"}]]></TemplafySlideTemplateConfiguration>
</file>

<file path=customXml/item18.xml><?xml version="1.0" encoding="utf-8"?>
<TemplafyFormConfiguration><![CDATA[{"formFields":[{"required":false,"type":"datePicker","name":"Date","label":"Date","helpTexts":{"prefix":"","postfix":""},"spacing":{},"fullyQualifiedName":"Date"}],"formDataEntries":[{"name":"Date","value":"2Ix+bEfKiBgFPlbzHV5hwA=="}]}]]></TemplafyFormConfiguration>
</file>

<file path=customXml/item19.xml><?xml version="1.0" encoding="utf-8"?>
<TemplafySlideFormConfiguration><![CDATA[{"formFields":[],"formDataEntries":[]}]]></TemplafySlideFormConfiguration>
</file>

<file path=customXml/item20.xml><?xml version="1.0" encoding="utf-8"?>
<TemplafySlideFormConfiguration><![CDATA[{"formFields":[],"formDataEntries":[]}]]></TemplafySlideFormConfiguration>
</file>

<file path=customXml/item21.xml><?xml version="1.0" encoding="utf-8"?>
<TemplafySlideTemplateConfiguration><![CDATA[{"documentContentValidatorConfiguration":{"enableDocumentContentValidator":false,"documentContentValidatorVersion":0},"elementsMetadata":[],"slideId":"636891895636167766","enableDocumentContentUpdater":true,"version":"1.3"}]]></TemplafySlideTemplateConfiguration>
</file>

<file path=customXml/item22.xml><?xml version="1.0" encoding="utf-8"?>
<TemplafySlideTemplateConfiguration><![CDATA[{"documentContentValidatorConfiguration":{"enableDocumentContentValidator":false,"documentContentValidatorVersion":0},"elementsMetadata":[],"slideId":"636891895637105316","enableDocumentContentUpdater":true,"version":"1.3"}]]></TemplafySlideTemplateConfiguration>
</file>

<file path=customXml/item23.xml><?xml version="1.0" encoding="utf-8"?>
<TemplafySlideTemplateConfiguration><![CDATA[{"documentContentValidatorConfiguration":{"enableDocumentContentValidator":false,"documentContentValidatorVersion":0},"elementsMetadata":[],"slideId":"636891895635699094","enableDocumentContentUpdater":true,"version":"1.3"}]]></TemplafySlideTemplateConfiguration>
</file>

<file path=customXml/item24.xml><?xml version="1.0" encoding="utf-8"?>
<TemplafySlideFormConfiguration><![CDATA[{"formFields":[],"formDataEntries":[]}]]></TemplafySlideFormConfiguration>
</file>

<file path=customXml/item25.xml><?xml version="1.0" encoding="utf-8"?>
<TemplafySlideTemplateConfiguration><![CDATA[{"documentContentValidatorConfiguration":{"enableDocumentContentValidator":false,"documentContentValidatorVersion":0},"elementsMetadata":[],"slideId":"636891895635386589","enableDocumentContentUpdater":true,"version":"1.3"}]]></TemplafySlideTemplateConfiguration>
</file>

<file path=customXml/item26.xml><?xml version="1.0" encoding="utf-8"?>
<TemplafySlideFormConfiguration><![CDATA[{"formFields":[],"formDataEntries":[]}]]></TemplafySlideFormConfiguration>
</file>

<file path=customXml/item27.xml><?xml version="1.0" encoding="utf-8"?>
<TemplafySlideFormConfiguration><![CDATA[{"formFields":[],"formDataEntries":[]}]]></TemplafySlideFormConfiguration>
</file>

<file path=customXml/item28.xml><?xml version="1.0" encoding="utf-8"?>
<TemplafySlideFormConfiguration><![CDATA[{"formFields":[],"formDataEntries":[]}]]></TemplafySlideFormConfiguration>
</file>

<file path=customXml/item29.xml><?xml version="1.0" encoding="utf-8"?>
<TemplafySlideTemplateConfiguration><![CDATA[{"documentContentValidatorConfiguration":{"enableDocumentContentValidator":false,"documentContentValidatorVersion":0},"elementsMetadata":[],"slideId":"636891895636792758","enableDocumentContentUpdater":true,"version":"1.3"}]]></TemplafySlideTemplateConfiguration>
</file>

<file path=customXml/item30.xml><?xml version="1.0" encoding="utf-8"?>
<TemplafySlideFormConfiguration><![CDATA[{"formFields":[],"formDataEntries":[]}]]></TemplafySlideFormConfiguration>
</file>

<file path=customXml/item31.xml><?xml version="1.0" encoding="utf-8"?>
<TemplafySlideTemplateConfiguration><![CDATA[{"documentContentValidatorConfiguration":{"enableDocumentContentValidator":false,"documentContentValidatorVersion":0},"elementsMetadata":[],"slideId":"636891895636011205","enableDocumentContentUpdater":true,"version":"1.3"}]]></TemplafySlideTemplateConfiguration>
</file>

<file path=customXml/item32.xml><?xml version="1.0" encoding="utf-8"?>
<TemplafySlideFormConfiguration><![CDATA[{"formFields":[],"formDataEntries":[]}]]></TemplafySlideFormConfiguration>
</file>

<file path=customXml/itemProps1.xml><?xml version="1.0" encoding="utf-8"?>
<ds:datastoreItem xmlns:ds="http://schemas.openxmlformats.org/officeDocument/2006/customXml" ds:itemID="{75EE5595-EB9F-41D4-B2D4-51D62F570062}">
  <ds:schemaRefs/>
</ds:datastoreItem>
</file>

<file path=customXml/itemProps2.xml><?xml version="1.0" encoding="utf-8"?>
<ds:datastoreItem xmlns:ds="http://schemas.openxmlformats.org/officeDocument/2006/customXml" ds:itemID="{BBAB0D6C-E008-4FE2-8B70-5C5246D8A525}">
  <ds:schemaRefs/>
</ds:datastoreItem>
</file>

<file path=customXml/itemProps3.xml><?xml version="1.0" encoding="utf-8"?>
<ds:datastoreItem xmlns:ds="http://schemas.openxmlformats.org/officeDocument/2006/customXml" ds:itemID="{220EA0D0-DB51-4BFA-9F4B-DA1208570F35}">
  <ds:schemaRefs/>
</ds:datastoreItem>
</file>

<file path=customXml/itemProps4.xml><?xml version="1.0" encoding="utf-8"?>
<ds:datastoreItem xmlns:ds="http://schemas.openxmlformats.org/officeDocument/2006/customXml" ds:itemID="{F684AA90-C329-4C50-9AD6-76E97F24E028}">
  <ds:schemaRefs/>
</ds:datastoreItem>
</file>

<file path=customXml/itemProps5.xml><?xml version="1.0" encoding="utf-8"?>
<ds:datastoreItem xmlns:ds="http://schemas.openxmlformats.org/officeDocument/2006/customXml" ds:itemID="{FE87C2BA-4D9C-4A03-8ACC-AC033380FDD9}">
  <ds:schemaRefs/>
</ds:datastoreItem>
</file>

<file path=customXml/itemProps6.xml><?xml version="1.0" encoding="utf-8"?>
<ds:datastoreItem xmlns:ds="http://schemas.openxmlformats.org/officeDocument/2006/customXml" ds:itemID="{B052E437-0E37-4BD0-B658-F410C70F086D}">
  <ds:schemaRefs/>
</ds:datastoreItem>
</file>

<file path=customXml/itemProps7.xml><?xml version="1.0" encoding="utf-8"?>
<ds:datastoreItem xmlns:ds="http://schemas.openxmlformats.org/officeDocument/2006/customXml" ds:itemID="{1DA5F47D-14F9-49C7-BB6D-79A6A719F13C}">
  <ds:schemaRefs/>
</ds:datastoreItem>
</file>

<file path=customXml/itemProps8.xml><?xml version="1.0" encoding="utf-8"?>
<ds:datastoreItem xmlns:ds="http://schemas.openxmlformats.org/officeDocument/2006/customXml" ds:itemID="{C484C70F-0F64-4774-853F-19FDF7E1F81D}">
  <ds:schemaRefs/>
</ds:datastoreItem>
</file>

<file path=customXml/itemProps9.xml><?xml version="1.0" encoding="utf-8"?>
<ds:datastoreItem xmlns:ds="http://schemas.openxmlformats.org/officeDocument/2006/customXml" ds:itemID="{5440D603-6365-B745-8CF4-596E37F2C66D}">
  <ds:schemaRefs/>
</ds:datastoreItem>
</file>

<file path=customXml/itemProps10.xml><?xml version="1.0" encoding="utf-8"?>
<ds:datastoreItem xmlns:ds="http://schemas.openxmlformats.org/officeDocument/2006/customXml" ds:itemID="{58450B56-0CFA-A948-8B99-3450019AB3CC}">
  <ds:schemaRefs/>
</ds:datastoreItem>
</file>

<file path=customXml/itemProps11.xml><?xml version="1.0" encoding="utf-8"?>
<ds:datastoreItem xmlns:ds="http://schemas.openxmlformats.org/officeDocument/2006/customXml" ds:itemID="{CFC7CD9E-B387-47DD-A892-194586C4B0A8}">
  <ds:schemaRefs/>
</ds:datastoreItem>
</file>

<file path=customXml/itemProps12.xml><?xml version="1.0" encoding="utf-8"?>
<ds:datastoreItem xmlns:ds="http://schemas.openxmlformats.org/officeDocument/2006/customXml" ds:itemID="{B01C8A0A-9C31-4B7B-950D-DD9959F2B8E1}">
  <ds:schemaRefs/>
</ds:datastoreItem>
</file>

<file path=customXml/itemProps13.xml><?xml version="1.0" encoding="utf-8"?>
<ds:datastoreItem xmlns:ds="http://schemas.openxmlformats.org/officeDocument/2006/customXml" ds:itemID="{6328992E-AE26-492A-B96B-B12F18AF1702}">
  <ds:schemaRefs/>
</ds:datastoreItem>
</file>

<file path=customXml/itemProps14.xml><?xml version="1.0" encoding="utf-8"?>
<ds:datastoreItem xmlns:ds="http://schemas.openxmlformats.org/officeDocument/2006/customXml" ds:itemID="{EACF0A14-ED2E-4A19-ADF3-0D0A3222E90D}">
  <ds:schemaRefs/>
</ds:datastoreItem>
</file>

<file path=customXml/itemProps15.xml><?xml version="1.0" encoding="utf-8"?>
<ds:datastoreItem xmlns:ds="http://schemas.openxmlformats.org/officeDocument/2006/customXml" ds:itemID="{D0688CFD-82DB-43CD-8984-E850371D850F}">
  <ds:schemaRefs/>
</ds:datastoreItem>
</file>

<file path=customXml/itemProps16.xml><?xml version="1.0" encoding="utf-8"?>
<ds:datastoreItem xmlns:ds="http://schemas.openxmlformats.org/officeDocument/2006/customXml" ds:itemID="{80B8C55C-E564-418E-A10D-CDA99D5F3EE8}">
  <ds:schemaRefs/>
</ds:datastoreItem>
</file>

<file path=customXml/itemProps17.xml><?xml version="1.0" encoding="utf-8"?>
<ds:datastoreItem xmlns:ds="http://schemas.openxmlformats.org/officeDocument/2006/customXml" ds:itemID="{12AAEFAA-488B-4613-B61C-8C050760FBEC}">
  <ds:schemaRefs/>
</ds:datastoreItem>
</file>

<file path=customXml/itemProps18.xml><?xml version="1.0" encoding="utf-8"?>
<ds:datastoreItem xmlns:ds="http://schemas.openxmlformats.org/officeDocument/2006/customXml" ds:itemID="{C5CD5A01-6378-494D-B71B-D23DEC9A120C}">
  <ds:schemaRefs/>
</ds:datastoreItem>
</file>

<file path=customXml/itemProps19.xml><?xml version="1.0" encoding="utf-8"?>
<ds:datastoreItem xmlns:ds="http://schemas.openxmlformats.org/officeDocument/2006/customXml" ds:itemID="{7742661A-7DA4-440D-9F17-A42C45E5F282}">
  <ds:schemaRefs/>
</ds:datastoreItem>
</file>

<file path=customXml/itemProps20.xml><?xml version="1.0" encoding="utf-8"?>
<ds:datastoreItem xmlns:ds="http://schemas.openxmlformats.org/officeDocument/2006/customXml" ds:itemID="{AB6030D5-BCDD-426E-8913-152EAE6D3877}">
  <ds:schemaRefs/>
</ds:datastoreItem>
</file>

<file path=customXml/itemProps21.xml><?xml version="1.0" encoding="utf-8"?>
<ds:datastoreItem xmlns:ds="http://schemas.openxmlformats.org/officeDocument/2006/customXml" ds:itemID="{3C302438-84D4-4410-883F-41F2AB7D30E2}">
  <ds:schemaRefs/>
</ds:datastoreItem>
</file>

<file path=customXml/itemProps22.xml><?xml version="1.0" encoding="utf-8"?>
<ds:datastoreItem xmlns:ds="http://schemas.openxmlformats.org/officeDocument/2006/customXml" ds:itemID="{563840C0-0BDF-4F63-86E4-16B670C857E2}">
  <ds:schemaRefs/>
</ds:datastoreItem>
</file>

<file path=customXml/itemProps23.xml><?xml version="1.0" encoding="utf-8"?>
<ds:datastoreItem xmlns:ds="http://schemas.openxmlformats.org/officeDocument/2006/customXml" ds:itemID="{61049392-9824-46E8-B53B-071ADFE52D03}">
  <ds:schemaRefs/>
</ds:datastoreItem>
</file>

<file path=customXml/itemProps24.xml><?xml version="1.0" encoding="utf-8"?>
<ds:datastoreItem xmlns:ds="http://schemas.openxmlformats.org/officeDocument/2006/customXml" ds:itemID="{13904DEA-8253-4BF3-9310-8891F043FA29}">
  <ds:schemaRefs/>
</ds:datastoreItem>
</file>

<file path=customXml/itemProps25.xml><?xml version="1.0" encoding="utf-8"?>
<ds:datastoreItem xmlns:ds="http://schemas.openxmlformats.org/officeDocument/2006/customXml" ds:itemID="{D40B8ABF-BCDE-4BFC-8014-3E62B1CE21F5}">
  <ds:schemaRefs/>
</ds:datastoreItem>
</file>

<file path=customXml/itemProps26.xml><?xml version="1.0" encoding="utf-8"?>
<ds:datastoreItem xmlns:ds="http://schemas.openxmlformats.org/officeDocument/2006/customXml" ds:itemID="{15345BB6-FFF0-4812-9AF7-D4DE0D3D596A}">
  <ds:schemaRefs/>
</ds:datastoreItem>
</file>

<file path=customXml/itemProps27.xml><?xml version="1.0" encoding="utf-8"?>
<ds:datastoreItem xmlns:ds="http://schemas.openxmlformats.org/officeDocument/2006/customXml" ds:itemID="{537D50E1-E116-4E1F-BBA2-BF976DC0D71C}">
  <ds:schemaRefs/>
</ds:datastoreItem>
</file>

<file path=customXml/itemProps28.xml><?xml version="1.0" encoding="utf-8"?>
<ds:datastoreItem xmlns:ds="http://schemas.openxmlformats.org/officeDocument/2006/customXml" ds:itemID="{6B0D700A-B574-468F-8B57-017D5DD2185D}">
  <ds:schemaRefs/>
</ds:datastoreItem>
</file>

<file path=customXml/itemProps29.xml><?xml version="1.0" encoding="utf-8"?>
<ds:datastoreItem xmlns:ds="http://schemas.openxmlformats.org/officeDocument/2006/customXml" ds:itemID="{AD853561-0684-44E3-AD44-5FC2461A9BA1}">
  <ds:schemaRefs/>
</ds:datastoreItem>
</file>

<file path=customXml/itemProps30.xml><?xml version="1.0" encoding="utf-8"?>
<ds:datastoreItem xmlns:ds="http://schemas.openxmlformats.org/officeDocument/2006/customXml" ds:itemID="{59413F36-46DB-4441-9E33-4CC730A14BA9}">
  <ds:schemaRefs/>
</ds:datastoreItem>
</file>

<file path=customXml/itemProps31.xml><?xml version="1.0" encoding="utf-8"?>
<ds:datastoreItem xmlns:ds="http://schemas.openxmlformats.org/officeDocument/2006/customXml" ds:itemID="{F31277A9-97EE-4BA1-BCFA-B539C538A774}">
  <ds:schemaRefs/>
</ds:datastoreItem>
</file>

<file path=customXml/itemProps32.xml><?xml version="1.0" encoding="utf-8"?>
<ds:datastoreItem xmlns:ds="http://schemas.openxmlformats.org/officeDocument/2006/customXml" ds:itemID="{6851A85B-2F43-457A-A79C-603DD5A77068}">
  <ds:schemaRefs/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5953</Words>
  <Application>Microsoft Macintosh PowerPoint</Application>
  <PresentationFormat>Widescreen</PresentationFormat>
  <Paragraphs>809</Paragraphs>
  <Slides>97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97</vt:i4>
      </vt:variant>
    </vt:vector>
  </HeadingPairs>
  <TitlesOfParts>
    <vt:vector size="103" baseType="lpstr">
      <vt:lpstr>Arial</vt:lpstr>
      <vt:lpstr>Consolas</vt:lpstr>
      <vt:lpstr>Helvetica Neue</vt:lpstr>
      <vt:lpstr>Menlo</vt:lpstr>
      <vt:lpstr>Wingdings</vt:lpstr>
      <vt:lpstr>Blank</vt:lpstr>
      <vt:lpstr>PowerPoint Presentation</vt:lpstr>
      <vt:lpstr>    Code Quality &amp; Testing  by Henrik Lange Bendixen</vt:lpstr>
      <vt:lpstr>Agenda</vt:lpstr>
      <vt:lpstr>Learning objective</vt:lpstr>
      <vt:lpstr>PowerPoint Presentation</vt:lpstr>
      <vt:lpstr>Software Engineering Process</vt:lpstr>
      <vt:lpstr>Software Engineering Process</vt:lpstr>
      <vt:lpstr>Software Engineering Process</vt:lpstr>
      <vt:lpstr>Software Engineering Process</vt:lpstr>
      <vt:lpstr>PowerPoint Presentation</vt:lpstr>
      <vt:lpstr>Test plan</vt:lpstr>
      <vt:lpstr>Creating a Test Plan - Step by Step Guide</vt:lpstr>
      <vt:lpstr>Creating a Test Plan - Step by Step Guide</vt:lpstr>
      <vt:lpstr>PowerPoint Presentation</vt:lpstr>
      <vt:lpstr>Example Test Plan - Simple Education System</vt:lpstr>
      <vt:lpstr>Example Test Plan - Simple Education System</vt:lpstr>
      <vt:lpstr>Example Test Plan - Simple Education System</vt:lpstr>
      <vt:lpstr>PowerPoint Presentation</vt:lpstr>
      <vt:lpstr>PowerPoint Presentation</vt:lpstr>
      <vt:lpstr>Acceptance Testing with User Stories</vt:lpstr>
      <vt:lpstr>Acceptance Testing with User Stories</vt:lpstr>
      <vt:lpstr>Acceptance Testing with User Stories</vt:lpstr>
      <vt:lpstr>PowerPoint Presentation</vt:lpstr>
      <vt:lpstr>Usability Testing</vt:lpstr>
      <vt:lpstr>Usability Testing</vt:lpstr>
      <vt:lpstr>Usability Testing</vt:lpstr>
      <vt:lpstr>Usability Testing</vt:lpstr>
      <vt:lpstr>Usability Testing</vt:lpstr>
      <vt:lpstr>PowerPoint Presentation</vt:lpstr>
      <vt:lpstr>Unit Testing</vt:lpstr>
      <vt:lpstr>Unit Testing</vt:lpstr>
      <vt:lpstr>Unit Testing</vt:lpstr>
      <vt:lpstr>Unit Testing</vt:lpstr>
      <vt:lpstr>Unit Testing</vt:lpstr>
      <vt:lpstr>PowerPoint Presentation</vt:lpstr>
      <vt:lpstr>End-to-End Testing</vt:lpstr>
      <vt:lpstr>End-to-End Testing</vt:lpstr>
      <vt:lpstr>End-to-End Testing</vt:lpstr>
      <vt:lpstr>End-to-End Testing</vt:lpstr>
      <vt:lpstr>End-to-End Testing</vt:lpstr>
      <vt:lpstr>PowerPoint Presentation</vt:lpstr>
      <vt:lpstr>Security Testing</vt:lpstr>
      <vt:lpstr>Security Testing</vt:lpstr>
      <vt:lpstr>Security Testing</vt:lpstr>
      <vt:lpstr>Security Testing</vt:lpstr>
      <vt:lpstr>Security Testing</vt:lpstr>
      <vt:lpstr>PowerPoint Presentation</vt:lpstr>
      <vt:lpstr>Performance Testing</vt:lpstr>
      <vt:lpstr>Performance Testing</vt:lpstr>
      <vt:lpstr>Performance Testing</vt:lpstr>
      <vt:lpstr>Performance Testing</vt:lpstr>
      <vt:lpstr>Performance Testing</vt:lpstr>
      <vt:lpstr>PowerPoint Presentation</vt:lpstr>
      <vt:lpstr>PowerPoint Presentation</vt:lpstr>
      <vt:lpstr>Web Application Testing</vt:lpstr>
      <vt:lpstr>Web Application Testing</vt:lpstr>
      <vt:lpstr>Web Application Testing</vt:lpstr>
      <vt:lpstr>Web Application Testing</vt:lpstr>
      <vt:lpstr>Web Application Testing</vt:lpstr>
      <vt:lpstr>PowerPoint Presentation</vt:lpstr>
      <vt:lpstr>End-to-End Testing for Web Applications</vt:lpstr>
      <vt:lpstr>End-to-End Testing for Web Applications</vt:lpstr>
      <vt:lpstr>End-to-End Testing for Web Applications</vt:lpstr>
      <vt:lpstr>End-to-End Testing for Web Applications</vt:lpstr>
      <vt:lpstr>End-to-End Testing for Web Applications</vt:lpstr>
      <vt:lpstr>End-to-End Testing for Web Applications</vt:lpstr>
      <vt:lpstr>PowerPoint Presentation</vt:lpstr>
      <vt:lpstr>API testing</vt:lpstr>
      <vt:lpstr>API testing</vt:lpstr>
      <vt:lpstr>API testing</vt:lpstr>
      <vt:lpstr>API testing</vt:lpstr>
      <vt:lpstr>API testing</vt:lpstr>
      <vt:lpstr>PowerPoint Presentation</vt:lpstr>
      <vt:lpstr>Accessibility Testing</vt:lpstr>
      <vt:lpstr>Accessibility Testing</vt:lpstr>
      <vt:lpstr>Accessibility Testing</vt:lpstr>
      <vt:lpstr>Accessibility Testing</vt:lpstr>
      <vt:lpstr>Accessibility Testing</vt:lpstr>
      <vt:lpstr>Accessibility Testing</vt:lpstr>
      <vt:lpstr>PowerPoint Presentation</vt:lpstr>
      <vt:lpstr>Code Quality Control</vt:lpstr>
      <vt:lpstr>Code Quality Control</vt:lpstr>
      <vt:lpstr>Code Quality Control</vt:lpstr>
      <vt:lpstr>Code Quality Control</vt:lpstr>
      <vt:lpstr>Code Quality Control</vt:lpstr>
      <vt:lpstr>Code Quality Control</vt:lpstr>
      <vt:lpstr>PowerPoint Presentation</vt:lpstr>
      <vt:lpstr>Test-Driven Development</vt:lpstr>
      <vt:lpstr>Test-Driven Development</vt:lpstr>
      <vt:lpstr>Test-Driven Development</vt:lpstr>
      <vt:lpstr>Test-Driven Development</vt:lpstr>
      <vt:lpstr>Test-Driven Development</vt:lpstr>
      <vt:lpstr>Test-Driven Development</vt:lpstr>
      <vt:lpstr>PowerPoint Presentation</vt:lpstr>
      <vt:lpstr>Key points</vt:lpstr>
      <vt:lpstr>Key points</vt:lpstr>
      <vt:lpstr>Key points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/>
  <cp:revision>1</cp:revision>
  <dcterms:created xsi:type="dcterms:W3CDTF">2020-09-13T18:31:53Z</dcterms:created>
  <dcterms:modified xsi:type="dcterms:W3CDTF">2023-04-24T21:15:35Z</dcterms:modified>
</cp:coreProperties>
</file>