
<file path=[Content_Types].xml><?xml version="1.0" encoding="utf-8"?>
<Types xmlns="http://schemas.openxmlformats.org/package/2006/content-types">
  <Default Extension="bin" ContentType="image/x-emf"/>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tags/tag8.xml" ContentType="application/vnd.openxmlformats-officedocument.presentationml.tags+xml"/>
  <Override PartName="/ppt/notesSlides/notesSlide10.xml" ContentType="application/vnd.openxmlformats-officedocument.presentationml.notesSlide+xml"/>
  <Override PartName="/ppt/tags/tag9.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35"/>
  </p:sldMasterIdLst>
  <p:notesMasterIdLst>
    <p:notesMasterId r:id="rId83"/>
  </p:notesMasterIdLst>
  <p:sldIdLst>
    <p:sldId id="269" r:id="rId36"/>
    <p:sldId id="276" r:id="rId37"/>
    <p:sldId id="277" r:id="rId38"/>
    <p:sldId id="465" r:id="rId39"/>
    <p:sldId id="510" r:id="rId40"/>
    <p:sldId id="511" r:id="rId41"/>
    <p:sldId id="512" r:id="rId42"/>
    <p:sldId id="513" r:id="rId43"/>
    <p:sldId id="514" r:id="rId44"/>
    <p:sldId id="509" r:id="rId45"/>
    <p:sldId id="466" r:id="rId46"/>
    <p:sldId id="495" r:id="rId47"/>
    <p:sldId id="327" r:id="rId48"/>
    <p:sldId id="503" r:id="rId49"/>
    <p:sldId id="496" r:id="rId50"/>
    <p:sldId id="328" r:id="rId51"/>
    <p:sldId id="329" r:id="rId52"/>
    <p:sldId id="497" r:id="rId53"/>
    <p:sldId id="500" r:id="rId54"/>
    <p:sldId id="501" r:id="rId55"/>
    <p:sldId id="499" r:id="rId56"/>
    <p:sldId id="502" r:id="rId57"/>
    <p:sldId id="505" r:id="rId58"/>
    <p:sldId id="498" r:id="rId59"/>
    <p:sldId id="504" r:id="rId60"/>
    <p:sldId id="506" r:id="rId61"/>
    <p:sldId id="507" r:id="rId62"/>
    <p:sldId id="508" r:id="rId63"/>
    <p:sldId id="284" r:id="rId64"/>
    <p:sldId id="323" r:id="rId65"/>
    <p:sldId id="332" r:id="rId66"/>
    <p:sldId id="331" r:id="rId67"/>
    <p:sldId id="333" r:id="rId68"/>
    <p:sldId id="324" r:id="rId69"/>
    <p:sldId id="334" r:id="rId70"/>
    <p:sldId id="447" r:id="rId71"/>
    <p:sldId id="457" r:id="rId72"/>
    <p:sldId id="325" r:id="rId73"/>
    <p:sldId id="326" r:id="rId74"/>
    <p:sldId id="458" r:id="rId75"/>
    <p:sldId id="459" r:id="rId76"/>
    <p:sldId id="330" r:id="rId77"/>
    <p:sldId id="460" r:id="rId78"/>
    <p:sldId id="462" r:id="rId79"/>
    <p:sldId id="461" r:id="rId80"/>
    <p:sldId id="463" r:id="rId81"/>
    <p:sldId id="464"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40" userDrawn="1">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F1F36A-5A5B-4A6B-BB62-659C4D90F527}" v="1" dt="2021-11-14T22:06:34.245"/>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539" autoAdjust="0"/>
    <p:restoredTop sz="94662" autoAdjust="0"/>
  </p:normalViewPr>
  <p:slideViewPr>
    <p:cSldViewPr snapToGrid="0" showGuides="1">
      <p:cViewPr varScale="1">
        <p:scale>
          <a:sx n="128" d="100"/>
          <a:sy n="128" d="100"/>
        </p:scale>
        <p:origin x="672" y="184"/>
      </p:cViewPr>
      <p:guideLst>
        <p:guide orient="horz" pos="64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customXml" Target="../customXml/item26.xml"/><Relationship Id="rId21" Type="http://schemas.openxmlformats.org/officeDocument/2006/relationships/customXml" Target="../customXml/item21.xml"/><Relationship Id="rId42" Type="http://schemas.openxmlformats.org/officeDocument/2006/relationships/slide" Target="slides/slide7.xml"/><Relationship Id="rId47" Type="http://schemas.openxmlformats.org/officeDocument/2006/relationships/slide" Target="slides/slide12.xml"/><Relationship Id="rId63" Type="http://schemas.openxmlformats.org/officeDocument/2006/relationships/slide" Target="slides/slide28.xml"/><Relationship Id="rId68" Type="http://schemas.openxmlformats.org/officeDocument/2006/relationships/slide" Target="slides/slide33.xml"/><Relationship Id="rId84" Type="http://schemas.openxmlformats.org/officeDocument/2006/relationships/presProps" Target="presProps.xml"/><Relationship Id="rId16" Type="http://schemas.openxmlformats.org/officeDocument/2006/relationships/customXml" Target="../customXml/item16.xml"/><Relationship Id="rId11" Type="http://schemas.openxmlformats.org/officeDocument/2006/relationships/customXml" Target="../customXml/item11.xml"/><Relationship Id="rId32" Type="http://schemas.openxmlformats.org/officeDocument/2006/relationships/customXml" Target="../customXml/item32.xml"/><Relationship Id="rId37" Type="http://schemas.openxmlformats.org/officeDocument/2006/relationships/slide" Target="slides/slide2.xml"/><Relationship Id="rId53" Type="http://schemas.openxmlformats.org/officeDocument/2006/relationships/slide" Target="slides/slide18.xml"/><Relationship Id="rId58" Type="http://schemas.openxmlformats.org/officeDocument/2006/relationships/slide" Target="slides/slide23.xml"/><Relationship Id="rId74" Type="http://schemas.openxmlformats.org/officeDocument/2006/relationships/slide" Target="slides/slide39.xml"/><Relationship Id="rId79" Type="http://schemas.openxmlformats.org/officeDocument/2006/relationships/slide" Target="slides/slide44.xml"/><Relationship Id="rId5" Type="http://schemas.openxmlformats.org/officeDocument/2006/relationships/customXml" Target="../customXml/item5.xml"/><Relationship Id="rId19" Type="http://schemas.openxmlformats.org/officeDocument/2006/relationships/customXml" Target="../customXml/item1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customXml" Target="../customXml/item30.xml"/><Relationship Id="rId35" Type="http://schemas.openxmlformats.org/officeDocument/2006/relationships/slideMaster" Target="slideMasters/slideMaster1.xml"/><Relationship Id="rId43" Type="http://schemas.openxmlformats.org/officeDocument/2006/relationships/slide" Target="slides/slide8.xml"/><Relationship Id="rId48" Type="http://schemas.openxmlformats.org/officeDocument/2006/relationships/slide" Target="slides/slide13.xml"/><Relationship Id="rId56" Type="http://schemas.openxmlformats.org/officeDocument/2006/relationships/slide" Target="slides/slide21.xml"/><Relationship Id="rId64" Type="http://schemas.openxmlformats.org/officeDocument/2006/relationships/slide" Target="slides/slide29.xml"/><Relationship Id="rId69" Type="http://schemas.openxmlformats.org/officeDocument/2006/relationships/slide" Target="slides/slide34.xml"/><Relationship Id="rId77" Type="http://schemas.openxmlformats.org/officeDocument/2006/relationships/slide" Target="slides/slide42.xml"/><Relationship Id="rId8" Type="http://schemas.openxmlformats.org/officeDocument/2006/relationships/customXml" Target="../customXml/item8.xml"/><Relationship Id="rId51" Type="http://schemas.openxmlformats.org/officeDocument/2006/relationships/slide" Target="slides/slide16.xml"/><Relationship Id="rId72" Type="http://schemas.openxmlformats.org/officeDocument/2006/relationships/slide" Target="slides/slide37.xml"/><Relationship Id="rId80" Type="http://schemas.openxmlformats.org/officeDocument/2006/relationships/slide" Target="slides/slide45.xml"/><Relationship Id="rId85"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customXml" Target="../customXml/item33.xml"/><Relationship Id="rId38" Type="http://schemas.openxmlformats.org/officeDocument/2006/relationships/slide" Target="slides/slide3.xml"/><Relationship Id="rId46" Type="http://schemas.openxmlformats.org/officeDocument/2006/relationships/slide" Target="slides/slide11.xml"/><Relationship Id="rId59" Type="http://schemas.openxmlformats.org/officeDocument/2006/relationships/slide" Target="slides/slide24.xml"/><Relationship Id="rId67" Type="http://schemas.openxmlformats.org/officeDocument/2006/relationships/slide" Target="slides/slide32.xml"/><Relationship Id="rId20" Type="http://schemas.openxmlformats.org/officeDocument/2006/relationships/customXml" Target="../customXml/item20.xml"/><Relationship Id="rId41" Type="http://schemas.openxmlformats.org/officeDocument/2006/relationships/slide" Target="slides/slide6.xml"/><Relationship Id="rId54" Type="http://schemas.openxmlformats.org/officeDocument/2006/relationships/slide" Target="slides/slide19.xml"/><Relationship Id="rId62" Type="http://schemas.openxmlformats.org/officeDocument/2006/relationships/slide" Target="slides/slide27.xml"/><Relationship Id="rId70" Type="http://schemas.openxmlformats.org/officeDocument/2006/relationships/slide" Target="slides/slide35.xml"/><Relationship Id="rId75" Type="http://schemas.openxmlformats.org/officeDocument/2006/relationships/slide" Target="slides/slide40.xml"/><Relationship Id="rId83" Type="http://schemas.openxmlformats.org/officeDocument/2006/relationships/notesMaster" Target="notesMasters/notesMaster1.xml"/><Relationship Id="rId88"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customXml" Target="../customXml/item28.xml"/><Relationship Id="rId36" Type="http://schemas.openxmlformats.org/officeDocument/2006/relationships/slide" Target="slides/slide1.xml"/><Relationship Id="rId49" Type="http://schemas.openxmlformats.org/officeDocument/2006/relationships/slide" Target="slides/slide14.xml"/><Relationship Id="rId57" Type="http://schemas.openxmlformats.org/officeDocument/2006/relationships/slide" Target="slides/slide22.xml"/><Relationship Id="rId10" Type="http://schemas.openxmlformats.org/officeDocument/2006/relationships/customXml" Target="../customXml/item10.xml"/><Relationship Id="rId31" Type="http://schemas.openxmlformats.org/officeDocument/2006/relationships/customXml" Target="../customXml/item31.xml"/><Relationship Id="rId44" Type="http://schemas.openxmlformats.org/officeDocument/2006/relationships/slide" Target="slides/slide9.xml"/><Relationship Id="rId52" Type="http://schemas.openxmlformats.org/officeDocument/2006/relationships/slide" Target="slides/slide17.xml"/><Relationship Id="rId60" Type="http://schemas.openxmlformats.org/officeDocument/2006/relationships/slide" Target="slides/slide25.xml"/><Relationship Id="rId65" Type="http://schemas.openxmlformats.org/officeDocument/2006/relationships/slide" Target="slides/slide30.xml"/><Relationship Id="rId73" Type="http://schemas.openxmlformats.org/officeDocument/2006/relationships/slide" Target="slides/slide38.xml"/><Relationship Id="rId78" Type="http://schemas.openxmlformats.org/officeDocument/2006/relationships/slide" Target="slides/slide43.xml"/><Relationship Id="rId81" Type="http://schemas.openxmlformats.org/officeDocument/2006/relationships/slide" Target="slides/slide46.xml"/><Relationship Id="rId86"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slide" Target="slides/slide4.xml"/><Relationship Id="rId34" Type="http://schemas.openxmlformats.org/officeDocument/2006/relationships/customXml" Target="../customXml/item34.xml"/><Relationship Id="rId50" Type="http://schemas.openxmlformats.org/officeDocument/2006/relationships/slide" Target="slides/slide15.xml"/><Relationship Id="rId55" Type="http://schemas.openxmlformats.org/officeDocument/2006/relationships/slide" Target="slides/slide20.xml"/><Relationship Id="rId76" Type="http://schemas.openxmlformats.org/officeDocument/2006/relationships/slide" Target="slides/slide41.xml"/><Relationship Id="rId7" Type="http://schemas.openxmlformats.org/officeDocument/2006/relationships/customXml" Target="../customXml/item7.xml"/><Relationship Id="rId71" Type="http://schemas.openxmlformats.org/officeDocument/2006/relationships/slide" Target="slides/slide36.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slide" Target="slides/slide5.xml"/><Relationship Id="rId45" Type="http://schemas.openxmlformats.org/officeDocument/2006/relationships/slide" Target="slides/slide10.xml"/><Relationship Id="rId66" Type="http://schemas.openxmlformats.org/officeDocument/2006/relationships/slide" Target="slides/slide31.xml"/><Relationship Id="rId87" Type="http://schemas.openxmlformats.org/officeDocument/2006/relationships/tableStyles" Target="tableStyles.xml"/><Relationship Id="rId61" Type="http://schemas.openxmlformats.org/officeDocument/2006/relationships/slide" Target="slides/slide26.xml"/><Relationship Id="rId82"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CD72A38B-F9FA-4036-A084-652409E98F08}" type="datetimeFigureOut">
              <a:rPr lang="en-GB"/>
              <a:pPr/>
              <a:t>18/09/2024</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49436F85-577F-4A92-A47F-D540A2BCC821}" type="slidenum">
              <a:rPr lang="en-GB"/>
              <a:pPr/>
              <a:t>‹nr.›</a:t>
            </a:fld>
            <a:endParaRPr lang="en-GB" dirty="0"/>
          </a:p>
        </p:txBody>
      </p:sp>
    </p:spTree>
    <p:extLst>
      <p:ext uri="{BB962C8B-B14F-4D97-AF65-F5344CB8AC3E}">
        <p14:creationId xmlns:p14="http://schemas.microsoft.com/office/powerpoint/2010/main" val="337809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3</a:t>
            </a:fld>
            <a:endParaRPr lang="en-GB" dirty="0"/>
          </a:p>
        </p:txBody>
      </p:sp>
    </p:spTree>
    <p:extLst>
      <p:ext uri="{BB962C8B-B14F-4D97-AF65-F5344CB8AC3E}">
        <p14:creationId xmlns:p14="http://schemas.microsoft.com/office/powerpoint/2010/main" val="16609287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4</a:t>
            </a:fld>
            <a:endParaRPr lang="en-GB" dirty="0"/>
          </a:p>
        </p:txBody>
      </p:sp>
    </p:spTree>
    <p:extLst>
      <p:ext uri="{BB962C8B-B14F-4D97-AF65-F5344CB8AC3E}">
        <p14:creationId xmlns:p14="http://schemas.microsoft.com/office/powerpoint/2010/main" val="309167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10</a:t>
            </a:fld>
            <a:endParaRPr lang="en-GB" dirty="0"/>
          </a:p>
        </p:txBody>
      </p:sp>
    </p:spTree>
    <p:extLst>
      <p:ext uri="{BB962C8B-B14F-4D97-AF65-F5344CB8AC3E}">
        <p14:creationId xmlns:p14="http://schemas.microsoft.com/office/powerpoint/2010/main" val="1840017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18</a:t>
            </a:fld>
            <a:endParaRPr lang="en-GB" dirty="0"/>
          </a:p>
        </p:txBody>
      </p:sp>
    </p:spTree>
    <p:extLst>
      <p:ext uri="{BB962C8B-B14F-4D97-AF65-F5344CB8AC3E}">
        <p14:creationId xmlns:p14="http://schemas.microsoft.com/office/powerpoint/2010/main" val="181539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29</a:t>
            </a:fld>
            <a:endParaRPr lang="en-GB" dirty="0"/>
          </a:p>
        </p:txBody>
      </p:sp>
    </p:spTree>
    <p:extLst>
      <p:ext uri="{BB962C8B-B14F-4D97-AF65-F5344CB8AC3E}">
        <p14:creationId xmlns:p14="http://schemas.microsoft.com/office/powerpoint/2010/main" val="728818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33</a:t>
            </a:fld>
            <a:endParaRPr lang="en-GB" dirty="0"/>
          </a:p>
        </p:txBody>
      </p:sp>
    </p:spTree>
    <p:extLst>
      <p:ext uri="{BB962C8B-B14F-4D97-AF65-F5344CB8AC3E}">
        <p14:creationId xmlns:p14="http://schemas.microsoft.com/office/powerpoint/2010/main" val="17125142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E53ADDD-DF63-AC3C-460D-74DD2528DFF4}"/>
              </a:ext>
            </a:extLst>
          </p:cNvPr>
          <p:cNvSpPr>
            <a:spLocks noGrp="1" noChangeArrowheads="1"/>
          </p:cNvSpPr>
          <p:nvPr>
            <p:ph type="dt" sz="quarter"/>
          </p:nvPr>
        </p:nvSpPr>
        <p:spPr/>
        <p:txBody>
          <a:bodyPr/>
          <a:lstStyle>
            <a:lvl1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1pPr>
            <a:lvl2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2pPr>
            <a:lvl3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3pPr>
            <a:lvl4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4pPr>
            <a:lvl5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9pPr>
          </a:lstStyle>
          <a:p>
            <a:pPr eaLnBrk="1"/>
            <a:endParaRPr lang="en-US" altLang="da-DK" sz="1000">
              <a:solidFill>
                <a:srgbClr val="000000"/>
              </a:solidFill>
              <a:latin typeface="HelveticaNeueLT Pro 77 BdCn"/>
            </a:endParaRPr>
          </a:p>
          <a:p>
            <a:pPr eaLnBrk="1"/>
            <a:fld id="{B4A0A107-9369-1A4F-9C04-D3780796756C}" type="slidenum">
              <a:rPr lang="en-US" altLang="da-DK" sz="1000">
                <a:solidFill>
                  <a:srgbClr val="000000"/>
                </a:solidFill>
                <a:latin typeface="HelveticaNeueLT Pro 77 BdCn"/>
              </a:rPr>
              <a:pPr eaLnBrk="1"/>
              <a:t>36</a:t>
            </a:fld>
            <a:endParaRPr lang="en-US" altLang="da-DK" sz="1000">
              <a:solidFill>
                <a:srgbClr val="000000"/>
              </a:solidFill>
              <a:latin typeface="HelveticaNeueLT Pro 77 BdCn"/>
            </a:endParaRPr>
          </a:p>
        </p:txBody>
      </p:sp>
      <p:sp>
        <p:nvSpPr>
          <p:cNvPr id="14337" name="Text Box 1">
            <a:extLst>
              <a:ext uri="{FF2B5EF4-FFF2-40B4-BE49-F238E27FC236}">
                <a16:creationId xmlns:a16="http://schemas.microsoft.com/office/drawing/2014/main" id="{D18263DE-925B-14F3-BA13-999D7D21FEBE}"/>
              </a:ext>
            </a:extLst>
          </p:cNvPr>
          <p:cNvSpPr>
            <a:spLocks noGrp="1" noRot="1" noChangeAspect="1" noChangeArrowheads="1"/>
          </p:cNvSpPr>
          <p:nvPr>
            <p:ph type="sldImg"/>
          </p:nvPr>
        </p:nvSpPr>
        <p:spPr>
          <a:xfrm>
            <a:off x="381000" y="685800"/>
            <a:ext cx="6096000" cy="34290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338" name="Text Box 2">
            <a:extLst>
              <a:ext uri="{FF2B5EF4-FFF2-40B4-BE49-F238E27FC236}">
                <a16:creationId xmlns:a16="http://schemas.microsoft.com/office/drawing/2014/main" id="{B292D163-8A7C-3CC2-ECD4-AFC9E68124E2}"/>
              </a:ext>
            </a:extLst>
          </p:cNvPr>
          <p:cNvSpPr>
            <a:spLocks noGrp="1" noChangeArrowheads="1"/>
          </p:cNvSpPr>
          <p:nvPr>
            <p:ph type="body" idx="1"/>
          </p:nvPr>
        </p:nvSpPr>
        <p:spPr>
          <a:xfrm>
            <a:off x="914400" y="4343400"/>
            <a:ext cx="5029200" cy="41148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extLst>
      <p:ext uri="{BB962C8B-B14F-4D97-AF65-F5344CB8AC3E}">
        <p14:creationId xmlns:p14="http://schemas.microsoft.com/office/powerpoint/2010/main" val="31428902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3">
            <a:extLst>
              <a:ext uri="{FF2B5EF4-FFF2-40B4-BE49-F238E27FC236}">
                <a16:creationId xmlns:a16="http://schemas.microsoft.com/office/drawing/2014/main" id="{0E53ADDD-DF63-AC3C-460D-74DD2528DFF4}"/>
              </a:ext>
            </a:extLst>
          </p:cNvPr>
          <p:cNvSpPr>
            <a:spLocks noGrp="1" noChangeArrowheads="1"/>
          </p:cNvSpPr>
          <p:nvPr>
            <p:ph type="dt" sz="quarter"/>
          </p:nvPr>
        </p:nvSpPr>
        <p:spPr/>
        <p:txBody>
          <a:bodyPr/>
          <a:lstStyle>
            <a:lvl1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1pPr>
            <a:lvl2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2pPr>
            <a:lvl3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3pPr>
            <a:lvl4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4pPr>
            <a:lvl5pPr eaLnBrk="0" hangingPunct="0">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tabLst>
                <a:tab pos="723900" algn="l"/>
                <a:tab pos="1447800" algn="l"/>
                <a:tab pos="2171700" algn="l"/>
              </a:tabLst>
              <a:defRPr sz="2400">
                <a:solidFill>
                  <a:schemeClr val="bg1"/>
                </a:solidFill>
                <a:latin typeface="Arial" panose="020B0604020202020204" pitchFamily="34" charset="0"/>
                <a:ea typeface="MS PGothic" panose="020B0600070205080204" pitchFamily="34" charset="-128"/>
              </a:defRPr>
            </a:lvl9pPr>
          </a:lstStyle>
          <a:p>
            <a:pPr eaLnBrk="1"/>
            <a:endParaRPr lang="en-US" altLang="da-DK" sz="1000">
              <a:solidFill>
                <a:srgbClr val="000000"/>
              </a:solidFill>
              <a:latin typeface="HelveticaNeueLT Pro 77 BdCn"/>
            </a:endParaRPr>
          </a:p>
          <a:p>
            <a:pPr eaLnBrk="1"/>
            <a:fld id="{B4A0A107-9369-1A4F-9C04-D3780796756C}" type="slidenum">
              <a:rPr lang="en-US" altLang="da-DK" sz="1000">
                <a:solidFill>
                  <a:srgbClr val="000000"/>
                </a:solidFill>
                <a:latin typeface="HelveticaNeueLT Pro 77 BdCn"/>
              </a:rPr>
              <a:pPr eaLnBrk="1"/>
              <a:t>37</a:t>
            </a:fld>
            <a:endParaRPr lang="en-US" altLang="da-DK" sz="1000">
              <a:solidFill>
                <a:srgbClr val="000000"/>
              </a:solidFill>
              <a:latin typeface="HelveticaNeueLT Pro 77 BdCn"/>
            </a:endParaRPr>
          </a:p>
        </p:txBody>
      </p:sp>
      <p:sp>
        <p:nvSpPr>
          <p:cNvPr id="14337" name="Text Box 1">
            <a:extLst>
              <a:ext uri="{FF2B5EF4-FFF2-40B4-BE49-F238E27FC236}">
                <a16:creationId xmlns:a16="http://schemas.microsoft.com/office/drawing/2014/main" id="{D18263DE-925B-14F3-BA13-999D7D21FEBE}"/>
              </a:ext>
            </a:extLst>
          </p:cNvPr>
          <p:cNvSpPr>
            <a:spLocks noGrp="1" noRot="1" noChangeAspect="1" noChangeArrowheads="1"/>
          </p:cNvSpPr>
          <p:nvPr>
            <p:ph type="sldImg"/>
          </p:nvPr>
        </p:nvSpPr>
        <p:spPr>
          <a:xfrm>
            <a:off x="381000" y="685800"/>
            <a:ext cx="6096000" cy="34290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sp>
      <p:sp>
        <p:nvSpPr>
          <p:cNvPr id="14338" name="Text Box 2">
            <a:extLst>
              <a:ext uri="{FF2B5EF4-FFF2-40B4-BE49-F238E27FC236}">
                <a16:creationId xmlns:a16="http://schemas.microsoft.com/office/drawing/2014/main" id="{B292D163-8A7C-3CC2-ECD4-AFC9E68124E2}"/>
              </a:ext>
            </a:extLst>
          </p:cNvPr>
          <p:cNvSpPr>
            <a:spLocks noGrp="1" noChangeArrowheads="1"/>
          </p:cNvSpPr>
          <p:nvPr>
            <p:ph type="body" idx="1"/>
          </p:nvPr>
        </p:nvSpPr>
        <p:spPr>
          <a:xfrm>
            <a:off x="914400" y="4343400"/>
            <a:ext cx="5029200" cy="4114800"/>
          </a:xfrm>
          <a:extLs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pPr>
              <a:buFont typeface="Times New Roman" charset="0"/>
              <a:buNone/>
              <a:defRPr/>
            </a:pPr>
            <a:endParaRPr lang="en-US">
              <a:ea typeface="ＭＳ Ｐゴシック" charset="0"/>
              <a:cs typeface="+mn-cs"/>
            </a:endParaRPr>
          </a:p>
        </p:txBody>
      </p:sp>
    </p:spTree>
    <p:extLst>
      <p:ext uri="{BB962C8B-B14F-4D97-AF65-F5344CB8AC3E}">
        <p14:creationId xmlns:p14="http://schemas.microsoft.com/office/powerpoint/2010/main" val="1451594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38</a:t>
            </a:fld>
            <a:endParaRPr lang="en-GB" dirty="0"/>
          </a:p>
        </p:txBody>
      </p:sp>
    </p:spTree>
    <p:extLst>
      <p:ext uri="{BB962C8B-B14F-4D97-AF65-F5344CB8AC3E}">
        <p14:creationId xmlns:p14="http://schemas.microsoft.com/office/powerpoint/2010/main" val="309167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42</a:t>
            </a:fld>
            <a:endParaRPr lang="en-GB" dirty="0"/>
          </a:p>
        </p:txBody>
      </p:sp>
    </p:spTree>
    <p:extLst>
      <p:ext uri="{BB962C8B-B14F-4D97-AF65-F5344CB8AC3E}">
        <p14:creationId xmlns:p14="http://schemas.microsoft.com/office/powerpoint/2010/main" val="1815395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10"/>
          </p:nvPr>
        </p:nvSpPr>
        <p:spPr/>
        <p:txBody>
          <a:bodyPr/>
          <a:lstStyle/>
          <a:p>
            <a:fld id="{49436F85-577F-4A92-A47F-D540A2BCC821}" type="slidenum">
              <a:rPr lang="en-GB" smtClean="0"/>
              <a:pPr/>
              <a:t>46</a:t>
            </a:fld>
            <a:endParaRPr lang="en-GB" dirty="0"/>
          </a:p>
        </p:txBody>
      </p:sp>
    </p:spTree>
    <p:extLst>
      <p:ext uri="{BB962C8B-B14F-4D97-AF65-F5344CB8AC3E}">
        <p14:creationId xmlns:p14="http://schemas.microsoft.com/office/powerpoint/2010/main" val="243845945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bin"/><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ort forside">
    <p:spTree>
      <p:nvGrpSpPr>
        <p:cNvPr id="1" name=""/>
        <p:cNvGrpSpPr/>
        <p:nvPr/>
      </p:nvGrpSpPr>
      <p:grpSpPr>
        <a:xfrm>
          <a:off x="0" y="0"/>
          <a:ext cx="0" cy="0"/>
          <a:chOff x="0" y="0"/>
          <a:chExt cx="0" cy="0"/>
        </a:xfrm>
      </p:grpSpPr>
      <p:sp>
        <p:nvSpPr>
          <p:cNvPr id="3" name="Background">
            <a:extLst>
              <a:ext uri="{FF2B5EF4-FFF2-40B4-BE49-F238E27FC236}">
                <a16:creationId xmlns:a16="http://schemas.microsoft.com/office/drawing/2014/main" id="{BBCAF46D-9983-4AEE-9B8A-24654CDEDDB0}"/>
              </a:ext>
            </a:extLst>
          </p:cNvPr>
          <p:cNvSpPr/>
          <p:nvPr userDrawn="1"/>
        </p:nvSpPr>
        <p:spPr>
          <a:xfrm>
            <a:off x="0" y="0"/>
            <a:ext cx="121896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600" dirty="0" err="1"/>
          </a:p>
        </p:txBody>
      </p:sp>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bg1"/>
                </a:solidFill>
              </a:defRPr>
            </a:lvl1pPr>
          </a:lstStyle>
          <a:p>
            <a:r>
              <a:rPr lang="en-GB" dirty="0"/>
              <a:t>Klik for at tilføje overskrift</a:t>
            </a:r>
            <a:endParaRPr lang="en-GB"/>
          </a:p>
        </p:txBody>
      </p:sp>
      <p:sp>
        <p:nvSpPr>
          <p:cNvPr id="19" name="text" descr="{&quot;templafy&quot;:{&quot;id&quot;:&quot;9e66ba45-e00c-4751-bf02-a4956d240516&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solidFill>
                  <a:schemeClr val="bg1"/>
                </a:solidFill>
              </a:rPr>
              <a:t>The Maersk Mc-Kinney Moller Institute</a:t>
            </a:r>
          </a:p>
        </p:txBody>
      </p:sp>
      <p:pic>
        <p:nvPicPr>
          <p:cNvPr id="7" name="Logo black">
            <a:extLst>
              <a:ext uri="{FF2B5EF4-FFF2-40B4-BE49-F238E27FC236}">
                <a16:creationId xmlns:a16="http://schemas.microsoft.com/office/drawing/2014/main" id="{E6E48129-FB3C-4F39-A5A1-63313B41D3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200" y="6296400"/>
            <a:ext cx="786874" cy="212400"/>
          </a:xfrm>
          <a:prstGeom prst="rect">
            <a:avLst/>
          </a:prstGeom>
        </p:spPr>
      </p:pic>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bg1"/>
                </a:solidFill>
              </a:rPr>
              <a:t>#sdudk</a:t>
            </a:r>
            <a:endParaRPr lang="en-GB"/>
          </a:p>
        </p:txBody>
      </p:sp>
      <p:cxnSp>
        <p:nvCxnSpPr>
          <p:cNvPr id="12" name="Straight Connector 11">
            <a:extLst>
              <a:ext uri="{FF2B5EF4-FFF2-40B4-BE49-F238E27FC236}">
                <a16:creationId xmlns:a16="http://schemas.microsoft.com/office/drawing/2014/main" id="{0C739632-1CD3-47C1-98D9-4B1B2253C7C9}"/>
              </a:ext>
            </a:extLst>
          </p:cNvPr>
          <p:cNvCxnSpPr>
            <a:cxnSpLocks/>
          </p:cNvCxnSpPr>
          <p:nvPr userDrawn="1"/>
        </p:nvCxnSpPr>
        <p:spPr>
          <a:xfrm>
            <a:off x="410400" y="715665"/>
            <a:ext cx="69921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date" descr="{&quot;templafy&quot;:{&quot;id&quot;:&quot;e93eeae9-b581-4184-9cc7-9a0f9897d348&quot;}}" title="Form.Date">
            <a:extLst>
              <a:ext uri="{FF2B5EF4-FFF2-40B4-BE49-F238E27FC236}">
                <a16:creationId xmlns:a16="http://schemas.microsoft.com/office/drawing/2014/main" id="{10301B40-E355-4D99-B296-A15FB5BC3A4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bg1"/>
                </a:solidFill>
              </a:rPr>
              <a:t>September 2020</a:t>
            </a:r>
          </a:p>
        </p:txBody>
      </p:sp>
      <p:sp>
        <p:nvSpPr>
          <p:cNvPr id="11" name="Date Placeholder 14">
            <a:extLst>
              <a:ext uri="{FF2B5EF4-FFF2-40B4-BE49-F238E27FC236}">
                <a16:creationId xmlns:a16="http://schemas.microsoft.com/office/drawing/2014/main" id="{D4E1389B-CA3B-4709-956D-F396D960BBC8}"/>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4" name="Date Placeholder 14">
            <a:extLst>
              <a:ext uri="{FF2B5EF4-FFF2-40B4-BE49-F238E27FC236}">
                <a16:creationId xmlns:a16="http://schemas.microsoft.com/office/drawing/2014/main" id="{8A94F1C1-AE36-4BBA-B958-8FC614A9472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Tree>
    <p:extLst>
      <p:ext uri="{BB962C8B-B14F-4D97-AF65-F5344CB8AC3E}">
        <p14:creationId xmlns:p14="http://schemas.microsoft.com/office/powerpoint/2010/main" val="40675258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vid fors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9384" y="1760373"/>
            <a:ext cx="10069011" cy="4070408"/>
          </a:xfrm>
        </p:spPr>
        <p:txBody>
          <a:bodyPr anchor="t" anchorCtr="0"/>
          <a:lstStyle>
            <a:lvl1pPr algn="l">
              <a:lnSpc>
                <a:spcPct val="90000"/>
              </a:lnSpc>
              <a:defRPr sz="9400">
                <a:solidFill>
                  <a:schemeClr val="tx1"/>
                </a:solidFill>
              </a:defRPr>
            </a:lvl1pPr>
          </a:lstStyle>
          <a:p>
            <a:r>
              <a:rPr lang="en-GB" dirty="0"/>
              <a:t>Klik for at tilføje overskrift</a:t>
            </a:r>
            <a:endParaRPr lang="en-GB"/>
          </a:p>
        </p:txBody>
      </p:sp>
      <p:sp>
        <p:nvSpPr>
          <p:cNvPr id="13" name="Date Placeholder 14">
            <a:extLst>
              <a:ext uri="{FF2B5EF4-FFF2-40B4-BE49-F238E27FC236}">
                <a16:creationId xmlns:a16="http://schemas.microsoft.com/office/drawing/2014/main" id="{5161ABAB-6DB4-433A-ACC8-A0EC0AACAD0C}"/>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4" name="Date Placeholder 14">
            <a:extLst>
              <a:ext uri="{FF2B5EF4-FFF2-40B4-BE49-F238E27FC236}">
                <a16:creationId xmlns:a16="http://schemas.microsoft.com/office/drawing/2014/main" id="{BC3A8B03-9EA5-416E-BD54-B87E6C4A6781}"/>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Tree>
    <p:extLst>
      <p:ext uri="{BB962C8B-B14F-4D97-AF65-F5344CB8AC3E}">
        <p14:creationId xmlns:p14="http://schemas.microsoft.com/office/powerpoint/2010/main" val="3190335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reaker A">
    <p:bg>
      <p:bgPr>
        <a:solidFill>
          <a:schemeClr val="bg1"/>
        </a:solidFill>
        <a:effectLst/>
      </p:bgPr>
    </p:bg>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4400">
                <a:solidFill>
                  <a:schemeClr val="tx1"/>
                </a:solidFill>
              </a:defRPr>
            </a:lvl1pPr>
          </a:lstStyle>
          <a:p>
            <a:r>
              <a:rPr lang="en-GB" dirty="0"/>
              <a:t>Klik for at tilføje overskrift</a:t>
            </a:r>
            <a:endParaRPr lang="en-GB"/>
          </a:p>
        </p:txBody>
      </p:sp>
      <p:sp>
        <p:nvSpPr>
          <p:cNvPr id="19" name="text" descr="{&quot;templafy&quot;:{&quot;id&quot;:&quot;535c2e69-01e7-4dce-95a6-4de9d99d38ac&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1" name="Straight Connector 10">
            <a:extLst>
              <a:ext uri="{FF2B5EF4-FFF2-40B4-BE49-F238E27FC236}">
                <a16:creationId xmlns:a16="http://schemas.microsoft.com/office/drawing/2014/main" id="{EEFBD90C-157B-45E5-8A90-9560C86CAB4C}"/>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date" descr="{&quot;templafy&quot;:{&quot;id&quot;:&quot;4580039a-6a0b-47c3-8582-fb9e2e105f97&quot;}}" title="Form.Date">
            <a:extLst>
              <a:ext uri="{FF2B5EF4-FFF2-40B4-BE49-F238E27FC236}">
                <a16:creationId xmlns:a16="http://schemas.microsoft.com/office/drawing/2014/main" id="{508E925B-663E-4A1A-8916-BC4FCFEA746C}"/>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3" name="Logo black">
            <a:extLst>
              <a:ext uri="{FF2B5EF4-FFF2-40B4-BE49-F238E27FC236}">
                <a16:creationId xmlns:a16="http://schemas.microsoft.com/office/drawing/2014/main" id="{8790A71A-B09B-4B5F-9D31-846A17201C9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7" name="Date Placeholder 14">
            <a:extLst>
              <a:ext uri="{FF2B5EF4-FFF2-40B4-BE49-F238E27FC236}">
                <a16:creationId xmlns:a16="http://schemas.microsoft.com/office/drawing/2014/main" id="{D63CFED0-47FC-4852-81C1-6B705FD6417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TextBox 2">
            <a:extLst>
              <a:ext uri="{FF2B5EF4-FFF2-40B4-BE49-F238E27FC236}">
                <a16:creationId xmlns:a16="http://schemas.microsoft.com/office/drawing/2014/main" id="{2D2565F4-7FB3-4F2B-AED8-4859D42935AE}"/>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354091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er B">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b" anchorCtr="0"/>
          <a:lstStyle>
            <a:lvl1pPr algn="l">
              <a:lnSpc>
                <a:spcPct val="100000"/>
              </a:lnSpc>
              <a:defRPr sz="44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A915360E-F247-49FB-821B-5399F1326472}"/>
              </a:ext>
            </a:extLst>
          </p:cNvPr>
          <p:cNvSpPr>
            <a:spLocks noGrp="1"/>
          </p:cNvSpPr>
          <p:nvPr>
            <p:ph type="pic" sz="quarter" idx="14" hasCustomPrompt="1"/>
          </p:nvPr>
        </p:nvSpPr>
        <p:spPr>
          <a:xfrm>
            <a:off x="6415848" y="1000443"/>
            <a:ext cx="4951428" cy="4841557"/>
          </a:xfrm>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7" name="Date Placeholder 14">
            <a:extLst>
              <a:ext uri="{FF2B5EF4-FFF2-40B4-BE49-F238E27FC236}">
                <a16:creationId xmlns:a16="http://schemas.microsoft.com/office/drawing/2014/main" id="{FB068F22-0263-44BB-8333-C5643293F39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8" name="Date Placeholder 14">
            <a:extLst>
              <a:ext uri="{FF2B5EF4-FFF2-40B4-BE49-F238E27FC236}">
                <a16:creationId xmlns:a16="http://schemas.microsoft.com/office/drawing/2014/main" id="{2D08A2CA-4B19-4B39-B540-F97244C446A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10" name="TextBox 9">
            <a:extLst>
              <a:ext uri="{FF2B5EF4-FFF2-40B4-BE49-F238E27FC236}">
                <a16:creationId xmlns:a16="http://schemas.microsoft.com/office/drawing/2014/main" id="{7EB9F81D-3EAD-42E8-88EC-432C25D7A8F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550034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verskrift og indhold A">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6673356" y="1700212"/>
            <a:ext cx="4693920" cy="4141788"/>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096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verskrift og indhold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C1A9A-6ADC-4F72-A312-ED1DBEF01BE1}"/>
              </a:ext>
            </a:extLst>
          </p:cNvPr>
          <p:cNvSpPr>
            <a:spLocks noGrp="1"/>
          </p:cNvSpPr>
          <p:nvPr>
            <p:ph type="title" hasCustomPrompt="1"/>
          </p:nvPr>
        </p:nvSpPr>
        <p:spPr>
          <a:xfrm>
            <a:off x="410400" y="1028246"/>
            <a:ext cx="5366267" cy="1884283"/>
          </a:xfrm>
        </p:spPr>
        <p:txBody>
          <a:bodyPr/>
          <a:lstStyle>
            <a:lvl1pPr>
              <a:defRPr/>
            </a:lvl1pPr>
          </a:lstStyle>
          <a:p>
            <a:r>
              <a:rPr lang="en-GB" dirty="0"/>
              <a:t>Klik for at tilføje overskrift</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156000" y="1028246"/>
            <a:ext cx="5216400" cy="4825354"/>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date" descr="{&quot;templafy&quot;:{&quot;id&quot;:&quot;b451176b-5c0c-4d4d-9060-3837f3de11a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15" name="text" descr="{&quot;templafy&quot;:{&quot;id&quot;:&quot;c68689c9-e668-4c96-a109-f982a524f861&quot;}}" title="UserProfile.Institut.InstituteDCU_{{DocumentLanguage}}">
            <a:extLst>
              <a:ext uri="{FF2B5EF4-FFF2-40B4-BE49-F238E27FC236}">
                <a16:creationId xmlns:a16="http://schemas.microsoft.com/office/drawing/2014/main" id="{964E632B-B9F2-4547-AC03-2C579124053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cxnSp>
        <p:nvCxnSpPr>
          <p:cNvPr id="21" name="Straight Connector 20">
            <a:extLst>
              <a:ext uri="{FF2B5EF4-FFF2-40B4-BE49-F238E27FC236}">
                <a16:creationId xmlns:a16="http://schemas.microsoft.com/office/drawing/2014/main" id="{5D6B1FAA-D7ED-4C71-8DC4-E5439F01BCEB}"/>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22" name="Logo black">
            <a:extLst>
              <a:ext uri="{FF2B5EF4-FFF2-40B4-BE49-F238E27FC236}">
                <a16:creationId xmlns:a16="http://schemas.microsoft.com/office/drawing/2014/main" id="{CAAF367F-3818-457C-9EE1-320E9050AE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3" name="Date Placeholder 2">
            <a:extLst>
              <a:ext uri="{FF2B5EF4-FFF2-40B4-BE49-F238E27FC236}">
                <a16:creationId xmlns:a16="http://schemas.microsoft.com/office/drawing/2014/main" id="{C0F779A9-E4FE-4412-9D9E-BF5BF84D02AB}"/>
              </a:ext>
            </a:extLst>
          </p:cNvPr>
          <p:cNvSpPr>
            <a:spLocks noGrp="1"/>
          </p:cNvSpPr>
          <p:nvPr>
            <p:ph type="dt" sz="half" idx="20"/>
          </p:nvPr>
        </p:nvSpPr>
        <p:spPr/>
        <p:txBody>
          <a:bodyPr/>
          <a:lstStyle/>
          <a:p>
            <a:fld id="{F1A13B18-F5ED-4611-8DBB-F05123AFBA22}" type="datetimeFigureOut">
              <a:rPr lang="en-GB" smtClean="0"/>
              <a:pPr/>
              <a:t>18/09/2024</a:t>
            </a:fld>
            <a:endParaRPr lang="en-GB" dirty="0"/>
          </a:p>
        </p:txBody>
      </p:sp>
      <p:sp>
        <p:nvSpPr>
          <p:cNvPr id="4" name="Footer Placeholder 3">
            <a:extLst>
              <a:ext uri="{FF2B5EF4-FFF2-40B4-BE49-F238E27FC236}">
                <a16:creationId xmlns:a16="http://schemas.microsoft.com/office/drawing/2014/main" id="{496ECF2D-BB4C-4004-9F8E-08239A46461C}"/>
              </a:ext>
            </a:extLst>
          </p:cNvPr>
          <p:cNvSpPr>
            <a:spLocks noGrp="1"/>
          </p:cNvSpPr>
          <p:nvPr>
            <p:ph type="ftr" sz="quarter" idx="21"/>
          </p:nvPr>
        </p:nvSpPr>
        <p:spPr/>
        <p:txBody>
          <a:bodyPr/>
          <a:lstStyle/>
          <a:p>
            <a:endParaRPr lang="en-GB" dirty="0"/>
          </a:p>
        </p:txBody>
      </p:sp>
      <p:sp>
        <p:nvSpPr>
          <p:cNvPr id="5" name="Slide Number Placeholder 4">
            <a:extLst>
              <a:ext uri="{FF2B5EF4-FFF2-40B4-BE49-F238E27FC236}">
                <a16:creationId xmlns:a16="http://schemas.microsoft.com/office/drawing/2014/main" id="{FB5949DE-6D77-480D-A4A9-E2E53BE1CE80}"/>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20" name="TextBox 19">
            <a:extLst>
              <a:ext uri="{FF2B5EF4-FFF2-40B4-BE49-F238E27FC236}">
                <a16:creationId xmlns:a16="http://schemas.microsoft.com/office/drawing/2014/main" id="{E75150F5-CFA6-40F1-B2B7-79337C2232BB}"/>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1617717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verskrift og indhold C">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6" y="999173"/>
            <a:ext cx="10952579" cy="701040"/>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7" name="Content Placeholder 6">
            <a:extLst>
              <a:ext uri="{FF2B5EF4-FFF2-40B4-BE49-F238E27FC236}">
                <a16:creationId xmlns:a16="http://schemas.microsoft.com/office/drawing/2014/main" id="{A9D41ADC-5992-4476-8E55-8A709AA1B4B5}"/>
              </a:ext>
            </a:extLst>
          </p:cNvPr>
          <p:cNvSpPr>
            <a:spLocks noGrp="1"/>
          </p:cNvSpPr>
          <p:nvPr>
            <p:ph sz="quarter" idx="13" hasCustomPrompt="1"/>
          </p:nvPr>
        </p:nvSpPr>
        <p:spPr>
          <a:xfrm>
            <a:off x="414696" y="1989138"/>
            <a:ext cx="10952580" cy="3852862"/>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0" name="Date Placeholder 14">
            <a:extLst>
              <a:ext uri="{FF2B5EF4-FFF2-40B4-BE49-F238E27FC236}">
                <a16:creationId xmlns:a16="http://schemas.microsoft.com/office/drawing/2014/main" id="{BBCDE8CE-8147-4B12-B358-7B7ACA92FFF2}"/>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1" name="Date Placeholder 14">
            <a:extLst>
              <a:ext uri="{FF2B5EF4-FFF2-40B4-BE49-F238E27FC236}">
                <a16:creationId xmlns:a16="http://schemas.microsoft.com/office/drawing/2014/main" id="{7ACE2053-07AA-42FA-A789-E1430CAF798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BD490B9-04D5-4C98-9BAE-36CAE61DE349}"/>
              </a:ext>
            </a:extLst>
          </p:cNvPr>
          <p:cNvSpPr>
            <a:spLocks noGrp="1"/>
          </p:cNvSpPr>
          <p:nvPr>
            <p:ph type="ftr" sz="quarter" idx="14"/>
          </p:nvPr>
        </p:nvSpPr>
        <p:spPr/>
        <p:txBody>
          <a:bodyPr/>
          <a:lstStyle/>
          <a:p>
            <a:endParaRPr lang="en-GB" dirty="0"/>
          </a:p>
        </p:txBody>
      </p:sp>
      <p:sp>
        <p:nvSpPr>
          <p:cNvPr id="4" name="Slide Number Placeholder 3">
            <a:extLst>
              <a:ext uri="{FF2B5EF4-FFF2-40B4-BE49-F238E27FC236}">
                <a16:creationId xmlns:a16="http://schemas.microsoft.com/office/drawing/2014/main" id="{DBDCBB1C-1FE3-42F2-ACED-70B0664062BD}"/>
              </a:ext>
            </a:extLst>
          </p:cNvPr>
          <p:cNvSpPr>
            <a:spLocks noGrp="1"/>
          </p:cNvSpPr>
          <p:nvPr>
            <p:ph type="sldNum" sz="quarter" idx="15"/>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01395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dhold og teks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692202" y="1006605"/>
            <a:ext cx="4680000" cy="1938338"/>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5" name="Text Placeholder 4">
            <a:extLst>
              <a:ext uri="{FF2B5EF4-FFF2-40B4-BE49-F238E27FC236}">
                <a16:creationId xmlns:a16="http://schemas.microsoft.com/office/drawing/2014/main" id="{BCB99C08-64C3-4ADA-9CD2-FBE2ED8551F6}"/>
              </a:ext>
            </a:extLst>
          </p:cNvPr>
          <p:cNvSpPr>
            <a:spLocks noGrp="1"/>
          </p:cNvSpPr>
          <p:nvPr>
            <p:ph type="body" sz="quarter" idx="13"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9" name="text" descr="{&quot;templafy&quot;:{&quot;id&quot;:&quot;f39ab476-473e-4cbc-a735-08e8467cfb7b&quot;}}" title="UserProfile.Institut.InstituteDCU_{{DocumentLanguage}}">
            <a:extLst>
              <a:ext uri="{FF2B5EF4-FFF2-40B4-BE49-F238E27FC236}">
                <a16:creationId xmlns:a16="http://schemas.microsoft.com/office/drawing/2014/main" id="{610DD8E7-635C-4517-8E21-65C3CB025FFE}"/>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20" name="sdu.dk">
            <a:extLst>
              <a:ext uri="{FF2B5EF4-FFF2-40B4-BE49-F238E27FC236}">
                <a16:creationId xmlns:a16="http://schemas.microsoft.com/office/drawing/2014/main" id="{4B84D86E-3D20-4505-8DAD-8EB1F3E63B0A}"/>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21" name="#sdudk">
            <a:extLst>
              <a:ext uri="{FF2B5EF4-FFF2-40B4-BE49-F238E27FC236}">
                <a16:creationId xmlns:a16="http://schemas.microsoft.com/office/drawing/2014/main" id="{B58A6A9A-5E98-43AC-8CA5-F6C4B0573364}"/>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2" name="Straight Connector 11">
            <a:extLst>
              <a:ext uri="{FF2B5EF4-FFF2-40B4-BE49-F238E27FC236}">
                <a16:creationId xmlns:a16="http://schemas.microsoft.com/office/drawing/2014/main" id="{ECEA2A3A-0B73-49AA-824B-85FAE9B16B10}"/>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date" descr="{&quot;templafy&quot;:{&quot;id&quot;:&quot;8f4f5ab2-38ae-4794-9556-95edf115af0a&quot;}}" title="Form.Date">
            <a:extLst>
              <a:ext uri="{FF2B5EF4-FFF2-40B4-BE49-F238E27FC236}">
                <a16:creationId xmlns:a16="http://schemas.microsoft.com/office/drawing/2014/main" id="{6189AE65-D68D-4102-AA1D-2A3BCB6F21BF}"/>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16" name="Logo black">
            <a:extLst>
              <a:ext uri="{FF2B5EF4-FFF2-40B4-BE49-F238E27FC236}">
                <a16:creationId xmlns:a16="http://schemas.microsoft.com/office/drawing/2014/main" id="{B52757AD-346A-4AA0-A5D6-36F8B1FE487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8" name="Date Placeholder 14">
            <a:extLst>
              <a:ext uri="{FF2B5EF4-FFF2-40B4-BE49-F238E27FC236}">
                <a16:creationId xmlns:a16="http://schemas.microsoft.com/office/drawing/2014/main" id="{A09FC7B4-885C-4F9D-BD71-AE2FBDB38698}"/>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6" name="Content Placeholder 5">
            <a:extLst>
              <a:ext uri="{FF2B5EF4-FFF2-40B4-BE49-F238E27FC236}">
                <a16:creationId xmlns:a16="http://schemas.microsoft.com/office/drawing/2014/main" id="{2B8FEE58-0FE9-4218-904C-188D46CD214D}"/>
              </a:ext>
            </a:extLst>
          </p:cNvPr>
          <p:cNvSpPr>
            <a:spLocks noGrp="1"/>
          </p:cNvSpPr>
          <p:nvPr>
            <p:ph sz="quarter" idx="15" hasCustomPrompt="1"/>
          </p:nvPr>
        </p:nvSpPr>
        <p:spPr>
          <a:xfrm>
            <a:off x="422432" y="1000443"/>
            <a:ext cx="5077365" cy="4853157"/>
          </a:xfrm>
        </p:spPr>
        <p:txBody>
          <a:bodyPr/>
          <a:lstStyle>
            <a:lvl1pPr>
              <a:defRPr/>
            </a:lvl1pPr>
          </a:lstStyle>
          <a:p>
            <a:pPr lvl="0"/>
            <a:r>
              <a:rPr lang="en-GB" dirty="0"/>
              <a:t>Klik for at tilføje tekst, klik ikon for at tilføje graf/tabel</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3" name="Date Placeholder 12">
            <a:extLst>
              <a:ext uri="{FF2B5EF4-FFF2-40B4-BE49-F238E27FC236}">
                <a16:creationId xmlns:a16="http://schemas.microsoft.com/office/drawing/2014/main" id="{3F302217-B569-449A-8422-B6650C9BB084}"/>
              </a:ext>
            </a:extLst>
          </p:cNvPr>
          <p:cNvSpPr>
            <a:spLocks noGrp="1"/>
          </p:cNvSpPr>
          <p:nvPr>
            <p:ph type="dt" sz="half" idx="16"/>
          </p:nvPr>
        </p:nvSpPr>
        <p:spPr/>
        <p:txBody>
          <a:bodyPr/>
          <a:lstStyle/>
          <a:p>
            <a:fld id="{F1A13B18-F5ED-4611-8DBB-F05123AFBA22}" type="datetimeFigureOut">
              <a:rPr lang="en-GB" smtClean="0"/>
              <a:pPr/>
              <a:t>18/09/2024</a:t>
            </a:fld>
            <a:endParaRPr lang="en-GB" dirty="0"/>
          </a:p>
        </p:txBody>
      </p:sp>
      <p:sp>
        <p:nvSpPr>
          <p:cNvPr id="14" name="Footer Placeholder 13">
            <a:extLst>
              <a:ext uri="{FF2B5EF4-FFF2-40B4-BE49-F238E27FC236}">
                <a16:creationId xmlns:a16="http://schemas.microsoft.com/office/drawing/2014/main" id="{DF36464C-AEF7-4BFD-9A97-813102BCA484}"/>
              </a:ext>
            </a:extLst>
          </p:cNvPr>
          <p:cNvSpPr>
            <a:spLocks noGrp="1"/>
          </p:cNvSpPr>
          <p:nvPr>
            <p:ph type="ftr" sz="quarter" idx="17"/>
          </p:nvPr>
        </p:nvSpPr>
        <p:spPr/>
        <p:txBody>
          <a:bodyPr/>
          <a:lstStyle/>
          <a:p>
            <a:endParaRPr lang="en-GB" dirty="0"/>
          </a:p>
        </p:txBody>
      </p:sp>
      <p:sp>
        <p:nvSpPr>
          <p:cNvPr id="24" name="Slide Number Placeholder 23">
            <a:extLst>
              <a:ext uri="{FF2B5EF4-FFF2-40B4-BE49-F238E27FC236}">
                <a16:creationId xmlns:a16="http://schemas.microsoft.com/office/drawing/2014/main" id="{58D7263E-B2E5-4CB9-9AAF-C0006E4A0400}"/>
              </a:ext>
            </a:extLst>
          </p:cNvPr>
          <p:cNvSpPr>
            <a:spLocks noGrp="1"/>
          </p:cNvSpPr>
          <p:nvPr>
            <p:ph type="sldNum" sz="quarter" idx="18"/>
          </p:nvPr>
        </p:nvSpPr>
        <p:spPr/>
        <p:txBody>
          <a:bodyPr/>
          <a:lstStyle/>
          <a:p>
            <a:fld id="{45D37B1E-C366-494F-A587-962AD9AABC83}" type="slidenum">
              <a:rPr lang="en-GB" smtClean="0"/>
              <a:pPr/>
              <a:t>‹nr.›</a:t>
            </a:fld>
            <a:endParaRPr lang="en-GB" dirty="0"/>
          </a:p>
        </p:txBody>
      </p:sp>
      <p:sp>
        <p:nvSpPr>
          <p:cNvPr id="17" name="TextBox 16">
            <a:extLst>
              <a:ext uri="{FF2B5EF4-FFF2-40B4-BE49-F238E27FC236}">
                <a16:creationId xmlns:a16="http://schemas.microsoft.com/office/drawing/2014/main" id="{1BBAA208-28D6-470D-B539-73F9AC20E86C}"/>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76544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ire indho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B9A67-E62D-400C-BC42-A3A96AAED25F}"/>
              </a:ext>
            </a:extLst>
          </p:cNvPr>
          <p:cNvSpPr>
            <a:spLocks noGrp="1"/>
          </p:cNvSpPr>
          <p:nvPr>
            <p:ph type="title" hasCustomPrompt="1"/>
          </p:nvPr>
        </p:nvSpPr>
        <p:spPr>
          <a:xfrm>
            <a:off x="410401" y="1028247"/>
            <a:ext cx="2502000" cy="432000"/>
          </a:xfrm>
        </p:spPr>
        <p:txBody>
          <a:bodyPr/>
          <a:lstStyle>
            <a:lvl1pPr>
              <a:lnSpc>
                <a:spcPct val="110000"/>
              </a:lnSpc>
              <a:defRPr sz="1200"/>
            </a:lvl1pPr>
          </a:lstStyle>
          <a:p>
            <a:r>
              <a:rPr lang="en-GB" noProof="0" dirty="0"/>
              <a:t>Klik for at tilføje underoverskrift</a:t>
            </a:r>
            <a:endParaRPr lang="en-GB"/>
          </a:p>
        </p:txBody>
      </p:sp>
      <p:sp>
        <p:nvSpPr>
          <p:cNvPr id="14" name="Content Placeholder 13">
            <a:extLst>
              <a:ext uri="{FF2B5EF4-FFF2-40B4-BE49-F238E27FC236}">
                <a16:creationId xmlns:a16="http://schemas.microsoft.com/office/drawing/2014/main" id="{E60E8CAC-51BD-4862-8B6E-BD3E315677C4}"/>
              </a:ext>
            </a:extLst>
          </p:cNvPr>
          <p:cNvSpPr>
            <a:spLocks noGrp="1"/>
          </p:cNvSpPr>
          <p:nvPr>
            <p:ph sz="quarter" idx="13" hasCustomPrompt="1"/>
          </p:nvPr>
        </p:nvSpPr>
        <p:spPr>
          <a:xfrm>
            <a:off x="411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5" name="Subtitle 2">
            <a:extLst>
              <a:ext uri="{FF2B5EF4-FFF2-40B4-BE49-F238E27FC236}">
                <a16:creationId xmlns:a16="http://schemas.microsoft.com/office/drawing/2014/main" id="{25135A09-8F8A-4D87-8C43-B3A0A80BE2F5}"/>
              </a:ext>
            </a:extLst>
          </p:cNvPr>
          <p:cNvSpPr>
            <a:spLocks noGrp="1"/>
          </p:cNvSpPr>
          <p:nvPr>
            <p:ph type="subTitle" idx="1" hasCustomPrompt="1"/>
          </p:nvPr>
        </p:nvSpPr>
        <p:spPr>
          <a:xfrm>
            <a:off x="3273164" y="1028246"/>
            <a:ext cx="2502000" cy="432000"/>
          </a:xfrm>
        </p:spPr>
        <p:txBody>
          <a:bodyPr/>
          <a:lstStyle>
            <a:lvl1pPr marL="0" indent="0" algn="l">
              <a:buNone/>
              <a:defRPr sz="1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noProof="0" dirty="0"/>
              <a:t>Klik for at tilføje underoverskrift</a:t>
            </a:r>
            <a:endParaRPr lang="en-GB"/>
          </a:p>
        </p:txBody>
      </p:sp>
      <p:sp>
        <p:nvSpPr>
          <p:cNvPr id="17" name="Content Placeholder 16">
            <a:extLst>
              <a:ext uri="{FF2B5EF4-FFF2-40B4-BE49-F238E27FC236}">
                <a16:creationId xmlns:a16="http://schemas.microsoft.com/office/drawing/2014/main" id="{462D92C6-668E-491E-B394-72897FAB3085}"/>
              </a:ext>
            </a:extLst>
          </p:cNvPr>
          <p:cNvSpPr>
            <a:spLocks noGrp="1"/>
          </p:cNvSpPr>
          <p:nvPr>
            <p:ph sz="quarter" idx="14" hasCustomPrompt="1"/>
          </p:nvPr>
        </p:nvSpPr>
        <p:spPr>
          <a:xfrm>
            <a:off x="3273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19" name="Text Placeholder 18">
            <a:extLst>
              <a:ext uri="{FF2B5EF4-FFF2-40B4-BE49-F238E27FC236}">
                <a16:creationId xmlns:a16="http://schemas.microsoft.com/office/drawing/2014/main" id="{C0F1B1F1-CA40-4EA4-AB68-69DBBD61ED9D}"/>
              </a:ext>
            </a:extLst>
          </p:cNvPr>
          <p:cNvSpPr>
            <a:spLocks noGrp="1"/>
          </p:cNvSpPr>
          <p:nvPr>
            <p:ph type="body" sz="quarter" idx="15" hasCustomPrompt="1"/>
          </p:nvPr>
        </p:nvSpPr>
        <p:spPr>
          <a:xfrm>
            <a:off x="6135163" y="1028246"/>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1" name="Content Placeholder 20">
            <a:extLst>
              <a:ext uri="{FF2B5EF4-FFF2-40B4-BE49-F238E27FC236}">
                <a16:creationId xmlns:a16="http://schemas.microsoft.com/office/drawing/2014/main" id="{3DBEE0FF-2C0E-499E-ACAF-B6F421AF13D5}"/>
              </a:ext>
            </a:extLst>
          </p:cNvPr>
          <p:cNvSpPr>
            <a:spLocks noGrp="1"/>
          </p:cNvSpPr>
          <p:nvPr>
            <p:ph sz="quarter" idx="16" hasCustomPrompt="1"/>
          </p:nvPr>
        </p:nvSpPr>
        <p:spPr>
          <a:xfrm>
            <a:off x="6135163" y="1475354"/>
            <a:ext cx="2502000"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3" name="Text Placeholder 22">
            <a:extLst>
              <a:ext uri="{FF2B5EF4-FFF2-40B4-BE49-F238E27FC236}">
                <a16:creationId xmlns:a16="http://schemas.microsoft.com/office/drawing/2014/main" id="{F091117C-5AED-4416-88BA-F1C88ACD7A25}"/>
              </a:ext>
            </a:extLst>
          </p:cNvPr>
          <p:cNvSpPr>
            <a:spLocks noGrp="1"/>
          </p:cNvSpPr>
          <p:nvPr>
            <p:ph type="body" sz="quarter" idx="17" hasCustomPrompt="1"/>
          </p:nvPr>
        </p:nvSpPr>
        <p:spPr>
          <a:xfrm>
            <a:off x="8997162" y="1028247"/>
            <a:ext cx="2502000" cy="432000"/>
          </a:xfrm>
        </p:spPr>
        <p:txBody>
          <a:bodyPr/>
          <a:lstStyle>
            <a:lvl1pPr marL="0" indent="0">
              <a:buNone/>
              <a:defRPr sz="1200" b="1"/>
            </a:lvl1pPr>
            <a:lvl2pPr marL="252000" indent="0">
              <a:buNone/>
              <a:defRPr/>
            </a:lvl2pPr>
          </a:lstStyle>
          <a:p>
            <a:pPr lvl="0"/>
            <a:r>
              <a:rPr lang="en-GB" noProof="0" dirty="0"/>
              <a:t>Klik for at tilføje underoverskrift</a:t>
            </a:r>
            <a:endParaRPr lang="en-GB"/>
          </a:p>
        </p:txBody>
      </p:sp>
      <p:sp>
        <p:nvSpPr>
          <p:cNvPr id="25" name="Content Placeholder 24">
            <a:extLst>
              <a:ext uri="{FF2B5EF4-FFF2-40B4-BE49-F238E27FC236}">
                <a16:creationId xmlns:a16="http://schemas.microsoft.com/office/drawing/2014/main" id="{C66F31E1-769E-4E9A-9DCC-2C64321A89C1}"/>
              </a:ext>
            </a:extLst>
          </p:cNvPr>
          <p:cNvSpPr>
            <a:spLocks noGrp="1"/>
          </p:cNvSpPr>
          <p:nvPr>
            <p:ph sz="quarter" idx="18" hasCustomPrompt="1"/>
          </p:nvPr>
        </p:nvSpPr>
        <p:spPr>
          <a:xfrm>
            <a:off x="8997161" y="1475354"/>
            <a:ext cx="2501999" cy="4366646"/>
          </a:xfrm>
        </p:spPr>
        <p:txBody>
          <a:bodyPr/>
          <a:lstStyle>
            <a:lvl1pPr>
              <a:defRPr sz="1200"/>
            </a:lvl1pPr>
            <a:lvl2pPr>
              <a:defRPr sz="1200"/>
            </a:lvl2pPr>
            <a:lvl4pPr>
              <a:defRPr sz="1200"/>
            </a:lvl4pPr>
            <a:lvl5pPr>
              <a:defRPr sz="1200"/>
            </a:lvl5pPr>
          </a:lstStyle>
          <a:p>
            <a:pPr lvl="0"/>
            <a:r>
              <a:rPr lang="en-GB" noProof="0" dirty="0"/>
              <a:t>Klik for at tilføje tekst</a:t>
            </a:r>
            <a:endParaRPr lang="en-GB"/>
          </a:p>
          <a:p>
            <a:pPr lvl="1"/>
            <a:r>
              <a:rPr lang="en-GB" noProof="0" dirty="0"/>
              <a:t>Second </a:t>
            </a:r>
            <a:r>
              <a:rPr lang="en-GB" noProof="0" dirty="0" err="1"/>
              <a:t>level</a:t>
            </a:r>
            <a:endParaRPr lang="en-GB" noProof="0" dirty="0"/>
          </a:p>
          <a:p>
            <a:pPr lvl="2"/>
            <a:r>
              <a:rPr lang="en-GB" noProof="0" dirty="0"/>
              <a:t>Third </a:t>
            </a:r>
            <a:r>
              <a:rPr lang="en-GB" noProof="0" dirty="0" err="1"/>
              <a:t>level</a:t>
            </a:r>
            <a:endParaRPr lang="en-GB" noProof="0" dirty="0"/>
          </a:p>
          <a:p>
            <a:pPr lvl="3"/>
            <a:r>
              <a:rPr lang="en-GB" noProof="0" dirty="0" err="1"/>
              <a:t>Fourth</a:t>
            </a:r>
            <a:r>
              <a:rPr lang="en-GB" noProof="0" dirty="0"/>
              <a:t> </a:t>
            </a:r>
            <a:r>
              <a:rPr lang="en-GB" noProof="0" dirty="0" err="1"/>
              <a:t>level</a:t>
            </a:r>
            <a:endParaRPr lang="en-GB" noProof="0" dirty="0"/>
          </a:p>
          <a:p>
            <a:pPr lvl="4"/>
            <a:r>
              <a:rPr lang="en-GB" noProof="0" dirty="0"/>
              <a:t>Fifth </a:t>
            </a:r>
            <a:r>
              <a:rPr lang="en-GB" noProof="0" dirty="0" err="1"/>
              <a:t>level</a:t>
            </a:r>
            <a:endParaRPr lang="en-GB" noProof="0" dirty="0"/>
          </a:p>
        </p:txBody>
      </p:sp>
      <p:sp>
        <p:nvSpPr>
          <p:cNvPr id="28" name="Date Placeholder 14">
            <a:extLst>
              <a:ext uri="{FF2B5EF4-FFF2-40B4-BE49-F238E27FC236}">
                <a16:creationId xmlns:a16="http://schemas.microsoft.com/office/drawing/2014/main" id="{1DCD95D8-07B6-42C0-8767-A640B7CA8534}"/>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5" name="Date Placeholder 4">
            <a:extLst>
              <a:ext uri="{FF2B5EF4-FFF2-40B4-BE49-F238E27FC236}">
                <a16:creationId xmlns:a16="http://schemas.microsoft.com/office/drawing/2014/main" id="{8E588C40-671D-463C-8463-D77B96C28D88}"/>
              </a:ext>
            </a:extLst>
          </p:cNvPr>
          <p:cNvSpPr>
            <a:spLocks noGrp="1"/>
          </p:cNvSpPr>
          <p:nvPr>
            <p:ph type="dt" sz="half" idx="19"/>
          </p:nvPr>
        </p:nvSpPr>
        <p:spPr/>
        <p:txBody>
          <a:bodyPr/>
          <a:lstStyle/>
          <a:p>
            <a:fld id="{F1A13B18-F5ED-4611-8DBB-F05123AFBA22}" type="datetimeFigureOut">
              <a:rPr lang="en-GB" smtClean="0"/>
              <a:pPr/>
              <a:t>18/09/2024</a:t>
            </a:fld>
            <a:endParaRPr lang="en-GB" dirty="0"/>
          </a:p>
        </p:txBody>
      </p:sp>
      <p:sp>
        <p:nvSpPr>
          <p:cNvPr id="6" name="Footer Placeholder 5">
            <a:extLst>
              <a:ext uri="{FF2B5EF4-FFF2-40B4-BE49-F238E27FC236}">
                <a16:creationId xmlns:a16="http://schemas.microsoft.com/office/drawing/2014/main" id="{2846E2E0-2E23-491A-B165-353CDF3F79E2}"/>
              </a:ext>
            </a:extLst>
          </p:cNvPr>
          <p:cNvSpPr>
            <a:spLocks noGrp="1"/>
          </p:cNvSpPr>
          <p:nvPr>
            <p:ph type="ftr" sz="quarter" idx="20"/>
          </p:nvPr>
        </p:nvSpPr>
        <p:spPr/>
        <p:txBody>
          <a:bodyPr/>
          <a:lstStyle/>
          <a:p>
            <a:endParaRPr lang="en-GB" dirty="0"/>
          </a:p>
        </p:txBody>
      </p:sp>
      <p:sp>
        <p:nvSpPr>
          <p:cNvPr id="7" name="Slide Number Placeholder 6">
            <a:extLst>
              <a:ext uri="{FF2B5EF4-FFF2-40B4-BE49-F238E27FC236}">
                <a16:creationId xmlns:a16="http://schemas.microsoft.com/office/drawing/2014/main" id="{35B93800-6F51-413B-BA21-0A9967FF3386}"/>
              </a:ext>
            </a:extLst>
          </p:cNvPr>
          <p:cNvSpPr>
            <a:spLocks noGrp="1"/>
          </p:cNvSpPr>
          <p:nvPr>
            <p:ph type="sldNum" sz="quarter" idx="21"/>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2241953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illede og indhold">
    <p:spTree>
      <p:nvGrpSpPr>
        <p:cNvPr id="1" name=""/>
        <p:cNvGrpSpPr/>
        <p:nvPr/>
      </p:nvGrpSpPr>
      <p:grpSpPr>
        <a:xfrm>
          <a:off x="0" y="0"/>
          <a:ext cx="0" cy="0"/>
          <a:chOff x="0" y="0"/>
          <a:chExt cx="0" cy="0"/>
        </a:xfrm>
      </p:grpSpPr>
      <p:sp>
        <p:nvSpPr>
          <p:cNvPr id="10" name="Pladsholder til billede 3"/>
          <p:cNvSpPr>
            <a:spLocks noGrp="1"/>
          </p:cNvSpPr>
          <p:nvPr>
            <p:ph type="pic" sz="quarter" idx="13" hasCustomPrompt="1"/>
          </p:nvPr>
        </p:nvSpPr>
        <p:spPr>
          <a:xfrm>
            <a:off x="0" y="0"/>
            <a:ext cx="6099300" cy="6858000"/>
          </a:xfrm>
          <a:solidFill>
            <a:schemeClr val="bg1"/>
          </a:solidFill>
        </p:spPr>
        <p:txBody>
          <a:bodyPr/>
          <a:lstStyle>
            <a:lvl1pPr marL="0" indent="0" algn="ctr">
              <a:buNone/>
              <a:defRPr sz="1200"/>
            </a:lvl1pPr>
          </a:lstStyle>
          <a:p>
            <a:r>
              <a:rPr lang="en-GB" dirty="0"/>
              <a:t>Vælg pladsholderen og indsæt billede via Templafy/Skyfish eller ikon eller logo via Templafy/Billeder</a:t>
            </a:r>
            <a:endParaRPr lang="en-GB"/>
          </a:p>
        </p:txBody>
      </p:sp>
      <p:sp>
        <p:nvSpPr>
          <p:cNvPr id="8" name="Titel 1"/>
          <p:cNvSpPr>
            <a:spLocks noGrp="1"/>
          </p:cNvSpPr>
          <p:nvPr>
            <p:ph type="title" hasCustomPrompt="1"/>
          </p:nvPr>
        </p:nvSpPr>
        <p:spPr>
          <a:xfrm>
            <a:off x="6692401" y="1076109"/>
            <a:ext cx="4680000" cy="1822734"/>
          </a:xfrm>
        </p:spPr>
        <p:txBody>
          <a:bodyPr/>
          <a:lstStyle>
            <a:lvl1pPr>
              <a:defRPr/>
            </a:lvl1pPr>
          </a:lstStyle>
          <a:p>
            <a:r>
              <a:rPr lang="en-GB" dirty="0"/>
              <a:t>Klik for at tilføje overskrift, maksimalt 3 linjer</a:t>
            </a:r>
            <a:endParaRPr lang="en-GB"/>
          </a:p>
        </p:txBody>
      </p:sp>
      <p:sp>
        <p:nvSpPr>
          <p:cNvPr id="6" name="Content Placeholder 5">
            <a:extLst>
              <a:ext uri="{FF2B5EF4-FFF2-40B4-BE49-F238E27FC236}">
                <a16:creationId xmlns:a16="http://schemas.microsoft.com/office/drawing/2014/main" id="{C4256969-981A-4869-9324-B595DF89D12E}"/>
              </a:ext>
            </a:extLst>
          </p:cNvPr>
          <p:cNvSpPr>
            <a:spLocks noGrp="1"/>
          </p:cNvSpPr>
          <p:nvPr>
            <p:ph sz="quarter" idx="19" hasCustomPrompt="1"/>
          </p:nvPr>
        </p:nvSpPr>
        <p:spPr>
          <a:xfrm>
            <a:off x="6692400"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14" name="text" descr="{&quot;templafy&quot;:{&quot;id&quot;:&quot;19392b15-c614-4755-aea8-28d38b6bbe91&quot;}}" title="UserProfile.Institut.InstituteDCU_{{DocumentLanguage}}">
            <a:extLst>
              <a:ext uri="{FF2B5EF4-FFF2-40B4-BE49-F238E27FC236}">
                <a16:creationId xmlns:a16="http://schemas.microsoft.com/office/drawing/2014/main" id="{060969B2-E177-4704-95D4-119A98BB90C5}"/>
              </a:ext>
            </a:extLst>
          </p:cNvPr>
          <p:cNvSpPr txBox="1">
            <a:spLocks/>
          </p:cNvSpPr>
          <p:nvPr userDrawn="1"/>
        </p:nvSpPr>
        <p:spPr>
          <a:xfrm>
            <a:off x="6692400" y="249585"/>
            <a:ext cx="4680000" cy="478677"/>
          </a:xfrm>
          <a:prstGeom prst="rect">
            <a:avLst/>
          </a:prstGeom>
          <a:noFill/>
        </p:spPr>
        <p:txBody>
          <a:bodyPr wrap="square" lIns="10800" tIns="0" rIns="0" bIns="90000" anchor="b" anchorCtr="0">
            <a:no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
        <p:nvSpPr>
          <p:cNvPr id="16" name="sdu.dk">
            <a:extLst>
              <a:ext uri="{FF2B5EF4-FFF2-40B4-BE49-F238E27FC236}">
                <a16:creationId xmlns:a16="http://schemas.microsoft.com/office/drawing/2014/main" id="{406E07B7-D9E4-488D-BA7B-56AC0D1DDD05}"/>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sdudk">
            <a:extLst>
              <a:ext uri="{FF2B5EF4-FFF2-40B4-BE49-F238E27FC236}">
                <a16:creationId xmlns:a16="http://schemas.microsoft.com/office/drawing/2014/main" id="{CD1A1828-0ED2-4AFE-8C5E-683996CBAF9D}"/>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cxnSp>
        <p:nvCxnSpPr>
          <p:cNvPr id="18" name="Straight Connector 17">
            <a:extLst>
              <a:ext uri="{FF2B5EF4-FFF2-40B4-BE49-F238E27FC236}">
                <a16:creationId xmlns:a16="http://schemas.microsoft.com/office/drawing/2014/main" id="{B68D6574-D545-4AC1-804C-76EBF3BEC544}"/>
              </a:ext>
            </a:extLst>
          </p:cNvPr>
          <p:cNvCxnSpPr>
            <a:cxnSpLocks/>
          </p:cNvCxnSpPr>
          <p:nvPr userDrawn="1"/>
        </p:nvCxnSpPr>
        <p:spPr>
          <a:xfrm>
            <a:off x="6691637"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date" descr="{&quot;templafy&quot;:{&quot;id&quot;:&quot;7c8a4e8f-f1eb-4af7-b254-c88f4a86ec48&quot;}}" title="Form.Date">
            <a:extLst>
              <a:ext uri="{FF2B5EF4-FFF2-40B4-BE49-F238E27FC236}">
                <a16:creationId xmlns:a16="http://schemas.microsoft.com/office/drawing/2014/main" id="{38150A77-BE4E-404D-B314-A1C41C791C1B}"/>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pic>
        <p:nvPicPr>
          <p:cNvPr id="20" name="Logo black">
            <a:extLst>
              <a:ext uri="{FF2B5EF4-FFF2-40B4-BE49-F238E27FC236}">
                <a16:creationId xmlns:a16="http://schemas.microsoft.com/office/drawing/2014/main" id="{1421C492-A651-4EE4-BB8B-C6886E7B5C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692400" y="6294893"/>
            <a:ext cx="784800" cy="211840"/>
          </a:xfrm>
          <a:prstGeom prst="rect">
            <a:avLst/>
          </a:prstGeom>
        </p:spPr>
      </p:pic>
      <p:sp>
        <p:nvSpPr>
          <p:cNvPr id="30" name="Date Placeholder 14">
            <a:extLst>
              <a:ext uri="{FF2B5EF4-FFF2-40B4-BE49-F238E27FC236}">
                <a16:creationId xmlns:a16="http://schemas.microsoft.com/office/drawing/2014/main" id="{2C4B35A0-F8F7-420F-9E06-CC0AAAA0B84F}"/>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22" name="TextBox 21">
            <a:extLst>
              <a:ext uri="{FF2B5EF4-FFF2-40B4-BE49-F238E27FC236}">
                <a16:creationId xmlns:a16="http://schemas.microsoft.com/office/drawing/2014/main" id="{7C94981C-CC58-4018-9B19-5053EFA6B6A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spTree>
    <p:extLst>
      <p:ext uri="{BB962C8B-B14F-4D97-AF65-F5344CB8AC3E}">
        <p14:creationId xmlns:p14="http://schemas.microsoft.com/office/powerpoint/2010/main" val="23072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illede og tekst (CV)">
    <p:spTree>
      <p:nvGrpSpPr>
        <p:cNvPr id="1" name=""/>
        <p:cNvGrpSpPr/>
        <p:nvPr/>
      </p:nvGrpSpPr>
      <p:grpSpPr>
        <a:xfrm>
          <a:off x="0" y="0"/>
          <a:ext cx="0" cy="0"/>
          <a:chOff x="0" y="0"/>
          <a:chExt cx="0" cy="0"/>
        </a:xfrm>
      </p:grpSpPr>
      <p:sp>
        <p:nvSpPr>
          <p:cNvPr id="7" name="Titel 1"/>
          <p:cNvSpPr>
            <a:spLocks noGrp="1"/>
          </p:cNvSpPr>
          <p:nvPr>
            <p:ph type="title" hasCustomPrompt="1"/>
          </p:nvPr>
        </p:nvSpPr>
        <p:spPr>
          <a:xfrm>
            <a:off x="6710399" y="1700213"/>
            <a:ext cx="4677070" cy="1436392"/>
          </a:xfrm>
        </p:spPr>
        <p:txBody>
          <a:bodyPr/>
          <a:lstStyle>
            <a:lvl1pPr>
              <a:defRPr sz="4800"/>
            </a:lvl1pPr>
          </a:lstStyle>
          <a:p>
            <a:r>
              <a:rPr lang="en-GB" dirty="0"/>
              <a:t>Overskrift i </a:t>
            </a:r>
            <a:r>
              <a:rPr lang="en-GB" dirty="0" err="1"/>
              <a:t>maks</a:t>
            </a:r>
            <a:r>
              <a:rPr lang="en-GB" dirty="0"/>
              <a:t> 2 linjer</a:t>
            </a:r>
            <a:endParaRPr lang="en-GB"/>
          </a:p>
        </p:txBody>
      </p:sp>
      <p:sp>
        <p:nvSpPr>
          <p:cNvPr id="15" name="Text Placeholder 4">
            <a:extLst>
              <a:ext uri="{FF2B5EF4-FFF2-40B4-BE49-F238E27FC236}">
                <a16:creationId xmlns:a16="http://schemas.microsoft.com/office/drawing/2014/main" id="{6FAAEFF0-FCE4-48D6-A0D1-A458F3CD3EB3}"/>
              </a:ext>
            </a:extLst>
          </p:cNvPr>
          <p:cNvSpPr>
            <a:spLocks noGrp="1"/>
          </p:cNvSpPr>
          <p:nvPr>
            <p:ph type="body" sz="quarter" idx="19" hasCustomPrompt="1"/>
          </p:nvPr>
        </p:nvSpPr>
        <p:spPr>
          <a:xfrm>
            <a:off x="6692202" y="3387600"/>
            <a:ext cx="4680000" cy="2466000"/>
          </a:xfrm>
        </p:spPr>
        <p:txBody>
          <a:bodyPr/>
          <a:lstStyle>
            <a:lvl1pPr>
              <a:defRPr/>
            </a:lvl1pPr>
          </a:lstStyle>
          <a:p>
            <a:pPr lvl="0"/>
            <a:r>
              <a:rPr lang="en-GB" dirty="0"/>
              <a:t>Klik for at tilføje tekst</a:t>
            </a:r>
            <a:endParaRPr lang="en-GB"/>
          </a:p>
          <a:p>
            <a:pPr lvl="1"/>
            <a:r>
              <a:rPr lang="en-GB" dirty="0"/>
              <a:t>Second </a:t>
            </a:r>
            <a:r>
              <a:rPr lang="en-GB" dirty="0" err="1"/>
              <a:t>level</a:t>
            </a:r>
            <a:endParaRPr lang="en-GB" dirty="0"/>
          </a:p>
          <a:p>
            <a:pPr lvl="2"/>
            <a:r>
              <a:rPr lang="en-GB" dirty="0"/>
              <a:t>Third </a:t>
            </a:r>
            <a:r>
              <a:rPr lang="en-GB" dirty="0" err="1"/>
              <a:t>level</a:t>
            </a:r>
            <a:endParaRPr lang="en-GB" dirty="0"/>
          </a:p>
          <a:p>
            <a:pPr lvl="3"/>
            <a:r>
              <a:rPr lang="en-GB" dirty="0" err="1"/>
              <a:t>Fourth</a:t>
            </a:r>
            <a:r>
              <a:rPr lang="en-GB" dirty="0"/>
              <a:t> </a:t>
            </a:r>
            <a:r>
              <a:rPr lang="en-GB" dirty="0" err="1"/>
              <a:t>level</a:t>
            </a:r>
            <a:endParaRPr lang="en-GB" dirty="0"/>
          </a:p>
          <a:p>
            <a:pPr lvl="4"/>
            <a:r>
              <a:rPr lang="en-GB" dirty="0"/>
              <a:t>Fifth </a:t>
            </a:r>
            <a:r>
              <a:rPr lang="en-GB" dirty="0" err="1"/>
              <a:t>level</a:t>
            </a:r>
            <a:endParaRPr lang="en-GB" dirty="0"/>
          </a:p>
        </p:txBody>
      </p:sp>
      <p:sp>
        <p:nvSpPr>
          <p:cNvPr id="6" name="Text Placeholder 5">
            <a:extLst>
              <a:ext uri="{FF2B5EF4-FFF2-40B4-BE49-F238E27FC236}">
                <a16:creationId xmlns:a16="http://schemas.microsoft.com/office/drawing/2014/main" id="{2F21E6D3-406B-4DA0-9B5A-6A2F208BAF71}"/>
              </a:ext>
            </a:extLst>
          </p:cNvPr>
          <p:cNvSpPr>
            <a:spLocks noGrp="1"/>
          </p:cNvSpPr>
          <p:nvPr>
            <p:ph type="body" sz="quarter" idx="18" hasCustomPrompt="1"/>
          </p:nvPr>
        </p:nvSpPr>
        <p:spPr>
          <a:xfrm>
            <a:off x="6710399" y="452437"/>
            <a:ext cx="4659277" cy="790493"/>
          </a:xfrm>
        </p:spPr>
        <p:txBody>
          <a:bodyPr anchor="b" anchorCtr="0"/>
          <a:lstStyle>
            <a:lvl1pPr marL="0" indent="0">
              <a:buFont typeface="Arial" panose="020B0604020202020204" pitchFamily="34" charset="0"/>
              <a:buNone/>
              <a:defRPr/>
            </a:lvl1pPr>
          </a:lstStyle>
          <a:p>
            <a:pPr lvl="0"/>
            <a:r>
              <a:rPr lang="en-GB" dirty="0"/>
              <a:t>Klik for at indsætte tekst (f.eks. job titel)</a:t>
            </a:r>
            <a:endParaRPr lang="en-GB"/>
          </a:p>
        </p:txBody>
      </p:sp>
      <p:sp>
        <p:nvSpPr>
          <p:cNvPr id="10" name="Pladsholder til billede 3"/>
          <p:cNvSpPr>
            <a:spLocks noGrp="1"/>
          </p:cNvSpPr>
          <p:nvPr>
            <p:ph type="pic" sz="quarter" idx="13" hasCustomPrompt="1"/>
          </p:nvPr>
        </p:nvSpPr>
        <p:spPr>
          <a:xfrm>
            <a:off x="411163" y="1016000"/>
            <a:ext cx="4043879" cy="4804038"/>
          </a:xfrm>
          <a:noFill/>
        </p:spPr>
        <p:txBody>
          <a:bodyPr/>
          <a:lstStyle>
            <a:lvl1pPr marL="0" indent="0" algn="ctr">
              <a:buNone/>
              <a:defRPr sz="1100"/>
            </a:lvl1pPr>
          </a:lstStyle>
          <a:p>
            <a:r>
              <a:rPr lang="en-GB" dirty="0"/>
              <a:t>Vælg pladsholderen og indsæt billede via Templafy/Skyfish eller ikon eller logo via Templafy/Billeder</a:t>
            </a:r>
            <a:endParaRPr lang="en-GB"/>
          </a:p>
        </p:txBody>
      </p:sp>
      <p:sp>
        <p:nvSpPr>
          <p:cNvPr id="18" name="Date Placeholder 14">
            <a:extLst>
              <a:ext uri="{FF2B5EF4-FFF2-40B4-BE49-F238E27FC236}">
                <a16:creationId xmlns:a16="http://schemas.microsoft.com/office/drawing/2014/main" id="{4AC2696B-BD55-4932-A36E-BCC4318F22B0}"/>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4" name="Date Placeholder 3">
            <a:extLst>
              <a:ext uri="{FF2B5EF4-FFF2-40B4-BE49-F238E27FC236}">
                <a16:creationId xmlns:a16="http://schemas.microsoft.com/office/drawing/2014/main" id="{01591D0A-163E-46D9-B4AE-DA2791457328}"/>
              </a:ext>
            </a:extLst>
          </p:cNvPr>
          <p:cNvSpPr>
            <a:spLocks noGrp="1"/>
          </p:cNvSpPr>
          <p:nvPr>
            <p:ph type="dt" sz="half" idx="20"/>
          </p:nvPr>
        </p:nvSpPr>
        <p:spPr/>
        <p:txBody>
          <a:bodyPr/>
          <a:lstStyle/>
          <a:p>
            <a:fld id="{F1A13B18-F5ED-4611-8DBB-F05123AFBA22}" type="datetimeFigureOut">
              <a:rPr lang="en-GB" smtClean="0"/>
              <a:pPr/>
              <a:t>18/09/2024</a:t>
            </a:fld>
            <a:endParaRPr lang="en-GB" dirty="0"/>
          </a:p>
        </p:txBody>
      </p:sp>
      <p:sp>
        <p:nvSpPr>
          <p:cNvPr id="5" name="Footer Placeholder 4">
            <a:extLst>
              <a:ext uri="{FF2B5EF4-FFF2-40B4-BE49-F238E27FC236}">
                <a16:creationId xmlns:a16="http://schemas.microsoft.com/office/drawing/2014/main" id="{CD31645F-3EEE-4ACC-9DE8-38B996FFAD12}"/>
              </a:ext>
            </a:extLst>
          </p:cNvPr>
          <p:cNvSpPr>
            <a:spLocks noGrp="1"/>
          </p:cNvSpPr>
          <p:nvPr>
            <p:ph type="ftr" sz="quarter" idx="21"/>
          </p:nvPr>
        </p:nvSpPr>
        <p:spPr/>
        <p:txBody>
          <a:bodyPr/>
          <a:lstStyle/>
          <a:p>
            <a:endParaRPr lang="en-GB" dirty="0"/>
          </a:p>
        </p:txBody>
      </p:sp>
      <p:sp>
        <p:nvSpPr>
          <p:cNvPr id="11" name="Slide Number Placeholder 10">
            <a:extLst>
              <a:ext uri="{FF2B5EF4-FFF2-40B4-BE49-F238E27FC236}">
                <a16:creationId xmlns:a16="http://schemas.microsoft.com/office/drawing/2014/main" id="{DA9685AE-678B-466E-B97B-590BC795CFDA}"/>
              </a:ext>
            </a:extLst>
          </p:cNvPr>
          <p:cNvSpPr>
            <a:spLocks noGrp="1"/>
          </p:cNvSpPr>
          <p:nvPr>
            <p:ph type="sldNum" sz="quarter" idx="22"/>
          </p:nvPr>
        </p:nvSpPr>
        <p:spPr/>
        <p:txBody>
          <a:bodyPr/>
          <a:lstStyle/>
          <a:p>
            <a:fld id="{45D37B1E-C366-494F-A587-962AD9AABC83}" type="slidenum">
              <a:rPr lang="en-GB" smtClean="0"/>
              <a:pPr/>
              <a:t>‹nr.›</a:t>
            </a:fld>
            <a:endParaRPr lang="en-GB" dirty="0"/>
          </a:p>
        </p:txBody>
      </p:sp>
      <p:sp>
        <p:nvSpPr>
          <p:cNvPr id="12" name="TextBox 11">
            <a:extLst>
              <a:ext uri="{FF2B5EF4-FFF2-40B4-BE49-F238E27FC236}">
                <a16:creationId xmlns:a16="http://schemas.microsoft.com/office/drawing/2014/main" id="{4E308762-F27B-4C02-A3F6-050482784129}"/>
              </a:ext>
            </a:extLst>
          </p:cNvPr>
          <p:cNvSpPr txBox="1"/>
          <p:nvPr userDrawn="1"/>
        </p:nvSpPr>
        <p:spPr>
          <a:xfrm>
            <a:off x="0" y="-349741"/>
            <a:ext cx="11457183" cy="323165"/>
          </a:xfrm>
          <a:prstGeom prst="rect">
            <a:avLst/>
          </a:prstGeom>
          <a:noFill/>
        </p:spPr>
        <p:txBody>
          <a:bodyPr wrap="square" lIns="0" tIns="0" rIns="0" bIns="0" rtlCol="0">
            <a:spAutoFit/>
          </a:bodyPr>
          <a:lstStyle/>
          <a:p>
            <a:r>
              <a:rPr lang="en-GB" sz="1050" b="1" noProof="1"/>
              <a:t>Skift baggrundsfarve. </a:t>
            </a:r>
            <a:r>
              <a:rPr lang="en-GB" sz="1050" noProof="1"/>
              <a:t>Højreklik på slidet og vælg </a:t>
            </a:r>
            <a:r>
              <a:rPr lang="en-GB" sz="1050" b="1" noProof="1"/>
              <a:t>Formatér baggrund</a:t>
            </a:r>
            <a:r>
              <a:rPr lang="en-GB" sz="1050" noProof="1"/>
              <a:t>. Klik på </a:t>
            </a:r>
            <a:r>
              <a:rPr lang="en-GB" sz="1050" b="1" noProof="1"/>
              <a:t>Fyld farve </a:t>
            </a:r>
            <a:r>
              <a:rPr lang="en-GB" sz="1050" noProof="1"/>
              <a:t>i Formater baggrund vinduet og vælg farve fra øverste række i SDU’s farve palette eller fra den brugerdefinerede farvepalette</a:t>
            </a:r>
            <a:endParaRPr lang="en-GB"/>
          </a:p>
        </p:txBody>
      </p:sp>
      <p:pic>
        <p:nvPicPr>
          <p:cNvPr id="13" name="Logo black">
            <a:extLst>
              <a:ext uri="{FF2B5EF4-FFF2-40B4-BE49-F238E27FC236}">
                <a16:creationId xmlns:a16="http://schemas.microsoft.com/office/drawing/2014/main" id="{16CDF92D-C78F-4CBE-853B-4E3CD39D2A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sp>
        <p:nvSpPr>
          <p:cNvPr id="14" name="text" descr="{&quot;templafy&quot;:{&quot;id&quot;:&quot;c5e3364f-695b-4164-8ae0-df0baedf3be1&quot;}}" title="UserProfile.Institut.InstituteDCU_{{DocumentLanguage}}">
            <a:extLst>
              <a:ext uri="{FF2B5EF4-FFF2-40B4-BE49-F238E27FC236}">
                <a16:creationId xmlns:a16="http://schemas.microsoft.com/office/drawing/2014/main" id="{DF6D8BC8-E65A-425F-8A88-41B507F8A632}"/>
              </a:ext>
            </a:extLst>
          </p:cNvPr>
          <p:cNvSpPr txBox="1">
            <a:spLocks/>
          </p:cNvSpPr>
          <p:nvPr userDrawn="1"/>
        </p:nvSpPr>
        <p:spPr>
          <a:xfrm>
            <a:off x="411160" y="442422"/>
            <a:ext cx="602734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a:t>The Maersk Mc-Kinney Moller Institute</a:t>
            </a:r>
          </a:p>
        </p:txBody>
      </p:sp>
      <p:cxnSp>
        <p:nvCxnSpPr>
          <p:cNvPr id="16" name="Straight Connector 15">
            <a:extLst>
              <a:ext uri="{FF2B5EF4-FFF2-40B4-BE49-F238E27FC236}">
                <a16:creationId xmlns:a16="http://schemas.microsoft.com/office/drawing/2014/main" id="{07D7BB8A-9FF7-4F5F-964E-11BE0AD89A9E}"/>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EA0D29C7-1B08-47AE-80F0-21F12DFA77C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9" name="Rectangle 18">
            <a:extLst>
              <a:ext uri="{FF2B5EF4-FFF2-40B4-BE49-F238E27FC236}">
                <a16:creationId xmlns:a16="http://schemas.microsoft.com/office/drawing/2014/main" id="{BBE87218-65BF-484A-9BC3-CFE3F6FD4ECC}"/>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Tree>
    <p:extLst>
      <p:ext uri="{BB962C8B-B14F-4D97-AF65-F5344CB8AC3E}">
        <p14:creationId xmlns:p14="http://schemas.microsoft.com/office/powerpoint/2010/main" val="21722343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verskrift og bille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4" name="Picture Placeholder 3">
            <a:extLst>
              <a:ext uri="{FF2B5EF4-FFF2-40B4-BE49-F238E27FC236}">
                <a16:creationId xmlns:a16="http://schemas.microsoft.com/office/drawing/2014/main" id="{BAC5FF5C-5A1F-4EF8-85A8-E1370E4FA7C5}"/>
              </a:ext>
            </a:extLst>
          </p:cNvPr>
          <p:cNvSpPr>
            <a:spLocks noGrp="1"/>
          </p:cNvSpPr>
          <p:nvPr>
            <p:ph type="pic" sz="quarter" idx="14" hasCustomPrompt="1"/>
          </p:nvPr>
        </p:nvSpPr>
        <p:spPr>
          <a:xfrm>
            <a:off x="6415848" y="1000443"/>
            <a:ext cx="4951428" cy="4841557"/>
          </a:xfrm>
        </p:spPr>
        <p:txBody>
          <a:bodyPr/>
          <a:lstStyle>
            <a:lvl1pPr marL="0" indent="0" algn="ctr">
              <a:buNone/>
              <a:defRPr sz="1400"/>
            </a:lvl1pPr>
          </a:lstStyle>
          <a:p>
            <a:r>
              <a:rPr lang="en-GB" dirty="0"/>
              <a:t>Vælg pladsholderen og indsæt billede via Templafy/Skyfish eller ikon eller logo via Templafy/Billeder</a:t>
            </a:r>
            <a:endParaRPr lang="en-GB"/>
          </a:p>
        </p:txBody>
      </p:sp>
      <p:sp>
        <p:nvSpPr>
          <p:cNvPr id="17" name="Date Placeholder 14">
            <a:extLst>
              <a:ext uri="{FF2B5EF4-FFF2-40B4-BE49-F238E27FC236}">
                <a16:creationId xmlns:a16="http://schemas.microsoft.com/office/drawing/2014/main" id="{360EC57D-D72D-43A3-90BC-3ACC9F8BC95A}"/>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sp>
        <p:nvSpPr>
          <p:cNvPr id="18" name="Date Placeholder 14">
            <a:extLst>
              <a:ext uri="{FF2B5EF4-FFF2-40B4-BE49-F238E27FC236}">
                <a16:creationId xmlns:a16="http://schemas.microsoft.com/office/drawing/2014/main" id="{36B2A848-B2AD-472A-AC10-0002D162D52D}"/>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3" name="Footer Placeholder 2">
            <a:extLst>
              <a:ext uri="{FF2B5EF4-FFF2-40B4-BE49-F238E27FC236}">
                <a16:creationId xmlns:a16="http://schemas.microsoft.com/office/drawing/2014/main" id="{2920C039-324F-433E-90A2-B9FAD2872EC2}"/>
              </a:ext>
            </a:extLst>
          </p:cNvPr>
          <p:cNvSpPr>
            <a:spLocks noGrp="1"/>
          </p:cNvSpPr>
          <p:nvPr>
            <p:ph type="ftr" sz="quarter" idx="15"/>
          </p:nvPr>
        </p:nvSpPr>
        <p:spPr/>
        <p:txBody>
          <a:bodyPr/>
          <a:lstStyle/>
          <a:p>
            <a:endParaRPr lang="en-GB" dirty="0"/>
          </a:p>
        </p:txBody>
      </p:sp>
      <p:sp>
        <p:nvSpPr>
          <p:cNvPr id="4" name="Slide Number Placeholder 3">
            <a:extLst>
              <a:ext uri="{FF2B5EF4-FFF2-40B4-BE49-F238E27FC236}">
                <a16:creationId xmlns:a16="http://schemas.microsoft.com/office/drawing/2014/main" id="{417D6F82-73FC-4F13-BFEC-9200E77E1527}"/>
              </a:ext>
            </a:extLst>
          </p:cNvPr>
          <p:cNvSpPr>
            <a:spLocks noGrp="1"/>
          </p:cNvSpPr>
          <p:nvPr>
            <p:ph type="sldNum" sz="quarter" idx="16"/>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918304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ire ikoner">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FA71C01-3350-42F9-9392-0F3379095A93}"/>
              </a:ext>
            </a:extLst>
          </p:cNvPr>
          <p:cNvSpPr>
            <a:spLocks noGrp="1"/>
          </p:cNvSpPr>
          <p:nvPr>
            <p:ph sz="quarter" idx="13" hasCustomPrompt="1"/>
          </p:nvPr>
        </p:nvSpPr>
        <p:spPr>
          <a:xfrm>
            <a:off x="2932902" y="1700213"/>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1" name="Text Placeholder 10">
            <a:extLst>
              <a:ext uri="{FF2B5EF4-FFF2-40B4-BE49-F238E27FC236}">
                <a16:creationId xmlns:a16="http://schemas.microsoft.com/office/drawing/2014/main" id="{C0A09C85-3CCC-44AB-A808-AA96845B1281}"/>
              </a:ext>
            </a:extLst>
          </p:cNvPr>
          <p:cNvSpPr>
            <a:spLocks noGrp="1"/>
          </p:cNvSpPr>
          <p:nvPr>
            <p:ph type="body" sz="quarter" idx="14" hasCustomPrompt="1"/>
          </p:nvPr>
        </p:nvSpPr>
        <p:spPr>
          <a:xfrm>
            <a:off x="2932902" y="2733129"/>
            <a:ext cx="3564000" cy="756000"/>
          </a:xfrm>
        </p:spPr>
        <p:txBody>
          <a:bodyPr/>
          <a:lstStyle>
            <a:lvl1pPr marL="0" indent="0">
              <a:buFont typeface="Arial" panose="020B0604020202020204" pitchFamily="34" charset="0"/>
              <a:buChar char="​"/>
              <a:defRPr sz="2100" b="1"/>
            </a:lvl1pPr>
            <a:lvl2pPr marL="252000">
              <a:defRPr/>
            </a:lvl2pPr>
            <a:lvl3pPr marL="504000">
              <a:defRPr/>
            </a:lvl3pPr>
          </a:lstStyle>
          <a:p>
            <a:pPr lvl="0"/>
            <a:r>
              <a:rPr lang="en-GB"/>
              <a:t>Klik for at tilføje overskrift</a:t>
            </a:r>
          </a:p>
          <a:p>
            <a:pPr lvl="1"/>
            <a:r>
              <a:rPr lang="en-GB"/>
              <a:t>Second level</a:t>
            </a:r>
          </a:p>
          <a:p>
            <a:pPr lvl="2"/>
            <a:endParaRPr lang="en-GB" dirty="0"/>
          </a:p>
        </p:txBody>
      </p:sp>
      <p:sp>
        <p:nvSpPr>
          <p:cNvPr id="13" name="Content Placeholder 12">
            <a:extLst>
              <a:ext uri="{FF2B5EF4-FFF2-40B4-BE49-F238E27FC236}">
                <a16:creationId xmlns:a16="http://schemas.microsoft.com/office/drawing/2014/main" id="{3F35B7FD-E0E2-4581-BAC7-8858E530AFEA}"/>
              </a:ext>
            </a:extLst>
          </p:cNvPr>
          <p:cNvSpPr>
            <a:spLocks noGrp="1"/>
          </p:cNvSpPr>
          <p:nvPr>
            <p:ph sz="quarter" idx="15" hasCustomPrompt="1"/>
          </p:nvPr>
        </p:nvSpPr>
        <p:spPr>
          <a:xfrm>
            <a:off x="2934000"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15" name="Text Placeholder 14">
            <a:extLst>
              <a:ext uri="{FF2B5EF4-FFF2-40B4-BE49-F238E27FC236}">
                <a16:creationId xmlns:a16="http://schemas.microsoft.com/office/drawing/2014/main" id="{52C92166-E723-47D5-9A87-3354EB28C43E}"/>
              </a:ext>
            </a:extLst>
          </p:cNvPr>
          <p:cNvSpPr>
            <a:spLocks noGrp="1"/>
          </p:cNvSpPr>
          <p:nvPr>
            <p:ph type="body" sz="quarter" idx="16" hasCustomPrompt="1"/>
          </p:nvPr>
        </p:nvSpPr>
        <p:spPr>
          <a:xfrm>
            <a:off x="2932112" y="5093240"/>
            <a:ext cx="3564000" cy="756000"/>
          </a:xfrm>
        </p:spPr>
        <p:txBody>
          <a:bodyPr/>
          <a:lstStyle>
            <a:lvl1pPr marL="0" indent="0">
              <a:buFont typeface="Arial" panose="020B0604020202020204" pitchFamily="34" charset="0"/>
              <a:buChar char="​"/>
              <a:defRPr sz="2000" b="1"/>
            </a:lvl1pPr>
            <a:lvl2pPr marL="252000">
              <a:defRPr/>
            </a:lvl2pPr>
            <a:lvl3pPr marL="252000" indent="0">
              <a:buNone/>
              <a:defRPr/>
            </a:lvl3pPr>
          </a:lstStyle>
          <a:p>
            <a:pPr lvl="0"/>
            <a:r>
              <a:rPr lang="en-GB" dirty="0"/>
              <a:t>Klik for at </a:t>
            </a:r>
            <a:r>
              <a:rPr lang="en-GB"/>
              <a:t>tilføje overskrift</a:t>
            </a:r>
          </a:p>
          <a:p>
            <a:pPr lvl="1"/>
            <a:r>
              <a:rPr lang="en-GB"/>
              <a:t>Second level</a:t>
            </a:r>
            <a:endParaRPr lang="en-GB" dirty="0"/>
          </a:p>
        </p:txBody>
      </p:sp>
      <p:sp>
        <p:nvSpPr>
          <p:cNvPr id="17" name="Content Placeholder 16">
            <a:extLst>
              <a:ext uri="{FF2B5EF4-FFF2-40B4-BE49-F238E27FC236}">
                <a16:creationId xmlns:a16="http://schemas.microsoft.com/office/drawing/2014/main" id="{AE23DA26-37CC-4CA7-8253-FD9AB459D2EF}"/>
              </a:ext>
            </a:extLst>
          </p:cNvPr>
          <p:cNvSpPr>
            <a:spLocks noGrp="1"/>
          </p:cNvSpPr>
          <p:nvPr>
            <p:ph sz="quarter" idx="17" hasCustomPrompt="1"/>
          </p:nvPr>
        </p:nvSpPr>
        <p:spPr>
          <a:xfrm>
            <a:off x="7474740" y="1700213"/>
            <a:ext cx="936000" cy="936000"/>
          </a:xfrm>
        </p:spPr>
        <p:txBody>
          <a:bodyPr wrap="none"/>
          <a:lstStyle>
            <a:lvl1pPr marL="0" indent="0">
              <a:buNone/>
              <a:defRPr sz="1000"/>
            </a:lvl1pPr>
            <a:lvl2pPr marL="252000" indent="0">
              <a:buNone/>
              <a:defRPr sz="1000"/>
            </a:lvl2pPr>
          </a:lstStyle>
          <a:p>
            <a:pPr lvl="0"/>
            <a:r>
              <a:rPr lang="en-GB" dirty="0"/>
              <a:t>Indsæt logo: Vælg pladsholderen, indsæt logo via Templafy/Billeder</a:t>
            </a:r>
            <a:endParaRPr lang="en-GB"/>
          </a:p>
        </p:txBody>
      </p:sp>
      <p:sp>
        <p:nvSpPr>
          <p:cNvPr id="19" name="Text Placeholder 18">
            <a:extLst>
              <a:ext uri="{FF2B5EF4-FFF2-40B4-BE49-F238E27FC236}">
                <a16:creationId xmlns:a16="http://schemas.microsoft.com/office/drawing/2014/main" id="{62682726-03AB-4490-8664-993881FA0BB1}"/>
              </a:ext>
            </a:extLst>
          </p:cNvPr>
          <p:cNvSpPr>
            <a:spLocks noGrp="1"/>
          </p:cNvSpPr>
          <p:nvPr>
            <p:ph type="body" sz="quarter" idx="18" hasCustomPrompt="1"/>
          </p:nvPr>
        </p:nvSpPr>
        <p:spPr>
          <a:xfrm>
            <a:off x="7459663" y="273240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p>
          <a:p>
            <a:pPr lvl="2"/>
            <a:endParaRPr lang="en-GB" dirty="0"/>
          </a:p>
        </p:txBody>
      </p:sp>
      <p:sp>
        <p:nvSpPr>
          <p:cNvPr id="21" name="Content Placeholder 20">
            <a:extLst>
              <a:ext uri="{FF2B5EF4-FFF2-40B4-BE49-F238E27FC236}">
                <a16:creationId xmlns:a16="http://schemas.microsoft.com/office/drawing/2014/main" id="{762625AB-198B-4F37-9382-C78FD9118D5A}"/>
              </a:ext>
            </a:extLst>
          </p:cNvPr>
          <p:cNvSpPr>
            <a:spLocks noGrp="1"/>
          </p:cNvSpPr>
          <p:nvPr>
            <p:ph sz="quarter" idx="19" hasCustomPrompt="1"/>
          </p:nvPr>
        </p:nvSpPr>
        <p:spPr>
          <a:xfrm>
            <a:off x="7459663" y="4012975"/>
            <a:ext cx="936000" cy="936000"/>
          </a:xfrm>
        </p:spPr>
        <p:txBody>
          <a:bodyPr wrap="none"/>
          <a:lstStyle>
            <a:lvl1pPr marL="0" indent="0">
              <a:buNone/>
              <a:defRPr sz="1000"/>
            </a:lvl1pPr>
          </a:lstStyle>
          <a:p>
            <a:pPr lvl="0"/>
            <a:r>
              <a:rPr lang="en-GB" dirty="0"/>
              <a:t>Indsæt logo: Vælg pladsholderen, indsæt logo via Templafy/Billeder</a:t>
            </a:r>
            <a:endParaRPr lang="en-GB"/>
          </a:p>
        </p:txBody>
      </p:sp>
      <p:sp>
        <p:nvSpPr>
          <p:cNvPr id="23" name="Text Placeholder 22">
            <a:extLst>
              <a:ext uri="{FF2B5EF4-FFF2-40B4-BE49-F238E27FC236}">
                <a16:creationId xmlns:a16="http://schemas.microsoft.com/office/drawing/2014/main" id="{D8AE7F93-F2C6-4199-8D16-CFB4D977F63E}"/>
              </a:ext>
            </a:extLst>
          </p:cNvPr>
          <p:cNvSpPr>
            <a:spLocks noGrp="1"/>
          </p:cNvSpPr>
          <p:nvPr>
            <p:ph type="body" sz="quarter" idx="20" hasCustomPrompt="1"/>
          </p:nvPr>
        </p:nvSpPr>
        <p:spPr>
          <a:xfrm>
            <a:off x="7473948" y="5093240"/>
            <a:ext cx="3564000" cy="756000"/>
          </a:xfrm>
        </p:spPr>
        <p:txBody>
          <a:bodyPr/>
          <a:lstStyle>
            <a:lvl1pPr marL="0" indent="0">
              <a:buFont typeface="Arial" panose="020B0604020202020204" pitchFamily="34" charset="0"/>
              <a:buChar char="​"/>
              <a:defRPr sz="2000" b="1"/>
            </a:lvl1pPr>
            <a:lvl2pPr marL="252000">
              <a:defRPr/>
            </a:lvl2pPr>
            <a:lvl3pPr marL="504000">
              <a:defRPr/>
            </a:lvl3pPr>
          </a:lstStyle>
          <a:p>
            <a:pPr lvl="0"/>
            <a:r>
              <a:rPr lang="en-GB" dirty="0"/>
              <a:t>Klik for at </a:t>
            </a:r>
            <a:r>
              <a:rPr lang="en-GB"/>
              <a:t>tilføje overskrift</a:t>
            </a:r>
          </a:p>
          <a:p>
            <a:pPr lvl="1"/>
            <a:r>
              <a:rPr lang="en-GB"/>
              <a:t>Second level</a:t>
            </a:r>
            <a:endParaRPr lang="en-GB" dirty="0"/>
          </a:p>
        </p:txBody>
      </p:sp>
      <p:sp>
        <p:nvSpPr>
          <p:cNvPr id="3" name="Footer Placeholder 2">
            <a:extLst>
              <a:ext uri="{FF2B5EF4-FFF2-40B4-BE49-F238E27FC236}">
                <a16:creationId xmlns:a16="http://schemas.microsoft.com/office/drawing/2014/main" id="{0C4D261F-AFF9-422D-9FB3-5AE92F19507E}"/>
              </a:ext>
            </a:extLst>
          </p:cNvPr>
          <p:cNvSpPr>
            <a:spLocks noGrp="1"/>
          </p:cNvSpPr>
          <p:nvPr>
            <p:ph type="ftr" sz="quarter" idx="10"/>
          </p:nvPr>
        </p:nvSpPr>
        <p:spPr/>
        <p:txBody>
          <a:bodyPr/>
          <a:lstStyle/>
          <a:p>
            <a:endParaRPr lang="en-GB" dirty="0"/>
          </a:p>
        </p:txBody>
      </p:sp>
      <p:sp>
        <p:nvSpPr>
          <p:cNvPr id="4" name="Date Placeholder 3">
            <a:extLst>
              <a:ext uri="{FF2B5EF4-FFF2-40B4-BE49-F238E27FC236}">
                <a16:creationId xmlns:a16="http://schemas.microsoft.com/office/drawing/2014/main" id="{21133E6A-A4F4-491B-846E-1DACC83D9BB7}"/>
              </a:ext>
            </a:extLst>
          </p:cNvPr>
          <p:cNvSpPr>
            <a:spLocks noGrp="1"/>
          </p:cNvSpPr>
          <p:nvPr>
            <p:ph type="dt" sz="half" idx="11"/>
          </p:nvPr>
        </p:nvSpPr>
        <p:spPr/>
        <p:txBody>
          <a:bodyPr/>
          <a:lstStyle/>
          <a:p>
            <a:fld id="{F1A13B18-F5ED-4611-8DBB-F05123AFBA22}" type="datetimeFigureOut">
              <a:rPr lang="en-GB" smtClean="0"/>
              <a:pPr/>
              <a:t>18/09/2024</a:t>
            </a:fld>
            <a:endParaRPr lang="en-GB" dirty="0"/>
          </a:p>
        </p:txBody>
      </p:sp>
      <p:sp>
        <p:nvSpPr>
          <p:cNvPr id="5" name="Slide Number Placeholder 4">
            <a:extLst>
              <a:ext uri="{FF2B5EF4-FFF2-40B4-BE49-F238E27FC236}">
                <a16:creationId xmlns:a16="http://schemas.microsoft.com/office/drawing/2014/main" id="{6C38E8B2-EC82-4BE1-85C6-8F272596913A}"/>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35829211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Overskrift og logo">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56F8A6A9-890A-4EA2-8FA4-EA834B1A12F4}"/>
              </a:ext>
            </a:extLst>
          </p:cNvPr>
          <p:cNvSpPr>
            <a:spLocks noGrp="1"/>
          </p:cNvSpPr>
          <p:nvPr>
            <p:ph type="ctrTitle" hasCustomPrompt="1"/>
          </p:nvPr>
        </p:nvSpPr>
        <p:spPr>
          <a:xfrm>
            <a:off x="414697" y="1700212"/>
            <a:ext cx="5367600" cy="4141787"/>
          </a:xfrm>
        </p:spPr>
        <p:txBody>
          <a:bodyPr anchor="t" anchorCtr="0"/>
          <a:lstStyle>
            <a:lvl1pPr algn="l">
              <a:lnSpc>
                <a:spcPct val="100000"/>
              </a:lnSpc>
              <a:defRPr sz="3600">
                <a:solidFill>
                  <a:schemeClr val="tx1"/>
                </a:solidFill>
              </a:defRPr>
            </a:lvl1pPr>
          </a:lstStyle>
          <a:p>
            <a:r>
              <a:rPr lang="en-GB" dirty="0"/>
              <a:t>Klik for at tilføje overskrift</a:t>
            </a:r>
            <a:endParaRPr lang="en-GB"/>
          </a:p>
        </p:txBody>
      </p:sp>
      <p:sp>
        <p:nvSpPr>
          <p:cNvPr id="11" name="Date Placeholder 14">
            <a:extLst>
              <a:ext uri="{FF2B5EF4-FFF2-40B4-BE49-F238E27FC236}">
                <a16:creationId xmlns:a16="http://schemas.microsoft.com/office/drawing/2014/main" id="{705F52FC-7E26-46C0-8E8B-4445D500B9C7}"/>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7" name="Date Placeholder 6">
            <a:extLst>
              <a:ext uri="{FF2B5EF4-FFF2-40B4-BE49-F238E27FC236}">
                <a16:creationId xmlns:a16="http://schemas.microsoft.com/office/drawing/2014/main" id="{D01B1D99-4B52-4731-AEC4-C722464A7D1B}"/>
              </a:ext>
            </a:extLst>
          </p:cNvPr>
          <p:cNvSpPr>
            <a:spLocks noGrp="1"/>
          </p:cNvSpPr>
          <p:nvPr>
            <p:ph type="dt" sz="half" idx="10"/>
          </p:nvPr>
        </p:nvSpPr>
        <p:spPr/>
        <p:txBody>
          <a:bodyPr/>
          <a:lstStyle/>
          <a:p>
            <a:fld id="{F1A13B18-F5ED-4611-8DBB-F05123AFBA22}" type="datetimeFigureOut">
              <a:rPr lang="en-GB" smtClean="0"/>
              <a:pPr/>
              <a:t>18/09/2024</a:t>
            </a:fld>
            <a:endParaRPr lang="en-GB" dirty="0"/>
          </a:p>
        </p:txBody>
      </p:sp>
      <p:sp>
        <p:nvSpPr>
          <p:cNvPr id="9" name="Footer Placeholder 8">
            <a:extLst>
              <a:ext uri="{FF2B5EF4-FFF2-40B4-BE49-F238E27FC236}">
                <a16:creationId xmlns:a16="http://schemas.microsoft.com/office/drawing/2014/main" id="{F5FCEDFC-AE26-4F9F-9153-1837190678EF}"/>
              </a:ext>
            </a:extLst>
          </p:cNvPr>
          <p:cNvSpPr>
            <a:spLocks noGrp="1"/>
          </p:cNvSpPr>
          <p:nvPr>
            <p:ph type="ftr" sz="quarter" idx="11"/>
          </p:nvPr>
        </p:nvSpPr>
        <p:spPr/>
        <p:txBody>
          <a:bodyPr/>
          <a:lstStyle/>
          <a:p>
            <a:endParaRPr lang="en-GB" dirty="0"/>
          </a:p>
        </p:txBody>
      </p:sp>
      <p:sp>
        <p:nvSpPr>
          <p:cNvPr id="12" name="Slide Number Placeholder 11">
            <a:extLst>
              <a:ext uri="{FF2B5EF4-FFF2-40B4-BE49-F238E27FC236}">
                <a16:creationId xmlns:a16="http://schemas.microsoft.com/office/drawing/2014/main" id="{4B452C39-88DE-4155-8ED8-643714B1A9FE}"/>
              </a:ext>
            </a:extLst>
          </p:cNvPr>
          <p:cNvSpPr>
            <a:spLocks noGrp="1"/>
          </p:cNvSpPr>
          <p:nvPr>
            <p:ph type="sldNum" sz="quarter" idx="12"/>
          </p:nvPr>
        </p:nvSpPr>
        <p:spPr/>
        <p:txBody>
          <a:bodyPr/>
          <a:lstStyle/>
          <a:p>
            <a:fld id="{45D37B1E-C366-494F-A587-962AD9AABC83}" type="slidenum">
              <a:rPr lang="en-GB" smtClean="0"/>
              <a:pPr/>
              <a:t>‹nr.›</a:t>
            </a:fld>
            <a:endParaRPr lang="en-GB" dirty="0"/>
          </a:p>
        </p:txBody>
      </p:sp>
    </p:spTree>
    <p:extLst>
      <p:ext uri="{BB962C8B-B14F-4D97-AF65-F5344CB8AC3E}">
        <p14:creationId xmlns:p14="http://schemas.microsoft.com/office/powerpoint/2010/main" val="119852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0400" y="1028247"/>
            <a:ext cx="11379347" cy="1602672"/>
          </a:xfrm>
          <a:prstGeom prst="rect">
            <a:avLst/>
          </a:prstGeom>
        </p:spPr>
        <p:txBody>
          <a:bodyPr vert="horz" lIns="0" tIns="0" rIns="0" bIns="0" rtlCol="0" anchor="t" anchorCtr="0">
            <a:noAutofit/>
          </a:bodyPr>
          <a:lstStyle/>
          <a:p>
            <a:r>
              <a:rPr lang="en-GB" dirty="0"/>
              <a:t>Klik for at redigere i master</a:t>
            </a:r>
          </a:p>
        </p:txBody>
      </p:sp>
      <p:sp>
        <p:nvSpPr>
          <p:cNvPr id="3" name="Text Placeholder 2"/>
          <p:cNvSpPr>
            <a:spLocks noGrp="1"/>
          </p:cNvSpPr>
          <p:nvPr>
            <p:ph type="body" idx="1"/>
          </p:nvPr>
        </p:nvSpPr>
        <p:spPr>
          <a:xfrm>
            <a:off x="410400" y="3369040"/>
            <a:ext cx="11371905" cy="2472960"/>
          </a:xfrm>
          <a:prstGeom prst="rect">
            <a:avLst/>
          </a:prstGeom>
        </p:spPr>
        <p:txBody>
          <a:bodyPr vert="horz" lIns="0" tIns="0" rIns="0" bIns="0" rtlCol="0">
            <a:noAutofit/>
          </a:bodyPr>
          <a:lstStyle/>
          <a:p>
            <a:pPr lvl="0"/>
            <a:r>
              <a:rPr lang="en-GB" dirty="0"/>
              <a:t>Første niveau, bullet 16 </a:t>
            </a:r>
            <a:r>
              <a:rPr lang="en-GB" dirty="0" err="1"/>
              <a:t>pkt</a:t>
            </a:r>
            <a:endParaRPr lang="en-GB" dirty="0"/>
          </a:p>
          <a:p>
            <a:pPr lvl="1"/>
            <a:r>
              <a:rPr lang="en-GB" dirty="0"/>
              <a:t>Andet niveau, bullet 14 </a:t>
            </a:r>
            <a:r>
              <a:rPr lang="en-GB" dirty="0" err="1"/>
              <a:t>pkt</a:t>
            </a:r>
            <a:endParaRPr lang="en-GB" dirty="0"/>
          </a:p>
          <a:p>
            <a:pPr lvl="2"/>
            <a:r>
              <a:rPr lang="en-GB" dirty="0"/>
              <a:t>Tredje niveau, bullet 12 </a:t>
            </a:r>
            <a:r>
              <a:rPr lang="en-GB" dirty="0" err="1"/>
              <a:t>pkt</a:t>
            </a:r>
            <a:endParaRPr lang="en-GB" dirty="0"/>
          </a:p>
          <a:p>
            <a:pPr lvl="3"/>
            <a:r>
              <a:rPr lang="en-GB" dirty="0"/>
              <a:t>Fjerde niveau, Header bold 16 </a:t>
            </a:r>
            <a:r>
              <a:rPr lang="en-GB" dirty="0" err="1"/>
              <a:t>pkt</a:t>
            </a:r>
            <a:endParaRPr lang="en-GB" dirty="0"/>
          </a:p>
          <a:p>
            <a:pPr lvl="4"/>
            <a:r>
              <a:rPr lang="en-GB" dirty="0"/>
              <a:t>Femte niveau, Body </a:t>
            </a:r>
            <a:r>
              <a:rPr lang="en-GB" dirty="0" err="1"/>
              <a:t>regular</a:t>
            </a:r>
            <a:r>
              <a:rPr lang="en-GB" dirty="0"/>
              <a:t> 16 </a:t>
            </a:r>
            <a:r>
              <a:rPr lang="en-GB" dirty="0" err="1"/>
              <a:t>pkt</a:t>
            </a:r>
            <a:endParaRPr lang="en-GB" dirty="0"/>
          </a:p>
          <a:p>
            <a:pPr lvl="5"/>
            <a:r>
              <a:rPr lang="en-GB" dirty="0"/>
              <a:t>Sjette niveau, bullet 12 </a:t>
            </a:r>
            <a:r>
              <a:rPr lang="en-GB" dirty="0" err="1"/>
              <a:t>pkt</a:t>
            </a:r>
            <a:endParaRPr lang="en-GB" dirty="0"/>
          </a:p>
          <a:p>
            <a:pPr lvl="6"/>
            <a:r>
              <a:rPr lang="en-GB" dirty="0"/>
              <a:t>Syvende niveau, bullet 12 </a:t>
            </a:r>
            <a:r>
              <a:rPr lang="en-GB" dirty="0" err="1"/>
              <a:t>pkt</a:t>
            </a:r>
            <a:r>
              <a:rPr lang="en-GB" dirty="0"/>
              <a:t> (indryk 1 gang)</a:t>
            </a:r>
            <a:endParaRPr lang="en-GB"/>
          </a:p>
          <a:p>
            <a:pPr lvl="7"/>
            <a:r>
              <a:rPr lang="en-GB" dirty="0"/>
              <a:t>Ottende niveau, Header bold, 12 </a:t>
            </a:r>
            <a:r>
              <a:rPr lang="en-GB" dirty="0" err="1"/>
              <a:t>pkt</a:t>
            </a:r>
            <a:endParaRPr lang="en-GB" dirty="0"/>
          </a:p>
          <a:p>
            <a:pPr lvl="8"/>
            <a:r>
              <a:rPr lang="en-GB" dirty="0"/>
              <a:t>Niende niveau, Body </a:t>
            </a:r>
            <a:r>
              <a:rPr lang="en-GB" dirty="0" err="1"/>
              <a:t>regular</a:t>
            </a:r>
            <a:r>
              <a:rPr lang="en-GB" dirty="0"/>
              <a:t>, 12 </a:t>
            </a:r>
            <a:r>
              <a:rPr lang="en-GB" dirty="0" err="1"/>
              <a:t>pkt</a:t>
            </a:r>
            <a:endParaRPr lang="en-GB" dirty="0"/>
          </a:p>
        </p:txBody>
      </p:sp>
      <p:sp>
        <p:nvSpPr>
          <p:cNvPr id="5" name="OFF_institute"/>
          <p:cNvSpPr>
            <a:spLocks noGrp="1"/>
          </p:cNvSpPr>
          <p:nvPr>
            <p:ph type="ftr" sz="quarter" idx="3"/>
          </p:nvPr>
        </p:nvSpPr>
        <p:spPr>
          <a:xfrm>
            <a:off x="6915600" y="6376129"/>
            <a:ext cx="2240432" cy="180000"/>
          </a:xfrm>
          <a:prstGeom prst="rect">
            <a:avLst/>
          </a:prstGeom>
        </p:spPr>
        <p:txBody>
          <a:bodyPr vert="horz" lIns="0" tIns="0" rIns="0" bIns="0" rtlCol="0" anchor="t" anchorCtr="0">
            <a:noAutofit/>
          </a:bodyPr>
          <a:lstStyle>
            <a:lvl1pPr algn="r">
              <a:defRPr sz="1000" b="0" cap="none" baseline="0">
                <a:solidFill>
                  <a:schemeClr val="tx1"/>
                </a:solidFill>
              </a:defRPr>
            </a:lvl1pPr>
          </a:lstStyle>
          <a:p>
            <a:endParaRPr lang="en-GB" dirty="0"/>
          </a:p>
        </p:txBody>
      </p:sp>
      <p:sp>
        <p:nvSpPr>
          <p:cNvPr id="16" name="Rectangle 15">
            <a:extLst>
              <a:ext uri="{FF2B5EF4-FFF2-40B4-BE49-F238E27FC236}">
                <a16:creationId xmlns:a16="http://schemas.microsoft.com/office/drawing/2014/main" id="{D9C3F3D4-B958-489D-8401-2859D15536DE}"/>
              </a:ext>
            </a:extLst>
          </p:cNvPr>
          <p:cNvSpPr/>
          <p:nvPr userDrawn="1"/>
        </p:nvSpPr>
        <p:spPr>
          <a:xfrm rot="5400000">
            <a:off x="11480800" y="721379"/>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7" name="Rectangle 16">
            <a:extLst>
              <a:ext uri="{FF2B5EF4-FFF2-40B4-BE49-F238E27FC236}">
                <a16:creationId xmlns:a16="http://schemas.microsoft.com/office/drawing/2014/main" id="{EDAD2A31-35D3-4D5D-AA2D-C72C49CA7FB0}"/>
              </a:ext>
            </a:extLst>
          </p:cNvPr>
          <p:cNvSpPr/>
          <p:nvPr userDrawn="1"/>
        </p:nvSpPr>
        <p:spPr>
          <a:xfrm rot="5400000">
            <a:off x="11482792" y="2027544"/>
            <a:ext cx="914400" cy="3765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lstStyle/>
          <a:p>
            <a:pPr algn="l"/>
            <a:r>
              <a:rPr lang="en-GB" sz="1100" b="1" noProof="1">
                <a:solidFill>
                  <a:schemeClr val="tx1"/>
                </a:solidFill>
              </a:rPr>
              <a:t>#sdudk</a:t>
            </a:r>
            <a:endParaRPr lang="en-GB"/>
          </a:p>
        </p:txBody>
      </p:sp>
      <p:sp>
        <p:nvSpPr>
          <p:cNvPr id="15" name="Date Placeholder 14">
            <a:extLst>
              <a:ext uri="{FF2B5EF4-FFF2-40B4-BE49-F238E27FC236}">
                <a16:creationId xmlns:a16="http://schemas.microsoft.com/office/drawing/2014/main" id="{A56ADEC3-98E1-4CEA-9AF5-46F4CDD2FA7D}"/>
              </a:ext>
            </a:extLst>
          </p:cNvPr>
          <p:cNvSpPr>
            <a:spLocks noGrp="1"/>
          </p:cNvSpPr>
          <p:nvPr>
            <p:ph type="dt" sz="half" idx="2"/>
          </p:nvPr>
        </p:nvSpPr>
        <p:spPr>
          <a:xfrm>
            <a:off x="0" y="6912000"/>
            <a:ext cx="0" cy="0"/>
          </a:xfrm>
          <a:prstGeom prst="rect">
            <a:avLst/>
          </a:prstGeom>
        </p:spPr>
        <p:txBody>
          <a:bodyPr vert="horz" lIns="91440" tIns="45720" rIns="91440" bIns="45720" rtlCol="0" anchor="ctr"/>
          <a:lstStyle>
            <a:lvl1pPr algn="l">
              <a:defRPr sz="100">
                <a:noFill/>
              </a:defRPr>
            </a:lvl1pPr>
          </a:lstStyle>
          <a:p>
            <a:fld id="{F1A13B18-F5ED-4611-8DBB-F05123AFBA22}" type="datetimeFigureOut">
              <a:rPr lang="en-GB" smtClean="0"/>
              <a:pPr/>
              <a:t>18/09/2024</a:t>
            </a:fld>
            <a:endParaRPr lang="en-GB" dirty="0"/>
          </a:p>
        </p:txBody>
      </p:sp>
      <p:pic>
        <p:nvPicPr>
          <p:cNvPr id="25" name="Logo black">
            <a:extLst>
              <a:ext uri="{FF2B5EF4-FFF2-40B4-BE49-F238E27FC236}">
                <a16:creationId xmlns:a16="http://schemas.microsoft.com/office/drawing/2014/main" id="{860AC4C2-E6D6-4DCE-950A-C298C0AE9B87}"/>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403346" y="6294893"/>
            <a:ext cx="784800" cy="211840"/>
          </a:xfrm>
          <a:prstGeom prst="rect">
            <a:avLst/>
          </a:prstGeom>
        </p:spPr>
      </p:pic>
      <p:cxnSp>
        <p:nvCxnSpPr>
          <p:cNvPr id="27" name="Straight Connector 26">
            <a:extLst>
              <a:ext uri="{FF2B5EF4-FFF2-40B4-BE49-F238E27FC236}">
                <a16:creationId xmlns:a16="http://schemas.microsoft.com/office/drawing/2014/main" id="{C6C4C210-3CAD-4E96-8F10-9CD4863FC9B7}"/>
              </a:ext>
            </a:extLst>
          </p:cNvPr>
          <p:cNvCxnSpPr>
            <a:cxnSpLocks/>
          </p:cNvCxnSpPr>
          <p:nvPr userDrawn="1"/>
        </p:nvCxnSpPr>
        <p:spPr>
          <a:xfrm>
            <a:off x="410400" y="715665"/>
            <a:ext cx="699211"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date" descr="{&quot;templafy&quot;:{&quot;id&quot;:&quot;d572fa25-8edd-43b8-9b55-27d872b6b1fc&quot;}}" title="Form.Date">
            <a:extLst>
              <a:ext uri="{FF2B5EF4-FFF2-40B4-BE49-F238E27FC236}">
                <a16:creationId xmlns:a16="http://schemas.microsoft.com/office/drawing/2014/main" id="{8A346F21-C2D9-45A4-B26D-7DDC2CEB9FB7}"/>
              </a:ext>
            </a:extLst>
          </p:cNvPr>
          <p:cNvSpPr/>
          <p:nvPr userDrawn="1"/>
        </p:nvSpPr>
        <p:spPr>
          <a:xfrm>
            <a:off x="9156032" y="6349384"/>
            <a:ext cx="2624806" cy="1800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r"/>
            <a:r>
              <a:rPr lang="en-GB" sz="1200" b="0" dirty="0">
                <a:solidFill>
                  <a:schemeClr val="tx1"/>
                </a:solidFill>
              </a:rPr>
              <a:t>September 2020</a:t>
            </a:r>
          </a:p>
        </p:txBody>
      </p:sp>
      <p:sp>
        <p:nvSpPr>
          <p:cNvPr id="6" name="Slide Number Placeholder 5"/>
          <p:cNvSpPr>
            <a:spLocks noGrp="1"/>
          </p:cNvSpPr>
          <p:nvPr>
            <p:ph type="sldNum" sz="quarter" idx="4"/>
          </p:nvPr>
        </p:nvSpPr>
        <p:spPr>
          <a:xfrm>
            <a:off x="0" y="6912000"/>
            <a:ext cx="0" cy="0"/>
          </a:xfrm>
          <a:prstGeom prst="rect">
            <a:avLst/>
          </a:prstGeom>
        </p:spPr>
        <p:txBody>
          <a:bodyPr vert="horz" lIns="0" tIns="0" rIns="0" bIns="0" rtlCol="0" anchor="t" anchorCtr="0">
            <a:noAutofit/>
          </a:bodyPr>
          <a:lstStyle>
            <a:lvl1pPr algn="ctr">
              <a:defRPr sz="100">
                <a:noFill/>
              </a:defRPr>
            </a:lvl1pPr>
          </a:lstStyle>
          <a:p>
            <a:fld id="{45D37B1E-C366-494F-A587-962AD9AABC83}" type="slidenum">
              <a:rPr lang="en-GB" smtClean="0"/>
              <a:pPr/>
              <a:t>‹nr.›</a:t>
            </a:fld>
            <a:endParaRPr lang="en-GB" dirty="0"/>
          </a:p>
        </p:txBody>
      </p:sp>
      <p:sp>
        <p:nvSpPr>
          <p:cNvPr id="18" name="Date Placeholder 14">
            <a:extLst>
              <a:ext uri="{FF2B5EF4-FFF2-40B4-BE49-F238E27FC236}">
                <a16:creationId xmlns:a16="http://schemas.microsoft.com/office/drawing/2014/main" id="{7DF98717-AAEA-4E2B-96B8-AAAFF896C0EA}"/>
              </a:ext>
            </a:extLst>
          </p:cNvPr>
          <p:cNvSpPr txBox="1">
            <a:spLocks/>
          </p:cNvSpPr>
          <p:nvPr userDrawn="1"/>
        </p:nvSpPr>
        <p:spPr>
          <a:xfrm>
            <a:off x="0" y="6912000"/>
            <a:ext cx="0" cy="0"/>
          </a:xfrm>
          <a:prstGeom prst="rect">
            <a:avLst/>
          </a:prstGeom>
        </p:spPr>
        <p:txBody>
          <a:bodyPr vert="horz" lIns="91440" tIns="45720" rIns="91440" bIns="45720" rtlCol="0" anchor="ctr"/>
          <a:lstStyle>
            <a:defPPr>
              <a:defRPr lang="en-US"/>
            </a:defPPr>
            <a:lvl1pPr marL="0" algn="l" defTabSz="914400" rtl="0" eaLnBrk="1" latinLnBrk="0" hangingPunct="1">
              <a:defRPr sz="100" kern="1200">
                <a:no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1A13B18-F5ED-4611-8DBB-F05123AFBA22}" type="datetimeFigureOut">
              <a:rPr lang="en-GB" smtClean="0"/>
              <a:pPr/>
              <a:t>18/09/2024</a:t>
            </a:fld>
            <a:endParaRPr lang="en-GB" dirty="0"/>
          </a:p>
        </p:txBody>
      </p:sp>
      <p:sp>
        <p:nvSpPr>
          <p:cNvPr id="13" name="text" descr="{&quot;templafy&quot;:{&quot;id&quot;:&quot;bbb50dc8-a7c0-4554-930d-663460fed123&quot;}}" title="UserProfile.Institut.InstituteDCU_{{DocumentLanguage}}">
            <a:extLst>
              <a:ext uri="{FF2B5EF4-FFF2-40B4-BE49-F238E27FC236}">
                <a16:creationId xmlns:a16="http://schemas.microsoft.com/office/drawing/2014/main" id="{125E96D5-3BB9-422E-861E-C7C7A150AD68}"/>
              </a:ext>
            </a:extLst>
          </p:cNvPr>
          <p:cNvSpPr txBox="1">
            <a:spLocks/>
          </p:cNvSpPr>
          <p:nvPr userDrawn="1"/>
        </p:nvSpPr>
        <p:spPr>
          <a:xfrm>
            <a:off x="411163" y="450893"/>
            <a:ext cx="5684837" cy="284778"/>
          </a:xfrm>
          <a:prstGeom prst="rect">
            <a:avLst/>
          </a:prstGeom>
          <a:noFill/>
        </p:spPr>
        <p:txBody>
          <a:bodyPr wrap="square" lIns="10800" tIns="0" rIns="0" bIns="90000" anchor="b" anchorCtr="0">
            <a:spAutoFit/>
          </a:bodyPr>
          <a:lstStyle>
            <a:lvl1pPr marL="0" indent="0" algn="l" defTabSz="914400" rtl="0" eaLnBrk="1" latinLnBrk="0" hangingPunct="1">
              <a:lnSpc>
                <a:spcPct val="90000"/>
              </a:lnSpc>
              <a:spcBef>
                <a:spcPts val="0"/>
              </a:spcBef>
              <a:buFont typeface="Arial" panose="020B0604020202020204" pitchFamily="34" charset="0"/>
              <a:buNone/>
              <a:defRPr sz="1400" b="1"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a:t>The Maersk Mc-Kinney Moller Institute</a:t>
            </a:r>
          </a:p>
        </p:txBody>
      </p:sp>
    </p:spTree>
    <p:extLst>
      <p:ext uri="{BB962C8B-B14F-4D97-AF65-F5344CB8AC3E}">
        <p14:creationId xmlns:p14="http://schemas.microsoft.com/office/powerpoint/2010/main" val="2143522105"/>
      </p:ext>
    </p:extLst>
  </p:cSld>
  <p:clrMap bg1="lt1" tx1="dk1" bg2="lt2" tx2="dk2" accent1="accent1" accent2="accent2" accent3="accent3" accent4="accent4" accent5="accent5" accent6="accent6" hlink="hlink" folHlink="folHlink"/>
  <p:sldLayoutIdLst>
    <p:sldLayoutId id="2147483679" r:id="rId1"/>
    <p:sldLayoutId id="2147483681" r:id="rId2"/>
    <p:sldLayoutId id="2147483680" r:id="rId3"/>
    <p:sldLayoutId id="2147483688" r:id="rId4"/>
    <p:sldLayoutId id="2147483690" r:id="rId5"/>
    <p:sldLayoutId id="2147483686" r:id="rId6"/>
    <p:sldLayoutId id="2147483692" r:id="rId7"/>
    <p:sldLayoutId id="2147483682" r:id="rId8"/>
    <p:sldLayoutId id="2147483689" r:id="rId9"/>
    <p:sldLayoutId id="2147483676" r:id="rId10"/>
    <p:sldLayoutId id="2147483654" r:id="rId11"/>
    <p:sldLayoutId id="2147483685" r:id="rId12"/>
    <p:sldLayoutId id="2147483691" r:id="rId13"/>
    <p:sldLayoutId id="2147483662" r:id="rId14"/>
  </p:sldLayoutIdLst>
  <p:hf hdr="0"/>
  <p:txStyles>
    <p:titleStyle>
      <a:lvl1pPr algn="l" defTabSz="914400" rtl="0" eaLnBrk="1" latinLnBrk="0" hangingPunct="1">
        <a:lnSpc>
          <a:spcPct val="97000"/>
        </a:lnSpc>
        <a:spcBef>
          <a:spcPct val="0"/>
        </a:spcBef>
        <a:buNone/>
        <a:tabLst>
          <a:tab pos="1438275" algn="l"/>
        </a:tabLst>
        <a:defRPr sz="3600" b="1" kern="1200">
          <a:solidFill>
            <a:schemeClr val="tx1"/>
          </a:solidFill>
          <a:latin typeface="+mj-lt"/>
          <a:ea typeface="+mj-ea"/>
          <a:cs typeface="+mj-cs"/>
        </a:defRPr>
      </a:lvl1pPr>
    </p:titleStyle>
    <p:body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85" userDrawn="1">
          <p15:clr>
            <a:srgbClr val="F26B43"/>
          </p15:clr>
        </p15:guide>
        <p15:guide id="4" orient="horz" pos="1071" userDrawn="1">
          <p15:clr>
            <a:srgbClr val="F26B43"/>
          </p15:clr>
        </p15:guide>
        <p15:guide id="5" pos="259" userDrawn="1">
          <p15:clr>
            <a:srgbClr val="F26B43"/>
          </p15:clr>
        </p15:guide>
        <p15:guide id="6" pos="7421" userDrawn="1">
          <p15:clr>
            <a:srgbClr val="F26B43"/>
          </p15:clr>
        </p15:guide>
        <p15:guide id="7" orient="horz" pos="1253" userDrawn="1">
          <p15:clr>
            <a:srgbClr val="F26B43"/>
          </p15:clr>
        </p15:guide>
        <p15:guide id="8" orient="horz" pos="3680" userDrawn="1">
          <p15:clr>
            <a:srgbClr val="F26B43"/>
          </p15:clr>
        </p15:guide>
        <p15:guide id="9" orient="horz" pos="3916" userDrawn="1">
          <p15:clr>
            <a:srgbClr val="F26B43"/>
          </p15:clr>
        </p15:guide>
        <p15:guide id="10" orient="horz" pos="4094" userDrawn="1">
          <p15:clr>
            <a:srgbClr val="F26B43"/>
          </p15:clr>
        </p15:guide>
        <p15:guide id="11" pos="54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customXml" Target="../../customXml/item16.xml"/><Relationship Id="rId1" Type="http://schemas.openxmlformats.org/officeDocument/2006/relationships/customXml" Target="../../customXml/item27.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customXml" Target="../../customXml/item30.xml"/><Relationship Id="rId1" Type="http://schemas.openxmlformats.org/officeDocument/2006/relationships/customXml" Target="../../customXml/item14.xml"/></Relationships>
</file>

<file path=ppt/slides/_rels/slide3.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customXml" Target="../../customXml/item2.xml"/><Relationship Id="rId1" Type="http://schemas.openxmlformats.org/officeDocument/2006/relationships/customXml" Target="../../customXml/item19.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customXml" Target="../../customXml/item18.xml"/><Relationship Id="rId1" Type="http://schemas.openxmlformats.org/officeDocument/2006/relationships/customXml" Target="../../customXml/item31.xml"/><Relationship Id="rId5" Type="http://schemas.openxmlformats.org/officeDocument/2006/relationships/notesSlide" Target="../notesSlides/notesSlide2.xml"/><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customXml" Target="../../customXml/item28.xml"/><Relationship Id="rId1" Type="http://schemas.openxmlformats.org/officeDocument/2006/relationships/customXml" Target="../../customXml/item15.xml"/><Relationship Id="rId5" Type="http://schemas.openxmlformats.org/officeDocument/2006/relationships/notesSlide" Target="../notesSlides/notesSlide3.xml"/><Relationship Id="rId4"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customXml" Target="../../customXml/item3.xml"/><Relationship Id="rId1" Type="http://schemas.openxmlformats.org/officeDocument/2006/relationships/customXml" Target="../../customXml/item5.xml"/><Relationship Id="rId5" Type="http://schemas.openxmlformats.org/officeDocument/2006/relationships/notesSlide" Target="../notesSlides/notesSlide4.xml"/><Relationship Id="rId4"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customXml" Target="../../customXml/item8.xml"/><Relationship Id="rId1" Type="http://schemas.openxmlformats.org/officeDocument/2006/relationships/customXml" Target="../../customXml/item29.xml"/><Relationship Id="rId5" Type="http://schemas.openxmlformats.org/officeDocument/2006/relationships/notesSlide" Target="../notesSlides/notesSlide5.xml"/><Relationship Id="rId4"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customXml" Target="../../customXml/item22.xml"/><Relationship Id="rId1" Type="http://schemas.openxmlformats.org/officeDocument/2006/relationships/customXml" Target="../../customXml/item4.xml"/><Relationship Id="rId5" Type="http://schemas.openxmlformats.org/officeDocument/2006/relationships/notesSlide" Target="../notesSlides/notesSlide6.xml"/><Relationship Id="rId4"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customXml" Target="../../customXml/item24.xml"/><Relationship Id="rId1" Type="http://schemas.openxmlformats.org/officeDocument/2006/relationships/customXml" Target="../../customXml/item10.xml"/><Relationship Id="rId5" Type="http://schemas.openxmlformats.org/officeDocument/2006/relationships/notesSlide" Target="../notesSlides/notesSlide9.xml"/><Relationship Id="rId4"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customXml" Target="../../customXml/item26.xml"/><Relationship Id="rId1" Type="http://schemas.openxmlformats.org/officeDocument/2006/relationships/customXml" Target="../../customXml/item23.xml"/><Relationship Id="rId5" Type="http://schemas.openxmlformats.org/officeDocument/2006/relationships/notesSlide" Target="../notesSlides/notesSlide10.xml"/><Relationship Id="rId4"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customXml" Target="../../customXml/item25.xml"/><Relationship Id="rId1" Type="http://schemas.openxmlformats.org/officeDocument/2006/relationships/customXml" Target="../../customXml/item1.xml"/><Relationship Id="rId5" Type="http://schemas.openxmlformats.org/officeDocument/2006/relationships/notesSlide" Target="../notesSlides/notesSlide11.xml"/><Relationship Id="rId4"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4A9F7A-9FA6-4781-BE7E-10DED5541698}"/>
              </a:ext>
            </a:extLst>
          </p:cNvPr>
          <p:cNvSpPr>
            <a:spLocks noGrp="1"/>
          </p:cNvSpPr>
          <p:nvPr>
            <p:ph type="ctrTitle"/>
          </p:nvPr>
        </p:nvSpPr>
        <p:spPr>
          <a:xfrm>
            <a:off x="414697" y="1700212"/>
            <a:ext cx="10796642" cy="4141787"/>
          </a:xfrm>
        </p:spPr>
        <p:txBody>
          <a:bodyPr/>
          <a:lstStyle/>
          <a:p>
            <a:br>
              <a:rPr lang="en-GB" dirty="0">
                <a:solidFill>
                  <a:schemeClr val="bg1"/>
                </a:solidFill>
              </a:rPr>
            </a:br>
            <a:br>
              <a:rPr lang="en-GB" dirty="0">
                <a:solidFill>
                  <a:schemeClr val="bg1"/>
                </a:solidFill>
              </a:rPr>
            </a:br>
            <a:r>
              <a:rPr lang="en-GB" sz="11500" dirty="0">
                <a:solidFill>
                  <a:schemeClr val="bg1"/>
                </a:solidFill>
              </a:rPr>
              <a:t>Cyber Security</a:t>
            </a:r>
            <a:br>
              <a:rPr lang="en-GB" dirty="0">
                <a:solidFill>
                  <a:schemeClr val="bg1"/>
                </a:solidFill>
              </a:rPr>
            </a:br>
            <a:br>
              <a:rPr lang="en-GB" dirty="0">
                <a:solidFill>
                  <a:schemeClr val="bg1"/>
                </a:solidFill>
              </a:rPr>
            </a:br>
            <a:r>
              <a:rPr lang="en-GB" sz="2000" dirty="0">
                <a:solidFill>
                  <a:schemeClr val="bg1"/>
                </a:solidFill>
              </a:rPr>
              <a:t>by Henrik Lange</a:t>
            </a:r>
            <a:endParaRPr lang="en-GB" dirty="0">
              <a:solidFill>
                <a:schemeClr val="bg1"/>
              </a:solidFill>
            </a:endParaRPr>
          </a:p>
        </p:txBody>
      </p:sp>
      <p:sp>
        <p:nvSpPr>
          <p:cNvPr id="4" name="Date Placeholder 3">
            <a:extLst>
              <a:ext uri="{FF2B5EF4-FFF2-40B4-BE49-F238E27FC236}">
                <a16:creationId xmlns:a16="http://schemas.microsoft.com/office/drawing/2014/main" id="{0BC8A9AE-91A1-4331-AB01-C64A135AA3C4}"/>
              </a:ext>
            </a:extLst>
          </p:cNvPr>
          <p:cNvSpPr>
            <a:spLocks noGrp="1"/>
          </p:cNvSpPr>
          <p:nvPr>
            <p:ph type="dt" sz="half" idx="4294967295"/>
          </p:nvPr>
        </p:nvSpPr>
        <p:spPr>
          <a:xfrm>
            <a:off x="0" y="6912000"/>
            <a:ext cx="0" cy="0"/>
          </a:xfrm>
        </p:spPr>
        <p:txBody>
          <a:bodyPr/>
          <a:lstStyle/>
          <a:p>
            <a:fld id="{C5B7409F-D3C6-4E0A-96E8-48C7110B960F}" type="datetime1">
              <a:rPr lang="en-GB" smtClean="0"/>
              <a:t>18/09/2024</a:t>
            </a:fld>
            <a:endParaRPr lang="en-GB" dirty="0"/>
          </a:p>
        </p:txBody>
      </p:sp>
    </p:spTree>
    <p:custDataLst>
      <p:custData r:id="rId1"/>
      <p:custData r:id="rId2"/>
    </p:custDataLst>
    <p:extLst>
      <p:ext uri="{BB962C8B-B14F-4D97-AF65-F5344CB8AC3E}">
        <p14:creationId xmlns:p14="http://schemas.microsoft.com/office/powerpoint/2010/main" val="3364796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DCB872-5B43-441B-8FB1-E84C64914BE8}"/>
              </a:ext>
            </a:extLst>
          </p:cNvPr>
          <p:cNvSpPr>
            <a:spLocks noGrp="1"/>
          </p:cNvSpPr>
          <p:nvPr>
            <p:ph type="ctrTitle"/>
          </p:nvPr>
        </p:nvSpPr>
        <p:spPr>
          <a:xfrm>
            <a:off x="424405" y="1006605"/>
            <a:ext cx="4680000" cy="5111562"/>
          </a:xfrm>
        </p:spPr>
        <p:style>
          <a:lnRef idx="2">
            <a:schemeClr val="accent6">
              <a:shade val="50000"/>
            </a:schemeClr>
          </a:lnRef>
          <a:fillRef idx="1">
            <a:schemeClr val="accent6"/>
          </a:fillRef>
          <a:effectRef idx="0">
            <a:schemeClr val="accent6"/>
          </a:effectRef>
          <a:fontRef idx="minor">
            <a:schemeClr val="lt1"/>
          </a:fontRef>
        </p:style>
        <p:txBody>
          <a:bodyPr vert="horz" lIns="0" tIns="0" rIns="0" bIns="0" rtlCol="0" anchor="ctr" anchorCtr="0">
            <a:normAutofit/>
          </a:bodyPr>
          <a:lstStyle/>
          <a:p>
            <a:pPr algn="ctr"/>
            <a:r>
              <a:rPr lang="en-GB" b="1" kern="1200" dirty="0">
                <a:solidFill>
                  <a:schemeClr val="bg1"/>
                </a:solidFill>
                <a:latin typeface="+mj-lt"/>
                <a:ea typeface="+mj-ea"/>
                <a:cs typeface="+mj-cs"/>
              </a:rPr>
              <a:t>Agenda</a:t>
            </a:r>
          </a:p>
        </p:txBody>
      </p:sp>
      <p:sp>
        <p:nvSpPr>
          <p:cNvPr id="6" name="Pladsholder til indhold 2">
            <a:extLst>
              <a:ext uri="{FF2B5EF4-FFF2-40B4-BE49-F238E27FC236}">
                <a16:creationId xmlns:a16="http://schemas.microsoft.com/office/drawing/2014/main" id="{DB1A09A2-3439-4864-8923-EC884F7D9F9E}"/>
              </a:ext>
            </a:extLst>
          </p:cNvPr>
          <p:cNvSpPr txBox="1">
            <a:spLocks/>
          </p:cNvSpPr>
          <p:nvPr/>
        </p:nvSpPr>
        <p:spPr>
          <a:xfrm>
            <a:off x="5655365" y="1006605"/>
            <a:ext cx="5716837" cy="5111562"/>
          </a:xfrm>
          <a:prstGeom prst="rect">
            <a:avLst/>
          </a:prstGeom>
        </p:spPr>
        <p:txBody>
          <a:bodyPr vert="horz" lIns="0" tIns="0" rIns="0" bIns="0" rtlCol="0">
            <a:normAutofit lnSpcReduction="10000"/>
          </a:bodyPr>
          <a:lstStyle>
            <a:lvl1pPr marL="252000" indent="-252000" algn="l" defTabSz="914400" rtl="0" eaLnBrk="1" latinLnBrk="0" hangingPunct="1">
              <a:lnSpc>
                <a:spcPct val="110000"/>
              </a:lnSpc>
              <a:spcBef>
                <a:spcPts val="0"/>
              </a:spcBef>
              <a:buFont typeface="Wingdings" panose="05000000000000000000" pitchFamily="2" charset="2"/>
              <a:buChar char=""/>
              <a:defRPr sz="1600" kern="1200">
                <a:solidFill>
                  <a:schemeClr val="tx1"/>
                </a:solidFill>
                <a:latin typeface="+mn-lt"/>
                <a:ea typeface="+mn-ea"/>
                <a:cs typeface="+mn-cs"/>
              </a:defRPr>
            </a:lvl1pPr>
            <a:lvl2pPr marL="504000" indent="-252000" algn="l" defTabSz="914400" rtl="0" eaLnBrk="1" latinLnBrk="0" hangingPunct="1">
              <a:lnSpc>
                <a:spcPct val="110000"/>
              </a:lnSpc>
              <a:spcBef>
                <a:spcPts val="0"/>
              </a:spcBef>
              <a:buFont typeface="Wingdings" panose="05000000000000000000" pitchFamily="2" charset="2"/>
              <a:buChar char="à"/>
              <a:defRPr sz="1400" kern="1200">
                <a:solidFill>
                  <a:schemeClr val="tx1"/>
                </a:solidFill>
                <a:latin typeface="+mn-lt"/>
                <a:ea typeface="+mn-ea"/>
                <a:cs typeface="+mn-cs"/>
              </a:defRPr>
            </a:lvl2pPr>
            <a:lvl3pPr marL="756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3pPr>
            <a:lvl4pPr marL="0" indent="0" algn="l" defTabSz="914400" rtl="0" eaLnBrk="1" latinLnBrk="0" hangingPunct="1">
              <a:lnSpc>
                <a:spcPct val="110000"/>
              </a:lnSpc>
              <a:spcBef>
                <a:spcPts val="0"/>
              </a:spcBef>
              <a:spcAft>
                <a:spcPts val="1200"/>
              </a:spcAft>
              <a:buFont typeface="Arial" panose="020B0604020202020204" pitchFamily="34" charset="0"/>
              <a:buChar char="​"/>
              <a:defRPr sz="1600" b="1" kern="1200">
                <a:solidFill>
                  <a:schemeClr val="tx1"/>
                </a:solidFill>
                <a:latin typeface="+mn-lt"/>
                <a:ea typeface="+mn-ea"/>
                <a:cs typeface="+mn-cs"/>
              </a:defRPr>
            </a:lvl4pPr>
            <a:lvl5pPr marL="0" indent="0" algn="l" defTabSz="914400" rtl="0" eaLnBrk="1" latinLnBrk="0" hangingPunct="1">
              <a:lnSpc>
                <a:spcPct val="110000"/>
              </a:lnSpc>
              <a:spcBef>
                <a:spcPts val="0"/>
              </a:spcBef>
              <a:buFont typeface="Arial" panose="020B0604020202020204" pitchFamily="34" charset="0"/>
              <a:buChar char="​"/>
              <a:defRPr sz="1600" kern="1200" baseline="0">
                <a:solidFill>
                  <a:schemeClr val="tx1"/>
                </a:solidFill>
                <a:latin typeface="+mn-lt"/>
                <a:ea typeface="+mn-ea"/>
                <a:cs typeface="+mn-cs"/>
              </a:defRPr>
            </a:lvl5pPr>
            <a:lvl6pPr marL="252000" indent="-252000" algn="l" defTabSz="914400" rtl="0" eaLnBrk="1" latinLnBrk="0" hangingPunct="1">
              <a:lnSpc>
                <a:spcPct val="110000"/>
              </a:lnSpc>
              <a:spcBef>
                <a:spcPts val="0"/>
              </a:spcBef>
              <a:buFont typeface="Wingdings" panose="05000000000000000000" pitchFamily="2" charset="2"/>
              <a:buChar char="à"/>
              <a:defRPr sz="1200" kern="1200" baseline="0">
                <a:solidFill>
                  <a:schemeClr val="tx1"/>
                </a:solidFill>
                <a:latin typeface="+mn-lt"/>
                <a:ea typeface="+mn-ea"/>
                <a:cs typeface="+mn-cs"/>
              </a:defRPr>
            </a:lvl6pPr>
            <a:lvl7pPr marL="504000" indent="-252000" algn="l" defTabSz="914400" rtl="0" eaLnBrk="1" latinLnBrk="0" hangingPunct="1">
              <a:lnSpc>
                <a:spcPct val="110000"/>
              </a:lnSpc>
              <a:spcBef>
                <a:spcPts val="0"/>
              </a:spcBef>
              <a:buFont typeface="Wingdings" panose="05000000000000000000" pitchFamily="2" charset="2"/>
              <a:buChar char="à"/>
              <a:defRPr sz="1200" kern="1200">
                <a:solidFill>
                  <a:schemeClr val="tx1"/>
                </a:solidFill>
                <a:latin typeface="+mn-lt"/>
                <a:ea typeface="+mn-ea"/>
                <a:cs typeface="+mn-cs"/>
              </a:defRPr>
            </a:lvl7pPr>
            <a:lvl8pPr marL="0" indent="0" algn="l" defTabSz="914400" rtl="0" eaLnBrk="1" latinLnBrk="0" hangingPunct="1">
              <a:lnSpc>
                <a:spcPct val="110000"/>
              </a:lnSpc>
              <a:spcBef>
                <a:spcPts val="0"/>
              </a:spcBef>
              <a:spcAft>
                <a:spcPts val="1200"/>
              </a:spcAft>
              <a:buFont typeface="Arial" panose="020B0604020202020204" pitchFamily="34" charset="0"/>
              <a:buChar char="​"/>
              <a:defRPr sz="1200" b="1" kern="1200">
                <a:solidFill>
                  <a:schemeClr val="tx1"/>
                </a:solidFill>
                <a:latin typeface="+mn-lt"/>
                <a:ea typeface="+mn-ea"/>
                <a:cs typeface="+mn-cs"/>
              </a:defRPr>
            </a:lvl8pPr>
            <a:lvl9pPr marL="0" indent="0" algn="l" defTabSz="914400" rtl="0" eaLnBrk="1" latinLnBrk="0" hangingPunct="1">
              <a:lnSpc>
                <a:spcPct val="110000"/>
              </a:lnSpc>
              <a:spcBef>
                <a:spcPts val="0"/>
              </a:spcBef>
              <a:buFont typeface="Arial" panose="020B0604020202020204" pitchFamily="34" charset="0"/>
              <a:buChar char="​"/>
              <a:defRPr sz="1200" kern="1200">
                <a:solidFill>
                  <a:schemeClr val="tx1"/>
                </a:solidFill>
                <a:latin typeface="+mn-lt"/>
                <a:ea typeface="+mn-ea"/>
                <a:cs typeface="+mn-cs"/>
              </a:defRPr>
            </a:lvl9pPr>
          </a:lstStyle>
          <a:p>
            <a:pPr>
              <a:spcAft>
                <a:spcPts val="600"/>
              </a:spcAft>
            </a:pPr>
            <a:r>
              <a:rPr lang="en-GB" altLang="en-US" dirty="0"/>
              <a:t>OWASP</a:t>
            </a:r>
          </a:p>
          <a:p>
            <a:pPr>
              <a:spcAft>
                <a:spcPts val="600"/>
              </a:spcAft>
            </a:pPr>
            <a:r>
              <a:rPr lang="en-GB" altLang="en-US" dirty="0"/>
              <a:t>Access Control</a:t>
            </a:r>
          </a:p>
          <a:p>
            <a:pPr lvl="1">
              <a:spcAft>
                <a:spcPts val="600"/>
              </a:spcAft>
            </a:pPr>
            <a:r>
              <a:rPr lang="en-GB" altLang="en-US" dirty="0"/>
              <a:t>Login Systems</a:t>
            </a:r>
          </a:p>
          <a:p>
            <a:pPr lvl="1">
              <a:spcAft>
                <a:spcPts val="600"/>
              </a:spcAft>
            </a:pPr>
            <a:r>
              <a:rPr lang="en-GB" altLang="en-US" dirty="0"/>
              <a:t>Basic Auth</a:t>
            </a:r>
          </a:p>
          <a:p>
            <a:pPr lvl="1">
              <a:spcAft>
                <a:spcPts val="600"/>
              </a:spcAft>
            </a:pPr>
            <a:r>
              <a:rPr lang="en-GB" altLang="en-US" dirty="0" err="1"/>
              <a:t>Oauth</a:t>
            </a:r>
            <a:endParaRPr lang="en-GB" altLang="en-US" dirty="0"/>
          </a:p>
          <a:p>
            <a:pPr>
              <a:spcAft>
                <a:spcPts val="600"/>
              </a:spcAft>
            </a:pPr>
            <a:r>
              <a:rPr lang="en-GB" altLang="en-US" dirty="0"/>
              <a:t>Authentication</a:t>
            </a:r>
          </a:p>
          <a:p>
            <a:pPr>
              <a:spcAft>
                <a:spcPts val="600"/>
              </a:spcAft>
            </a:pPr>
            <a:r>
              <a:rPr lang="en-GB" altLang="en-US" dirty="0"/>
              <a:t>Injection</a:t>
            </a:r>
          </a:p>
          <a:p>
            <a:pPr lvl="1">
              <a:spcAft>
                <a:spcPts val="600"/>
              </a:spcAft>
            </a:pPr>
            <a:r>
              <a:rPr lang="en-GB" altLang="en-US" dirty="0"/>
              <a:t>Backend Script Injection</a:t>
            </a:r>
          </a:p>
          <a:p>
            <a:pPr lvl="1">
              <a:spcAft>
                <a:spcPts val="600"/>
              </a:spcAft>
            </a:pPr>
            <a:r>
              <a:rPr lang="en-GB" altLang="en-US" dirty="0"/>
              <a:t>SQL Injection</a:t>
            </a:r>
          </a:p>
          <a:p>
            <a:pPr lvl="1">
              <a:spcAft>
                <a:spcPts val="600"/>
              </a:spcAft>
            </a:pPr>
            <a:r>
              <a:rPr lang="en-GB" altLang="en-US" dirty="0"/>
              <a:t>Cross-Site Scripting (XSS)</a:t>
            </a:r>
          </a:p>
          <a:p>
            <a:pPr>
              <a:spcAft>
                <a:spcPts val="600"/>
              </a:spcAft>
            </a:pPr>
            <a:r>
              <a:rPr lang="en-GB" altLang="en-US" dirty="0"/>
              <a:t>Request Forgery (XSRF)</a:t>
            </a:r>
          </a:p>
          <a:p>
            <a:pPr>
              <a:spcAft>
                <a:spcPts val="600"/>
              </a:spcAft>
            </a:pPr>
            <a:r>
              <a:rPr lang="en-GB" altLang="en-US" dirty="0"/>
              <a:t>Vulnerabilities</a:t>
            </a:r>
          </a:p>
          <a:p>
            <a:pPr>
              <a:spcAft>
                <a:spcPts val="600"/>
              </a:spcAft>
            </a:pPr>
            <a:r>
              <a:rPr lang="en-GB" altLang="en-US" dirty="0"/>
              <a:t>Security Logging and Monitoring</a:t>
            </a:r>
          </a:p>
          <a:p>
            <a:pPr lvl="1">
              <a:spcAft>
                <a:spcPts val="600"/>
              </a:spcAft>
            </a:pPr>
            <a:r>
              <a:rPr lang="en-GB" altLang="en-US" dirty="0"/>
              <a:t>Log files (txt)</a:t>
            </a:r>
          </a:p>
          <a:p>
            <a:pPr lvl="1">
              <a:spcAft>
                <a:spcPts val="600"/>
              </a:spcAft>
            </a:pPr>
            <a:r>
              <a:rPr lang="en-GB" altLang="en-US" dirty="0"/>
              <a:t>DB Audit Log</a:t>
            </a:r>
          </a:p>
          <a:p>
            <a:pPr>
              <a:spcAft>
                <a:spcPts val="600"/>
              </a:spcAft>
            </a:pPr>
            <a:r>
              <a:rPr lang="en-GB" altLang="en-US" dirty="0"/>
              <a:t>DDoS</a:t>
            </a:r>
          </a:p>
        </p:txBody>
      </p:sp>
      <p:sp>
        <p:nvSpPr>
          <p:cNvPr id="12" name="Footer Placeholder 5">
            <a:extLst>
              <a:ext uri="{FF2B5EF4-FFF2-40B4-BE49-F238E27FC236}">
                <a16:creationId xmlns:a16="http://schemas.microsoft.com/office/drawing/2014/main" id="{DB10FC33-3ED3-4F85-A368-EF3D4B750298}"/>
              </a:ext>
            </a:extLst>
          </p:cNvPr>
          <p:cNvSpPr>
            <a:spLocks noGrp="1"/>
          </p:cNvSpPr>
          <p:nvPr>
            <p:ph type="ftr" sz="quarter" idx="17"/>
          </p:nvPr>
        </p:nvSpPr>
        <p:spPr>
          <a:xfrm>
            <a:off x="6915600" y="6376129"/>
            <a:ext cx="2240432" cy="180000"/>
          </a:xfrm>
        </p:spPr>
        <p:txBody>
          <a:bodyPr/>
          <a:lstStyle/>
          <a:p>
            <a:endParaRPr lang="en-GB"/>
          </a:p>
        </p:txBody>
      </p:sp>
      <p:sp>
        <p:nvSpPr>
          <p:cNvPr id="3" name="Date Placeholder 2">
            <a:extLst>
              <a:ext uri="{FF2B5EF4-FFF2-40B4-BE49-F238E27FC236}">
                <a16:creationId xmlns:a16="http://schemas.microsoft.com/office/drawing/2014/main" id="{41DEABC6-0B5F-4868-9B49-112D6DB148F9}"/>
              </a:ext>
            </a:extLst>
          </p:cNvPr>
          <p:cNvSpPr>
            <a:spLocks noGrp="1"/>
          </p:cNvSpPr>
          <p:nvPr>
            <p:ph type="dt" sz="half" idx="4294967295"/>
          </p:nvPr>
        </p:nvSpPr>
        <p:spPr>
          <a:xfrm>
            <a:off x="0" y="6912000"/>
            <a:ext cx="0" cy="0"/>
          </a:xfrm>
        </p:spPr>
        <p:txBody>
          <a:bodyPr/>
          <a:lstStyle/>
          <a:p>
            <a:pPr>
              <a:spcAft>
                <a:spcPts val="600"/>
              </a:spcAft>
            </a:pPr>
            <a:fld id="{BF434C8B-1A2A-49DC-9216-7DCD7F14C0B8}" type="datetime1">
              <a:rPr lang="en-GB" smtClean="0"/>
              <a:pPr>
                <a:spcAft>
                  <a:spcPts val="600"/>
                </a:spcAft>
              </a:pPr>
              <a:t>18/09/2024</a:t>
            </a:fld>
            <a:endParaRPr lang="en-GB"/>
          </a:p>
        </p:txBody>
      </p:sp>
    </p:spTree>
    <p:custDataLst>
      <p:custData r:id="rId1"/>
      <p:custData r:id="rId2"/>
    </p:custDataLst>
    <p:extLst>
      <p:ext uri="{BB962C8B-B14F-4D97-AF65-F5344CB8AC3E}">
        <p14:creationId xmlns:p14="http://schemas.microsoft.com/office/powerpoint/2010/main" val="1177356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Cyber Security</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3</a:t>
            </a:fld>
            <a:endParaRPr lang="en-GB" dirty="0"/>
          </a:p>
        </p:txBody>
      </p:sp>
    </p:spTree>
    <p:custDataLst>
      <p:custData r:id="rId1"/>
      <p:custData r:id="rId2"/>
      <p:tags r:id="rId3"/>
    </p:custDataLst>
    <p:extLst>
      <p:ext uri="{BB962C8B-B14F-4D97-AF65-F5344CB8AC3E}">
        <p14:creationId xmlns:p14="http://schemas.microsoft.com/office/powerpoint/2010/main" val="14212758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a:xfrm>
            <a:off x="349384" y="1043609"/>
            <a:ext cx="11498059" cy="5005833"/>
          </a:xfrm>
        </p:spPr>
        <p:txBody>
          <a:bodyPr/>
          <a:lstStyle/>
          <a:p>
            <a:r>
              <a:rPr lang="en-GB" dirty="0"/>
              <a:t>OWASP:</a:t>
            </a:r>
            <a:br>
              <a:rPr lang="en-GB" dirty="0"/>
            </a:br>
            <a:r>
              <a:rPr lang="en-GB" dirty="0"/>
              <a:t>Open Web Application Security Project</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4</a:t>
            </a:fld>
            <a:endParaRPr lang="en-GB" dirty="0"/>
          </a:p>
        </p:txBody>
      </p:sp>
    </p:spTree>
    <p:custDataLst>
      <p:custData r:id="rId1"/>
      <p:custData r:id="rId2"/>
      <p:tags r:id="rId3"/>
    </p:custDataLst>
    <p:extLst>
      <p:ext uri="{BB962C8B-B14F-4D97-AF65-F5344CB8AC3E}">
        <p14:creationId xmlns:p14="http://schemas.microsoft.com/office/powerpoint/2010/main" val="2215583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How login systems </a:t>
            </a:r>
            <a:r>
              <a:rPr lang="da-DK" dirty="0" err="1"/>
              <a:t>work</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1989138"/>
            <a:ext cx="8361556" cy="3852862"/>
          </a:xfrm>
        </p:spPr>
        <p:txBody>
          <a:bodyPr>
            <a:normAutofit/>
          </a:bodyPr>
          <a:lstStyle/>
          <a:p>
            <a:pPr>
              <a:spcAft>
                <a:spcPts val="600"/>
              </a:spcAft>
            </a:pPr>
            <a:r>
              <a:rPr lang="en-US" altLang="en-US" dirty="0"/>
              <a:t>The Open Web Application Security Project (OWASP) is an online community that produces freely available articles, methodologies, documentation, tools, and technologies in the fields of IoT, system software and web application security. The OWASP provides free and open resources. It is led by a non-profit called The OWASP Foundation. The OWASP Top 10 (2021) is the published result of recent research based on comprehensive data compiled from over 40 partner organizations.</a:t>
            </a:r>
            <a:endParaRPr lang="en-US" dirty="0"/>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5</a:t>
            </a:fld>
            <a:endParaRPr lang="en-GB"/>
          </a:p>
        </p:txBody>
      </p:sp>
    </p:spTree>
    <p:extLst>
      <p:ext uri="{BB962C8B-B14F-4D97-AF65-F5344CB8AC3E}">
        <p14:creationId xmlns:p14="http://schemas.microsoft.com/office/powerpoint/2010/main" val="561976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OWASP has a 4 </a:t>
            </a:r>
            <a:r>
              <a:rPr lang="da-DK" dirty="0" err="1"/>
              <a:t>year</a:t>
            </a:r>
            <a:r>
              <a:rPr lang="da-DK" dirty="0"/>
              <a:t> </a:t>
            </a:r>
            <a:r>
              <a:rPr lang="da-DK" dirty="0" err="1"/>
              <a:t>update</a:t>
            </a:r>
            <a:r>
              <a:rPr lang="da-DK" dirty="0"/>
              <a:t> </a:t>
            </a:r>
            <a:r>
              <a:rPr lang="da-DK" dirty="0" err="1"/>
              <a:t>cycle</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1989138"/>
            <a:ext cx="8361556" cy="3852862"/>
          </a:xfrm>
        </p:spPr>
        <p:txBody>
          <a:bodyPr>
            <a:normAutofit/>
          </a:bodyPr>
          <a:lstStyle/>
          <a:p>
            <a:pPr>
              <a:spcAft>
                <a:spcPts val="600"/>
              </a:spcAft>
            </a:pPr>
            <a:r>
              <a:rPr lang="en-US" altLang="en-US" dirty="0"/>
              <a:t>OWASP has transitioned from a yearly cycle to a 4-year cycle, after concluding that the security landscape does not change fast enough to prompt faster update cycles.</a:t>
            </a:r>
            <a:endParaRPr lang="en-US" dirty="0"/>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6</a:t>
            </a:fld>
            <a:endParaRPr lang="en-GB"/>
          </a:p>
        </p:txBody>
      </p:sp>
      <p:pic>
        <p:nvPicPr>
          <p:cNvPr id="1026" name="Picture 2" descr="Mapping">
            <a:extLst>
              <a:ext uri="{FF2B5EF4-FFF2-40B4-BE49-F238E27FC236}">
                <a16:creationId xmlns:a16="http://schemas.microsoft.com/office/drawing/2014/main" id="{856E5964-E191-2B13-4360-E14ADE2E51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953577"/>
            <a:ext cx="11887200"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54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OWASP top 10 (2021)</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5" y="1989138"/>
            <a:ext cx="10269869" cy="3852862"/>
          </a:xfrm>
        </p:spPr>
        <p:txBody>
          <a:bodyPr>
            <a:normAutofit/>
          </a:bodyPr>
          <a:lstStyle/>
          <a:p>
            <a:pPr>
              <a:spcAft>
                <a:spcPts val="600"/>
              </a:spcAft>
            </a:pPr>
            <a:r>
              <a:rPr lang="en-US" altLang="en-US" dirty="0"/>
              <a:t>A01:2021-Broken Access Control moves up from the fifth position; 94% of applications were tested for some form of broken access control. The 34 Common Weakness Enumerations (CWEs) mapped to Broken Access Control had more occurrences in applications than any other category.</a:t>
            </a:r>
          </a:p>
          <a:p>
            <a:pPr>
              <a:spcAft>
                <a:spcPts val="600"/>
              </a:spcAft>
            </a:pPr>
            <a:r>
              <a:rPr lang="en-US" altLang="en-US" dirty="0"/>
              <a:t>A02:2021-Cryptographic Failures shifts up one position to #2, previously known as Sensitive Data Exposure, which was broad symptom rather than a root cause. The renewed focus here is on failures related to cryptography which often leads to sensitive data exposure or system compromise.</a:t>
            </a:r>
          </a:p>
          <a:p>
            <a:pPr>
              <a:spcAft>
                <a:spcPts val="600"/>
              </a:spcAft>
            </a:pPr>
            <a:r>
              <a:rPr lang="en-US" altLang="en-US" dirty="0"/>
              <a:t>A03:2021-Injection slides down to the third position. 94% of the applications were tested for some form of injection, and the 33 CWEs mapped into this category have the second most occurrences in applications. Cross-site Scripting is now part of this category in this edition.</a:t>
            </a:r>
          </a:p>
          <a:p>
            <a:pPr>
              <a:spcAft>
                <a:spcPts val="600"/>
              </a:spcAft>
            </a:pPr>
            <a:r>
              <a:rPr lang="en-US" altLang="en-US" dirty="0"/>
              <a:t>A04:2021-Insecure Design is a new category for 2021, with a focus on risks related to design flaws. If we genuinely want to “move left” as an industry, it calls for more use of threat modeling, secure design patterns and principles, and reference architectures.</a:t>
            </a:r>
            <a:endParaRPr lang="en-US" dirty="0"/>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7</a:t>
            </a:fld>
            <a:endParaRPr lang="en-GB"/>
          </a:p>
        </p:txBody>
      </p:sp>
    </p:spTree>
    <p:extLst>
      <p:ext uri="{BB962C8B-B14F-4D97-AF65-F5344CB8AC3E}">
        <p14:creationId xmlns:p14="http://schemas.microsoft.com/office/powerpoint/2010/main" val="216248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OWASP top 10 (2021)</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5" y="1989138"/>
            <a:ext cx="10269869" cy="3852862"/>
          </a:xfrm>
        </p:spPr>
        <p:txBody>
          <a:bodyPr>
            <a:normAutofit/>
          </a:bodyPr>
          <a:lstStyle/>
          <a:p>
            <a:pPr>
              <a:spcAft>
                <a:spcPts val="600"/>
              </a:spcAft>
            </a:pPr>
            <a:r>
              <a:rPr lang="en-US" altLang="en-US" dirty="0"/>
              <a:t>A05:2021-Security Misconfiguration moves up from #6 in the previous edition; 90% of applications were tested for some form of misconfiguration. With more shifts into highly configurable software, it’s not surprising to see this category move up. The former category for XML External Entities (XXE) is now part of this category.</a:t>
            </a:r>
          </a:p>
          <a:p>
            <a:pPr>
              <a:spcAft>
                <a:spcPts val="600"/>
              </a:spcAft>
            </a:pPr>
            <a:r>
              <a:rPr lang="en-US" altLang="en-US" dirty="0"/>
              <a:t>A06:2021-Vulnerable and Outdated Components was previously titled Using Components with Known Vulnerabilities and is #2 in the Top 10 community survey, but also had enough data to make the Top 10 via data analysis. This category moves up from #9 in 2017 and is a known issue that we struggle to test and assess risk. It is the only category not to have any Common Vulnerability and Exposures (CVEs) mapped to the included CWEs, so a default exploit and impact weights of 5.0 are factored into their scores.</a:t>
            </a:r>
          </a:p>
          <a:p>
            <a:pPr>
              <a:spcAft>
                <a:spcPts val="600"/>
              </a:spcAft>
            </a:pPr>
            <a:r>
              <a:rPr lang="en-US" altLang="en-US" dirty="0"/>
              <a:t>A07:2021-Identification and Authentication Failures was previously Broken Authentication and is sliding down from the second position, and now includes CWEs that are more related to identification failures. This category is still an integral part of the Top 10, but the increased availability of standardized frameworks seems to be helping.</a:t>
            </a:r>
            <a:endParaRPr lang="en-US" dirty="0"/>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8</a:t>
            </a:fld>
            <a:endParaRPr lang="en-GB"/>
          </a:p>
        </p:txBody>
      </p:sp>
    </p:spTree>
    <p:extLst>
      <p:ext uri="{BB962C8B-B14F-4D97-AF65-F5344CB8AC3E}">
        <p14:creationId xmlns:p14="http://schemas.microsoft.com/office/powerpoint/2010/main" val="3325097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OWASP top 10 (2021)</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5" y="1989138"/>
            <a:ext cx="10269869" cy="3852862"/>
          </a:xfrm>
        </p:spPr>
        <p:txBody>
          <a:bodyPr>
            <a:normAutofit/>
          </a:bodyPr>
          <a:lstStyle/>
          <a:p>
            <a:pPr>
              <a:spcAft>
                <a:spcPts val="600"/>
              </a:spcAft>
            </a:pPr>
            <a:r>
              <a:rPr lang="en-US" altLang="en-US" dirty="0"/>
              <a:t>A08:2021-Software and Data Integrity Failures is a new category for 2021, focusing on making assumptions related to software updates, critical data, and CI/CD pipelines without verifying integrity. One of the highest weighted impacts from Common Vulnerability and Exposures/Common Vulnerability Scoring System (CVE/CVSS) data mapped to the 10 CWEs in this category. Insecure Deserialization from 2017 is now a part of this larger category.</a:t>
            </a:r>
          </a:p>
          <a:p>
            <a:pPr>
              <a:spcAft>
                <a:spcPts val="600"/>
              </a:spcAft>
            </a:pPr>
            <a:r>
              <a:rPr lang="en-US" altLang="en-US" dirty="0"/>
              <a:t>A09:2021-Security Logging and Monitoring Failures was previously Insufficient Logging &amp; Monitoring and is added from the industry survey (#3), moving up from #10 previously. This category is expanded to include more types of failures, is challenging to test for, and isn’t well represented in the CVE/CVSS data. However, failures in this category can directly impact visibility, incident alerting, and forensics.</a:t>
            </a:r>
          </a:p>
          <a:p>
            <a:pPr>
              <a:spcAft>
                <a:spcPts val="600"/>
              </a:spcAft>
            </a:pPr>
            <a:r>
              <a:rPr lang="en-US" altLang="en-US" dirty="0"/>
              <a:t>A10:2021-Server-Side Request Forgery is added from the Top 10 community survey (#1). The data shows a relatively low incidence rate with above average testing coverage, along with above-average ratings for Exploit and Impact potential. This category represents the scenario where the security community members are telling us this is important, even though it’s not illustrated in the data at this time.</a:t>
            </a:r>
            <a:endParaRPr lang="en-US" dirty="0"/>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9</a:t>
            </a:fld>
            <a:endParaRPr lang="en-GB"/>
          </a:p>
        </p:txBody>
      </p:sp>
    </p:spTree>
    <p:extLst>
      <p:ext uri="{BB962C8B-B14F-4D97-AF65-F5344CB8AC3E}">
        <p14:creationId xmlns:p14="http://schemas.microsoft.com/office/powerpoint/2010/main" val="1968701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Access Control</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10</a:t>
            </a:fld>
            <a:endParaRPr lang="en-GB" dirty="0"/>
          </a:p>
        </p:txBody>
      </p:sp>
    </p:spTree>
    <p:custDataLst>
      <p:custData r:id="rId1"/>
      <p:custData r:id="rId2"/>
      <p:tags r:id="rId3"/>
    </p:custDataLst>
    <p:extLst>
      <p:ext uri="{BB962C8B-B14F-4D97-AF65-F5344CB8AC3E}">
        <p14:creationId xmlns:p14="http://schemas.microsoft.com/office/powerpoint/2010/main" val="3107598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ssword, Session, Cookie, Token, JWT, SSO, OAuth - Authentication  Explained - Part 1">
            <a:extLst>
              <a:ext uri="{FF2B5EF4-FFF2-40B4-BE49-F238E27FC236}">
                <a16:creationId xmlns:a16="http://schemas.microsoft.com/office/drawing/2014/main" id="{0D276E16-88A6-CC74-12B5-060B736AA7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252" r="3" b="3"/>
          <a:stretch/>
        </p:blipFill>
        <p:spPr bwMode="auto">
          <a:xfrm>
            <a:off x="5593783" y="1852739"/>
            <a:ext cx="6090014" cy="4360492"/>
          </a:xfrm>
          <a:prstGeom prst="rect">
            <a:avLst/>
          </a:prstGeom>
          <a:solidFill>
            <a:srgbClr val="FFFFFF"/>
          </a:solidFill>
        </p:spPr>
      </p:pic>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414696" y="999173"/>
            <a:ext cx="10952579" cy="701040"/>
          </a:xfrm>
        </p:spPr>
        <p:txBody>
          <a:bodyPr anchor="ctr">
            <a:normAutofit/>
          </a:bodyPr>
          <a:lstStyle/>
          <a:p>
            <a:r>
              <a:rPr lang="da-DK" dirty="0"/>
              <a:t>How login systems </a:t>
            </a:r>
            <a:r>
              <a:rPr lang="da-DK" dirty="0" err="1"/>
              <a:t>work</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1989138"/>
            <a:ext cx="5381040" cy="3852862"/>
          </a:xfrm>
        </p:spPr>
        <p:txBody>
          <a:bodyPr>
            <a:normAutofit/>
          </a:bodyPr>
          <a:lstStyle/>
          <a:p>
            <a:pPr>
              <a:spcAft>
                <a:spcPts val="600"/>
              </a:spcAft>
            </a:pPr>
            <a:r>
              <a:rPr lang="en-US" altLang="en-US" dirty="0"/>
              <a:t>Send username/email and password</a:t>
            </a:r>
          </a:p>
          <a:p>
            <a:pPr>
              <a:spcAft>
                <a:spcPts val="600"/>
              </a:spcAft>
            </a:pPr>
            <a:r>
              <a:rPr lang="en-US" dirty="0"/>
              <a:t>Validation of passwords NEVER happen in clear text</a:t>
            </a:r>
          </a:p>
          <a:p>
            <a:pPr lvl="1">
              <a:spcAft>
                <a:spcPts val="600"/>
              </a:spcAft>
            </a:pPr>
            <a:r>
              <a:rPr lang="en-US" dirty="0"/>
              <a:t>Passwords on the server is most often hashed</a:t>
            </a:r>
          </a:p>
          <a:p>
            <a:pPr lvl="1">
              <a:spcAft>
                <a:spcPts val="600"/>
              </a:spcAft>
            </a:pPr>
            <a:r>
              <a:rPr lang="en-US" dirty="0"/>
              <a:t>Check incoming password by hashing it and compare the hashes</a:t>
            </a:r>
          </a:p>
          <a:p>
            <a:pPr>
              <a:spcAft>
                <a:spcPts val="600"/>
              </a:spcAft>
            </a:pPr>
            <a:r>
              <a:rPr lang="en-US" dirty="0"/>
              <a:t>A session is created for the user, where "</a:t>
            </a:r>
            <a:r>
              <a:rPr lang="en-US" dirty="0" err="1"/>
              <a:t>isLoggedIn</a:t>
            </a:r>
            <a:r>
              <a:rPr lang="en-US" dirty="0"/>
              <a:t>" is true</a:t>
            </a:r>
          </a:p>
          <a:p>
            <a:pPr>
              <a:spcAft>
                <a:spcPts val="600"/>
              </a:spcAft>
            </a:pPr>
            <a:r>
              <a:rPr lang="en-US" dirty="0" err="1"/>
              <a:t>SessionId</a:t>
            </a:r>
            <a:r>
              <a:rPr lang="en-US" dirty="0"/>
              <a:t> is saved in a cookie</a:t>
            </a:r>
          </a:p>
          <a:p>
            <a:pPr lvl="1">
              <a:spcAft>
                <a:spcPts val="600"/>
              </a:spcAft>
            </a:pPr>
            <a:r>
              <a:rPr lang="en-US" dirty="0"/>
              <a:t>This can then be used when accessing the same resource again to validate without username/password</a:t>
            </a:r>
          </a:p>
        </p:txBody>
      </p:sp>
      <p:sp>
        <p:nvSpPr>
          <p:cNvPr id="1031" name="Footer Placeholder 4">
            <a:extLst>
              <a:ext uri="{FF2B5EF4-FFF2-40B4-BE49-F238E27FC236}">
                <a16:creationId xmlns:a16="http://schemas.microsoft.com/office/drawing/2014/main" id="{B9C18E6F-FADE-5DB7-1357-47632D7641C1}"/>
              </a:ext>
            </a:extLst>
          </p:cNvPr>
          <p:cNvSpPr>
            <a:spLocks noGrp="1"/>
          </p:cNvSpPr>
          <p:nvPr>
            <p:ph type="ftr" sz="quarter" idx="14"/>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pPr>
              <a:spcAft>
                <a:spcPts val="600"/>
              </a:spcAft>
            </a:pPr>
            <a:fld id="{45D37B1E-C366-494F-A587-962AD9AABC83}" type="slidenum">
              <a:rPr lang="en-GB" smtClean="0"/>
              <a:pPr>
                <a:spcAft>
                  <a:spcPts val="600"/>
                </a:spcAft>
              </a:pPr>
              <a:t>11</a:t>
            </a:fld>
            <a:endParaRPr lang="en-GB"/>
          </a:p>
        </p:txBody>
      </p:sp>
    </p:spTree>
    <p:extLst>
      <p:ext uri="{BB962C8B-B14F-4D97-AF65-F5344CB8AC3E}">
        <p14:creationId xmlns:p14="http://schemas.microsoft.com/office/powerpoint/2010/main" val="152487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ctrTitle"/>
          </p:nvPr>
        </p:nvSpPr>
        <p:spPr/>
        <p:txBody>
          <a:bodyPr/>
          <a:lstStyle/>
          <a:p>
            <a:r>
              <a:rPr lang="en-US" altLang="en-US" sz="3200" dirty="0"/>
              <a:t>API Key</a:t>
            </a:r>
          </a:p>
        </p:txBody>
      </p:sp>
      <p:sp>
        <p:nvSpPr>
          <p:cNvPr id="17" name="Pladsholder til indhold 2">
            <a:extLst>
              <a:ext uri="{FF2B5EF4-FFF2-40B4-BE49-F238E27FC236}">
                <a16:creationId xmlns:a16="http://schemas.microsoft.com/office/drawing/2014/main" id="{A2CCA75F-381B-4C86-BF7F-2219B4950063}"/>
              </a:ext>
            </a:extLst>
          </p:cNvPr>
          <p:cNvSpPr>
            <a:spLocks noGrp="1"/>
          </p:cNvSpPr>
          <p:nvPr>
            <p:ph sz="quarter" idx="13"/>
          </p:nvPr>
        </p:nvSpPr>
        <p:spPr/>
        <p:txBody>
          <a:bodyPr/>
          <a:lstStyle/>
          <a:p>
            <a:r>
              <a:rPr lang="en-US" dirty="0"/>
              <a:t>Some APIs use API keys for authorization. An API key is a token that a client provides when making API calls. The key can be sent in the query string:</a:t>
            </a:r>
          </a:p>
          <a:p>
            <a:endParaRPr lang="en-US" dirty="0"/>
          </a:p>
          <a:p>
            <a:endParaRPr lang="en-US" dirty="0"/>
          </a:p>
          <a:p>
            <a:r>
              <a:rPr lang="en-US" dirty="0"/>
              <a:t>or as a request header:</a:t>
            </a:r>
          </a:p>
          <a:p>
            <a:endParaRPr lang="en-US" dirty="0"/>
          </a:p>
          <a:p>
            <a:endParaRPr lang="en-US" dirty="0"/>
          </a:p>
          <a:p>
            <a:r>
              <a:rPr lang="en-US" dirty="0"/>
              <a:t>or as a cookie:</a:t>
            </a:r>
          </a:p>
          <a:p>
            <a:endParaRPr lang="en-US" dirty="0"/>
          </a:p>
          <a:p>
            <a:endParaRPr lang="en-US" dirty="0"/>
          </a:p>
          <a:p>
            <a:r>
              <a:rPr lang="en-US" dirty="0"/>
              <a:t>API keys are supposed to be a secret that only the client and server know.</a:t>
            </a:r>
          </a:p>
          <a:p>
            <a:r>
              <a:rPr lang="en-US" dirty="0"/>
              <a:t>Authentication is only considered secure if used together with other security mechanisms such as HTTPS/SSL.</a:t>
            </a:r>
          </a:p>
          <a:p>
            <a:r>
              <a:rPr lang="en-US" altLang="en-US" dirty="0"/>
              <a:t>Multiple API keys can be combined </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half" idx="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Mar. 2019</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12</a:t>
            </a:fld>
            <a:endParaRPr lang="en-US" altLang="en-US" sz="1000">
              <a:solidFill>
                <a:srgbClr val="898989"/>
              </a:solidFill>
              <a:ea typeface="ヒラギノ角ゴ ProN W3" pitchFamily="6" charset="-128"/>
            </a:endParaRPr>
          </a:p>
        </p:txBody>
      </p:sp>
      <p:sp>
        <p:nvSpPr>
          <p:cNvPr id="3" name="Rectangle 2">
            <a:extLst>
              <a:ext uri="{FF2B5EF4-FFF2-40B4-BE49-F238E27FC236}">
                <a16:creationId xmlns:a16="http://schemas.microsoft.com/office/drawing/2014/main" id="{0E9C8771-D3C5-4CB4-90CF-91A51ECF0B0A}"/>
              </a:ext>
            </a:extLst>
          </p:cNvPr>
          <p:cNvSpPr/>
          <p:nvPr/>
        </p:nvSpPr>
        <p:spPr>
          <a:xfrm>
            <a:off x="2003309" y="2528132"/>
            <a:ext cx="6336704" cy="360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GET /</a:t>
            </a:r>
            <a:r>
              <a:rPr lang="en-US" sz="1600" dirty="0" err="1"/>
              <a:t>something?api_key</a:t>
            </a:r>
            <a:r>
              <a:rPr lang="en-US" sz="1600" dirty="0"/>
              <a:t>=abcdef12345</a:t>
            </a:r>
          </a:p>
        </p:txBody>
      </p:sp>
      <p:sp>
        <p:nvSpPr>
          <p:cNvPr id="9" name="Rectangle 8">
            <a:extLst>
              <a:ext uri="{FF2B5EF4-FFF2-40B4-BE49-F238E27FC236}">
                <a16:creationId xmlns:a16="http://schemas.microsoft.com/office/drawing/2014/main" id="{10A02DD8-F191-4525-9E4C-A19852AFB91C}"/>
              </a:ext>
            </a:extLst>
          </p:cNvPr>
          <p:cNvSpPr/>
          <p:nvPr/>
        </p:nvSpPr>
        <p:spPr>
          <a:xfrm>
            <a:off x="2003309" y="3321720"/>
            <a:ext cx="6336704" cy="504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GET /something HTTP/1.1</a:t>
            </a:r>
          </a:p>
          <a:p>
            <a:pPr algn="ctr"/>
            <a:r>
              <a:rPr lang="en-US" sz="1600" dirty="0"/>
              <a:t>X-API-Key: abcdef12345</a:t>
            </a:r>
          </a:p>
        </p:txBody>
      </p:sp>
      <p:sp>
        <p:nvSpPr>
          <p:cNvPr id="10" name="Rectangle 9">
            <a:extLst>
              <a:ext uri="{FF2B5EF4-FFF2-40B4-BE49-F238E27FC236}">
                <a16:creationId xmlns:a16="http://schemas.microsoft.com/office/drawing/2014/main" id="{1AB154F6-CF15-4599-8F26-97B8E27CE37A}"/>
              </a:ext>
            </a:extLst>
          </p:cNvPr>
          <p:cNvSpPr/>
          <p:nvPr/>
        </p:nvSpPr>
        <p:spPr>
          <a:xfrm>
            <a:off x="2003309" y="4114874"/>
            <a:ext cx="6336704" cy="5042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GET /something HTTP/1.1</a:t>
            </a:r>
          </a:p>
          <a:p>
            <a:pPr algn="ctr"/>
            <a:r>
              <a:rPr lang="en-US" sz="1600" dirty="0"/>
              <a:t>Cookie: X-API-KEY=abcdef12345</a:t>
            </a:r>
          </a:p>
        </p:txBody>
      </p:sp>
      <p:sp>
        <p:nvSpPr>
          <p:cNvPr id="11" name="Rectangle 10">
            <a:extLst>
              <a:ext uri="{FF2B5EF4-FFF2-40B4-BE49-F238E27FC236}">
                <a16:creationId xmlns:a16="http://schemas.microsoft.com/office/drawing/2014/main" id="{C0620F20-6EB8-4481-AA83-1B3334B7FF37}"/>
              </a:ext>
            </a:extLst>
          </p:cNvPr>
          <p:cNvSpPr/>
          <p:nvPr/>
        </p:nvSpPr>
        <p:spPr>
          <a:xfrm>
            <a:off x="2003309" y="5661893"/>
            <a:ext cx="6336704" cy="3602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GET /</a:t>
            </a:r>
            <a:r>
              <a:rPr lang="en-US" sz="1600" dirty="0" err="1"/>
              <a:t>something?api_key</a:t>
            </a:r>
            <a:r>
              <a:rPr lang="en-US" sz="1600" dirty="0"/>
              <a:t>=abcdef1234&amp;app_key=fedcba4321</a:t>
            </a:r>
          </a:p>
        </p:txBody>
      </p:sp>
    </p:spTree>
    <p:extLst>
      <p:ext uri="{BB962C8B-B14F-4D97-AF65-F5344CB8AC3E}">
        <p14:creationId xmlns:p14="http://schemas.microsoft.com/office/powerpoint/2010/main" val="896663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BC36101-62AA-3014-A855-52BFE0847DC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465" y="1778579"/>
            <a:ext cx="6609737" cy="3873523"/>
          </a:xfrm>
          <a:prstGeom prst="rect">
            <a:avLst/>
          </a:prstGeom>
          <a:solidFill>
            <a:srgbClr val="FFFFFF"/>
          </a:solidFill>
        </p:spPr>
      </p:pic>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6692202" y="1006605"/>
            <a:ext cx="4680000" cy="973472"/>
          </a:xfrm>
        </p:spPr>
        <p:txBody>
          <a:bodyPr anchor="t">
            <a:normAutofit/>
          </a:bodyPr>
          <a:lstStyle/>
          <a:p>
            <a:r>
              <a:rPr lang="da-DK" dirty="0" err="1"/>
              <a:t>BasicAuth</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type="body" sz="quarter" idx="13"/>
          </p:nvPr>
        </p:nvSpPr>
        <p:spPr>
          <a:xfrm>
            <a:off x="6692202" y="1980077"/>
            <a:ext cx="4680000" cy="3873523"/>
          </a:xfrm>
        </p:spPr>
        <p:txBody>
          <a:bodyPr>
            <a:normAutofit/>
          </a:bodyPr>
          <a:lstStyle/>
          <a:p>
            <a:pPr>
              <a:spcAft>
                <a:spcPts val="600"/>
              </a:spcAft>
            </a:pPr>
            <a:r>
              <a:rPr lang="en-US" dirty="0"/>
              <a:t>Basic auth is a standardized way to authenticate users.</a:t>
            </a:r>
          </a:p>
          <a:p>
            <a:pPr>
              <a:spcAft>
                <a:spcPts val="600"/>
              </a:spcAft>
            </a:pPr>
            <a:r>
              <a:rPr lang="en-US" dirty="0"/>
              <a:t>It uses the "Authorization" http header as key</a:t>
            </a:r>
          </a:p>
          <a:p>
            <a:pPr>
              <a:spcAft>
                <a:spcPts val="600"/>
              </a:spcAft>
            </a:pPr>
            <a:r>
              <a:rPr lang="en-US" dirty="0"/>
              <a:t>The value is this:</a:t>
            </a:r>
          </a:p>
          <a:p>
            <a:pPr lvl="1">
              <a:spcAft>
                <a:spcPts val="600"/>
              </a:spcAft>
            </a:pPr>
            <a:r>
              <a:rPr lang="en-US" dirty="0"/>
              <a:t>The word "Basic" followed by a whitespace</a:t>
            </a:r>
          </a:p>
          <a:p>
            <a:pPr lvl="1">
              <a:spcAft>
                <a:spcPts val="600"/>
              </a:spcAft>
            </a:pPr>
            <a:r>
              <a:rPr lang="en-US" dirty="0"/>
              <a:t>The username and password as a single string with a colon </a:t>
            </a:r>
            <a:r>
              <a:rPr lang="en-US" dirty="0" err="1"/>
              <a:t>inbetween</a:t>
            </a:r>
            <a:endParaRPr lang="en-US" dirty="0"/>
          </a:p>
          <a:p>
            <a:pPr lvl="2">
              <a:spcAft>
                <a:spcPts val="600"/>
              </a:spcAft>
            </a:pPr>
            <a:r>
              <a:rPr lang="en-US" dirty="0"/>
              <a:t>This part is base64 encoded</a:t>
            </a:r>
          </a:p>
          <a:p>
            <a:pPr lvl="2">
              <a:spcAft>
                <a:spcPts val="600"/>
              </a:spcAft>
            </a:pPr>
            <a:r>
              <a:rPr lang="en-US" dirty="0"/>
              <a:t>There is absolutely zero security  in base64 encoding things</a:t>
            </a:r>
          </a:p>
          <a:p>
            <a:pPr lvl="2">
              <a:spcAft>
                <a:spcPts val="600"/>
              </a:spcAft>
            </a:pPr>
            <a:endParaRPr lang="en-US" dirty="0"/>
          </a:p>
        </p:txBody>
      </p:sp>
      <p:sp>
        <p:nvSpPr>
          <p:cNvPr id="2057" name="Footer Placeholder 5">
            <a:extLst>
              <a:ext uri="{FF2B5EF4-FFF2-40B4-BE49-F238E27FC236}">
                <a16:creationId xmlns:a16="http://schemas.microsoft.com/office/drawing/2014/main" id="{05602280-6273-3AA6-FD96-60A7973D893C}"/>
              </a:ext>
            </a:extLst>
          </p:cNvPr>
          <p:cNvSpPr>
            <a:spLocks noGrp="1"/>
          </p:cNvSpPr>
          <p:nvPr>
            <p:ph type="ftr" sz="quarter" idx="17"/>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4294967295"/>
          </p:nvPr>
        </p:nvSpPr>
        <p:spPr>
          <a:xfrm>
            <a:off x="0" y="6912000"/>
            <a:ext cx="0" cy="0"/>
          </a:xfrm>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4294967295"/>
          </p:nvPr>
        </p:nvSpPr>
        <p:spPr>
          <a:xfrm>
            <a:off x="0" y="6912000"/>
            <a:ext cx="0" cy="0"/>
          </a:xfrm>
        </p:spPr>
        <p:txBody>
          <a:bodyPr/>
          <a:lstStyle/>
          <a:p>
            <a:pPr>
              <a:spcAft>
                <a:spcPts val="600"/>
              </a:spcAft>
            </a:pPr>
            <a:fld id="{45D37B1E-C366-494F-A587-962AD9AABC83}" type="slidenum">
              <a:rPr lang="en-GB" smtClean="0"/>
              <a:pPr>
                <a:spcAft>
                  <a:spcPts val="600"/>
                </a:spcAft>
              </a:pPr>
              <a:t>13</a:t>
            </a:fld>
            <a:endParaRPr lang="en-GB"/>
          </a:p>
        </p:txBody>
      </p:sp>
    </p:spTree>
    <p:extLst>
      <p:ext uri="{BB962C8B-B14F-4D97-AF65-F5344CB8AC3E}">
        <p14:creationId xmlns:p14="http://schemas.microsoft.com/office/powerpoint/2010/main" val="4069746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a:xfrm>
            <a:off x="6692202" y="1006605"/>
            <a:ext cx="4680000" cy="973472"/>
          </a:xfrm>
        </p:spPr>
        <p:txBody>
          <a:bodyPr anchor="t">
            <a:normAutofit/>
          </a:bodyPr>
          <a:lstStyle/>
          <a:p>
            <a:r>
              <a:rPr lang="da-DK" dirty="0" err="1"/>
              <a:t>BasicAuth</a:t>
            </a:r>
            <a:endParaRPr lang="da-DK" dirty="0"/>
          </a:p>
        </p:txBody>
      </p:sp>
      <p:sp>
        <p:nvSpPr>
          <p:cNvPr id="2057" name="Footer Placeholder 5">
            <a:extLst>
              <a:ext uri="{FF2B5EF4-FFF2-40B4-BE49-F238E27FC236}">
                <a16:creationId xmlns:a16="http://schemas.microsoft.com/office/drawing/2014/main" id="{05602280-6273-3AA6-FD96-60A7973D893C}"/>
              </a:ext>
            </a:extLst>
          </p:cNvPr>
          <p:cNvSpPr>
            <a:spLocks noGrp="1"/>
          </p:cNvSpPr>
          <p:nvPr>
            <p:ph type="ftr" sz="quarter" idx="17"/>
          </p:nvPr>
        </p:nvSpPr>
        <p:spPr>
          <a:xfrm>
            <a:off x="6915600" y="6376129"/>
            <a:ext cx="2240432" cy="180000"/>
          </a:xfrm>
        </p:spPr>
        <p:txBody>
          <a:bodyPr/>
          <a:lstStyle/>
          <a:p>
            <a:endParaRPr lang="en-GB"/>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4294967295"/>
          </p:nvPr>
        </p:nvSpPr>
        <p:spPr>
          <a:xfrm>
            <a:off x="0" y="6912000"/>
            <a:ext cx="0" cy="0"/>
          </a:xfrm>
        </p:spPr>
        <p:txBody>
          <a:bodyPr/>
          <a:lstStyle/>
          <a:p>
            <a:pPr>
              <a:spcAft>
                <a:spcPts val="600"/>
              </a:spcAft>
            </a:pPr>
            <a:fld id="{AC541DA6-B7B5-41EB-84E7-FCF2AE8E6F3B}" type="datetime1">
              <a:rPr lang="en-GB" smtClean="0"/>
              <a:pPr>
                <a:spcAft>
                  <a:spcPts val="600"/>
                </a:spcAft>
              </a:pPr>
              <a:t>18/09/2024</a:t>
            </a:fld>
            <a:endParaRPr lang="en-GB"/>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4294967295"/>
          </p:nvPr>
        </p:nvSpPr>
        <p:spPr>
          <a:xfrm>
            <a:off x="0" y="6912000"/>
            <a:ext cx="0" cy="0"/>
          </a:xfrm>
        </p:spPr>
        <p:txBody>
          <a:bodyPr/>
          <a:lstStyle/>
          <a:p>
            <a:pPr>
              <a:spcAft>
                <a:spcPts val="600"/>
              </a:spcAft>
            </a:pPr>
            <a:fld id="{45D37B1E-C366-494F-A587-962AD9AABC83}" type="slidenum">
              <a:rPr lang="en-GB" smtClean="0"/>
              <a:pPr>
                <a:spcAft>
                  <a:spcPts val="600"/>
                </a:spcAft>
              </a:pPr>
              <a:t>14</a:t>
            </a:fld>
            <a:endParaRPr lang="en-GB"/>
          </a:p>
        </p:txBody>
      </p:sp>
      <p:sp>
        <p:nvSpPr>
          <p:cNvPr id="7" name="Pladsholder til tekst 6">
            <a:extLst>
              <a:ext uri="{FF2B5EF4-FFF2-40B4-BE49-F238E27FC236}">
                <a16:creationId xmlns:a16="http://schemas.microsoft.com/office/drawing/2014/main" id="{112FF6C5-097F-33AA-548B-C7C8CC5BE6CF}"/>
              </a:ext>
            </a:extLst>
          </p:cNvPr>
          <p:cNvSpPr>
            <a:spLocks noGrp="1"/>
          </p:cNvSpPr>
          <p:nvPr>
            <p:ph type="body" sz="quarter" idx="13"/>
          </p:nvPr>
        </p:nvSpPr>
        <p:spPr/>
        <p:txBody>
          <a:bodyPr/>
          <a:lstStyle/>
          <a:p>
            <a:endParaRPr lang="da-DK"/>
          </a:p>
        </p:txBody>
      </p:sp>
      <p:pic>
        <p:nvPicPr>
          <p:cNvPr id="8" name="Billede 7">
            <a:extLst>
              <a:ext uri="{FF2B5EF4-FFF2-40B4-BE49-F238E27FC236}">
                <a16:creationId xmlns:a16="http://schemas.microsoft.com/office/drawing/2014/main" id="{C87F971F-F234-4124-FE48-9539727CF069}"/>
              </a:ext>
            </a:extLst>
          </p:cNvPr>
          <p:cNvPicPr>
            <a:picLocks noChangeAspect="1"/>
          </p:cNvPicPr>
          <p:nvPr/>
        </p:nvPicPr>
        <p:blipFill>
          <a:blip r:embed="rId2"/>
          <a:stretch>
            <a:fillRect/>
          </a:stretch>
        </p:blipFill>
        <p:spPr>
          <a:xfrm>
            <a:off x="1270645" y="1980077"/>
            <a:ext cx="9650710" cy="3307032"/>
          </a:xfrm>
          <a:prstGeom prst="rect">
            <a:avLst/>
          </a:prstGeom>
        </p:spPr>
      </p:pic>
    </p:spTree>
    <p:extLst>
      <p:ext uri="{BB962C8B-B14F-4D97-AF65-F5344CB8AC3E}">
        <p14:creationId xmlns:p14="http://schemas.microsoft.com/office/powerpoint/2010/main" val="2347043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el 1">
            <a:extLst>
              <a:ext uri="{FF2B5EF4-FFF2-40B4-BE49-F238E27FC236}">
                <a16:creationId xmlns:a16="http://schemas.microsoft.com/office/drawing/2014/main" id="{770228EC-4F71-40B1-BD9D-7349A2EDCB76}"/>
              </a:ext>
            </a:extLst>
          </p:cNvPr>
          <p:cNvSpPr>
            <a:spLocks noGrp="1"/>
          </p:cNvSpPr>
          <p:nvPr>
            <p:ph type="ctrTitle"/>
          </p:nvPr>
        </p:nvSpPr>
        <p:spPr/>
        <p:txBody>
          <a:bodyPr/>
          <a:lstStyle/>
          <a:p>
            <a:r>
              <a:rPr lang="en-US" altLang="en-US" sz="3200" dirty="0"/>
              <a:t>OAuth with API Keys</a:t>
            </a:r>
          </a:p>
        </p:txBody>
      </p:sp>
      <p:sp>
        <p:nvSpPr>
          <p:cNvPr id="17" name="Pladsholder til indhold 2">
            <a:extLst>
              <a:ext uri="{FF2B5EF4-FFF2-40B4-BE49-F238E27FC236}">
                <a16:creationId xmlns:a16="http://schemas.microsoft.com/office/drawing/2014/main" id="{A2CCA75F-381B-4C86-BF7F-2219B4950063}"/>
              </a:ext>
            </a:extLst>
          </p:cNvPr>
          <p:cNvSpPr>
            <a:spLocks noGrp="1"/>
          </p:cNvSpPr>
          <p:nvPr>
            <p:ph sz="quarter" idx="13"/>
          </p:nvPr>
        </p:nvSpPr>
        <p:spPr>
          <a:xfrm>
            <a:off x="414696" y="1707140"/>
            <a:ext cx="10952580" cy="3852862"/>
          </a:xfrm>
        </p:spPr>
        <p:txBody>
          <a:bodyPr/>
          <a:lstStyle/>
          <a:p>
            <a:r>
              <a:rPr lang="en-US" dirty="0" err="1"/>
              <a:t>Oauth</a:t>
            </a:r>
            <a:r>
              <a:rPr lang="en-US" dirty="0"/>
              <a:t> is used when one site authenticates a user through the service of another system</a:t>
            </a:r>
          </a:p>
          <a:p>
            <a:r>
              <a:rPr lang="en-US" dirty="0"/>
              <a:t>OAuth is based on flows</a:t>
            </a:r>
          </a:p>
          <a:p>
            <a:r>
              <a:rPr lang="en-US" altLang="en-US" dirty="0"/>
              <a:t>There are several but the most common looks like this</a:t>
            </a:r>
          </a:p>
          <a:p>
            <a:r>
              <a:rPr lang="en-US" altLang="en-US" dirty="0"/>
              <a:t>An application can only act on behalf of users if the app itself is validated by the same third-party</a:t>
            </a:r>
          </a:p>
        </p:txBody>
      </p:sp>
      <p:sp>
        <p:nvSpPr>
          <p:cNvPr id="5124" name="Pladsholder til dato 3">
            <a:extLst>
              <a:ext uri="{FF2B5EF4-FFF2-40B4-BE49-F238E27FC236}">
                <a16:creationId xmlns:a16="http://schemas.microsoft.com/office/drawing/2014/main" id="{8BAB255F-A7C4-49F2-BED2-AB6400C5BDDE}"/>
              </a:ext>
            </a:extLst>
          </p:cNvPr>
          <p:cNvSpPr>
            <a:spLocks noGrp="1"/>
          </p:cNvSpPr>
          <p:nvPr>
            <p:ph type="dt" sz="half" idx="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r>
              <a:rPr lang="da-DK" altLang="en-US" sz="1000" dirty="0">
                <a:solidFill>
                  <a:srgbClr val="898989"/>
                </a:solidFill>
                <a:ea typeface="ヒラギノ角ゴ ProN W3" pitchFamily="6" charset="-128"/>
                <a:sym typeface="Gill Sans" pitchFamily="6" charset="0"/>
              </a:rPr>
              <a:t>Mar. 2019</a:t>
            </a:r>
          </a:p>
        </p:txBody>
      </p:sp>
      <p:sp>
        <p:nvSpPr>
          <p:cNvPr id="5125" name="Pladsholder til diasnummer 4">
            <a:extLst>
              <a:ext uri="{FF2B5EF4-FFF2-40B4-BE49-F238E27FC236}">
                <a16:creationId xmlns:a16="http://schemas.microsoft.com/office/drawing/2014/main" id="{6126F886-2502-4B77-BE2F-719B7E1DEDE6}"/>
              </a:ext>
            </a:extLst>
          </p:cNvPr>
          <p:cNvSpPr>
            <a:spLocks noGrp="1"/>
          </p:cNvSpPr>
          <p:nvPr>
            <p:ph type="sldNum" sz="quarter" idx="1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1pPr>
            <a:lvl2pPr marL="742950" indent="-285750">
              <a:spcBef>
                <a:spcPct val="20000"/>
              </a:spcBef>
              <a:buClr>
                <a:srgbClr val="7F7F7F"/>
              </a:buClr>
              <a:buFont typeface="Wingdings" panose="05000000000000000000" pitchFamily="2" charset="2"/>
              <a:buChar char="§"/>
              <a:defRPr sz="2400">
                <a:solidFill>
                  <a:schemeClr val="tx1"/>
                </a:solidFill>
                <a:latin typeface="Gill Sans MT" panose="020B0502020104020203" pitchFamily="34" charset="0"/>
                <a:ea typeface="MS PGothic" panose="020B0600070205080204" pitchFamily="34" charset="-128"/>
              </a:defRPr>
            </a:lvl2pPr>
            <a:lvl3pPr marL="11430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3pPr>
            <a:lvl4pPr marL="1600200" indent="-228600">
              <a:spcBef>
                <a:spcPct val="20000"/>
              </a:spcBef>
              <a:buClr>
                <a:srgbClr val="7F7F7F"/>
              </a:buClr>
              <a:buFont typeface="Wingdings" panose="05000000000000000000" pitchFamily="2" charset="2"/>
              <a:buChar char="§"/>
              <a:defRPr sz="2000">
                <a:solidFill>
                  <a:schemeClr val="tx1"/>
                </a:solidFill>
                <a:latin typeface="Gill Sans MT" panose="020B0502020104020203" pitchFamily="34" charset="0"/>
                <a:ea typeface="MS PGothic" panose="020B0600070205080204" pitchFamily="34" charset="-128"/>
              </a:defRPr>
            </a:lvl4pPr>
            <a:lvl5pPr marL="2057400" indent="-228600">
              <a:spcBef>
                <a:spcPct val="20000"/>
              </a:spcBef>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5pPr>
            <a:lvl6pPr marL="25146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6pPr>
            <a:lvl7pPr marL="29718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7pPr>
            <a:lvl8pPr marL="34290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8pPr>
            <a:lvl9pPr marL="3886200" indent="-228600" eaLnBrk="0" fontAlgn="base" hangingPunct="0">
              <a:spcBef>
                <a:spcPct val="20000"/>
              </a:spcBef>
              <a:spcAft>
                <a:spcPct val="0"/>
              </a:spcAft>
              <a:buClr>
                <a:srgbClr val="7F7F7F"/>
              </a:buClr>
              <a:buFont typeface="Wingdings" panose="05000000000000000000" pitchFamily="2" charset="2"/>
              <a:buChar char="§"/>
              <a:defRPr>
                <a:solidFill>
                  <a:schemeClr val="tx1"/>
                </a:solidFill>
                <a:latin typeface="Gill Sans MT" panose="020B0502020104020203" pitchFamily="34" charset="0"/>
                <a:ea typeface="MS PGothic" panose="020B0600070205080204" pitchFamily="34" charset="-128"/>
              </a:defRPr>
            </a:lvl9pPr>
          </a:lstStyle>
          <a:p>
            <a:pPr>
              <a:spcBef>
                <a:spcPct val="0"/>
              </a:spcBef>
              <a:buClrTx/>
              <a:buFontTx/>
              <a:buNone/>
            </a:pPr>
            <a:fld id="{51F20B59-C02C-4283-BCD3-3C16764B797F}" type="slidenum">
              <a:rPr lang="en-US" altLang="en-US" sz="1000">
                <a:solidFill>
                  <a:srgbClr val="898989"/>
                </a:solidFill>
                <a:ea typeface="ヒラギノ角ゴ ProN W3" pitchFamily="6" charset="-128"/>
              </a:rPr>
              <a:pPr>
                <a:spcBef>
                  <a:spcPct val="0"/>
                </a:spcBef>
                <a:buClrTx/>
                <a:buFontTx/>
                <a:buNone/>
              </a:pPr>
              <a:t>15</a:t>
            </a:fld>
            <a:endParaRPr lang="en-US" altLang="en-US" sz="1000">
              <a:solidFill>
                <a:srgbClr val="898989"/>
              </a:solidFill>
              <a:ea typeface="ヒラギノ角ゴ ProN W3" pitchFamily="6" charset="-128"/>
            </a:endParaRPr>
          </a:p>
        </p:txBody>
      </p:sp>
      <p:sp>
        <p:nvSpPr>
          <p:cNvPr id="4" name="Rectangle 3">
            <a:extLst>
              <a:ext uri="{FF2B5EF4-FFF2-40B4-BE49-F238E27FC236}">
                <a16:creationId xmlns:a16="http://schemas.microsoft.com/office/drawing/2014/main" id="{CFDE9F03-D9ED-4F30-87F5-C1233194C51E}"/>
              </a:ext>
            </a:extLst>
          </p:cNvPr>
          <p:cNvSpPr/>
          <p:nvPr/>
        </p:nvSpPr>
        <p:spPr>
          <a:xfrm>
            <a:off x="5450362" y="3193915"/>
            <a:ext cx="1058956" cy="34202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Client</a:t>
            </a:r>
            <a:endParaRPr lang="da-DK" sz="1600" dirty="0"/>
          </a:p>
        </p:txBody>
      </p:sp>
      <p:sp>
        <p:nvSpPr>
          <p:cNvPr id="12" name="Rectangle 11">
            <a:extLst>
              <a:ext uri="{FF2B5EF4-FFF2-40B4-BE49-F238E27FC236}">
                <a16:creationId xmlns:a16="http://schemas.microsoft.com/office/drawing/2014/main" id="{6D09EE1B-27A8-47D3-9F53-B1BC67C571A3}"/>
              </a:ext>
            </a:extLst>
          </p:cNvPr>
          <p:cNvSpPr/>
          <p:nvPr/>
        </p:nvSpPr>
        <p:spPr>
          <a:xfrm>
            <a:off x="9122770" y="3176262"/>
            <a:ext cx="1368152" cy="34379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Authorization Server</a:t>
            </a:r>
            <a:endParaRPr lang="da-DK" sz="1600" dirty="0"/>
          </a:p>
        </p:txBody>
      </p:sp>
      <p:sp>
        <p:nvSpPr>
          <p:cNvPr id="13" name="Rectangle 12">
            <a:extLst>
              <a:ext uri="{FF2B5EF4-FFF2-40B4-BE49-F238E27FC236}">
                <a16:creationId xmlns:a16="http://schemas.microsoft.com/office/drawing/2014/main" id="{3C828017-D8AA-413A-9925-01E7292D9361}"/>
              </a:ext>
            </a:extLst>
          </p:cNvPr>
          <p:cNvSpPr/>
          <p:nvPr/>
        </p:nvSpPr>
        <p:spPr>
          <a:xfrm>
            <a:off x="1633938" y="3176261"/>
            <a:ext cx="1224136" cy="343793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App/API</a:t>
            </a:r>
            <a:endParaRPr lang="da-DK" sz="1600" dirty="0"/>
          </a:p>
        </p:txBody>
      </p:sp>
      <p:sp>
        <p:nvSpPr>
          <p:cNvPr id="7" name="TextBox 6">
            <a:extLst>
              <a:ext uri="{FF2B5EF4-FFF2-40B4-BE49-F238E27FC236}">
                <a16:creationId xmlns:a16="http://schemas.microsoft.com/office/drawing/2014/main" id="{A3A501CA-E1E3-4A17-8854-2811E9FDA3CE}"/>
              </a:ext>
            </a:extLst>
          </p:cNvPr>
          <p:cNvSpPr txBox="1"/>
          <p:nvPr/>
        </p:nvSpPr>
        <p:spPr>
          <a:xfrm>
            <a:off x="3731926" y="3104254"/>
            <a:ext cx="686406" cy="338554"/>
          </a:xfrm>
          <a:prstGeom prst="rect">
            <a:avLst/>
          </a:prstGeom>
          <a:noFill/>
        </p:spPr>
        <p:txBody>
          <a:bodyPr wrap="none" rtlCol="0">
            <a:spAutoFit/>
          </a:bodyPr>
          <a:lstStyle/>
          <a:p>
            <a:r>
              <a:rPr lang="en-US" sz="1600" dirty="0"/>
              <a:t>Open</a:t>
            </a:r>
            <a:endParaRPr lang="da-DK" sz="1600" dirty="0"/>
          </a:p>
        </p:txBody>
      </p:sp>
      <p:cxnSp>
        <p:nvCxnSpPr>
          <p:cNvPr id="18" name="Straight Arrow Connector 17">
            <a:extLst>
              <a:ext uri="{FF2B5EF4-FFF2-40B4-BE49-F238E27FC236}">
                <a16:creationId xmlns:a16="http://schemas.microsoft.com/office/drawing/2014/main" id="{7CF6AB3D-6C12-4931-B6FB-0030B2272A32}"/>
              </a:ext>
            </a:extLst>
          </p:cNvPr>
          <p:cNvCxnSpPr>
            <a:cxnSpLocks/>
          </p:cNvCxnSpPr>
          <p:nvPr/>
        </p:nvCxnSpPr>
        <p:spPr>
          <a:xfrm flipH="1">
            <a:off x="2858074" y="339228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3BAED6E-899A-40DE-B524-47EFA67353B2}"/>
              </a:ext>
            </a:extLst>
          </p:cNvPr>
          <p:cNvCxnSpPr>
            <a:cxnSpLocks/>
          </p:cNvCxnSpPr>
          <p:nvPr/>
        </p:nvCxnSpPr>
        <p:spPr>
          <a:xfrm>
            <a:off x="6530482" y="375232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4FB4E97-A8FD-42DE-B2DC-CEE7A4B1F036}"/>
              </a:ext>
            </a:extLst>
          </p:cNvPr>
          <p:cNvSpPr txBox="1"/>
          <p:nvPr/>
        </p:nvSpPr>
        <p:spPr>
          <a:xfrm>
            <a:off x="3650163" y="3464294"/>
            <a:ext cx="947695" cy="338554"/>
          </a:xfrm>
          <a:prstGeom prst="rect">
            <a:avLst/>
          </a:prstGeom>
          <a:noFill/>
        </p:spPr>
        <p:txBody>
          <a:bodyPr wrap="none" rtlCol="0">
            <a:spAutoFit/>
          </a:bodyPr>
          <a:lstStyle/>
          <a:p>
            <a:r>
              <a:rPr lang="en-US" sz="1600" dirty="0"/>
              <a:t>Redirect</a:t>
            </a:r>
            <a:endParaRPr lang="da-DK" sz="1600" dirty="0"/>
          </a:p>
        </p:txBody>
      </p:sp>
      <p:cxnSp>
        <p:nvCxnSpPr>
          <p:cNvPr id="24" name="Straight Arrow Connector 23">
            <a:extLst>
              <a:ext uri="{FF2B5EF4-FFF2-40B4-BE49-F238E27FC236}">
                <a16:creationId xmlns:a16="http://schemas.microsoft.com/office/drawing/2014/main" id="{09978546-0C25-4085-A8F5-F500ED724FA1}"/>
              </a:ext>
            </a:extLst>
          </p:cNvPr>
          <p:cNvCxnSpPr>
            <a:cxnSpLocks/>
          </p:cNvCxnSpPr>
          <p:nvPr/>
        </p:nvCxnSpPr>
        <p:spPr>
          <a:xfrm>
            <a:off x="2858074" y="375232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E6A3E32-3DF9-4FC7-8E38-B56ACD1D8A68}"/>
              </a:ext>
            </a:extLst>
          </p:cNvPr>
          <p:cNvSpPr txBox="1"/>
          <p:nvPr/>
        </p:nvSpPr>
        <p:spPr>
          <a:xfrm>
            <a:off x="7381384" y="3464294"/>
            <a:ext cx="947695" cy="338554"/>
          </a:xfrm>
          <a:prstGeom prst="rect">
            <a:avLst/>
          </a:prstGeom>
          <a:noFill/>
        </p:spPr>
        <p:txBody>
          <a:bodyPr wrap="none" rtlCol="0">
            <a:spAutoFit/>
          </a:bodyPr>
          <a:lstStyle/>
          <a:p>
            <a:r>
              <a:rPr lang="en-US" sz="1600" dirty="0"/>
              <a:t>Redirect</a:t>
            </a:r>
            <a:endParaRPr lang="da-DK" sz="1600" dirty="0"/>
          </a:p>
        </p:txBody>
      </p:sp>
      <p:cxnSp>
        <p:nvCxnSpPr>
          <p:cNvPr id="26" name="Straight Arrow Connector 25">
            <a:extLst>
              <a:ext uri="{FF2B5EF4-FFF2-40B4-BE49-F238E27FC236}">
                <a16:creationId xmlns:a16="http://schemas.microsoft.com/office/drawing/2014/main" id="{8C2DE92D-A2B6-4DD6-8876-D7BBAFB4034B}"/>
              </a:ext>
            </a:extLst>
          </p:cNvPr>
          <p:cNvCxnSpPr>
            <a:cxnSpLocks/>
          </p:cNvCxnSpPr>
          <p:nvPr/>
        </p:nvCxnSpPr>
        <p:spPr>
          <a:xfrm flipH="1">
            <a:off x="6530482" y="411236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190198DD-C0F0-4080-B73D-F7D730078643}"/>
              </a:ext>
            </a:extLst>
          </p:cNvPr>
          <p:cNvSpPr txBox="1"/>
          <p:nvPr/>
        </p:nvSpPr>
        <p:spPr>
          <a:xfrm>
            <a:off x="6746507" y="3825942"/>
            <a:ext cx="2395207" cy="338554"/>
          </a:xfrm>
          <a:prstGeom prst="rect">
            <a:avLst/>
          </a:prstGeom>
          <a:noFill/>
        </p:spPr>
        <p:txBody>
          <a:bodyPr wrap="none" rtlCol="0">
            <a:spAutoFit/>
          </a:bodyPr>
          <a:lstStyle/>
          <a:p>
            <a:r>
              <a:rPr lang="en-US" sz="1600" dirty="0"/>
              <a:t>Require Consent / Login</a:t>
            </a:r>
            <a:endParaRPr lang="da-DK" sz="1600" dirty="0"/>
          </a:p>
        </p:txBody>
      </p:sp>
      <p:cxnSp>
        <p:nvCxnSpPr>
          <p:cNvPr id="28" name="Straight Arrow Connector 27">
            <a:extLst>
              <a:ext uri="{FF2B5EF4-FFF2-40B4-BE49-F238E27FC236}">
                <a16:creationId xmlns:a16="http://schemas.microsoft.com/office/drawing/2014/main" id="{DE5E45DC-0805-4269-B221-BE1D9C10E8F6}"/>
              </a:ext>
            </a:extLst>
          </p:cNvPr>
          <p:cNvCxnSpPr>
            <a:cxnSpLocks/>
          </p:cNvCxnSpPr>
          <p:nvPr/>
        </p:nvCxnSpPr>
        <p:spPr>
          <a:xfrm>
            <a:off x="6530482" y="447240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83E4BA0F-18A0-42D7-A9B5-2F16975C36CC}"/>
              </a:ext>
            </a:extLst>
          </p:cNvPr>
          <p:cNvSpPr txBox="1"/>
          <p:nvPr/>
        </p:nvSpPr>
        <p:spPr>
          <a:xfrm>
            <a:off x="7134334" y="4185982"/>
            <a:ext cx="1620957" cy="338554"/>
          </a:xfrm>
          <a:prstGeom prst="rect">
            <a:avLst/>
          </a:prstGeom>
          <a:noFill/>
        </p:spPr>
        <p:txBody>
          <a:bodyPr wrap="none" rtlCol="0">
            <a:spAutoFit/>
          </a:bodyPr>
          <a:lstStyle/>
          <a:p>
            <a:r>
              <a:rPr lang="en-US" sz="1600" dirty="0"/>
              <a:t>Consent / Login</a:t>
            </a:r>
            <a:endParaRPr lang="da-DK" sz="1600" dirty="0"/>
          </a:p>
        </p:txBody>
      </p:sp>
      <p:sp>
        <p:nvSpPr>
          <p:cNvPr id="30" name="TextBox 29">
            <a:extLst>
              <a:ext uri="{FF2B5EF4-FFF2-40B4-BE49-F238E27FC236}">
                <a16:creationId xmlns:a16="http://schemas.microsoft.com/office/drawing/2014/main" id="{23FDF5BC-525D-46CE-BA5D-9BBF915215BE}"/>
              </a:ext>
            </a:extLst>
          </p:cNvPr>
          <p:cNvSpPr txBox="1"/>
          <p:nvPr/>
        </p:nvSpPr>
        <p:spPr>
          <a:xfrm>
            <a:off x="6890523" y="4544414"/>
            <a:ext cx="1927131" cy="338554"/>
          </a:xfrm>
          <a:prstGeom prst="rect">
            <a:avLst/>
          </a:prstGeom>
          <a:noFill/>
        </p:spPr>
        <p:txBody>
          <a:bodyPr wrap="none" rtlCol="0">
            <a:spAutoFit/>
          </a:bodyPr>
          <a:lstStyle/>
          <a:p>
            <a:r>
              <a:rPr lang="en-US" sz="1600" dirty="0"/>
              <a:t>Authorization Code</a:t>
            </a:r>
            <a:endParaRPr lang="da-DK" sz="1600" dirty="0"/>
          </a:p>
        </p:txBody>
      </p:sp>
      <p:sp>
        <p:nvSpPr>
          <p:cNvPr id="31" name="TextBox 30">
            <a:extLst>
              <a:ext uri="{FF2B5EF4-FFF2-40B4-BE49-F238E27FC236}">
                <a16:creationId xmlns:a16="http://schemas.microsoft.com/office/drawing/2014/main" id="{2A45CDB3-0082-45DE-A026-7E69A0A661DF}"/>
              </a:ext>
            </a:extLst>
          </p:cNvPr>
          <p:cNvSpPr txBox="1"/>
          <p:nvPr/>
        </p:nvSpPr>
        <p:spPr>
          <a:xfrm>
            <a:off x="6509318" y="5200679"/>
            <a:ext cx="2549221" cy="307777"/>
          </a:xfrm>
          <a:prstGeom prst="rect">
            <a:avLst/>
          </a:prstGeom>
          <a:noFill/>
        </p:spPr>
        <p:txBody>
          <a:bodyPr wrap="square" rtlCol="0">
            <a:spAutoFit/>
          </a:bodyPr>
          <a:lstStyle/>
          <a:p>
            <a:pPr algn="ctr"/>
            <a:r>
              <a:rPr lang="en-US" sz="1400" dirty="0"/>
              <a:t>Authorization Code + API Key</a:t>
            </a:r>
            <a:endParaRPr lang="da-DK" sz="1400" dirty="0"/>
          </a:p>
        </p:txBody>
      </p:sp>
      <p:cxnSp>
        <p:nvCxnSpPr>
          <p:cNvPr id="32" name="Straight Arrow Connector 31">
            <a:extLst>
              <a:ext uri="{FF2B5EF4-FFF2-40B4-BE49-F238E27FC236}">
                <a16:creationId xmlns:a16="http://schemas.microsoft.com/office/drawing/2014/main" id="{9C0000AD-2966-4711-8281-0AE4D7E4835B}"/>
              </a:ext>
            </a:extLst>
          </p:cNvPr>
          <p:cNvCxnSpPr>
            <a:cxnSpLocks/>
          </p:cNvCxnSpPr>
          <p:nvPr/>
        </p:nvCxnSpPr>
        <p:spPr>
          <a:xfrm flipH="1">
            <a:off x="6530482" y="483244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ADD14D8-CA1F-4A45-984C-F5E89095771C}"/>
              </a:ext>
            </a:extLst>
          </p:cNvPr>
          <p:cNvSpPr txBox="1"/>
          <p:nvPr/>
        </p:nvSpPr>
        <p:spPr>
          <a:xfrm>
            <a:off x="3218115" y="4544414"/>
            <a:ext cx="1927131" cy="338554"/>
          </a:xfrm>
          <a:prstGeom prst="rect">
            <a:avLst/>
          </a:prstGeom>
          <a:noFill/>
        </p:spPr>
        <p:txBody>
          <a:bodyPr wrap="none" rtlCol="0">
            <a:spAutoFit/>
          </a:bodyPr>
          <a:lstStyle/>
          <a:p>
            <a:r>
              <a:rPr lang="en-US" sz="1600" dirty="0"/>
              <a:t>Authorization Code</a:t>
            </a:r>
            <a:endParaRPr lang="da-DK" sz="1600" dirty="0"/>
          </a:p>
        </p:txBody>
      </p:sp>
      <p:cxnSp>
        <p:nvCxnSpPr>
          <p:cNvPr id="37" name="Straight Arrow Connector 36">
            <a:extLst>
              <a:ext uri="{FF2B5EF4-FFF2-40B4-BE49-F238E27FC236}">
                <a16:creationId xmlns:a16="http://schemas.microsoft.com/office/drawing/2014/main" id="{A4D6CAA6-0650-446A-882D-D119BBC18632}"/>
              </a:ext>
            </a:extLst>
          </p:cNvPr>
          <p:cNvCxnSpPr>
            <a:cxnSpLocks/>
          </p:cNvCxnSpPr>
          <p:nvPr/>
        </p:nvCxnSpPr>
        <p:spPr>
          <a:xfrm flipH="1">
            <a:off x="2858074" y="4832446"/>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3E0D2772-C669-4466-A919-AC7C79135B35}"/>
              </a:ext>
            </a:extLst>
          </p:cNvPr>
          <p:cNvCxnSpPr>
            <a:cxnSpLocks/>
          </p:cNvCxnSpPr>
          <p:nvPr/>
        </p:nvCxnSpPr>
        <p:spPr>
          <a:xfrm>
            <a:off x="2858074" y="5510535"/>
            <a:ext cx="6264696"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DBB87ECC-E6F7-4EBB-85FE-B6689CEC7D68}"/>
              </a:ext>
            </a:extLst>
          </p:cNvPr>
          <p:cNvSpPr txBox="1"/>
          <p:nvPr/>
        </p:nvSpPr>
        <p:spPr>
          <a:xfrm>
            <a:off x="7144589" y="5663662"/>
            <a:ext cx="1404552" cy="338554"/>
          </a:xfrm>
          <a:prstGeom prst="rect">
            <a:avLst/>
          </a:prstGeom>
          <a:noFill/>
        </p:spPr>
        <p:txBody>
          <a:bodyPr wrap="none" rtlCol="0">
            <a:spAutoFit/>
          </a:bodyPr>
          <a:lstStyle/>
          <a:p>
            <a:r>
              <a:rPr lang="en-US" sz="1600" dirty="0"/>
              <a:t>Access token</a:t>
            </a:r>
            <a:endParaRPr lang="da-DK" sz="1600" dirty="0"/>
          </a:p>
        </p:txBody>
      </p:sp>
      <p:cxnSp>
        <p:nvCxnSpPr>
          <p:cNvPr id="41" name="Straight Arrow Connector 40">
            <a:extLst>
              <a:ext uri="{FF2B5EF4-FFF2-40B4-BE49-F238E27FC236}">
                <a16:creationId xmlns:a16="http://schemas.microsoft.com/office/drawing/2014/main" id="{4BC95183-4661-41DB-A2D6-AA4AA9BBDA10}"/>
              </a:ext>
            </a:extLst>
          </p:cNvPr>
          <p:cNvCxnSpPr>
            <a:cxnSpLocks/>
          </p:cNvCxnSpPr>
          <p:nvPr/>
        </p:nvCxnSpPr>
        <p:spPr>
          <a:xfrm flipH="1">
            <a:off x="2858074" y="5940147"/>
            <a:ext cx="6264696"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1163180-1C3F-494E-BC6C-A97A03E368F0}"/>
              </a:ext>
            </a:extLst>
          </p:cNvPr>
          <p:cNvCxnSpPr>
            <a:cxnSpLocks/>
          </p:cNvCxnSpPr>
          <p:nvPr/>
        </p:nvCxnSpPr>
        <p:spPr>
          <a:xfrm>
            <a:off x="2858074" y="6280310"/>
            <a:ext cx="2592288" cy="0"/>
          </a:xfrm>
          <a:prstGeom prst="straightConnector1">
            <a:avLst/>
          </a:prstGeom>
          <a:ln w="381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1593FD98-5168-490C-9235-5C5272AC1346}"/>
              </a:ext>
            </a:extLst>
          </p:cNvPr>
          <p:cNvSpPr txBox="1"/>
          <p:nvPr/>
        </p:nvSpPr>
        <p:spPr>
          <a:xfrm>
            <a:off x="3444420" y="5983949"/>
            <a:ext cx="1598515" cy="338554"/>
          </a:xfrm>
          <a:prstGeom prst="rect">
            <a:avLst/>
          </a:prstGeom>
          <a:noFill/>
        </p:spPr>
        <p:txBody>
          <a:bodyPr wrap="none" rtlCol="0">
            <a:spAutoFit/>
          </a:bodyPr>
          <a:lstStyle/>
          <a:p>
            <a:r>
              <a:rPr lang="en-US" sz="1600" dirty="0"/>
              <a:t>Access granted</a:t>
            </a:r>
            <a:endParaRPr lang="da-DK" sz="1600" dirty="0"/>
          </a:p>
        </p:txBody>
      </p:sp>
    </p:spTree>
    <p:extLst>
      <p:ext uri="{BB962C8B-B14F-4D97-AF65-F5344CB8AC3E}">
        <p14:creationId xmlns:p14="http://schemas.microsoft.com/office/powerpoint/2010/main" val="25056826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Oauth</a:t>
            </a:r>
            <a:r>
              <a:rPr lang="da-DK" dirty="0"/>
              <a:t> – Facebook login </a:t>
            </a:r>
            <a:r>
              <a:rPr lang="da-DK" dirty="0" err="1"/>
              <a:t>example</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1989138"/>
            <a:ext cx="4274534" cy="3852862"/>
          </a:xfrm>
        </p:spPr>
        <p:txBody>
          <a:bodyPr/>
          <a:lstStyle/>
          <a:p>
            <a:r>
              <a:rPr lang="en-US" dirty="0"/>
              <a:t>The app requests the User for authorization and the user chooses to authorize with Facebook</a:t>
            </a:r>
          </a:p>
          <a:p>
            <a:r>
              <a:rPr lang="en-US" dirty="0"/>
              <a:t>The request is then passed on to Facebook then passes back an authorization grant</a:t>
            </a:r>
          </a:p>
          <a:p>
            <a:r>
              <a:rPr lang="en-US" dirty="0"/>
              <a:t>The authorization grant can be used to request an access token</a:t>
            </a:r>
          </a:p>
          <a:p>
            <a:r>
              <a:rPr lang="en-US" dirty="0"/>
              <a:t>The access token can then be used to request the protected resource and if validated the protected resource is returned</a:t>
            </a:r>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16</a:t>
            </a:fld>
            <a:endParaRPr lang="en-GB" dirty="0"/>
          </a:p>
        </p:txBody>
      </p:sp>
      <p:pic>
        <p:nvPicPr>
          <p:cNvPr id="3074" name="Picture 2" descr="Accessing user resources from Facebook using OAuth 2.0 Authorization Code  Grant Type for your React app | by Windula Kularatne | Medium">
            <a:extLst>
              <a:ext uri="{FF2B5EF4-FFF2-40B4-BE49-F238E27FC236}">
                <a16:creationId xmlns:a16="http://schemas.microsoft.com/office/drawing/2014/main" id="{4AD9833C-D0C2-3C33-28B6-551259877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9230" y="1570953"/>
            <a:ext cx="7502770" cy="4689231"/>
          </a:xfrm>
          <a:prstGeom prst="rect">
            <a:avLst/>
          </a:prstGeom>
          <a:noFill/>
          <a:extLst>
            <a:ext uri="{909E8E84-426E-40DD-AFC4-6F175D3DCCD1}">
              <a14:hiddenFill xmlns:a14="http://schemas.microsoft.com/office/drawing/2010/main">
                <a:solidFill>
                  <a:srgbClr val="FFFFFF"/>
                </a:solidFill>
              </a14:hiddenFill>
            </a:ext>
          </a:extLst>
        </p:spPr>
      </p:pic>
      <p:sp>
        <p:nvSpPr>
          <p:cNvPr id="7" name="Tekstfelt 6">
            <a:extLst>
              <a:ext uri="{FF2B5EF4-FFF2-40B4-BE49-F238E27FC236}">
                <a16:creationId xmlns:a16="http://schemas.microsoft.com/office/drawing/2014/main" id="{C24DABD1-8AC4-D6A2-B1BE-FCB81D25FC4C}"/>
              </a:ext>
            </a:extLst>
          </p:cNvPr>
          <p:cNvSpPr txBox="1"/>
          <p:nvPr/>
        </p:nvSpPr>
        <p:spPr>
          <a:xfrm rot="2115228">
            <a:off x="7664362" y="2894368"/>
            <a:ext cx="1252413" cy="369332"/>
          </a:xfrm>
          <a:prstGeom prst="rect">
            <a:avLst/>
          </a:prstGeom>
          <a:solidFill>
            <a:schemeClr val="bg1"/>
          </a:solidFill>
        </p:spPr>
        <p:txBody>
          <a:bodyPr wrap="square" lIns="0" tIns="0" rIns="0" bIns="0" rtlCol="0">
            <a:spAutoFit/>
          </a:bodyPr>
          <a:lstStyle/>
          <a:p>
            <a:r>
              <a:rPr lang="en-US" sz="1200" dirty="0"/>
              <a:t>5. Access Token request</a:t>
            </a:r>
          </a:p>
        </p:txBody>
      </p:sp>
      <p:sp>
        <p:nvSpPr>
          <p:cNvPr id="8" name="Tekstfelt 7">
            <a:extLst>
              <a:ext uri="{FF2B5EF4-FFF2-40B4-BE49-F238E27FC236}">
                <a16:creationId xmlns:a16="http://schemas.microsoft.com/office/drawing/2014/main" id="{CBDE3A89-6595-6254-70FC-BCCEBF0F6292}"/>
              </a:ext>
            </a:extLst>
          </p:cNvPr>
          <p:cNvSpPr txBox="1"/>
          <p:nvPr/>
        </p:nvSpPr>
        <p:spPr>
          <a:xfrm rot="2115228">
            <a:off x="7139356" y="3881840"/>
            <a:ext cx="1512277" cy="369332"/>
          </a:xfrm>
          <a:prstGeom prst="rect">
            <a:avLst/>
          </a:prstGeom>
          <a:solidFill>
            <a:schemeClr val="bg1"/>
          </a:solidFill>
        </p:spPr>
        <p:txBody>
          <a:bodyPr wrap="square" lIns="0" tIns="0" rIns="0" bIns="0" rtlCol="0">
            <a:spAutoFit/>
          </a:bodyPr>
          <a:lstStyle/>
          <a:p>
            <a:r>
              <a:rPr lang="en-US" sz="1200" dirty="0"/>
              <a:t>6. Access Token response</a:t>
            </a:r>
          </a:p>
        </p:txBody>
      </p:sp>
    </p:spTree>
    <p:extLst>
      <p:ext uri="{BB962C8B-B14F-4D97-AF65-F5344CB8AC3E}">
        <p14:creationId xmlns:p14="http://schemas.microsoft.com/office/powerpoint/2010/main" val="3206057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a:t>The difference </a:t>
            </a:r>
            <a:r>
              <a:rPr lang="da-DK" dirty="0" err="1"/>
              <a:t>between</a:t>
            </a:r>
            <a:r>
              <a:rPr lang="da-DK" dirty="0"/>
              <a:t> </a:t>
            </a:r>
            <a:r>
              <a:rPr lang="da-DK" dirty="0" err="1"/>
              <a:t>authentication</a:t>
            </a:r>
            <a:r>
              <a:rPr lang="da-DK" dirty="0"/>
              <a:t> and </a:t>
            </a:r>
            <a:r>
              <a:rPr lang="da-DK" dirty="0" err="1"/>
              <a:t>authorization</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2365512"/>
            <a:ext cx="10952580" cy="3476487"/>
          </a:xfrm>
        </p:spPr>
        <p:txBody>
          <a:bodyPr/>
          <a:lstStyle/>
          <a:p>
            <a:r>
              <a:rPr lang="da-DK" b="1" u="sng" dirty="0"/>
              <a:t>Authentication</a:t>
            </a:r>
            <a:r>
              <a:rPr lang="da-DK" dirty="0"/>
              <a:t> is a </a:t>
            </a:r>
            <a:r>
              <a:rPr lang="da-DK" dirty="0" err="1"/>
              <a:t>process</a:t>
            </a:r>
            <a:r>
              <a:rPr lang="da-DK" dirty="0"/>
              <a:t> </a:t>
            </a:r>
            <a:r>
              <a:rPr lang="da-DK" dirty="0" err="1"/>
              <a:t>that</a:t>
            </a:r>
            <a:r>
              <a:rPr lang="da-DK" dirty="0"/>
              <a:t> </a:t>
            </a:r>
            <a:r>
              <a:rPr lang="da-DK" dirty="0" err="1"/>
              <a:t>verifies</a:t>
            </a:r>
            <a:r>
              <a:rPr lang="da-DK" dirty="0"/>
              <a:t> </a:t>
            </a:r>
            <a:r>
              <a:rPr lang="da-DK" dirty="0" err="1"/>
              <a:t>that</a:t>
            </a:r>
            <a:r>
              <a:rPr lang="da-DK" dirty="0"/>
              <a:t> </a:t>
            </a:r>
            <a:r>
              <a:rPr lang="da-DK" dirty="0" err="1"/>
              <a:t>someone</a:t>
            </a:r>
            <a:r>
              <a:rPr lang="da-DK" dirty="0"/>
              <a:t> or </a:t>
            </a:r>
            <a:r>
              <a:rPr lang="da-DK" dirty="0" err="1"/>
              <a:t>something</a:t>
            </a:r>
            <a:r>
              <a:rPr lang="da-DK" dirty="0"/>
              <a:t> is </a:t>
            </a:r>
            <a:r>
              <a:rPr lang="da-DK" b="1" u="sng" dirty="0" err="1"/>
              <a:t>who</a:t>
            </a:r>
            <a:r>
              <a:rPr lang="da-DK" dirty="0"/>
              <a:t> </a:t>
            </a:r>
            <a:r>
              <a:rPr lang="da-DK" dirty="0" err="1"/>
              <a:t>they</a:t>
            </a:r>
            <a:r>
              <a:rPr lang="da-DK" dirty="0"/>
              <a:t> </a:t>
            </a:r>
            <a:r>
              <a:rPr lang="da-DK" dirty="0" err="1"/>
              <a:t>say</a:t>
            </a:r>
            <a:r>
              <a:rPr lang="da-DK" dirty="0"/>
              <a:t> </a:t>
            </a:r>
            <a:r>
              <a:rPr lang="da-DK" dirty="0" err="1"/>
              <a:t>they</a:t>
            </a:r>
            <a:r>
              <a:rPr lang="da-DK" dirty="0"/>
              <a:t> </a:t>
            </a:r>
            <a:r>
              <a:rPr lang="da-DK" dirty="0" err="1"/>
              <a:t>are</a:t>
            </a:r>
            <a:endParaRPr lang="da-DK" dirty="0"/>
          </a:p>
          <a:p>
            <a:pPr lvl="1"/>
            <a:r>
              <a:rPr lang="da-DK" dirty="0"/>
              <a:t>This is </a:t>
            </a:r>
            <a:r>
              <a:rPr lang="da-DK" dirty="0" err="1"/>
              <a:t>where</a:t>
            </a:r>
            <a:r>
              <a:rPr lang="da-DK" dirty="0"/>
              <a:t> </a:t>
            </a:r>
            <a:r>
              <a:rPr lang="da-DK" dirty="0" err="1"/>
              <a:t>things</a:t>
            </a:r>
            <a:r>
              <a:rPr lang="da-DK" dirty="0"/>
              <a:t> </a:t>
            </a:r>
            <a:r>
              <a:rPr lang="da-DK" dirty="0" err="1"/>
              <a:t>such</a:t>
            </a:r>
            <a:r>
              <a:rPr lang="da-DK" dirty="0"/>
              <a:t> as </a:t>
            </a:r>
            <a:r>
              <a:rPr lang="da-DK" dirty="0" err="1"/>
              <a:t>username</a:t>
            </a:r>
            <a:r>
              <a:rPr lang="da-DK" dirty="0"/>
              <a:t>/password is </a:t>
            </a:r>
            <a:r>
              <a:rPr lang="da-DK" dirty="0" err="1"/>
              <a:t>used</a:t>
            </a:r>
            <a:endParaRPr lang="da-DK" dirty="0"/>
          </a:p>
          <a:p>
            <a:pPr lvl="1"/>
            <a:r>
              <a:rPr lang="da-DK" dirty="0"/>
              <a:t>This is vital to </a:t>
            </a:r>
            <a:r>
              <a:rPr lang="da-DK" dirty="0" err="1"/>
              <a:t>verify</a:t>
            </a:r>
            <a:r>
              <a:rPr lang="da-DK" dirty="0"/>
              <a:t> the </a:t>
            </a:r>
            <a:r>
              <a:rPr lang="da-DK" dirty="0" err="1"/>
              <a:t>identity</a:t>
            </a:r>
            <a:r>
              <a:rPr lang="da-DK" dirty="0"/>
              <a:t> of a user</a:t>
            </a:r>
          </a:p>
          <a:p>
            <a:pPr lvl="1"/>
            <a:r>
              <a:rPr lang="da-DK" dirty="0"/>
              <a:t>Do </a:t>
            </a:r>
            <a:r>
              <a:rPr lang="da-DK" dirty="0" err="1"/>
              <a:t>they</a:t>
            </a:r>
            <a:r>
              <a:rPr lang="da-DK" dirty="0"/>
              <a:t> have </a:t>
            </a:r>
            <a:r>
              <a:rPr lang="da-DK" dirty="0" err="1"/>
              <a:t>access</a:t>
            </a:r>
            <a:r>
              <a:rPr lang="da-DK" dirty="0"/>
              <a:t>?</a:t>
            </a:r>
            <a:endParaRPr lang="da-DK" b="1" u="sng" dirty="0"/>
          </a:p>
          <a:p>
            <a:pPr lvl="1"/>
            <a:endParaRPr lang="da-DK" dirty="0"/>
          </a:p>
          <a:p>
            <a:r>
              <a:rPr lang="da-DK" b="1" u="sng" dirty="0" err="1"/>
              <a:t>Authorization</a:t>
            </a:r>
            <a:r>
              <a:rPr lang="da-DK" dirty="0"/>
              <a:t> is a security </a:t>
            </a:r>
            <a:r>
              <a:rPr lang="da-DK" dirty="0" err="1"/>
              <a:t>process</a:t>
            </a:r>
            <a:r>
              <a:rPr lang="da-DK" dirty="0"/>
              <a:t> </a:t>
            </a:r>
            <a:r>
              <a:rPr lang="da-DK" dirty="0" err="1"/>
              <a:t>that</a:t>
            </a:r>
            <a:r>
              <a:rPr lang="da-DK" dirty="0"/>
              <a:t> </a:t>
            </a:r>
            <a:r>
              <a:rPr lang="da-DK" dirty="0" err="1"/>
              <a:t>determines</a:t>
            </a:r>
            <a:r>
              <a:rPr lang="da-DK" dirty="0"/>
              <a:t> a users </a:t>
            </a:r>
            <a:r>
              <a:rPr lang="da-DK" dirty="0" err="1"/>
              <a:t>level</a:t>
            </a:r>
            <a:r>
              <a:rPr lang="da-DK" dirty="0"/>
              <a:t> of </a:t>
            </a:r>
            <a:r>
              <a:rPr lang="da-DK" dirty="0" err="1"/>
              <a:t>access</a:t>
            </a:r>
            <a:r>
              <a:rPr lang="da-DK" dirty="0"/>
              <a:t>.</a:t>
            </a:r>
          </a:p>
          <a:p>
            <a:pPr lvl="1"/>
            <a:r>
              <a:rPr lang="da-DK" dirty="0"/>
              <a:t>This is </a:t>
            </a:r>
            <a:r>
              <a:rPr lang="da-DK" dirty="0" err="1"/>
              <a:t>often</a:t>
            </a:r>
            <a:r>
              <a:rPr lang="da-DK" dirty="0"/>
              <a:t> </a:t>
            </a:r>
            <a:r>
              <a:rPr lang="da-DK" dirty="0" err="1"/>
              <a:t>depicted</a:t>
            </a:r>
            <a:r>
              <a:rPr lang="da-DK" dirty="0"/>
              <a:t> as </a:t>
            </a:r>
            <a:r>
              <a:rPr lang="da-DK" dirty="0" err="1"/>
              <a:t>roles</a:t>
            </a:r>
            <a:r>
              <a:rPr lang="da-DK" dirty="0"/>
              <a:t>, </a:t>
            </a:r>
            <a:r>
              <a:rPr lang="da-DK" dirty="0" err="1"/>
              <a:t>where</a:t>
            </a:r>
            <a:r>
              <a:rPr lang="da-DK" dirty="0"/>
              <a:t> </a:t>
            </a:r>
            <a:r>
              <a:rPr lang="da-DK" dirty="0" err="1"/>
              <a:t>different</a:t>
            </a:r>
            <a:r>
              <a:rPr lang="da-DK" dirty="0"/>
              <a:t> </a:t>
            </a:r>
            <a:r>
              <a:rPr lang="da-DK" dirty="0" err="1"/>
              <a:t>roles</a:t>
            </a:r>
            <a:r>
              <a:rPr lang="da-DK" dirty="0"/>
              <a:t> </a:t>
            </a:r>
            <a:r>
              <a:rPr lang="da-DK" dirty="0" err="1"/>
              <a:t>may</a:t>
            </a:r>
            <a:r>
              <a:rPr lang="da-DK" dirty="0"/>
              <a:t> have </a:t>
            </a:r>
            <a:r>
              <a:rPr lang="da-DK" dirty="0" err="1"/>
              <a:t>access</a:t>
            </a:r>
            <a:r>
              <a:rPr lang="da-DK" dirty="0"/>
              <a:t> to </a:t>
            </a:r>
            <a:r>
              <a:rPr lang="da-DK" dirty="0" err="1"/>
              <a:t>different</a:t>
            </a:r>
            <a:r>
              <a:rPr lang="da-DK" dirty="0"/>
              <a:t> parts of the system</a:t>
            </a:r>
          </a:p>
          <a:p>
            <a:pPr lvl="1"/>
            <a:r>
              <a:rPr lang="da-DK" b="1" u="sng" dirty="0" err="1"/>
              <a:t>What</a:t>
            </a:r>
            <a:r>
              <a:rPr lang="da-DK" dirty="0"/>
              <a:t> do </a:t>
            </a:r>
            <a:r>
              <a:rPr lang="da-DK" dirty="0" err="1"/>
              <a:t>they</a:t>
            </a:r>
            <a:r>
              <a:rPr lang="da-DK" dirty="0"/>
              <a:t> have </a:t>
            </a:r>
            <a:r>
              <a:rPr lang="da-DK" dirty="0" err="1"/>
              <a:t>access</a:t>
            </a:r>
            <a:r>
              <a:rPr lang="da-DK" dirty="0"/>
              <a:t> to?</a:t>
            </a:r>
          </a:p>
          <a:p>
            <a:pPr lvl="1"/>
            <a:endParaRPr lang="da-DK" dirty="0"/>
          </a:p>
          <a:p>
            <a:r>
              <a:rPr lang="da-DK" dirty="0"/>
              <a:t>It is </a:t>
            </a:r>
            <a:r>
              <a:rPr lang="da-DK" dirty="0" err="1"/>
              <a:t>important</a:t>
            </a:r>
            <a:r>
              <a:rPr lang="da-DK" dirty="0"/>
              <a:t> to separate </a:t>
            </a:r>
            <a:r>
              <a:rPr lang="da-DK" dirty="0" err="1"/>
              <a:t>these</a:t>
            </a:r>
            <a:r>
              <a:rPr lang="da-DK" dirty="0"/>
              <a:t> </a:t>
            </a:r>
            <a:r>
              <a:rPr lang="da-DK" dirty="0" err="1"/>
              <a:t>two</a:t>
            </a:r>
            <a:r>
              <a:rPr lang="da-DK" dirty="0"/>
              <a:t> </a:t>
            </a:r>
            <a:r>
              <a:rPr lang="da-DK" dirty="0" err="1"/>
              <a:t>things</a:t>
            </a:r>
            <a:r>
              <a:rPr lang="da-DK" dirty="0"/>
              <a:t>. Knowing </a:t>
            </a:r>
            <a:r>
              <a:rPr lang="da-DK" dirty="0" err="1"/>
              <a:t>who</a:t>
            </a:r>
            <a:r>
              <a:rPr lang="da-DK" dirty="0"/>
              <a:t> </a:t>
            </a:r>
            <a:r>
              <a:rPr lang="da-DK" dirty="0" err="1"/>
              <a:t>people</a:t>
            </a:r>
            <a:r>
              <a:rPr lang="da-DK" dirty="0"/>
              <a:t> </a:t>
            </a:r>
            <a:r>
              <a:rPr lang="da-DK" dirty="0" err="1"/>
              <a:t>are</a:t>
            </a:r>
            <a:r>
              <a:rPr lang="da-DK" dirty="0"/>
              <a:t> </a:t>
            </a:r>
            <a:r>
              <a:rPr lang="da-DK" dirty="0" err="1"/>
              <a:t>should</a:t>
            </a:r>
            <a:r>
              <a:rPr lang="da-DK" dirty="0"/>
              <a:t> not </a:t>
            </a:r>
            <a:r>
              <a:rPr lang="da-DK" dirty="0" err="1"/>
              <a:t>be</a:t>
            </a:r>
            <a:r>
              <a:rPr lang="da-DK" dirty="0"/>
              <a:t> </a:t>
            </a:r>
            <a:r>
              <a:rPr lang="da-DK" dirty="0" err="1"/>
              <a:t>enough</a:t>
            </a:r>
            <a:r>
              <a:rPr lang="da-DK" dirty="0"/>
              <a:t> to let </a:t>
            </a:r>
            <a:r>
              <a:rPr lang="da-DK" dirty="0" err="1"/>
              <a:t>them</a:t>
            </a:r>
            <a:r>
              <a:rPr lang="da-DK" dirty="0"/>
              <a:t> do </a:t>
            </a:r>
            <a:r>
              <a:rPr lang="da-DK" dirty="0" err="1"/>
              <a:t>what</a:t>
            </a:r>
            <a:r>
              <a:rPr lang="da-DK" dirty="0"/>
              <a:t> </a:t>
            </a:r>
            <a:r>
              <a:rPr lang="da-DK" dirty="0" err="1"/>
              <a:t>they</a:t>
            </a:r>
            <a:r>
              <a:rPr lang="da-DK" dirty="0"/>
              <a:t> </a:t>
            </a:r>
            <a:r>
              <a:rPr lang="da-DK" dirty="0" err="1"/>
              <a:t>want</a:t>
            </a:r>
            <a:r>
              <a:rPr lang="da-DK" dirty="0"/>
              <a:t>.</a:t>
            </a:r>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17</a:t>
            </a:fld>
            <a:endParaRPr lang="en-GB" dirty="0"/>
          </a:p>
        </p:txBody>
      </p:sp>
    </p:spTree>
    <p:extLst>
      <p:ext uri="{BB962C8B-B14F-4D97-AF65-F5344CB8AC3E}">
        <p14:creationId xmlns:p14="http://schemas.microsoft.com/office/powerpoint/2010/main" val="3219176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Injection</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18</a:t>
            </a:fld>
            <a:endParaRPr lang="en-GB" dirty="0"/>
          </a:p>
        </p:txBody>
      </p:sp>
    </p:spTree>
    <p:custDataLst>
      <p:custData r:id="rId1"/>
      <p:custData r:id="rId2"/>
      <p:tags r:id="rId3"/>
    </p:custDataLst>
    <p:extLst>
      <p:ext uri="{BB962C8B-B14F-4D97-AF65-F5344CB8AC3E}">
        <p14:creationId xmlns:p14="http://schemas.microsoft.com/office/powerpoint/2010/main" val="24636599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241782-28FF-EE5F-4F65-4FC2401B9252}"/>
              </a:ext>
            </a:extLst>
          </p:cNvPr>
          <p:cNvSpPr>
            <a:spLocks noGrp="1"/>
          </p:cNvSpPr>
          <p:nvPr>
            <p:ph type="ctrTitle"/>
          </p:nvPr>
        </p:nvSpPr>
        <p:spPr/>
        <p:txBody>
          <a:bodyPr/>
          <a:lstStyle/>
          <a:p>
            <a:r>
              <a:rPr lang="en-US" dirty="0"/>
              <a:t>Cross-Site Scripting (XSS)</a:t>
            </a:r>
          </a:p>
        </p:txBody>
      </p:sp>
      <p:sp>
        <p:nvSpPr>
          <p:cNvPr id="3" name="Pladsholder til indhold 2">
            <a:extLst>
              <a:ext uri="{FF2B5EF4-FFF2-40B4-BE49-F238E27FC236}">
                <a16:creationId xmlns:a16="http://schemas.microsoft.com/office/drawing/2014/main" id="{84ECDE9A-B590-A7B8-5615-5C258D21EBE1}"/>
              </a:ext>
            </a:extLst>
          </p:cNvPr>
          <p:cNvSpPr>
            <a:spLocks noGrp="1"/>
          </p:cNvSpPr>
          <p:nvPr>
            <p:ph sz="quarter" idx="13"/>
          </p:nvPr>
        </p:nvSpPr>
        <p:spPr/>
        <p:txBody>
          <a:bodyPr/>
          <a:lstStyle/>
          <a:p>
            <a:r>
              <a:rPr lang="en-US" dirty="0"/>
              <a:t>A type of injection, in which malicious scripts are injected into otherwise benign and trusted websites</a:t>
            </a:r>
          </a:p>
          <a:p>
            <a:r>
              <a:rPr lang="en-US" dirty="0"/>
              <a:t>XSS attacks occur when an attacker uses a web app to send malicious code, generally in the form of a browser side script, to a different end user</a:t>
            </a:r>
          </a:p>
          <a:p>
            <a:r>
              <a:rPr lang="en-US" dirty="0"/>
              <a:t>These can occur anywhere a web app takes input from a user that is used within the output with validation or encoding</a:t>
            </a:r>
          </a:p>
          <a:p>
            <a:r>
              <a:rPr lang="en-US" dirty="0"/>
              <a:t>Generally there are two types of XSS attacks, Reflected and Stored</a:t>
            </a:r>
          </a:p>
          <a:p>
            <a:endParaRPr lang="en-US" dirty="0"/>
          </a:p>
          <a:p>
            <a:r>
              <a:rPr lang="en-US" dirty="0"/>
              <a:t>Reflected: These are those where the injected script is reflected off the web server, such as in an error message, search result or any other response that includes some of the input sent to the server as part of the request.</a:t>
            </a:r>
          </a:p>
          <a:p>
            <a:pPr lvl="1"/>
            <a:r>
              <a:rPr lang="en-US" dirty="0"/>
              <a:t>These are usually delivered to victims via e-mail or another website</a:t>
            </a:r>
          </a:p>
          <a:p>
            <a:pPr lvl="1"/>
            <a:r>
              <a:rPr lang="en-US" dirty="0"/>
              <a:t>When a malicious link is clicked the malicious code travels to the vulnerable site and is executed since it came from is "trusted" server</a:t>
            </a:r>
          </a:p>
          <a:p>
            <a:r>
              <a:rPr lang="en-US" dirty="0"/>
              <a:t>Stored: This is when a injected script is permanently stored on the target servers, such as in a database, message forum or comment field, etc.</a:t>
            </a:r>
          </a:p>
          <a:p>
            <a:pPr lvl="1"/>
            <a:r>
              <a:rPr lang="en-US" dirty="0"/>
              <a:t>The victim retrieves the malicious script from the server when it requests the stored information.</a:t>
            </a:r>
          </a:p>
        </p:txBody>
      </p:sp>
      <p:sp>
        <p:nvSpPr>
          <p:cNvPr id="4" name="Pladsholder til dato 3">
            <a:extLst>
              <a:ext uri="{FF2B5EF4-FFF2-40B4-BE49-F238E27FC236}">
                <a16:creationId xmlns:a16="http://schemas.microsoft.com/office/drawing/2014/main" id="{E7B9C3DB-B6BD-0397-9CF1-F36AE59C1ECC}"/>
              </a:ext>
            </a:extLst>
          </p:cNvPr>
          <p:cNvSpPr>
            <a:spLocks noGrp="1"/>
          </p:cNvSpPr>
          <p:nvPr>
            <p:ph type="dt" sz="half" idx="2"/>
          </p:nvPr>
        </p:nvSpPr>
        <p:spPr/>
        <p:txBody>
          <a:bodyPr/>
          <a:lstStyle/>
          <a:p>
            <a:fld id="{1C6CFC9B-9732-7A46-BA03-18AC9510E802}" type="datetime1">
              <a:rPr lang="en-GB" smtClean="0"/>
              <a:t>18/09/2024</a:t>
            </a:fld>
            <a:endParaRPr lang="en-GB" dirty="0"/>
          </a:p>
        </p:txBody>
      </p:sp>
      <p:sp>
        <p:nvSpPr>
          <p:cNvPr id="5" name="Pladsholder til sidefod 4">
            <a:extLst>
              <a:ext uri="{FF2B5EF4-FFF2-40B4-BE49-F238E27FC236}">
                <a16:creationId xmlns:a16="http://schemas.microsoft.com/office/drawing/2014/main" id="{2D3D5BC5-6D94-FD44-7AC8-056C1C2CDFFB}"/>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FA247BFF-A7B2-D01A-3416-9911DE830E22}"/>
              </a:ext>
            </a:extLst>
          </p:cNvPr>
          <p:cNvSpPr>
            <a:spLocks noGrp="1"/>
          </p:cNvSpPr>
          <p:nvPr>
            <p:ph type="sldNum" sz="quarter" idx="15"/>
          </p:nvPr>
        </p:nvSpPr>
        <p:spPr/>
        <p:txBody>
          <a:bodyPr/>
          <a:lstStyle/>
          <a:p>
            <a:fld id="{45D37B1E-C366-494F-A587-962AD9AABC83}" type="slidenum">
              <a:rPr lang="en-GB" smtClean="0"/>
              <a:pPr/>
              <a:t>19</a:t>
            </a:fld>
            <a:endParaRPr lang="en-GB" dirty="0"/>
          </a:p>
        </p:txBody>
      </p:sp>
    </p:spTree>
    <p:extLst>
      <p:ext uri="{BB962C8B-B14F-4D97-AF65-F5344CB8AC3E}">
        <p14:creationId xmlns:p14="http://schemas.microsoft.com/office/powerpoint/2010/main" val="1164182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42CE3DD-2085-E587-750B-8297E53644A0}"/>
              </a:ext>
            </a:extLst>
          </p:cNvPr>
          <p:cNvSpPr>
            <a:spLocks noGrp="1"/>
          </p:cNvSpPr>
          <p:nvPr>
            <p:ph type="ctrTitle"/>
          </p:nvPr>
        </p:nvSpPr>
        <p:spPr/>
        <p:txBody>
          <a:bodyPr/>
          <a:lstStyle/>
          <a:p>
            <a:r>
              <a:rPr lang="en-US" dirty="0"/>
              <a:t>Cross-Site Scripting XSS</a:t>
            </a:r>
          </a:p>
        </p:txBody>
      </p:sp>
      <p:sp>
        <p:nvSpPr>
          <p:cNvPr id="3" name="Pladsholder til indhold 2">
            <a:extLst>
              <a:ext uri="{FF2B5EF4-FFF2-40B4-BE49-F238E27FC236}">
                <a16:creationId xmlns:a16="http://schemas.microsoft.com/office/drawing/2014/main" id="{4C73F0AD-D4CA-3AF0-54CC-C22B64457678}"/>
              </a:ext>
            </a:extLst>
          </p:cNvPr>
          <p:cNvSpPr>
            <a:spLocks noGrp="1"/>
          </p:cNvSpPr>
          <p:nvPr>
            <p:ph sz="quarter" idx="13"/>
          </p:nvPr>
        </p:nvSpPr>
        <p:spPr/>
        <p:txBody>
          <a:bodyPr/>
          <a:lstStyle/>
          <a:p>
            <a:r>
              <a:rPr lang="en-US" dirty="0"/>
              <a:t>Solution: </a:t>
            </a:r>
          </a:p>
          <a:p>
            <a:r>
              <a:rPr lang="en-US" dirty="0"/>
              <a:t>Protect all variables</a:t>
            </a:r>
          </a:p>
          <a:p>
            <a:pPr lvl="1"/>
            <a:r>
              <a:rPr lang="en-US" dirty="0"/>
              <a:t>Ensure that all variables go through validation and are then escaped or sanitized</a:t>
            </a:r>
          </a:p>
          <a:p>
            <a:pPr lvl="2"/>
            <a:r>
              <a:rPr lang="en-US" dirty="0"/>
              <a:t>This is known as perfect injection resistance</a:t>
            </a:r>
          </a:p>
          <a:p>
            <a:pPr lvl="2"/>
            <a:r>
              <a:rPr lang="en-US" dirty="0"/>
              <a:t>Use whitelisting instead of blacklisting – as in all security filtering</a:t>
            </a:r>
          </a:p>
          <a:p>
            <a:pPr lvl="1"/>
            <a:r>
              <a:rPr lang="en-US" dirty="0"/>
              <a:t>An attacker must be able to insert and execute malicious content in a webpage to be successful</a:t>
            </a:r>
          </a:p>
          <a:p>
            <a:pPr lvl="1"/>
            <a:r>
              <a:rPr lang="en-US" dirty="0"/>
              <a:t>Use Regex filters as a way to validate that only acceptable content is allowed to enter your system</a:t>
            </a:r>
          </a:p>
          <a:p>
            <a:pPr lvl="1"/>
            <a:endParaRPr lang="en-US" dirty="0"/>
          </a:p>
          <a:p>
            <a:r>
              <a:rPr lang="en-US" dirty="0"/>
              <a:t>Use HTML Entities</a:t>
            </a:r>
          </a:p>
          <a:p>
            <a:pPr lvl="1"/>
            <a:r>
              <a:rPr lang="en-US" dirty="0"/>
              <a:t>HTML entities are a way to represent characters that could typically be used in code</a:t>
            </a:r>
          </a:p>
          <a:p>
            <a:pPr lvl="1"/>
            <a:r>
              <a:rPr lang="en-US" dirty="0"/>
              <a:t>If you write &lt;script&gt; inside an HTML document, it will not show on screen, since it is interpreted as part of the HTML code</a:t>
            </a:r>
          </a:p>
          <a:p>
            <a:pPr lvl="1"/>
            <a:r>
              <a:rPr lang="en-US" dirty="0"/>
              <a:t>Write &amp;</a:t>
            </a:r>
            <a:r>
              <a:rPr lang="en-US" dirty="0" err="1"/>
              <a:t>lt;script&amp;gt</a:t>
            </a:r>
            <a:r>
              <a:rPr lang="en-US" dirty="0"/>
              <a:t>; instead, and the browser will display the text &lt;script&gt; since &amp;</a:t>
            </a:r>
            <a:r>
              <a:rPr lang="en-US" dirty="0" err="1"/>
              <a:t>lt</a:t>
            </a:r>
            <a:r>
              <a:rPr lang="en-US" dirty="0"/>
              <a:t>; and &amp;</a:t>
            </a:r>
            <a:r>
              <a:rPr lang="en-US" dirty="0" err="1"/>
              <a:t>gt</a:t>
            </a:r>
            <a:r>
              <a:rPr lang="en-US" dirty="0"/>
              <a:t>; are the HTML Entities for &lt; and &gt; respectively.</a:t>
            </a:r>
          </a:p>
          <a:p>
            <a:pPr lvl="1"/>
            <a:r>
              <a:rPr lang="en-US" dirty="0"/>
              <a:t>There are standardized functions in all programming languages to encode and decode any string into a version that has or doesn't have HTML-entities</a:t>
            </a:r>
          </a:p>
          <a:p>
            <a:pPr lvl="1"/>
            <a:r>
              <a:rPr lang="en-US" dirty="0"/>
              <a:t>Make sure you do this in a consistent way. Encoding the same string twice would encode the &amp; and ; characters into their own HTML entities, and you will end up displaying unreadable nonsense.</a:t>
            </a:r>
          </a:p>
        </p:txBody>
      </p:sp>
      <p:sp>
        <p:nvSpPr>
          <p:cNvPr id="4" name="Pladsholder til dato 3">
            <a:extLst>
              <a:ext uri="{FF2B5EF4-FFF2-40B4-BE49-F238E27FC236}">
                <a16:creationId xmlns:a16="http://schemas.microsoft.com/office/drawing/2014/main" id="{BB070E65-E31D-D0C5-06D4-80B5F19DFCE9}"/>
              </a:ext>
            </a:extLst>
          </p:cNvPr>
          <p:cNvSpPr>
            <a:spLocks noGrp="1"/>
          </p:cNvSpPr>
          <p:nvPr>
            <p:ph type="dt" sz="half" idx="2"/>
          </p:nvPr>
        </p:nvSpPr>
        <p:spPr/>
        <p:txBody>
          <a:bodyPr/>
          <a:lstStyle/>
          <a:p>
            <a:fld id="{7048AC0A-6522-8246-9C18-C940C16A0EE3}" type="datetime1">
              <a:rPr lang="en-GB" smtClean="0"/>
              <a:t>18/09/2024</a:t>
            </a:fld>
            <a:endParaRPr lang="en-GB" dirty="0"/>
          </a:p>
        </p:txBody>
      </p:sp>
      <p:sp>
        <p:nvSpPr>
          <p:cNvPr id="5" name="Pladsholder til sidefod 4">
            <a:extLst>
              <a:ext uri="{FF2B5EF4-FFF2-40B4-BE49-F238E27FC236}">
                <a16:creationId xmlns:a16="http://schemas.microsoft.com/office/drawing/2014/main" id="{ED2AB6E5-1DBD-C2A9-CB3E-F9D45E9C331E}"/>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74369434-D1F5-7983-B31D-3D67420D0506}"/>
              </a:ext>
            </a:extLst>
          </p:cNvPr>
          <p:cNvSpPr>
            <a:spLocks noGrp="1"/>
          </p:cNvSpPr>
          <p:nvPr>
            <p:ph type="sldNum" sz="quarter" idx="15"/>
          </p:nvPr>
        </p:nvSpPr>
        <p:spPr/>
        <p:txBody>
          <a:bodyPr/>
          <a:lstStyle/>
          <a:p>
            <a:fld id="{45D37B1E-C366-494F-A587-962AD9AABC83}" type="slidenum">
              <a:rPr lang="en-GB" smtClean="0"/>
              <a:pPr/>
              <a:t>20</a:t>
            </a:fld>
            <a:endParaRPr lang="en-GB" dirty="0"/>
          </a:p>
        </p:txBody>
      </p:sp>
    </p:spTree>
    <p:extLst>
      <p:ext uri="{BB962C8B-B14F-4D97-AF65-F5344CB8AC3E}">
        <p14:creationId xmlns:p14="http://schemas.microsoft.com/office/powerpoint/2010/main" val="2350799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SQL Injection</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r>
              <a:rPr lang="en-US" dirty="0"/>
              <a:t>An attacker can use SQL injection on an application if it has dynamic database queries that use string concatenation and user supplied input.</a:t>
            </a:r>
          </a:p>
          <a:p>
            <a:r>
              <a:rPr lang="en-US" dirty="0"/>
              <a:t>This gives the hacker full access to the database and thus all data within</a:t>
            </a:r>
          </a:p>
          <a:p>
            <a:r>
              <a:rPr lang="en-US" dirty="0"/>
              <a:t>Most common attacks:</a:t>
            </a:r>
          </a:p>
          <a:p>
            <a:pPr lvl="1"/>
            <a:r>
              <a:rPr lang="en-US" dirty="0"/>
              <a:t>Always true (or 1=1)</a:t>
            </a:r>
          </a:p>
          <a:p>
            <a:pPr lvl="2"/>
            <a:r>
              <a:rPr lang="da-DK" b="1" i="0" dirty="0">
                <a:effectLst/>
                <a:latin typeface="‘Inter’ -apple-system"/>
              </a:rPr>
              <a:t>SELECT * FROM Users WHERE </a:t>
            </a:r>
            <a:r>
              <a:rPr lang="da-DK" b="1" i="0" dirty="0" err="1">
                <a:effectLst/>
                <a:latin typeface="‘Inter’ -apple-system"/>
              </a:rPr>
              <a:t>UserId</a:t>
            </a:r>
            <a:r>
              <a:rPr lang="da-DK" b="1" i="0" dirty="0">
                <a:effectLst/>
                <a:latin typeface="‘Inter’ -apple-system"/>
              </a:rPr>
              <a:t> = 105 OR 1=1;</a:t>
            </a:r>
            <a:endParaRPr lang="en-US" dirty="0"/>
          </a:p>
          <a:p>
            <a:pPr lvl="1"/>
            <a:r>
              <a:rPr lang="en-US" dirty="0"/>
              <a:t>Query stacking attacks</a:t>
            </a:r>
            <a:endParaRPr lang="da-DK" dirty="0">
              <a:latin typeface="‘Inter’ -apple-system"/>
            </a:endParaRPr>
          </a:p>
          <a:p>
            <a:pPr lvl="2"/>
            <a:r>
              <a:rPr lang="da-DK" b="1" i="0" dirty="0">
                <a:effectLst/>
                <a:latin typeface="‘Inter’ -apple-system"/>
              </a:rPr>
              <a:t>SELECT * FROM products WHERE id = 10; DROP </a:t>
            </a:r>
            <a:r>
              <a:rPr lang="da-DK" b="1" i="0" dirty="0" err="1">
                <a:effectLst/>
                <a:latin typeface="‘Inter’ -apple-system"/>
              </a:rPr>
              <a:t>members</a:t>
            </a:r>
            <a:r>
              <a:rPr lang="da-DK" b="1" i="0" dirty="0">
                <a:effectLst/>
                <a:latin typeface="‘Inter’ -apple-system"/>
              </a:rPr>
              <a:t>--</a:t>
            </a:r>
            <a:endParaRPr lang="en-US" dirty="0"/>
          </a:p>
          <a:p>
            <a:pPr lvl="1"/>
            <a:r>
              <a:rPr lang="en-US" dirty="0"/>
              <a:t>Data exfiltration</a:t>
            </a:r>
          </a:p>
          <a:p>
            <a:pPr lvl="2"/>
            <a:r>
              <a:rPr lang="da-DK" b="1" i="0" dirty="0">
                <a:effectLst/>
                <a:latin typeface="‘Inter’ -apple-system"/>
              </a:rPr>
              <a:t>SELECT * FROM </a:t>
            </a:r>
            <a:r>
              <a:rPr lang="da-DK" b="1" i="0" dirty="0" err="1">
                <a:effectLst/>
                <a:latin typeface="‘Inter’ -apple-system"/>
              </a:rPr>
              <a:t>health_records</a:t>
            </a:r>
            <a:r>
              <a:rPr lang="da-DK" b="1" i="0" dirty="0">
                <a:effectLst/>
                <a:latin typeface="‘Inter’ -apple-system"/>
              </a:rPr>
              <a:t> WHERE date = '22/04/1999'; -- ' AND id = 33</a:t>
            </a:r>
            <a:endParaRPr lang="en-US" dirty="0"/>
          </a:p>
          <a:p>
            <a:endParaRPr lang="en-US" dirty="0"/>
          </a:p>
          <a:p>
            <a:r>
              <a:rPr lang="en-US" dirty="0"/>
              <a:t>Solution: Prepared statements/Parameter binding</a:t>
            </a:r>
          </a:p>
          <a:p>
            <a:pPr lvl="1"/>
            <a:r>
              <a:rPr lang="en-US" dirty="0"/>
              <a:t>Prepared statements are simple to write and easier to understand than dynamic queries and parameterized queries force the developer to define all SQL code first and pass in each parameter to the query later</a:t>
            </a:r>
          </a:p>
          <a:p>
            <a:pPr lvl="1"/>
            <a:r>
              <a:rPr lang="en-US" dirty="0"/>
              <a:t>This enables the database to easily distinguish between code and data</a:t>
            </a:r>
          </a:p>
          <a:p>
            <a:pPr lvl="1"/>
            <a:r>
              <a:rPr lang="en-US" dirty="0"/>
              <a:t>This means attackers are unable to change the intent of the query</a:t>
            </a:r>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21</a:t>
            </a:fld>
            <a:endParaRPr lang="en-GB" dirty="0"/>
          </a:p>
        </p:txBody>
      </p:sp>
    </p:spTree>
    <p:extLst>
      <p:ext uri="{BB962C8B-B14F-4D97-AF65-F5344CB8AC3E}">
        <p14:creationId xmlns:p14="http://schemas.microsoft.com/office/powerpoint/2010/main" val="35742683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SQL Injection</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r>
              <a:rPr lang="en-US" dirty="0"/>
              <a:t>Example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Solution</a:t>
            </a:r>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22</a:t>
            </a:fld>
            <a:endParaRPr lang="en-GB" dirty="0"/>
          </a:p>
        </p:txBody>
      </p:sp>
      <p:pic>
        <p:nvPicPr>
          <p:cNvPr id="7" name="Billede 6">
            <a:extLst>
              <a:ext uri="{FF2B5EF4-FFF2-40B4-BE49-F238E27FC236}">
                <a16:creationId xmlns:a16="http://schemas.microsoft.com/office/drawing/2014/main" id="{C7C2538E-B675-EFDD-4A2B-92685C0D9015}"/>
              </a:ext>
            </a:extLst>
          </p:cNvPr>
          <p:cNvPicPr>
            <a:picLocks noChangeAspect="1"/>
          </p:cNvPicPr>
          <p:nvPr/>
        </p:nvPicPr>
        <p:blipFill>
          <a:blip r:embed="rId2"/>
          <a:stretch>
            <a:fillRect/>
          </a:stretch>
        </p:blipFill>
        <p:spPr>
          <a:xfrm>
            <a:off x="2209800" y="1700213"/>
            <a:ext cx="7772400" cy="2368153"/>
          </a:xfrm>
          <a:prstGeom prst="rect">
            <a:avLst/>
          </a:prstGeom>
        </p:spPr>
      </p:pic>
      <p:pic>
        <p:nvPicPr>
          <p:cNvPr id="8" name="Billede 7">
            <a:extLst>
              <a:ext uri="{FF2B5EF4-FFF2-40B4-BE49-F238E27FC236}">
                <a16:creationId xmlns:a16="http://schemas.microsoft.com/office/drawing/2014/main" id="{D99E0D33-B8D1-1FDC-5C4F-0D59FBA85A44}"/>
              </a:ext>
            </a:extLst>
          </p:cNvPr>
          <p:cNvPicPr>
            <a:picLocks noChangeAspect="1"/>
          </p:cNvPicPr>
          <p:nvPr/>
        </p:nvPicPr>
        <p:blipFill>
          <a:blip r:embed="rId3"/>
          <a:stretch>
            <a:fillRect/>
          </a:stretch>
        </p:blipFill>
        <p:spPr>
          <a:xfrm>
            <a:off x="2209800" y="4128337"/>
            <a:ext cx="7772400" cy="2337792"/>
          </a:xfrm>
          <a:prstGeom prst="rect">
            <a:avLst/>
          </a:prstGeom>
        </p:spPr>
      </p:pic>
    </p:spTree>
    <p:extLst>
      <p:ext uri="{BB962C8B-B14F-4D97-AF65-F5344CB8AC3E}">
        <p14:creationId xmlns:p14="http://schemas.microsoft.com/office/powerpoint/2010/main" val="1711211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Solution: SQL Injection</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r>
              <a:rPr lang="da-DK" dirty="0" err="1"/>
              <a:t>When</a:t>
            </a:r>
            <a:r>
              <a:rPr lang="da-DK" dirty="0"/>
              <a:t> </a:t>
            </a:r>
            <a:r>
              <a:rPr lang="da-DK" dirty="0" err="1"/>
              <a:t>your</a:t>
            </a:r>
            <a:r>
              <a:rPr lang="da-DK" dirty="0"/>
              <a:t> </a:t>
            </a:r>
            <a:r>
              <a:rPr lang="da-DK" dirty="0" err="1"/>
              <a:t>application</a:t>
            </a:r>
            <a:r>
              <a:rPr lang="da-DK" dirty="0"/>
              <a:t> </a:t>
            </a:r>
            <a:r>
              <a:rPr lang="da-DK" dirty="0" err="1"/>
              <a:t>interacts</a:t>
            </a:r>
            <a:r>
              <a:rPr lang="da-DK" dirty="0"/>
              <a:t> with the database, it </a:t>
            </a:r>
            <a:r>
              <a:rPr lang="da-DK" dirty="0" err="1"/>
              <a:t>uses</a:t>
            </a:r>
            <a:r>
              <a:rPr lang="da-DK" dirty="0"/>
              <a:t> the databases API</a:t>
            </a:r>
          </a:p>
          <a:p>
            <a:r>
              <a:rPr lang="da-DK" dirty="0"/>
              <a:t>The database API supports separation of </a:t>
            </a:r>
            <a:r>
              <a:rPr lang="da-DK" dirty="0" err="1"/>
              <a:t>query</a:t>
            </a:r>
            <a:r>
              <a:rPr lang="da-DK" dirty="0"/>
              <a:t> and content so </a:t>
            </a:r>
            <a:r>
              <a:rPr lang="da-DK" dirty="0" err="1"/>
              <a:t>you</a:t>
            </a:r>
            <a:r>
              <a:rPr lang="da-DK" dirty="0"/>
              <a:t> </a:t>
            </a:r>
            <a:r>
              <a:rPr lang="da-DK" dirty="0" err="1"/>
              <a:t>can</a:t>
            </a:r>
            <a:r>
              <a:rPr lang="da-DK" dirty="0"/>
              <a:t> give it a </a:t>
            </a:r>
            <a:r>
              <a:rPr lang="da-DK" dirty="0" err="1"/>
              <a:t>full</a:t>
            </a:r>
            <a:r>
              <a:rPr lang="da-DK" dirty="0"/>
              <a:t> SQL statement with placeholders for data, and </a:t>
            </a:r>
            <a:r>
              <a:rPr lang="da-DK" dirty="0" err="1"/>
              <a:t>then</a:t>
            </a:r>
            <a:r>
              <a:rPr lang="da-DK" dirty="0"/>
              <a:t> the data </a:t>
            </a:r>
            <a:r>
              <a:rPr lang="da-DK" dirty="0" err="1"/>
              <a:t>afterwards</a:t>
            </a:r>
            <a:endParaRPr lang="da-DK" dirty="0"/>
          </a:p>
          <a:p>
            <a:pPr lvl="1"/>
            <a:r>
              <a:rPr lang="da-DK" dirty="0"/>
              <a:t>This is </a:t>
            </a:r>
            <a:r>
              <a:rPr lang="da-DK" dirty="0" err="1"/>
              <a:t>typically</a:t>
            </a:r>
            <a:r>
              <a:rPr lang="da-DK" dirty="0"/>
              <a:t> done with </a:t>
            </a:r>
            <a:r>
              <a:rPr lang="da-DK" dirty="0" err="1"/>
              <a:t>prepared</a:t>
            </a:r>
            <a:r>
              <a:rPr lang="da-DK" dirty="0"/>
              <a:t> statements with parameter—</a:t>
            </a:r>
            <a:r>
              <a:rPr lang="da-DK" dirty="0" err="1"/>
              <a:t>inding</a:t>
            </a:r>
            <a:endParaRPr lang="da-DK" dirty="0"/>
          </a:p>
          <a:p>
            <a:pPr lvl="1"/>
            <a:r>
              <a:rPr lang="da-DK" dirty="0" err="1"/>
              <a:t>Alternatively</a:t>
            </a:r>
            <a:r>
              <a:rPr lang="da-DK" dirty="0"/>
              <a:t>, it </a:t>
            </a:r>
            <a:r>
              <a:rPr lang="da-DK" dirty="0" err="1"/>
              <a:t>can</a:t>
            </a:r>
            <a:r>
              <a:rPr lang="da-DK" dirty="0"/>
              <a:t> </a:t>
            </a:r>
            <a:r>
              <a:rPr lang="da-DK" dirty="0" err="1"/>
              <a:t>be</a:t>
            </a:r>
            <a:r>
              <a:rPr lang="da-DK" dirty="0"/>
              <a:t> done </a:t>
            </a:r>
            <a:r>
              <a:rPr lang="da-DK" dirty="0" err="1"/>
              <a:t>using</a:t>
            </a:r>
            <a:r>
              <a:rPr lang="da-DK" dirty="0"/>
              <a:t> </a:t>
            </a:r>
            <a:r>
              <a:rPr lang="da-DK" dirty="0" err="1"/>
              <a:t>stored</a:t>
            </a:r>
            <a:r>
              <a:rPr lang="da-DK" dirty="0"/>
              <a:t> procedures, </a:t>
            </a:r>
            <a:r>
              <a:rPr lang="da-DK" dirty="0" err="1"/>
              <a:t>where</a:t>
            </a:r>
            <a:r>
              <a:rPr lang="da-DK" dirty="0"/>
              <a:t> the SQL statement is </a:t>
            </a:r>
            <a:r>
              <a:rPr lang="da-DK" dirty="0" err="1"/>
              <a:t>stored</a:t>
            </a:r>
            <a:r>
              <a:rPr lang="da-DK" dirty="0"/>
              <a:t> in the database and </a:t>
            </a:r>
            <a:r>
              <a:rPr lang="da-DK" dirty="0" err="1"/>
              <a:t>can</a:t>
            </a:r>
            <a:r>
              <a:rPr lang="da-DK" dirty="0"/>
              <a:t> </a:t>
            </a:r>
            <a:r>
              <a:rPr lang="da-DK" dirty="0" err="1"/>
              <a:t>be</a:t>
            </a:r>
            <a:r>
              <a:rPr lang="da-DK" dirty="0"/>
              <a:t> run as a </a:t>
            </a:r>
            <a:r>
              <a:rPr lang="da-DK" dirty="0" err="1"/>
              <a:t>command</a:t>
            </a:r>
            <a:r>
              <a:rPr lang="da-DK" dirty="0"/>
              <a:t> </a:t>
            </a:r>
            <a:r>
              <a:rPr lang="da-DK" dirty="0" err="1"/>
              <a:t>where</a:t>
            </a:r>
            <a:r>
              <a:rPr lang="da-DK" dirty="0"/>
              <a:t> </a:t>
            </a:r>
            <a:r>
              <a:rPr lang="da-DK" dirty="0" err="1"/>
              <a:t>you</a:t>
            </a:r>
            <a:r>
              <a:rPr lang="da-DK" dirty="0"/>
              <a:t> just give it the </a:t>
            </a:r>
            <a:r>
              <a:rPr lang="da-DK" dirty="0" err="1"/>
              <a:t>necessary</a:t>
            </a:r>
            <a:r>
              <a:rPr lang="da-DK" dirty="0"/>
              <a:t> data</a:t>
            </a:r>
            <a:endParaRPr lang="en-US" dirty="0"/>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23</a:t>
            </a:fld>
            <a:endParaRPr lang="en-GB" dirty="0"/>
          </a:p>
        </p:txBody>
      </p:sp>
    </p:spTree>
    <p:extLst>
      <p:ext uri="{BB962C8B-B14F-4D97-AF65-F5344CB8AC3E}">
        <p14:creationId xmlns:p14="http://schemas.microsoft.com/office/powerpoint/2010/main" val="3067989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C1BC13-21FF-C60C-07D9-49862492DB84}"/>
              </a:ext>
            </a:extLst>
          </p:cNvPr>
          <p:cNvSpPr>
            <a:spLocks noGrp="1"/>
          </p:cNvSpPr>
          <p:nvPr>
            <p:ph type="ctrTitle"/>
          </p:nvPr>
        </p:nvSpPr>
        <p:spPr/>
        <p:txBody>
          <a:bodyPr/>
          <a:lstStyle/>
          <a:p>
            <a:r>
              <a:rPr lang="en-US" dirty="0"/>
              <a:t>Backend Script Injection</a:t>
            </a:r>
          </a:p>
        </p:txBody>
      </p:sp>
      <p:sp>
        <p:nvSpPr>
          <p:cNvPr id="3" name="Pladsholder til indhold 2">
            <a:extLst>
              <a:ext uri="{FF2B5EF4-FFF2-40B4-BE49-F238E27FC236}">
                <a16:creationId xmlns:a16="http://schemas.microsoft.com/office/drawing/2014/main" id="{6AFEE753-A7FC-6D43-1357-A6B322A7922E}"/>
              </a:ext>
            </a:extLst>
          </p:cNvPr>
          <p:cNvSpPr>
            <a:spLocks noGrp="1"/>
          </p:cNvSpPr>
          <p:nvPr>
            <p:ph sz="quarter" idx="13"/>
          </p:nvPr>
        </p:nvSpPr>
        <p:spPr/>
        <p:txBody>
          <a:bodyPr/>
          <a:lstStyle/>
          <a:p>
            <a:r>
              <a:rPr lang="en-US" dirty="0"/>
              <a:t>If an attacker uploads a script to a server and runs it by accessing its URL</a:t>
            </a:r>
          </a:p>
          <a:p>
            <a:r>
              <a:rPr lang="en-US" dirty="0"/>
              <a:t>The script can either replace an existing file or just be a new file</a:t>
            </a:r>
          </a:p>
          <a:p>
            <a:endParaRPr lang="en-US" dirty="0"/>
          </a:p>
          <a:p>
            <a:r>
              <a:rPr lang="en-US" dirty="0"/>
              <a:t>This is primarily an issue on servers that run PHP and JavaScript</a:t>
            </a:r>
          </a:p>
          <a:p>
            <a:pPr lvl="1"/>
            <a:r>
              <a:rPr lang="en-US" dirty="0"/>
              <a:t>Since they are interpreted languages, any file that is successfully injected into an interpreted space can act as real </a:t>
            </a:r>
            <a:r>
              <a:rPr lang="en-US" dirty="0" err="1"/>
              <a:t>servercode</a:t>
            </a:r>
            <a:endParaRPr lang="en-US" dirty="0"/>
          </a:p>
          <a:p>
            <a:r>
              <a:rPr lang="en-US" dirty="0"/>
              <a:t>It is possible with compiled languages as well, but then it requires more knowledge about the server application composition and will most likely require replacing a compiled library with another compiled library that has the same functions available</a:t>
            </a:r>
          </a:p>
        </p:txBody>
      </p:sp>
      <p:sp>
        <p:nvSpPr>
          <p:cNvPr id="4" name="Pladsholder til dato 3">
            <a:extLst>
              <a:ext uri="{FF2B5EF4-FFF2-40B4-BE49-F238E27FC236}">
                <a16:creationId xmlns:a16="http://schemas.microsoft.com/office/drawing/2014/main" id="{D6555F02-EEF2-8E77-9D2B-648239BC8803}"/>
              </a:ext>
            </a:extLst>
          </p:cNvPr>
          <p:cNvSpPr>
            <a:spLocks noGrp="1"/>
          </p:cNvSpPr>
          <p:nvPr>
            <p:ph type="dt" sz="half" idx="2"/>
          </p:nvPr>
        </p:nvSpPr>
        <p:spPr/>
        <p:txBody>
          <a:bodyPr/>
          <a:lstStyle/>
          <a:p>
            <a:fld id="{99F28DBA-32F4-FE48-AA81-CE6FF5780D06}" type="datetime1">
              <a:rPr lang="en-GB" smtClean="0"/>
              <a:t>18/09/2024</a:t>
            </a:fld>
            <a:endParaRPr lang="en-GB" dirty="0"/>
          </a:p>
        </p:txBody>
      </p:sp>
      <p:sp>
        <p:nvSpPr>
          <p:cNvPr id="5" name="Pladsholder til sidefod 4">
            <a:extLst>
              <a:ext uri="{FF2B5EF4-FFF2-40B4-BE49-F238E27FC236}">
                <a16:creationId xmlns:a16="http://schemas.microsoft.com/office/drawing/2014/main" id="{E4A639B9-DECA-36F6-4025-1936C7F78330}"/>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DF779BF3-B763-36D6-94DA-54476274B267}"/>
              </a:ext>
            </a:extLst>
          </p:cNvPr>
          <p:cNvSpPr>
            <a:spLocks noGrp="1"/>
          </p:cNvSpPr>
          <p:nvPr>
            <p:ph type="sldNum" sz="quarter" idx="15"/>
          </p:nvPr>
        </p:nvSpPr>
        <p:spPr/>
        <p:txBody>
          <a:bodyPr/>
          <a:lstStyle/>
          <a:p>
            <a:fld id="{45D37B1E-C366-494F-A587-962AD9AABC83}" type="slidenum">
              <a:rPr lang="en-GB" smtClean="0"/>
              <a:pPr/>
              <a:t>24</a:t>
            </a:fld>
            <a:endParaRPr lang="en-GB" dirty="0"/>
          </a:p>
        </p:txBody>
      </p:sp>
    </p:spTree>
    <p:extLst>
      <p:ext uri="{BB962C8B-B14F-4D97-AF65-F5344CB8AC3E}">
        <p14:creationId xmlns:p14="http://schemas.microsoft.com/office/powerpoint/2010/main" val="1164116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C1BC13-21FF-C60C-07D9-49862492DB84}"/>
              </a:ext>
            </a:extLst>
          </p:cNvPr>
          <p:cNvSpPr>
            <a:spLocks noGrp="1"/>
          </p:cNvSpPr>
          <p:nvPr>
            <p:ph type="ctrTitle"/>
          </p:nvPr>
        </p:nvSpPr>
        <p:spPr/>
        <p:txBody>
          <a:bodyPr/>
          <a:lstStyle/>
          <a:p>
            <a:r>
              <a:rPr lang="en-US" dirty="0"/>
              <a:t>Solution: Backend Script Injection</a:t>
            </a:r>
          </a:p>
        </p:txBody>
      </p:sp>
      <p:sp>
        <p:nvSpPr>
          <p:cNvPr id="3" name="Pladsholder til indhold 2">
            <a:extLst>
              <a:ext uri="{FF2B5EF4-FFF2-40B4-BE49-F238E27FC236}">
                <a16:creationId xmlns:a16="http://schemas.microsoft.com/office/drawing/2014/main" id="{6AFEE753-A7FC-6D43-1357-A6B322A7922E}"/>
              </a:ext>
            </a:extLst>
          </p:cNvPr>
          <p:cNvSpPr>
            <a:spLocks noGrp="1"/>
          </p:cNvSpPr>
          <p:nvPr>
            <p:ph sz="quarter" idx="13"/>
          </p:nvPr>
        </p:nvSpPr>
        <p:spPr/>
        <p:txBody>
          <a:bodyPr/>
          <a:lstStyle/>
          <a:p>
            <a:r>
              <a:rPr lang="en-US" dirty="0"/>
              <a:t>Always use a whitelist of filetypes that you allow upload of</a:t>
            </a:r>
          </a:p>
          <a:p>
            <a:pPr lvl="1"/>
            <a:r>
              <a:rPr lang="en-US" dirty="0"/>
              <a:t>Blacklists will likely allow you to forget something or allow formats that doesn't exist yet</a:t>
            </a:r>
          </a:p>
          <a:p>
            <a:r>
              <a:rPr lang="en-US" dirty="0"/>
              <a:t>Make sure the upload path is not prone to injection</a:t>
            </a:r>
          </a:p>
          <a:p>
            <a:pPr lvl="1"/>
            <a:r>
              <a:rPr lang="en-US" dirty="0"/>
              <a:t>Filename = ../../app/important/</a:t>
            </a:r>
            <a:r>
              <a:rPr lang="en-US" dirty="0" err="1"/>
              <a:t>stuff.php</a:t>
            </a:r>
            <a:endParaRPr lang="en-US" dirty="0"/>
          </a:p>
          <a:p>
            <a:r>
              <a:rPr lang="en-US" dirty="0"/>
              <a:t>Make sure the upload folder does not allow code interpretation</a:t>
            </a:r>
          </a:p>
          <a:p>
            <a:pPr lvl="1"/>
            <a:r>
              <a:rPr lang="en-US" dirty="0"/>
              <a:t>This is set up in your application configuration</a:t>
            </a:r>
          </a:p>
          <a:p>
            <a:pPr lvl="1"/>
            <a:endParaRPr lang="en-US" dirty="0"/>
          </a:p>
          <a:p>
            <a:pPr lvl="1"/>
            <a:endParaRPr lang="en-US" dirty="0"/>
          </a:p>
          <a:p>
            <a:endParaRPr lang="en-US" dirty="0"/>
          </a:p>
        </p:txBody>
      </p:sp>
      <p:sp>
        <p:nvSpPr>
          <p:cNvPr id="4" name="Pladsholder til dato 3">
            <a:extLst>
              <a:ext uri="{FF2B5EF4-FFF2-40B4-BE49-F238E27FC236}">
                <a16:creationId xmlns:a16="http://schemas.microsoft.com/office/drawing/2014/main" id="{D6555F02-EEF2-8E77-9D2B-648239BC8803}"/>
              </a:ext>
            </a:extLst>
          </p:cNvPr>
          <p:cNvSpPr>
            <a:spLocks noGrp="1"/>
          </p:cNvSpPr>
          <p:nvPr>
            <p:ph type="dt" sz="half" idx="2"/>
          </p:nvPr>
        </p:nvSpPr>
        <p:spPr/>
        <p:txBody>
          <a:bodyPr/>
          <a:lstStyle/>
          <a:p>
            <a:fld id="{99F28DBA-32F4-FE48-AA81-CE6FF5780D06}" type="datetime1">
              <a:rPr lang="en-GB" smtClean="0"/>
              <a:t>18/09/2024</a:t>
            </a:fld>
            <a:endParaRPr lang="en-GB" dirty="0"/>
          </a:p>
        </p:txBody>
      </p:sp>
      <p:sp>
        <p:nvSpPr>
          <p:cNvPr id="5" name="Pladsholder til sidefod 4">
            <a:extLst>
              <a:ext uri="{FF2B5EF4-FFF2-40B4-BE49-F238E27FC236}">
                <a16:creationId xmlns:a16="http://schemas.microsoft.com/office/drawing/2014/main" id="{E4A639B9-DECA-36F6-4025-1936C7F78330}"/>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DF779BF3-B763-36D6-94DA-54476274B267}"/>
              </a:ext>
            </a:extLst>
          </p:cNvPr>
          <p:cNvSpPr>
            <a:spLocks noGrp="1"/>
          </p:cNvSpPr>
          <p:nvPr>
            <p:ph type="sldNum" sz="quarter" idx="15"/>
          </p:nvPr>
        </p:nvSpPr>
        <p:spPr/>
        <p:txBody>
          <a:bodyPr/>
          <a:lstStyle/>
          <a:p>
            <a:fld id="{45D37B1E-C366-494F-A587-962AD9AABC83}" type="slidenum">
              <a:rPr lang="en-GB" smtClean="0"/>
              <a:pPr/>
              <a:t>25</a:t>
            </a:fld>
            <a:endParaRPr lang="en-GB" dirty="0"/>
          </a:p>
        </p:txBody>
      </p:sp>
    </p:spTree>
    <p:extLst>
      <p:ext uri="{BB962C8B-B14F-4D97-AF65-F5344CB8AC3E}">
        <p14:creationId xmlns:p14="http://schemas.microsoft.com/office/powerpoint/2010/main" val="3323193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Direct Database Access</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r>
              <a:rPr lang="da-DK" dirty="0"/>
              <a:t>A </a:t>
            </a:r>
            <a:r>
              <a:rPr lang="da-DK" dirty="0" err="1"/>
              <a:t>lot</a:t>
            </a:r>
            <a:r>
              <a:rPr lang="da-DK" dirty="0"/>
              <a:t> of </a:t>
            </a:r>
            <a:r>
              <a:rPr lang="da-DK" dirty="0" err="1"/>
              <a:t>applications</a:t>
            </a:r>
            <a:r>
              <a:rPr lang="da-DK" dirty="0"/>
              <a:t> have a </a:t>
            </a:r>
            <a:r>
              <a:rPr lang="da-DK" dirty="0" err="1"/>
              <a:t>username</a:t>
            </a:r>
            <a:r>
              <a:rPr lang="da-DK" dirty="0"/>
              <a:t> and password for the DB </a:t>
            </a:r>
            <a:r>
              <a:rPr lang="da-DK" dirty="0" err="1"/>
              <a:t>connection</a:t>
            </a:r>
            <a:r>
              <a:rPr lang="da-DK" dirty="0"/>
              <a:t> </a:t>
            </a:r>
            <a:r>
              <a:rPr lang="da-DK" dirty="0" err="1"/>
              <a:t>stored</a:t>
            </a:r>
            <a:r>
              <a:rPr lang="da-DK" dirty="0"/>
              <a:t> in a </a:t>
            </a:r>
            <a:r>
              <a:rPr lang="da-DK" dirty="0" err="1"/>
              <a:t>configuration</a:t>
            </a:r>
            <a:r>
              <a:rPr lang="da-DK" dirty="0"/>
              <a:t> file</a:t>
            </a:r>
          </a:p>
          <a:p>
            <a:r>
              <a:rPr lang="da-DK" dirty="0"/>
              <a:t>If </a:t>
            </a:r>
            <a:r>
              <a:rPr lang="da-DK" dirty="0" err="1"/>
              <a:t>anyone</a:t>
            </a:r>
            <a:r>
              <a:rPr lang="da-DK" dirty="0"/>
              <a:t> </a:t>
            </a:r>
            <a:r>
              <a:rPr lang="da-DK" dirty="0" err="1"/>
              <a:t>gets</a:t>
            </a:r>
            <a:r>
              <a:rPr lang="da-DK" dirty="0"/>
              <a:t> </a:t>
            </a:r>
            <a:r>
              <a:rPr lang="da-DK" dirty="0" err="1"/>
              <a:t>this</a:t>
            </a:r>
            <a:r>
              <a:rPr lang="da-DK" dirty="0"/>
              <a:t> </a:t>
            </a:r>
            <a:r>
              <a:rPr lang="da-DK" dirty="0" err="1"/>
              <a:t>string</a:t>
            </a:r>
            <a:r>
              <a:rPr lang="da-DK" dirty="0"/>
              <a:t>, </a:t>
            </a:r>
            <a:r>
              <a:rPr lang="da-DK" dirty="0" err="1"/>
              <a:t>they</a:t>
            </a:r>
            <a:r>
              <a:rPr lang="da-DK" dirty="0"/>
              <a:t> </a:t>
            </a:r>
            <a:r>
              <a:rPr lang="da-DK" dirty="0" err="1"/>
              <a:t>can</a:t>
            </a:r>
            <a:r>
              <a:rPr lang="da-DK" dirty="0"/>
              <a:t> open a </a:t>
            </a:r>
            <a:r>
              <a:rPr lang="da-DK" dirty="0" err="1"/>
              <a:t>connection</a:t>
            </a:r>
            <a:r>
              <a:rPr lang="da-DK" dirty="0"/>
              <a:t> to it and run SQL </a:t>
            </a:r>
            <a:r>
              <a:rPr lang="da-DK" dirty="0" err="1"/>
              <a:t>directly</a:t>
            </a:r>
            <a:r>
              <a:rPr lang="da-DK" dirty="0"/>
              <a:t> </a:t>
            </a:r>
            <a:r>
              <a:rPr lang="da-DK" dirty="0" err="1"/>
              <a:t>against</a:t>
            </a:r>
            <a:r>
              <a:rPr lang="da-DK" dirty="0"/>
              <a:t> it</a:t>
            </a:r>
          </a:p>
          <a:p>
            <a:r>
              <a:rPr lang="da-DK" dirty="0" err="1"/>
              <a:t>They</a:t>
            </a:r>
            <a:r>
              <a:rPr lang="da-DK" dirty="0"/>
              <a:t> </a:t>
            </a:r>
            <a:r>
              <a:rPr lang="da-DK" dirty="0" err="1"/>
              <a:t>can</a:t>
            </a:r>
            <a:r>
              <a:rPr lang="da-DK" dirty="0"/>
              <a:t> </a:t>
            </a:r>
            <a:r>
              <a:rPr lang="da-DK" dirty="0" err="1"/>
              <a:t>easiliy</a:t>
            </a:r>
            <a:r>
              <a:rPr lang="da-DK" dirty="0"/>
              <a:t> ask for a list of databases and </a:t>
            </a:r>
            <a:r>
              <a:rPr lang="da-DK" dirty="0" err="1"/>
              <a:t>tables</a:t>
            </a:r>
            <a:r>
              <a:rPr lang="da-DK" dirty="0"/>
              <a:t> and </a:t>
            </a:r>
            <a:r>
              <a:rPr lang="da-DK" dirty="0" err="1"/>
              <a:t>select</a:t>
            </a:r>
            <a:r>
              <a:rPr lang="da-DK" dirty="0"/>
              <a:t> </a:t>
            </a:r>
            <a:r>
              <a:rPr lang="da-DK" dirty="0" err="1"/>
              <a:t>any</a:t>
            </a:r>
            <a:r>
              <a:rPr lang="da-DK" dirty="0"/>
              <a:t> data </a:t>
            </a:r>
            <a:r>
              <a:rPr lang="da-DK" dirty="0" err="1"/>
              <a:t>they</a:t>
            </a:r>
            <a:r>
              <a:rPr lang="da-DK" dirty="0"/>
              <a:t> </a:t>
            </a:r>
            <a:r>
              <a:rPr lang="da-DK" dirty="0" err="1"/>
              <a:t>want</a:t>
            </a:r>
            <a:r>
              <a:rPr lang="da-DK" dirty="0"/>
              <a:t>, </a:t>
            </a:r>
            <a:r>
              <a:rPr lang="da-DK" dirty="0" err="1"/>
              <a:t>including</a:t>
            </a:r>
            <a:r>
              <a:rPr lang="da-DK" dirty="0"/>
              <a:t> </a:t>
            </a:r>
            <a:r>
              <a:rPr lang="da-DK" dirty="0" err="1"/>
              <a:t>billing</a:t>
            </a:r>
            <a:r>
              <a:rPr lang="da-DK" dirty="0"/>
              <a:t> info, passwords and </a:t>
            </a:r>
            <a:r>
              <a:rPr lang="da-DK" dirty="0" err="1"/>
              <a:t>other</a:t>
            </a:r>
            <a:r>
              <a:rPr lang="da-DK" dirty="0"/>
              <a:t> sensitive data</a:t>
            </a:r>
          </a:p>
          <a:p>
            <a:endParaRPr lang="en-US" dirty="0"/>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26</a:t>
            </a:fld>
            <a:endParaRPr lang="en-GB" dirty="0"/>
          </a:p>
        </p:txBody>
      </p:sp>
    </p:spTree>
    <p:extLst>
      <p:ext uri="{BB962C8B-B14F-4D97-AF65-F5344CB8AC3E}">
        <p14:creationId xmlns:p14="http://schemas.microsoft.com/office/powerpoint/2010/main" val="481749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Solution: Direct Database Access</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r>
              <a:rPr lang="da-DK" dirty="0"/>
              <a:t>Hash </a:t>
            </a:r>
            <a:r>
              <a:rPr lang="da-DK" dirty="0" err="1"/>
              <a:t>verification</a:t>
            </a:r>
            <a:r>
              <a:rPr lang="da-DK" dirty="0"/>
              <a:t> </a:t>
            </a:r>
            <a:r>
              <a:rPr lang="da-DK" dirty="0" err="1"/>
              <a:t>tokens</a:t>
            </a:r>
            <a:r>
              <a:rPr lang="da-DK" dirty="0"/>
              <a:t> </a:t>
            </a:r>
            <a:r>
              <a:rPr lang="da-DK" dirty="0" err="1"/>
              <a:t>such</a:t>
            </a:r>
            <a:r>
              <a:rPr lang="da-DK" dirty="0"/>
              <a:t> as passwords</a:t>
            </a:r>
          </a:p>
          <a:p>
            <a:pPr lvl="1"/>
            <a:r>
              <a:rPr lang="da-DK" dirty="0"/>
              <a:t>A </a:t>
            </a:r>
            <a:r>
              <a:rPr lang="da-DK" dirty="0" err="1"/>
              <a:t>hashing</a:t>
            </a:r>
            <a:r>
              <a:rPr lang="da-DK" dirty="0"/>
              <a:t> </a:t>
            </a:r>
            <a:r>
              <a:rPr lang="da-DK" dirty="0" err="1"/>
              <a:t>algorithm</a:t>
            </a:r>
            <a:r>
              <a:rPr lang="da-DK" dirty="0"/>
              <a:t> </a:t>
            </a:r>
            <a:r>
              <a:rPr lang="da-DK" dirty="0" err="1"/>
              <a:t>does</a:t>
            </a:r>
            <a:r>
              <a:rPr lang="da-DK" dirty="0"/>
              <a:t> not </a:t>
            </a:r>
            <a:r>
              <a:rPr lang="da-DK" dirty="0" err="1"/>
              <a:t>allow</a:t>
            </a:r>
            <a:r>
              <a:rPr lang="da-DK" dirty="0"/>
              <a:t> de-</a:t>
            </a:r>
            <a:r>
              <a:rPr lang="da-DK" dirty="0" err="1"/>
              <a:t>hashing</a:t>
            </a:r>
            <a:r>
              <a:rPr lang="da-DK" dirty="0"/>
              <a:t>, so for data </a:t>
            </a:r>
            <a:r>
              <a:rPr lang="da-DK" dirty="0" err="1"/>
              <a:t>we</a:t>
            </a:r>
            <a:r>
              <a:rPr lang="da-DK" dirty="0"/>
              <a:t> </a:t>
            </a:r>
            <a:r>
              <a:rPr lang="da-DK" dirty="0" err="1"/>
              <a:t>only</a:t>
            </a:r>
            <a:r>
              <a:rPr lang="da-DK" dirty="0"/>
              <a:t> </a:t>
            </a:r>
            <a:r>
              <a:rPr lang="da-DK" dirty="0" err="1"/>
              <a:t>need</a:t>
            </a:r>
            <a:r>
              <a:rPr lang="da-DK" dirty="0"/>
              <a:t> to </a:t>
            </a:r>
            <a:r>
              <a:rPr lang="da-DK" dirty="0" err="1"/>
              <a:t>validate</a:t>
            </a:r>
            <a:r>
              <a:rPr lang="da-DK" dirty="0"/>
              <a:t>, but never to display – </a:t>
            </a:r>
            <a:r>
              <a:rPr lang="da-DK" dirty="0" err="1"/>
              <a:t>use</a:t>
            </a:r>
            <a:r>
              <a:rPr lang="da-DK" dirty="0"/>
              <a:t> </a:t>
            </a:r>
            <a:r>
              <a:rPr lang="da-DK" dirty="0" err="1"/>
              <a:t>hasing</a:t>
            </a:r>
            <a:endParaRPr lang="da-DK" dirty="0"/>
          </a:p>
          <a:p>
            <a:r>
              <a:rPr lang="da-DK" dirty="0" err="1"/>
              <a:t>Encrypt</a:t>
            </a:r>
            <a:r>
              <a:rPr lang="da-DK" dirty="0"/>
              <a:t> sensitive data</a:t>
            </a:r>
          </a:p>
          <a:p>
            <a:pPr lvl="1"/>
            <a:r>
              <a:rPr lang="da-DK" dirty="0" err="1"/>
              <a:t>Encryption</a:t>
            </a:r>
            <a:r>
              <a:rPr lang="da-DK" dirty="0"/>
              <a:t> </a:t>
            </a:r>
            <a:r>
              <a:rPr lang="da-DK" dirty="0" err="1"/>
              <a:t>can</a:t>
            </a:r>
            <a:r>
              <a:rPr lang="da-DK" dirty="0"/>
              <a:t> </a:t>
            </a:r>
            <a:r>
              <a:rPr lang="da-DK" dirty="0" err="1"/>
              <a:t>be</a:t>
            </a:r>
            <a:r>
              <a:rPr lang="da-DK" dirty="0"/>
              <a:t> </a:t>
            </a:r>
            <a:r>
              <a:rPr lang="da-DK" dirty="0" err="1"/>
              <a:t>decrypted</a:t>
            </a:r>
            <a:r>
              <a:rPr lang="da-DK" dirty="0"/>
              <a:t> </a:t>
            </a:r>
            <a:r>
              <a:rPr lang="da-DK" dirty="0" err="1"/>
              <a:t>if</a:t>
            </a:r>
            <a:r>
              <a:rPr lang="da-DK" dirty="0"/>
              <a:t> the private </a:t>
            </a:r>
            <a:r>
              <a:rPr lang="da-DK" dirty="0" err="1"/>
              <a:t>key</a:t>
            </a:r>
            <a:r>
              <a:rPr lang="da-DK" dirty="0"/>
              <a:t> and </a:t>
            </a:r>
            <a:r>
              <a:rPr lang="da-DK" dirty="0" err="1"/>
              <a:t>algorithm</a:t>
            </a:r>
            <a:r>
              <a:rPr lang="da-DK" dirty="0"/>
              <a:t> </a:t>
            </a:r>
            <a:r>
              <a:rPr lang="da-DK" dirty="0" err="1"/>
              <a:t>are</a:t>
            </a:r>
            <a:r>
              <a:rPr lang="da-DK" dirty="0"/>
              <a:t> </a:t>
            </a:r>
            <a:r>
              <a:rPr lang="da-DK" dirty="0" err="1"/>
              <a:t>known</a:t>
            </a:r>
            <a:r>
              <a:rPr lang="da-DK" dirty="0"/>
              <a:t>, but it </a:t>
            </a:r>
            <a:r>
              <a:rPr lang="da-DK" dirty="0" err="1"/>
              <a:t>adds</a:t>
            </a:r>
            <a:r>
              <a:rPr lang="da-DK" dirty="0"/>
              <a:t> a </a:t>
            </a:r>
            <a:r>
              <a:rPr lang="da-DK" dirty="0" err="1"/>
              <a:t>layer</a:t>
            </a:r>
            <a:r>
              <a:rPr lang="da-DK" dirty="0"/>
              <a:t> of </a:t>
            </a:r>
            <a:r>
              <a:rPr lang="da-DK" dirty="0" err="1"/>
              <a:t>protection</a:t>
            </a:r>
            <a:r>
              <a:rPr lang="da-DK" dirty="0"/>
              <a:t> and </a:t>
            </a:r>
            <a:r>
              <a:rPr lang="da-DK" dirty="0" err="1"/>
              <a:t>difficulty</a:t>
            </a:r>
            <a:endParaRPr lang="da-DK" dirty="0"/>
          </a:p>
          <a:p>
            <a:r>
              <a:rPr lang="da-DK" dirty="0"/>
              <a:t>Make sure the database </a:t>
            </a:r>
            <a:r>
              <a:rPr lang="da-DK" dirty="0" err="1"/>
              <a:t>only</a:t>
            </a:r>
            <a:r>
              <a:rPr lang="da-DK" dirty="0"/>
              <a:t> accepts </a:t>
            </a:r>
            <a:r>
              <a:rPr lang="da-DK" dirty="0" err="1"/>
              <a:t>requests</a:t>
            </a:r>
            <a:r>
              <a:rPr lang="da-DK" dirty="0"/>
              <a:t> </a:t>
            </a:r>
            <a:r>
              <a:rPr lang="da-DK" dirty="0" err="1"/>
              <a:t>directly</a:t>
            </a:r>
            <a:r>
              <a:rPr lang="da-DK" dirty="0"/>
              <a:t> from the same server</a:t>
            </a:r>
          </a:p>
          <a:p>
            <a:pPr lvl="1"/>
            <a:r>
              <a:rPr lang="da-DK" dirty="0"/>
              <a:t>This is a </a:t>
            </a:r>
            <a:r>
              <a:rPr lang="da-DK" dirty="0" err="1"/>
              <a:t>setting</a:t>
            </a:r>
            <a:r>
              <a:rPr lang="da-DK" dirty="0"/>
              <a:t> in all proper databases</a:t>
            </a:r>
          </a:p>
          <a:p>
            <a:r>
              <a:rPr lang="en-US" dirty="0"/>
              <a:t>Audit logging</a:t>
            </a:r>
          </a:p>
          <a:p>
            <a:pPr lvl="1"/>
            <a:r>
              <a:rPr lang="en-US" dirty="0"/>
              <a:t>Set up triggers for specific queries and log to an audit log</a:t>
            </a:r>
          </a:p>
          <a:p>
            <a:pPr lvl="1"/>
            <a:r>
              <a:rPr lang="en-US" dirty="0"/>
              <a:t>Have an application look into the audit log for specific </a:t>
            </a:r>
            <a:r>
              <a:rPr lang="en-US" dirty="0" err="1"/>
              <a:t>occurences</a:t>
            </a:r>
            <a:r>
              <a:rPr lang="en-US" dirty="0"/>
              <a:t> on a regular schedule, and send out a warning if something unwanted is happening</a:t>
            </a:r>
          </a:p>
          <a:p>
            <a:pPr lvl="1"/>
            <a:r>
              <a:rPr lang="en-US" dirty="0"/>
              <a:t>More on this later…</a:t>
            </a:r>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27</a:t>
            </a:fld>
            <a:endParaRPr lang="en-GB" dirty="0"/>
          </a:p>
        </p:txBody>
      </p:sp>
    </p:spTree>
    <p:extLst>
      <p:ext uri="{BB962C8B-B14F-4D97-AF65-F5344CB8AC3E}">
        <p14:creationId xmlns:p14="http://schemas.microsoft.com/office/powerpoint/2010/main" val="3762891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66A4373-C284-53B0-F10B-558C95D77427}"/>
              </a:ext>
            </a:extLst>
          </p:cNvPr>
          <p:cNvSpPr>
            <a:spLocks noGrp="1"/>
          </p:cNvSpPr>
          <p:nvPr>
            <p:ph type="ctrTitle"/>
          </p:nvPr>
        </p:nvSpPr>
        <p:spPr/>
        <p:txBody>
          <a:bodyPr/>
          <a:lstStyle/>
          <a:p>
            <a:r>
              <a:rPr lang="en-US" dirty="0"/>
              <a:t>Solution: Direct Database Access</a:t>
            </a:r>
          </a:p>
        </p:txBody>
      </p:sp>
      <p:sp>
        <p:nvSpPr>
          <p:cNvPr id="3" name="Pladsholder til indhold 2">
            <a:extLst>
              <a:ext uri="{FF2B5EF4-FFF2-40B4-BE49-F238E27FC236}">
                <a16:creationId xmlns:a16="http://schemas.microsoft.com/office/drawing/2014/main" id="{8CA7276E-04FE-D86F-697C-2A72CEFC61E1}"/>
              </a:ext>
            </a:extLst>
          </p:cNvPr>
          <p:cNvSpPr>
            <a:spLocks noGrp="1"/>
          </p:cNvSpPr>
          <p:nvPr>
            <p:ph sz="quarter" idx="13"/>
          </p:nvPr>
        </p:nvSpPr>
        <p:spPr/>
        <p:txBody>
          <a:bodyPr/>
          <a:lstStyle/>
          <a:p>
            <a:pPr marL="0" indent="0">
              <a:buNone/>
            </a:pPr>
            <a:r>
              <a:rPr lang="da-DK" dirty="0"/>
              <a:t>In </a:t>
            </a:r>
            <a:r>
              <a:rPr lang="da-DK" dirty="0" err="1"/>
              <a:t>severe</a:t>
            </a:r>
            <a:r>
              <a:rPr lang="da-DK" dirty="0"/>
              <a:t> cases </a:t>
            </a:r>
            <a:r>
              <a:rPr lang="da-DK" dirty="0" err="1"/>
              <a:t>where</a:t>
            </a:r>
            <a:r>
              <a:rPr lang="da-DK" dirty="0"/>
              <a:t> data </a:t>
            </a:r>
            <a:r>
              <a:rPr lang="da-DK" dirty="0" err="1"/>
              <a:t>protection</a:t>
            </a:r>
            <a:r>
              <a:rPr lang="da-DK" dirty="0"/>
              <a:t> is </a:t>
            </a:r>
            <a:r>
              <a:rPr lang="da-DK" dirty="0" err="1"/>
              <a:t>important</a:t>
            </a:r>
            <a:r>
              <a:rPr lang="da-DK" dirty="0"/>
              <a:t>, </a:t>
            </a:r>
            <a:r>
              <a:rPr lang="da-DK" dirty="0" err="1"/>
              <a:t>you</a:t>
            </a:r>
            <a:r>
              <a:rPr lang="da-DK" dirty="0"/>
              <a:t> </a:t>
            </a:r>
            <a:r>
              <a:rPr lang="da-DK" dirty="0" err="1"/>
              <a:t>can</a:t>
            </a:r>
            <a:r>
              <a:rPr lang="da-DK" dirty="0"/>
              <a:t> </a:t>
            </a:r>
            <a:r>
              <a:rPr lang="da-DK" dirty="0" err="1"/>
              <a:t>take</a:t>
            </a:r>
            <a:r>
              <a:rPr lang="da-DK" dirty="0"/>
              <a:t> </a:t>
            </a:r>
            <a:r>
              <a:rPr lang="da-DK" dirty="0" err="1"/>
              <a:t>even</a:t>
            </a:r>
            <a:r>
              <a:rPr lang="da-DK" dirty="0"/>
              <a:t> </a:t>
            </a:r>
            <a:r>
              <a:rPr lang="da-DK" dirty="0" err="1"/>
              <a:t>steeper</a:t>
            </a:r>
            <a:r>
              <a:rPr lang="da-DK" dirty="0"/>
              <a:t> measures:</a:t>
            </a:r>
          </a:p>
          <a:p>
            <a:r>
              <a:rPr lang="da-DK" dirty="0" err="1"/>
              <a:t>Don't</a:t>
            </a:r>
            <a:r>
              <a:rPr lang="da-DK" dirty="0"/>
              <a:t> give the </a:t>
            </a:r>
            <a:r>
              <a:rPr lang="da-DK" dirty="0" err="1"/>
              <a:t>application</a:t>
            </a:r>
            <a:r>
              <a:rPr lang="da-DK" dirty="0"/>
              <a:t> a database user. Make a DB user for </a:t>
            </a:r>
            <a:r>
              <a:rPr lang="da-DK" dirty="0" err="1"/>
              <a:t>each</a:t>
            </a:r>
            <a:r>
              <a:rPr lang="da-DK" dirty="0"/>
              <a:t> end-user, and </a:t>
            </a:r>
            <a:r>
              <a:rPr lang="da-DK" dirty="0" err="1"/>
              <a:t>relay</a:t>
            </a:r>
            <a:r>
              <a:rPr lang="da-DK" dirty="0"/>
              <a:t> </a:t>
            </a:r>
            <a:r>
              <a:rPr lang="da-DK" dirty="0" err="1"/>
              <a:t>their</a:t>
            </a:r>
            <a:r>
              <a:rPr lang="da-DK" dirty="0"/>
              <a:t> user-information to the database. </a:t>
            </a:r>
            <a:r>
              <a:rPr lang="da-DK" dirty="0" err="1"/>
              <a:t>That</a:t>
            </a:r>
            <a:r>
              <a:rPr lang="da-DK" dirty="0"/>
              <a:t> </a:t>
            </a:r>
            <a:r>
              <a:rPr lang="da-DK" dirty="0" err="1"/>
              <a:t>way</a:t>
            </a:r>
            <a:r>
              <a:rPr lang="da-DK" dirty="0"/>
              <a:t>, the database </a:t>
            </a:r>
            <a:r>
              <a:rPr lang="da-DK" dirty="0" err="1"/>
              <a:t>knows</a:t>
            </a:r>
            <a:r>
              <a:rPr lang="da-DK" dirty="0"/>
              <a:t> </a:t>
            </a:r>
            <a:r>
              <a:rPr lang="da-DK" dirty="0" err="1"/>
              <a:t>who</a:t>
            </a:r>
            <a:r>
              <a:rPr lang="da-DK" dirty="0"/>
              <a:t> is </a:t>
            </a:r>
            <a:r>
              <a:rPr lang="da-DK" dirty="0" err="1"/>
              <a:t>looking</a:t>
            </a:r>
            <a:r>
              <a:rPr lang="da-DK" dirty="0"/>
              <a:t> and </a:t>
            </a:r>
            <a:r>
              <a:rPr lang="da-DK" dirty="0" err="1"/>
              <a:t>manipulating</a:t>
            </a:r>
            <a:r>
              <a:rPr lang="da-DK" dirty="0"/>
              <a:t>.</a:t>
            </a:r>
          </a:p>
          <a:p>
            <a:r>
              <a:rPr lang="da-DK" dirty="0"/>
              <a:t>Applications </a:t>
            </a:r>
            <a:r>
              <a:rPr lang="da-DK" dirty="0" err="1"/>
              <a:t>can</a:t>
            </a:r>
            <a:r>
              <a:rPr lang="da-DK" dirty="0"/>
              <a:t> </a:t>
            </a:r>
            <a:r>
              <a:rPr lang="da-DK" dirty="0" err="1"/>
              <a:t>work</a:t>
            </a:r>
            <a:r>
              <a:rPr lang="da-DK" dirty="0"/>
              <a:t> like </a:t>
            </a:r>
            <a:r>
              <a:rPr lang="da-DK" dirty="0" err="1"/>
              <a:t>this</a:t>
            </a:r>
            <a:r>
              <a:rPr lang="da-DK" dirty="0"/>
              <a:t>, </a:t>
            </a:r>
            <a:r>
              <a:rPr lang="da-DK" dirty="0" err="1"/>
              <a:t>if</a:t>
            </a:r>
            <a:r>
              <a:rPr lang="da-DK" dirty="0"/>
              <a:t> </a:t>
            </a:r>
            <a:r>
              <a:rPr lang="da-DK" dirty="0" err="1"/>
              <a:t>they</a:t>
            </a:r>
            <a:r>
              <a:rPr lang="da-DK" dirty="0"/>
              <a:t> </a:t>
            </a:r>
            <a:r>
              <a:rPr lang="da-DK" dirty="0" err="1"/>
              <a:t>relay</a:t>
            </a:r>
            <a:r>
              <a:rPr lang="da-DK" dirty="0"/>
              <a:t> the user </a:t>
            </a:r>
            <a:r>
              <a:rPr lang="da-DK" dirty="0" err="1"/>
              <a:t>credentials</a:t>
            </a:r>
            <a:r>
              <a:rPr lang="da-DK" dirty="0"/>
              <a:t> </a:t>
            </a:r>
            <a:r>
              <a:rPr lang="da-DK" dirty="0" err="1"/>
              <a:t>instead</a:t>
            </a:r>
            <a:r>
              <a:rPr lang="da-DK" dirty="0"/>
              <a:t> of </a:t>
            </a:r>
            <a:r>
              <a:rPr lang="da-DK" dirty="0" err="1"/>
              <a:t>having</a:t>
            </a:r>
            <a:r>
              <a:rPr lang="da-DK" dirty="0"/>
              <a:t> </a:t>
            </a:r>
            <a:r>
              <a:rPr lang="da-DK" dirty="0" err="1"/>
              <a:t>its</a:t>
            </a:r>
            <a:r>
              <a:rPr lang="da-DK" dirty="0"/>
              <a:t> </a:t>
            </a:r>
            <a:r>
              <a:rPr lang="da-DK" dirty="0" err="1"/>
              <a:t>own</a:t>
            </a:r>
            <a:r>
              <a:rPr lang="da-DK" dirty="0"/>
              <a:t>.</a:t>
            </a:r>
          </a:p>
          <a:p>
            <a:r>
              <a:rPr lang="da-DK" dirty="0"/>
              <a:t>In </a:t>
            </a:r>
            <a:r>
              <a:rPr lang="da-DK" dirty="0" err="1"/>
              <a:t>this</a:t>
            </a:r>
            <a:r>
              <a:rPr lang="da-DK" dirty="0"/>
              <a:t> </a:t>
            </a:r>
            <a:r>
              <a:rPr lang="da-DK" dirty="0" err="1"/>
              <a:t>setup</a:t>
            </a:r>
            <a:r>
              <a:rPr lang="da-DK" dirty="0"/>
              <a:t>, </a:t>
            </a:r>
            <a:r>
              <a:rPr lang="da-DK" dirty="0" err="1"/>
              <a:t>you</a:t>
            </a:r>
            <a:r>
              <a:rPr lang="da-DK" dirty="0"/>
              <a:t> </a:t>
            </a:r>
            <a:r>
              <a:rPr lang="da-DK" dirty="0" err="1"/>
              <a:t>would</a:t>
            </a:r>
            <a:r>
              <a:rPr lang="da-DK" dirty="0"/>
              <a:t> </a:t>
            </a:r>
            <a:r>
              <a:rPr lang="da-DK" dirty="0" err="1"/>
              <a:t>typically</a:t>
            </a:r>
            <a:r>
              <a:rPr lang="da-DK" dirty="0"/>
              <a:t> </a:t>
            </a:r>
            <a:r>
              <a:rPr lang="da-DK" dirty="0" err="1"/>
              <a:t>use</a:t>
            </a:r>
            <a:r>
              <a:rPr lang="da-DK" dirty="0"/>
              <a:t> a third-party login-system, </a:t>
            </a:r>
            <a:r>
              <a:rPr lang="da-DK" dirty="0" err="1"/>
              <a:t>such</a:t>
            </a:r>
            <a:r>
              <a:rPr lang="da-DK" dirty="0"/>
              <a:t> as LDAP or Microsoft </a:t>
            </a:r>
            <a:r>
              <a:rPr lang="da-DK" dirty="0" err="1"/>
              <a:t>Azure</a:t>
            </a:r>
            <a:endParaRPr lang="en-US" dirty="0"/>
          </a:p>
        </p:txBody>
      </p:sp>
      <p:sp>
        <p:nvSpPr>
          <p:cNvPr id="4" name="Pladsholder til dato 3">
            <a:extLst>
              <a:ext uri="{FF2B5EF4-FFF2-40B4-BE49-F238E27FC236}">
                <a16:creationId xmlns:a16="http://schemas.microsoft.com/office/drawing/2014/main" id="{C43FC454-342B-7ED2-6FF7-A10F2EB29604}"/>
              </a:ext>
            </a:extLst>
          </p:cNvPr>
          <p:cNvSpPr>
            <a:spLocks noGrp="1"/>
          </p:cNvSpPr>
          <p:nvPr>
            <p:ph type="dt" sz="half" idx="2"/>
          </p:nvPr>
        </p:nvSpPr>
        <p:spPr/>
        <p:txBody>
          <a:bodyPr/>
          <a:lstStyle/>
          <a:p>
            <a:fld id="{1FC19140-6723-A543-93D7-1CFEEEEC77B4}" type="datetime1">
              <a:rPr lang="en-GB" smtClean="0"/>
              <a:t>18/09/2024</a:t>
            </a:fld>
            <a:endParaRPr lang="en-GB" dirty="0"/>
          </a:p>
        </p:txBody>
      </p:sp>
      <p:sp>
        <p:nvSpPr>
          <p:cNvPr id="5" name="Pladsholder til sidefod 4">
            <a:extLst>
              <a:ext uri="{FF2B5EF4-FFF2-40B4-BE49-F238E27FC236}">
                <a16:creationId xmlns:a16="http://schemas.microsoft.com/office/drawing/2014/main" id="{D7D8B7C3-338C-611E-D4A2-322C43F38661}"/>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9541BA68-7A97-4169-61AC-B1BBB6F50B3F}"/>
              </a:ext>
            </a:extLst>
          </p:cNvPr>
          <p:cNvSpPr>
            <a:spLocks noGrp="1"/>
          </p:cNvSpPr>
          <p:nvPr>
            <p:ph type="sldNum" sz="quarter" idx="15"/>
          </p:nvPr>
        </p:nvSpPr>
        <p:spPr/>
        <p:txBody>
          <a:bodyPr/>
          <a:lstStyle/>
          <a:p>
            <a:fld id="{45D37B1E-C366-494F-A587-962AD9AABC83}" type="slidenum">
              <a:rPr lang="en-GB" smtClean="0"/>
              <a:pPr/>
              <a:t>28</a:t>
            </a:fld>
            <a:endParaRPr lang="en-GB" dirty="0"/>
          </a:p>
        </p:txBody>
      </p:sp>
    </p:spTree>
    <p:extLst>
      <p:ext uri="{BB962C8B-B14F-4D97-AF65-F5344CB8AC3E}">
        <p14:creationId xmlns:p14="http://schemas.microsoft.com/office/powerpoint/2010/main" val="41896653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XSRF:</a:t>
            </a:r>
            <a:br>
              <a:rPr lang="en-GB" dirty="0"/>
            </a:br>
            <a:r>
              <a:rPr lang="en-GB" dirty="0"/>
              <a:t>Cross-Site Request Forgery</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29</a:t>
            </a:fld>
            <a:endParaRPr lang="en-GB" dirty="0"/>
          </a:p>
        </p:txBody>
      </p:sp>
    </p:spTree>
    <p:custDataLst>
      <p:custData r:id="rId1"/>
      <p:custData r:id="rId2"/>
      <p:tags r:id="rId3"/>
    </p:custDataLst>
    <p:extLst>
      <p:ext uri="{BB962C8B-B14F-4D97-AF65-F5344CB8AC3E}">
        <p14:creationId xmlns:p14="http://schemas.microsoft.com/office/powerpoint/2010/main" val="4173795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a:t>Cross-Site </a:t>
            </a:r>
            <a:r>
              <a:rPr lang="da-DK" dirty="0" err="1"/>
              <a:t>Request</a:t>
            </a:r>
            <a:r>
              <a:rPr lang="da-DK" dirty="0"/>
              <a:t> </a:t>
            </a:r>
            <a:r>
              <a:rPr lang="da-DK" dirty="0" err="1"/>
              <a:t>Forgery</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err="1"/>
              <a:t>Request</a:t>
            </a:r>
            <a:r>
              <a:rPr lang="da-DK" altLang="en-US" dirty="0"/>
              <a:t> </a:t>
            </a:r>
            <a:r>
              <a:rPr lang="da-DK" altLang="en-US" dirty="0" err="1"/>
              <a:t>Forgery</a:t>
            </a:r>
            <a:r>
              <a:rPr lang="da-DK" altLang="en-US" dirty="0"/>
              <a:t> is </a:t>
            </a:r>
            <a:r>
              <a:rPr lang="da-DK" altLang="en-US" dirty="0" err="1"/>
              <a:t>when</a:t>
            </a:r>
            <a:r>
              <a:rPr lang="da-DK" altLang="en-US" dirty="0"/>
              <a:t> a </a:t>
            </a:r>
            <a:r>
              <a:rPr lang="da-DK" altLang="en-US" dirty="0" err="1"/>
              <a:t>request</a:t>
            </a:r>
            <a:r>
              <a:rPr lang="da-DK" altLang="en-US" dirty="0"/>
              <a:t> is sent by a </a:t>
            </a:r>
            <a:r>
              <a:rPr lang="da-DK" altLang="en-US" dirty="0" err="1"/>
              <a:t>malicious</a:t>
            </a:r>
            <a:r>
              <a:rPr lang="da-DK" altLang="en-US" dirty="0"/>
              <a:t> </a:t>
            </a:r>
            <a:r>
              <a:rPr lang="da-DK" altLang="en-US" dirty="0" err="1"/>
              <a:t>third</a:t>
            </a:r>
            <a:r>
              <a:rPr lang="da-DK" altLang="en-US" dirty="0"/>
              <a:t> party.</a:t>
            </a:r>
          </a:p>
          <a:p>
            <a:pPr lvl="1"/>
            <a:r>
              <a:rPr lang="da-DK" dirty="0" err="1"/>
              <a:t>They</a:t>
            </a:r>
            <a:r>
              <a:rPr lang="da-DK" dirty="0"/>
              <a:t> run a script on </a:t>
            </a:r>
            <a:r>
              <a:rPr lang="da-DK" dirty="0" err="1"/>
              <a:t>your</a:t>
            </a:r>
            <a:r>
              <a:rPr lang="da-DK" dirty="0"/>
              <a:t> computer or from </a:t>
            </a:r>
            <a:r>
              <a:rPr lang="da-DK" dirty="0" err="1"/>
              <a:t>your</a:t>
            </a:r>
            <a:r>
              <a:rPr lang="da-DK" dirty="0"/>
              <a:t> browser</a:t>
            </a:r>
          </a:p>
          <a:p>
            <a:pPr lvl="1"/>
            <a:r>
              <a:rPr lang="da-DK" dirty="0" err="1"/>
              <a:t>They</a:t>
            </a:r>
            <a:r>
              <a:rPr lang="da-DK" dirty="0"/>
              <a:t> </a:t>
            </a:r>
            <a:r>
              <a:rPr lang="da-DK" dirty="0" err="1"/>
              <a:t>injected</a:t>
            </a:r>
            <a:r>
              <a:rPr lang="da-DK" dirty="0"/>
              <a:t> a </a:t>
            </a:r>
            <a:r>
              <a:rPr lang="da-DK" dirty="0" err="1"/>
              <a:t>different</a:t>
            </a:r>
            <a:r>
              <a:rPr lang="da-DK" dirty="0"/>
              <a:t> form or </a:t>
            </a:r>
            <a:r>
              <a:rPr lang="da-DK" dirty="0" err="1"/>
              <a:t>different</a:t>
            </a:r>
            <a:r>
              <a:rPr lang="da-DK" dirty="0"/>
              <a:t> content </a:t>
            </a:r>
            <a:r>
              <a:rPr lang="da-DK" dirty="0" err="1"/>
              <a:t>into</a:t>
            </a:r>
            <a:r>
              <a:rPr lang="da-DK" dirty="0"/>
              <a:t> a form </a:t>
            </a:r>
            <a:r>
              <a:rPr lang="da-DK" dirty="0" err="1"/>
              <a:t>that</a:t>
            </a:r>
            <a:r>
              <a:rPr lang="da-DK" dirty="0"/>
              <a:t> </a:t>
            </a:r>
            <a:r>
              <a:rPr lang="da-DK" dirty="0" err="1"/>
              <a:t>you</a:t>
            </a:r>
            <a:r>
              <a:rPr lang="da-DK" dirty="0"/>
              <a:t> </a:t>
            </a:r>
            <a:r>
              <a:rPr lang="da-DK" dirty="0" err="1"/>
              <a:t>are</a:t>
            </a:r>
            <a:r>
              <a:rPr lang="da-DK" dirty="0"/>
              <a:t> </a:t>
            </a:r>
            <a:r>
              <a:rPr lang="da-DK" dirty="0" err="1"/>
              <a:t>submitting</a:t>
            </a:r>
            <a:endParaRPr lang="da-DK" dirty="0"/>
          </a:p>
          <a:p>
            <a:pPr lvl="1"/>
            <a:r>
              <a:rPr lang="da-DK" dirty="0" err="1"/>
              <a:t>They</a:t>
            </a:r>
            <a:r>
              <a:rPr lang="da-DK" dirty="0"/>
              <a:t> </a:t>
            </a:r>
            <a:r>
              <a:rPr lang="da-DK" dirty="0" err="1"/>
              <a:t>intend</a:t>
            </a:r>
            <a:r>
              <a:rPr lang="da-DK" dirty="0"/>
              <a:t> to </a:t>
            </a:r>
            <a:r>
              <a:rPr lang="da-DK" dirty="0" err="1"/>
              <a:t>act</a:t>
            </a:r>
            <a:r>
              <a:rPr lang="da-DK" dirty="0"/>
              <a:t> on </a:t>
            </a:r>
            <a:r>
              <a:rPr lang="da-DK" dirty="0" err="1"/>
              <a:t>your</a:t>
            </a:r>
            <a:r>
              <a:rPr lang="da-DK" dirty="0"/>
              <a:t> </a:t>
            </a:r>
            <a:r>
              <a:rPr lang="da-DK" dirty="0" err="1"/>
              <a:t>behalf</a:t>
            </a:r>
            <a:endParaRPr lang="da-DK" dirty="0"/>
          </a:p>
          <a:p>
            <a:pPr lvl="1"/>
            <a:endParaRPr lang="da-DK" dirty="0"/>
          </a:p>
          <a:p>
            <a:r>
              <a:rPr lang="da-DK" dirty="0" err="1"/>
              <a:t>Example</a:t>
            </a:r>
            <a:r>
              <a:rPr lang="da-DK" dirty="0"/>
              <a:t>:</a:t>
            </a:r>
          </a:p>
          <a:p>
            <a:pPr lvl="1"/>
            <a:r>
              <a:rPr lang="da-DK" dirty="0"/>
              <a:t>A hacker </a:t>
            </a:r>
            <a:r>
              <a:rPr lang="da-DK" dirty="0" err="1"/>
              <a:t>wants</a:t>
            </a:r>
            <a:r>
              <a:rPr lang="da-DK" dirty="0"/>
              <a:t> to log in as </a:t>
            </a:r>
            <a:r>
              <a:rPr lang="da-DK" dirty="0" err="1"/>
              <a:t>you</a:t>
            </a:r>
            <a:r>
              <a:rPr lang="da-DK" dirty="0"/>
              <a:t> by </a:t>
            </a:r>
            <a:r>
              <a:rPr lang="da-DK" dirty="0" err="1"/>
              <a:t>guessing</a:t>
            </a:r>
            <a:r>
              <a:rPr lang="da-DK" dirty="0"/>
              <a:t> </a:t>
            </a:r>
            <a:r>
              <a:rPr lang="da-DK" dirty="0" err="1"/>
              <a:t>your</a:t>
            </a:r>
            <a:r>
              <a:rPr lang="da-DK" dirty="0"/>
              <a:t> </a:t>
            </a:r>
            <a:r>
              <a:rPr lang="da-DK" dirty="0" err="1"/>
              <a:t>username</a:t>
            </a:r>
            <a:r>
              <a:rPr lang="da-DK" dirty="0"/>
              <a:t> and password (</a:t>
            </a:r>
            <a:r>
              <a:rPr lang="da-DK" dirty="0" err="1"/>
              <a:t>brute</a:t>
            </a:r>
            <a:r>
              <a:rPr lang="da-DK" dirty="0"/>
              <a:t> force </a:t>
            </a:r>
            <a:r>
              <a:rPr lang="da-DK" dirty="0" err="1"/>
              <a:t>attack</a:t>
            </a:r>
            <a:r>
              <a:rPr lang="da-DK" dirty="0"/>
              <a:t>)</a:t>
            </a:r>
          </a:p>
          <a:p>
            <a:pPr lvl="1"/>
            <a:r>
              <a:rPr lang="da-DK" dirty="0" err="1"/>
              <a:t>They</a:t>
            </a:r>
            <a:r>
              <a:rPr lang="da-DK" dirty="0"/>
              <a:t> find a </a:t>
            </a:r>
            <a:r>
              <a:rPr lang="da-DK" dirty="0" err="1"/>
              <a:t>way</a:t>
            </a:r>
            <a:r>
              <a:rPr lang="da-DK" dirty="0"/>
              <a:t> to run </a:t>
            </a:r>
            <a:r>
              <a:rPr lang="da-DK" dirty="0" err="1"/>
              <a:t>their</a:t>
            </a:r>
            <a:r>
              <a:rPr lang="da-DK" dirty="0"/>
              <a:t> script from </a:t>
            </a:r>
            <a:r>
              <a:rPr lang="da-DK" dirty="0" err="1"/>
              <a:t>your</a:t>
            </a:r>
            <a:r>
              <a:rPr lang="da-DK" dirty="0"/>
              <a:t> computer in the </a:t>
            </a:r>
            <a:r>
              <a:rPr lang="da-DK" dirty="0" err="1"/>
              <a:t>background</a:t>
            </a:r>
            <a:r>
              <a:rPr lang="da-DK" dirty="0"/>
              <a:t>, so </a:t>
            </a:r>
            <a:r>
              <a:rPr lang="da-DK" dirty="0" err="1"/>
              <a:t>that</a:t>
            </a:r>
            <a:r>
              <a:rPr lang="da-DK" dirty="0"/>
              <a:t> the server </a:t>
            </a:r>
            <a:r>
              <a:rPr lang="da-DK" dirty="0" err="1"/>
              <a:t>will</a:t>
            </a:r>
            <a:r>
              <a:rPr lang="da-DK" dirty="0"/>
              <a:t> </a:t>
            </a:r>
            <a:r>
              <a:rPr lang="da-DK" dirty="0" err="1"/>
              <a:t>recognize</a:t>
            </a:r>
            <a:r>
              <a:rPr lang="da-DK" dirty="0"/>
              <a:t> </a:t>
            </a:r>
            <a:r>
              <a:rPr lang="da-DK" dirty="0" err="1"/>
              <a:t>your</a:t>
            </a:r>
            <a:r>
              <a:rPr lang="da-DK" dirty="0"/>
              <a:t> IP </a:t>
            </a:r>
            <a:r>
              <a:rPr lang="da-DK" dirty="0" err="1"/>
              <a:t>address</a:t>
            </a:r>
            <a:r>
              <a:rPr lang="da-DK" dirty="0"/>
              <a:t> and </a:t>
            </a:r>
            <a:r>
              <a:rPr lang="da-DK" dirty="0" err="1"/>
              <a:t>your</a:t>
            </a:r>
            <a:r>
              <a:rPr lang="da-DK" dirty="0"/>
              <a:t> browser </a:t>
            </a:r>
            <a:r>
              <a:rPr lang="da-DK" dirty="0" err="1"/>
              <a:t>will</a:t>
            </a:r>
            <a:r>
              <a:rPr lang="da-DK" dirty="0"/>
              <a:t> </a:t>
            </a:r>
            <a:r>
              <a:rPr lang="da-DK" dirty="0" err="1"/>
              <a:t>automatically</a:t>
            </a:r>
            <a:r>
              <a:rPr lang="da-DK" dirty="0"/>
              <a:t> send all relevant cookies </a:t>
            </a:r>
            <a:r>
              <a:rPr lang="da-DK" dirty="0" err="1"/>
              <a:t>along</a:t>
            </a:r>
            <a:r>
              <a:rPr lang="da-DK" dirty="0"/>
              <a:t> with the </a:t>
            </a:r>
            <a:r>
              <a:rPr lang="da-DK" dirty="0" err="1"/>
              <a:t>request</a:t>
            </a:r>
            <a:endParaRPr lang="da-DK" dirty="0"/>
          </a:p>
          <a:p>
            <a:pPr lvl="1"/>
            <a:r>
              <a:rPr lang="da-DK" dirty="0" err="1"/>
              <a:t>They</a:t>
            </a:r>
            <a:r>
              <a:rPr lang="da-DK" dirty="0"/>
              <a:t> find the </a:t>
            </a:r>
            <a:r>
              <a:rPr lang="da-DK" dirty="0" err="1"/>
              <a:t>names</a:t>
            </a:r>
            <a:r>
              <a:rPr lang="da-DK" dirty="0"/>
              <a:t> of the login </a:t>
            </a:r>
            <a:r>
              <a:rPr lang="da-DK" dirty="0" err="1"/>
              <a:t>fields</a:t>
            </a:r>
            <a:r>
              <a:rPr lang="da-DK" dirty="0"/>
              <a:t> and the URL to send it to, and </a:t>
            </a:r>
            <a:r>
              <a:rPr lang="da-DK" dirty="0" err="1"/>
              <a:t>then</a:t>
            </a:r>
            <a:r>
              <a:rPr lang="da-DK" dirty="0"/>
              <a:t> start sending </a:t>
            </a:r>
            <a:r>
              <a:rPr lang="da-DK" dirty="0" err="1"/>
              <a:t>your</a:t>
            </a:r>
            <a:r>
              <a:rPr lang="da-DK" dirty="0"/>
              <a:t> </a:t>
            </a:r>
            <a:r>
              <a:rPr lang="da-DK" dirty="0" err="1"/>
              <a:t>username</a:t>
            </a:r>
            <a:r>
              <a:rPr lang="da-DK" dirty="0"/>
              <a:t> and a new </a:t>
            </a:r>
            <a:r>
              <a:rPr lang="da-DK" dirty="0" err="1"/>
              <a:t>guess</a:t>
            </a:r>
            <a:r>
              <a:rPr lang="da-DK" dirty="0"/>
              <a:t> for a password.</a:t>
            </a:r>
          </a:p>
          <a:p>
            <a:pPr lvl="1"/>
            <a:r>
              <a:rPr lang="da-DK" dirty="0" err="1"/>
              <a:t>They</a:t>
            </a:r>
            <a:r>
              <a:rPr lang="da-DK" dirty="0"/>
              <a:t> </a:t>
            </a:r>
            <a:r>
              <a:rPr lang="da-DK" dirty="0" err="1"/>
              <a:t>try</a:t>
            </a:r>
            <a:r>
              <a:rPr lang="da-DK" dirty="0"/>
              <a:t> a new password </a:t>
            </a:r>
            <a:r>
              <a:rPr lang="da-DK" dirty="0" err="1"/>
              <a:t>every</a:t>
            </a:r>
            <a:r>
              <a:rPr lang="da-DK" dirty="0"/>
              <a:t> </a:t>
            </a:r>
            <a:r>
              <a:rPr lang="da-DK" dirty="0" err="1"/>
              <a:t>couple</a:t>
            </a:r>
            <a:r>
              <a:rPr lang="da-DK" dirty="0"/>
              <a:t> of hours - </a:t>
            </a:r>
            <a:r>
              <a:rPr lang="da-DK" dirty="0" err="1"/>
              <a:t>they</a:t>
            </a:r>
            <a:r>
              <a:rPr lang="da-DK" dirty="0"/>
              <a:t> </a:t>
            </a:r>
            <a:r>
              <a:rPr lang="da-DK" dirty="0" err="1"/>
              <a:t>are</a:t>
            </a:r>
            <a:r>
              <a:rPr lang="da-DK" dirty="0"/>
              <a:t> not in a rush.</a:t>
            </a:r>
          </a:p>
          <a:p>
            <a:endParaRPr lang="da-DK" dirty="0"/>
          </a:p>
          <a:p>
            <a:endParaRPr lang="da-DK" dirty="0"/>
          </a:p>
          <a:p>
            <a:pPr lvl="1"/>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30</a:t>
            </a:fld>
            <a:endParaRPr lang="en-GB" dirty="0"/>
          </a:p>
        </p:txBody>
      </p:sp>
    </p:spTree>
    <p:extLst>
      <p:ext uri="{BB962C8B-B14F-4D97-AF65-F5344CB8AC3E}">
        <p14:creationId xmlns:p14="http://schemas.microsoft.com/office/powerpoint/2010/main" val="4425734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a:t>Cross-Site </a:t>
            </a:r>
            <a:r>
              <a:rPr lang="da-DK" dirty="0" err="1"/>
              <a:t>Request</a:t>
            </a:r>
            <a:r>
              <a:rPr lang="da-DK" dirty="0"/>
              <a:t> </a:t>
            </a:r>
            <a:r>
              <a:rPr lang="da-DK" dirty="0" err="1"/>
              <a:t>Forgery</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a:t>Solution</a:t>
            </a:r>
          </a:p>
          <a:p>
            <a:pPr lvl="1"/>
            <a:r>
              <a:rPr lang="da-DK" dirty="0"/>
              <a:t>An XSRF </a:t>
            </a:r>
            <a:r>
              <a:rPr lang="da-DK" dirty="0" err="1"/>
              <a:t>token</a:t>
            </a:r>
            <a:r>
              <a:rPr lang="da-DK" dirty="0"/>
              <a:t> is </a:t>
            </a:r>
            <a:r>
              <a:rPr lang="da-DK" dirty="0" err="1"/>
              <a:t>placed</a:t>
            </a:r>
            <a:r>
              <a:rPr lang="da-DK" dirty="0"/>
              <a:t> on </a:t>
            </a:r>
            <a:r>
              <a:rPr lang="da-DK" dirty="0" err="1"/>
              <a:t>each</a:t>
            </a:r>
            <a:r>
              <a:rPr lang="da-DK" dirty="0"/>
              <a:t> page </a:t>
            </a:r>
            <a:r>
              <a:rPr lang="da-DK" dirty="0" err="1"/>
              <a:t>that</a:t>
            </a:r>
            <a:r>
              <a:rPr lang="da-DK" dirty="0"/>
              <a:t> a user </a:t>
            </a:r>
            <a:r>
              <a:rPr lang="da-DK" dirty="0" err="1"/>
              <a:t>loads</a:t>
            </a:r>
            <a:endParaRPr lang="da-DK" dirty="0"/>
          </a:p>
          <a:p>
            <a:pPr lvl="1"/>
            <a:r>
              <a:rPr lang="da-DK" dirty="0"/>
              <a:t>The </a:t>
            </a:r>
            <a:r>
              <a:rPr lang="da-DK" dirty="0" err="1"/>
              <a:t>token</a:t>
            </a:r>
            <a:r>
              <a:rPr lang="da-DK" dirty="0"/>
              <a:t> is </a:t>
            </a:r>
            <a:r>
              <a:rPr lang="da-DK" dirty="0" err="1"/>
              <a:t>random-generated</a:t>
            </a:r>
            <a:r>
              <a:rPr lang="da-DK" dirty="0"/>
              <a:t> and </a:t>
            </a:r>
            <a:r>
              <a:rPr lang="da-DK" dirty="0" err="1"/>
              <a:t>inserted</a:t>
            </a:r>
            <a:r>
              <a:rPr lang="da-DK" dirty="0"/>
              <a:t> as a </a:t>
            </a:r>
            <a:r>
              <a:rPr lang="da-DK" dirty="0" err="1"/>
              <a:t>hidden</a:t>
            </a:r>
            <a:r>
              <a:rPr lang="da-DK" dirty="0"/>
              <a:t> </a:t>
            </a:r>
            <a:r>
              <a:rPr lang="da-DK" dirty="0" err="1"/>
              <a:t>field</a:t>
            </a:r>
            <a:r>
              <a:rPr lang="da-DK" dirty="0"/>
              <a:t> in the users form</a:t>
            </a:r>
          </a:p>
          <a:p>
            <a:pPr lvl="1"/>
            <a:r>
              <a:rPr lang="da-DK" dirty="0"/>
              <a:t>The </a:t>
            </a:r>
            <a:r>
              <a:rPr lang="da-DK" dirty="0" err="1"/>
              <a:t>token</a:t>
            </a:r>
            <a:r>
              <a:rPr lang="da-DK" dirty="0"/>
              <a:t> is </a:t>
            </a:r>
            <a:r>
              <a:rPr lang="da-DK" dirty="0" err="1"/>
              <a:t>stored</a:t>
            </a:r>
            <a:r>
              <a:rPr lang="da-DK" dirty="0"/>
              <a:t> in a list of valid </a:t>
            </a:r>
            <a:r>
              <a:rPr lang="da-DK" dirty="0" err="1"/>
              <a:t>tokens</a:t>
            </a:r>
            <a:r>
              <a:rPr lang="da-DK" dirty="0"/>
              <a:t> in the servers session </a:t>
            </a:r>
            <a:r>
              <a:rPr lang="da-DK" dirty="0" err="1"/>
              <a:t>along</a:t>
            </a:r>
            <a:r>
              <a:rPr lang="da-DK" dirty="0"/>
              <a:t> with a timestamp</a:t>
            </a:r>
          </a:p>
          <a:p>
            <a:pPr lvl="2"/>
            <a:r>
              <a:rPr lang="da-DK" dirty="0"/>
              <a:t>The list </a:t>
            </a:r>
            <a:r>
              <a:rPr lang="da-DK" dirty="0" err="1"/>
              <a:t>might</a:t>
            </a:r>
            <a:r>
              <a:rPr lang="da-DK" dirty="0"/>
              <a:t> have a </a:t>
            </a:r>
            <a:r>
              <a:rPr lang="da-DK" dirty="0" err="1"/>
              <a:t>limited</a:t>
            </a:r>
            <a:r>
              <a:rPr lang="da-DK" dirty="0"/>
              <a:t> </a:t>
            </a:r>
            <a:r>
              <a:rPr lang="da-DK" dirty="0" err="1"/>
              <a:t>length</a:t>
            </a:r>
            <a:r>
              <a:rPr lang="da-DK" dirty="0"/>
              <a:t> as </a:t>
            </a:r>
            <a:r>
              <a:rPr lang="da-DK" dirty="0" err="1"/>
              <a:t>well</a:t>
            </a:r>
            <a:endParaRPr lang="da-DK" dirty="0"/>
          </a:p>
          <a:p>
            <a:pPr lvl="1"/>
            <a:r>
              <a:rPr lang="da-DK" dirty="0" err="1"/>
              <a:t>Whenever</a:t>
            </a:r>
            <a:r>
              <a:rPr lang="da-DK" dirty="0"/>
              <a:t> an XSRF </a:t>
            </a:r>
            <a:r>
              <a:rPr lang="da-DK" dirty="0" err="1"/>
              <a:t>token</a:t>
            </a:r>
            <a:r>
              <a:rPr lang="da-DK" dirty="0"/>
              <a:t> is </a:t>
            </a:r>
            <a:r>
              <a:rPr lang="da-DK" dirty="0" err="1"/>
              <a:t>accepted</a:t>
            </a:r>
            <a:r>
              <a:rPr lang="da-DK" dirty="0"/>
              <a:t>, it is </a:t>
            </a:r>
            <a:r>
              <a:rPr lang="da-DK" dirty="0" err="1"/>
              <a:t>either</a:t>
            </a:r>
            <a:endParaRPr lang="da-DK" dirty="0"/>
          </a:p>
          <a:p>
            <a:pPr lvl="2"/>
            <a:r>
              <a:rPr lang="da-DK" dirty="0" err="1"/>
              <a:t>Accepted</a:t>
            </a:r>
            <a:r>
              <a:rPr lang="da-DK" dirty="0"/>
              <a:t> as </a:t>
            </a:r>
            <a:r>
              <a:rPr lang="da-DK" dirty="0" err="1"/>
              <a:t>being</a:t>
            </a:r>
            <a:r>
              <a:rPr lang="da-DK" dirty="0"/>
              <a:t> on the list – and </a:t>
            </a:r>
            <a:r>
              <a:rPr lang="da-DK" dirty="0" err="1"/>
              <a:t>then</a:t>
            </a:r>
            <a:r>
              <a:rPr lang="da-DK" dirty="0"/>
              <a:t> removed</a:t>
            </a:r>
          </a:p>
          <a:p>
            <a:pPr lvl="2"/>
            <a:r>
              <a:rPr lang="da-DK" dirty="0" err="1"/>
              <a:t>Rejected</a:t>
            </a:r>
            <a:r>
              <a:rPr lang="da-DK" dirty="0"/>
              <a:t> </a:t>
            </a:r>
            <a:r>
              <a:rPr lang="da-DK" dirty="0" err="1"/>
              <a:t>because</a:t>
            </a:r>
            <a:r>
              <a:rPr lang="da-DK" dirty="0"/>
              <a:t> it is not on the list</a:t>
            </a:r>
          </a:p>
          <a:p>
            <a:pPr lvl="1"/>
            <a:endParaRPr lang="da-DK" dirty="0"/>
          </a:p>
          <a:p>
            <a:r>
              <a:rPr lang="da-DK" dirty="0"/>
              <a:t>How it </a:t>
            </a:r>
            <a:r>
              <a:rPr lang="da-DK" dirty="0" err="1"/>
              <a:t>works</a:t>
            </a:r>
            <a:endParaRPr lang="da-DK" dirty="0"/>
          </a:p>
          <a:p>
            <a:pPr lvl="1"/>
            <a:r>
              <a:rPr lang="da-DK" dirty="0"/>
              <a:t>A </a:t>
            </a:r>
            <a:r>
              <a:rPr lang="da-DK" dirty="0" err="1"/>
              <a:t>previous</a:t>
            </a:r>
            <a:r>
              <a:rPr lang="da-DK" dirty="0"/>
              <a:t> post is </a:t>
            </a:r>
            <a:r>
              <a:rPr lang="da-DK" dirty="0" err="1"/>
              <a:t>repeated</a:t>
            </a:r>
            <a:endParaRPr lang="da-DK" dirty="0"/>
          </a:p>
          <a:p>
            <a:pPr lvl="2"/>
            <a:r>
              <a:rPr lang="da-DK" dirty="0"/>
              <a:t>The XSRF </a:t>
            </a:r>
            <a:r>
              <a:rPr lang="da-DK" dirty="0" err="1"/>
              <a:t>token</a:t>
            </a:r>
            <a:r>
              <a:rPr lang="da-DK" dirty="0"/>
              <a:t> </a:t>
            </a:r>
            <a:r>
              <a:rPr lang="da-DK" dirty="0" err="1"/>
              <a:t>was</a:t>
            </a:r>
            <a:r>
              <a:rPr lang="da-DK" dirty="0"/>
              <a:t> </a:t>
            </a:r>
            <a:r>
              <a:rPr lang="da-DK" dirty="0" err="1"/>
              <a:t>already</a:t>
            </a:r>
            <a:r>
              <a:rPr lang="da-DK" dirty="0"/>
              <a:t> </a:t>
            </a:r>
            <a:r>
              <a:rPr lang="da-DK" dirty="0" err="1"/>
              <a:t>used</a:t>
            </a:r>
            <a:r>
              <a:rPr lang="da-DK" dirty="0"/>
              <a:t> and removed, so the </a:t>
            </a:r>
            <a:r>
              <a:rPr lang="da-DK" dirty="0" err="1"/>
              <a:t>repeated</a:t>
            </a:r>
            <a:r>
              <a:rPr lang="da-DK" dirty="0"/>
              <a:t> post is invalid</a:t>
            </a:r>
          </a:p>
          <a:p>
            <a:pPr lvl="1"/>
            <a:r>
              <a:rPr lang="da-DK" dirty="0"/>
              <a:t>A hacker </a:t>
            </a:r>
            <a:r>
              <a:rPr lang="da-DK" dirty="0" err="1"/>
              <a:t>finds</a:t>
            </a:r>
            <a:r>
              <a:rPr lang="da-DK" dirty="0"/>
              <a:t> </a:t>
            </a:r>
            <a:r>
              <a:rPr lang="da-DK" dirty="0" err="1"/>
              <a:t>your</a:t>
            </a:r>
            <a:r>
              <a:rPr lang="da-DK" dirty="0"/>
              <a:t> XSRF </a:t>
            </a:r>
            <a:r>
              <a:rPr lang="da-DK" dirty="0" err="1"/>
              <a:t>token</a:t>
            </a:r>
            <a:r>
              <a:rPr lang="da-DK" dirty="0"/>
              <a:t> and </a:t>
            </a:r>
            <a:r>
              <a:rPr lang="da-DK" dirty="0" err="1"/>
              <a:t>use</a:t>
            </a:r>
            <a:r>
              <a:rPr lang="da-DK" dirty="0"/>
              <a:t> it from </a:t>
            </a:r>
            <a:r>
              <a:rPr lang="da-DK" dirty="0" err="1"/>
              <a:t>their</a:t>
            </a:r>
            <a:r>
              <a:rPr lang="da-DK" dirty="0"/>
              <a:t> </a:t>
            </a:r>
            <a:r>
              <a:rPr lang="da-DK" dirty="0" err="1"/>
              <a:t>own</a:t>
            </a:r>
            <a:r>
              <a:rPr lang="da-DK" dirty="0"/>
              <a:t> computer</a:t>
            </a:r>
          </a:p>
          <a:p>
            <a:pPr lvl="2"/>
            <a:r>
              <a:rPr lang="da-DK" dirty="0" err="1"/>
              <a:t>Doesn't</a:t>
            </a:r>
            <a:r>
              <a:rPr lang="da-DK" dirty="0"/>
              <a:t> matter – </a:t>
            </a:r>
            <a:r>
              <a:rPr lang="da-DK" dirty="0" err="1"/>
              <a:t>they</a:t>
            </a:r>
            <a:r>
              <a:rPr lang="da-DK" dirty="0"/>
              <a:t> </a:t>
            </a:r>
            <a:r>
              <a:rPr lang="da-DK" dirty="0" err="1"/>
              <a:t>are</a:t>
            </a:r>
            <a:r>
              <a:rPr lang="da-DK" dirty="0"/>
              <a:t> not on </a:t>
            </a:r>
            <a:r>
              <a:rPr lang="da-DK" dirty="0" err="1"/>
              <a:t>your</a:t>
            </a:r>
            <a:r>
              <a:rPr lang="da-DK" dirty="0"/>
              <a:t> session</a:t>
            </a:r>
          </a:p>
          <a:p>
            <a:pPr lvl="1"/>
            <a:r>
              <a:rPr lang="da-DK" dirty="0"/>
              <a:t>A form is </a:t>
            </a:r>
            <a:r>
              <a:rPr lang="da-DK" dirty="0" err="1"/>
              <a:t>saved</a:t>
            </a:r>
            <a:r>
              <a:rPr lang="da-DK" dirty="0"/>
              <a:t> so </a:t>
            </a:r>
            <a:r>
              <a:rPr lang="da-DK" dirty="0" err="1"/>
              <a:t>that</a:t>
            </a:r>
            <a:r>
              <a:rPr lang="da-DK" dirty="0"/>
              <a:t> it </a:t>
            </a:r>
            <a:r>
              <a:rPr lang="da-DK" dirty="0" err="1"/>
              <a:t>can</a:t>
            </a:r>
            <a:r>
              <a:rPr lang="da-DK" dirty="0"/>
              <a:t> </a:t>
            </a:r>
            <a:r>
              <a:rPr lang="da-DK" dirty="0" err="1"/>
              <a:t>be</a:t>
            </a:r>
            <a:r>
              <a:rPr lang="da-DK" dirty="0"/>
              <a:t> </a:t>
            </a:r>
            <a:r>
              <a:rPr lang="da-DK" dirty="0" err="1"/>
              <a:t>filled</a:t>
            </a:r>
            <a:r>
              <a:rPr lang="da-DK" dirty="0"/>
              <a:t> out and </a:t>
            </a:r>
            <a:r>
              <a:rPr lang="da-DK" dirty="0" err="1"/>
              <a:t>posted</a:t>
            </a:r>
            <a:r>
              <a:rPr lang="da-DK" dirty="0"/>
              <a:t> </a:t>
            </a:r>
            <a:r>
              <a:rPr lang="da-DK" dirty="0" err="1"/>
              <a:t>later</a:t>
            </a:r>
            <a:endParaRPr lang="da-DK" dirty="0"/>
          </a:p>
          <a:p>
            <a:pPr lvl="2"/>
            <a:r>
              <a:rPr lang="da-DK" dirty="0"/>
              <a:t>The XSRF </a:t>
            </a:r>
            <a:r>
              <a:rPr lang="da-DK" dirty="0" err="1"/>
              <a:t>token</a:t>
            </a:r>
            <a:r>
              <a:rPr lang="da-DK" dirty="0"/>
              <a:t> has a timestamp and is </a:t>
            </a:r>
            <a:r>
              <a:rPr lang="da-DK" dirty="0" err="1"/>
              <a:t>only</a:t>
            </a:r>
            <a:r>
              <a:rPr lang="da-DK" dirty="0"/>
              <a:t> valid for a short </a:t>
            </a:r>
            <a:r>
              <a:rPr lang="da-DK" dirty="0" err="1"/>
              <a:t>period</a:t>
            </a:r>
            <a:r>
              <a:rPr lang="da-DK" dirty="0"/>
              <a:t> of time</a:t>
            </a:r>
          </a:p>
          <a:p>
            <a:endParaRPr lang="da-DK" dirty="0"/>
          </a:p>
          <a:p>
            <a:endParaRPr lang="da-DK" dirty="0"/>
          </a:p>
          <a:p>
            <a:pPr lvl="1"/>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31</a:t>
            </a:fld>
            <a:endParaRPr lang="en-GB" dirty="0"/>
          </a:p>
        </p:txBody>
      </p:sp>
    </p:spTree>
    <p:extLst>
      <p:ext uri="{BB962C8B-B14F-4D97-AF65-F5344CB8AC3E}">
        <p14:creationId xmlns:p14="http://schemas.microsoft.com/office/powerpoint/2010/main" val="1968135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Let's</a:t>
            </a:r>
            <a:r>
              <a:rPr lang="da-DK" dirty="0"/>
              <a:t> find </a:t>
            </a:r>
            <a:r>
              <a:rPr lang="da-DK" dirty="0" err="1"/>
              <a:t>some</a:t>
            </a:r>
            <a:r>
              <a:rPr lang="da-DK" dirty="0"/>
              <a:t>!</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err="1"/>
              <a:t>Let's</a:t>
            </a:r>
            <a:r>
              <a:rPr lang="da-DK" altLang="en-US" dirty="0"/>
              <a:t> look at </a:t>
            </a:r>
            <a:r>
              <a:rPr lang="da-DK" altLang="en-US" dirty="0" err="1"/>
              <a:t>some</a:t>
            </a:r>
            <a:r>
              <a:rPr lang="da-DK" altLang="en-US" dirty="0"/>
              <a:t> basic forms </a:t>
            </a:r>
            <a:r>
              <a:rPr lang="da-DK" altLang="en-US" dirty="0" err="1"/>
              <a:t>around</a:t>
            </a:r>
            <a:r>
              <a:rPr lang="da-DK" altLang="en-US" dirty="0"/>
              <a:t> the </a:t>
            </a:r>
            <a:r>
              <a:rPr lang="da-DK" altLang="en-US" dirty="0" err="1"/>
              <a:t>interwebs</a:t>
            </a:r>
            <a:r>
              <a:rPr lang="da-DK" altLang="en-US" dirty="0"/>
              <a:t> and check </a:t>
            </a:r>
            <a:r>
              <a:rPr lang="da-DK" altLang="en-US" dirty="0" err="1"/>
              <a:t>if</a:t>
            </a:r>
            <a:r>
              <a:rPr lang="da-DK" altLang="en-US" dirty="0"/>
              <a:t> </a:t>
            </a:r>
            <a:r>
              <a:rPr lang="da-DK" altLang="en-US" dirty="0" err="1"/>
              <a:t>they</a:t>
            </a:r>
            <a:r>
              <a:rPr lang="da-DK" altLang="en-US" dirty="0"/>
              <a:t> </a:t>
            </a:r>
            <a:r>
              <a:rPr lang="da-DK" altLang="en-US" dirty="0" err="1"/>
              <a:t>use</a:t>
            </a:r>
            <a:r>
              <a:rPr lang="da-DK" altLang="en-US" dirty="0"/>
              <a:t> XSRF </a:t>
            </a:r>
            <a:r>
              <a:rPr lang="da-DK" altLang="en-US" dirty="0" err="1"/>
              <a:t>tokens</a:t>
            </a:r>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32</a:t>
            </a:fld>
            <a:endParaRPr lang="en-GB" dirty="0"/>
          </a:p>
        </p:txBody>
      </p:sp>
    </p:spTree>
    <p:extLst>
      <p:ext uri="{BB962C8B-B14F-4D97-AF65-F5344CB8AC3E}">
        <p14:creationId xmlns:p14="http://schemas.microsoft.com/office/powerpoint/2010/main" val="36437504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Logging and monitoring</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33</a:t>
            </a:fld>
            <a:endParaRPr lang="en-GB" dirty="0"/>
          </a:p>
        </p:txBody>
      </p:sp>
    </p:spTree>
    <p:custDataLst>
      <p:custData r:id="rId1"/>
      <p:custData r:id="rId2"/>
      <p:tags r:id="rId3"/>
    </p:custDataLst>
    <p:extLst>
      <p:ext uri="{BB962C8B-B14F-4D97-AF65-F5344CB8AC3E}">
        <p14:creationId xmlns:p14="http://schemas.microsoft.com/office/powerpoint/2010/main" val="9355279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Logging</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a:t>"</a:t>
            </a:r>
            <a:r>
              <a:rPr lang="da-DK" altLang="en-US" dirty="0" err="1"/>
              <a:t>Logging</a:t>
            </a:r>
            <a:r>
              <a:rPr lang="da-DK" altLang="en-US" dirty="0"/>
              <a:t>" </a:t>
            </a:r>
            <a:r>
              <a:rPr lang="da-DK" altLang="en-US" dirty="0" err="1"/>
              <a:t>typically</a:t>
            </a:r>
            <a:r>
              <a:rPr lang="da-DK" altLang="en-US" dirty="0"/>
              <a:t> </a:t>
            </a:r>
            <a:r>
              <a:rPr lang="da-DK" altLang="en-US" dirty="0" err="1"/>
              <a:t>refers</a:t>
            </a:r>
            <a:r>
              <a:rPr lang="da-DK" altLang="en-US" dirty="0"/>
              <a:t> to </a:t>
            </a:r>
            <a:r>
              <a:rPr lang="da-DK" altLang="en-US" dirty="0" err="1"/>
              <a:t>saving</a:t>
            </a:r>
            <a:r>
              <a:rPr lang="da-DK" altLang="en-US" dirty="0"/>
              <a:t> data to </a:t>
            </a:r>
            <a:r>
              <a:rPr lang="da-DK" altLang="en-US" dirty="0" err="1"/>
              <a:t>text</a:t>
            </a:r>
            <a:r>
              <a:rPr lang="da-DK" altLang="en-US" dirty="0"/>
              <a:t>-files from </a:t>
            </a:r>
            <a:r>
              <a:rPr lang="da-DK" altLang="en-US" dirty="0" err="1"/>
              <a:t>your</a:t>
            </a:r>
            <a:r>
              <a:rPr lang="da-DK" altLang="en-US" dirty="0"/>
              <a:t> </a:t>
            </a:r>
            <a:r>
              <a:rPr lang="da-DK" altLang="en-US" dirty="0" err="1"/>
              <a:t>application</a:t>
            </a:r>
            <a:endParaRPr lang="da-DK" altLang="en-US" dirty="0"/>
          </a:p>
          <a:p>
            <a:r>
              <a:rPr lang="da-DK" dirty="0" err="1"/>
              <a:t>You</a:t>
            </a:r>
            <a:r>
              <a:rPr lang="da-DK" dirty="0"/>
              <a:t> </a:t>
            </a:r>
            <a:r>
              <a:rPr lang="da-DK" dirty="0" err="1"/>
              <a:t>may</a:t>
            </a:r>
            <a:r>
              <a:rPr lang="da-DK" dirty="0"/>
              <a:t> have done </a:t>
            </a:r>
            <a:r>
              <a:rPr lang="da-DK" dirty="0" err="1"/>
              <a:t>something</a:t>
            </a:r>
            <a:r>
              <a:rPr lang="da-DK" dirty="0"/>
              <a:t> like </a:t>
            </a:r>
            <a:r>
              <a:rPr lang="da-DK" dirty="0" err="1"/>
              <a:t>this</a:t>
            </a:r>
            <a:r>
              <a:rPr lang="da-DK" dirty="0"/>
              <a:t> for </a:t>
            </a:r>
            <a:r>
              <a:rPr lang="da-DK" dirty="0" err="1"/>
              <a:t>debugging</a:t>
            </a:r>
            <a:r>
              <a:rPr lang="da-DK" dirty="0"/>
              <a:t>, </a:t>
            </a:r>
            <a:r>
              <a:rPr lang="da-DK" dirty="0" err="1"/>
              <a:t>where</a:t>
            </a:r>
            <a:r>
              <a:rPr lang="da-DK" dirty="0"/>
              <a:t> a web app or GUI app </a:t>
            </a:r>
            <a:r>
              <a:rPr lang="da-DK" dirty="0" err="1"/>
              <a:t>also</a:t>
            </a:r>
            <a:r>
              <a:rPr lang="da-DK" dirty="0"/>
              <a:t> </a:t>
            </a:r>
            <a:r>
              <a:rPr lang="da-DK" dirty="0" err="1"/>
              <a:t>writes</a:t>
            </a:r>
            <a:r>
              <a:rPr lang="da-DK" dirty="0"/>
              <a:t> </a:t>
            </a:r>
            <a:r>
              <a:rPr lang="da-DK" dirty="0" err="1"/>
              <a:t>something</a:t>
            </a:r>
            <a:r>
              <a:rPr lang="da-DK" dirty="0"/>
              <a:t> in the </a:t>
            </a:r>
            <a:r>
              <a:rPr lang="da-DK" dirty="0" err="1"/>
              <a:t>command</a:t>
            </a:r>
            <a:r>
              <a:rPr lang="da-DK" dirty="0"/>
              <a:t> line </a:t>
            </a:r>
            <a:r>
              <a:rPr lang="da-DK" dirty="0" err="1"/>
              <a:t>using</a:t>
            </a:r>
            <a:r>
              <a:rPr lang="da-DK" dirty="0"/>
              <a:t> a "print" statement.</a:t>
            </a:r>
          </a:p>
          <a:p>
            <a:r>
              <a:rPr lang="da-DK" dirty="0"/>
              <a:t>The </a:t>
            </a:r>
            <a:r>
              <a:rPr lang="da-DK" dirty="0" err="1"/>
              <a:t>act</a:t>
            </a:r>
            <a:r>
              <a:rPr lang="da-DK" dirty="0"/>
              <a:t> of </a:t>
            </a:r>
            <a:r>
              <a:rPr lang="da-DK" dirty="0" err="1"/>
              <a:t>logging</a:t>
            </a:r>
            <a:r>
              <a:rPr lang="da-DK" dirty="0"/>
              <a:t> is </a:t>
            </a:r>
            <a:r>
              <a:rPr lang="da-DK" dirty="0" err="1"/>
              <a:t>simply</a:t>
            </a:r>
            <a:r>
              <a:rPr lang="da-DK" dirty="0"/>
              <a:t> </a:t>
            </a:r>
            <a:r>
              <a:rPr lang="da-DK" dirty="0" err="1"/>
              <a:t>this</a:t>
            </a:r>
            <a:r>
              <a:rPr lang="da-DK" dirty="0"/>
              <a:t>, but </a:t>
            </a:r>
            <a:r>
              <a:rPr lang="da-DK" dirty="0" err="1"/>
              <a:t>saved</a:t>
            </a:r>
            <a:r>
              <a:rPr lang="da-DK" dirty="0"/>
              <a:t> </a:t>
            </a:r>
            <a:r>
              <a:rPr lang="da-DK" dirty="0" err="1"/>
              <a:t>into</a:t>
            </a:r>
            <a:r>
              <a:rPr lang="da-DK" dirty="0"/>
              <a:t> .</a:t>
            </a:r>
            <a:r>
              <a:rPr lang="da-DK" dirty="0" err="1"/>
              <a:t>txt</a:t>
            </a:r>
            <a:r>
              <a:rPr lang="da-DK" dirty="0"/>
              <a:t> files.</a:t>
            </a:r>
          </a:p>
          <a:p>
            <a:endParaRPr lang="da-DK" dirty="0"/>
          </a:p>
          <a:p>
            <a:r>
              <a:rPr lang="da-DK" dirty="0"/>
              <a:t>Log files </a:t>
            </a:r>
            <a:r>
              <a:rPr lang="da-DK" dirty="0" err="1"/>
              <a:t>are</a:t>
            </a:r>
            <a:r>
              <a:rPr lang="da-DK" dirty="0"/>
              <a:t> </a:t>
            </a:r>
            <a:r>
              <a:rPr lang="da-DK" dirty="0" err="1"/>
              <a:t>typically</a:t>
            </a:r>
            <a:r>
              <a:rPr lang="da-DK" dirty="0"/>
              <a:t> </a:t>
            </a:r>
            <a:r>
              <a:rPr lang="da-DK" dirty="0" err="1"/>
              <a:t>stored</a:t>
            </a:r>
            <a:r>
              <a:rPr lang="da-DK" dirty="0"/>
              <a:t> in a </a:t>
            </a:r>
            <a:r>
              <a:rPr lang="da-DK" dirty="0" err="1"/>
              <a:t>dedicated</a:t>
            </a:r>
            <a:r>
              <a:rPr lang="da-DK" dirty="0"/>
              <a:t> folder with a </a:t>
            </a:r>
            <a:r>
              <a:rPr lang="da-DK" dirty="0" err="1"/>
              <a:t>specific</a:t>
            </a:r>
            <a:r>
              <a:rPr lang="da-DK" dirty="0"/>
              <a:t> subfolder </a:t>
            </a:r>
            <a:r>
              <a:rPr lang="da-DK" dirty="0" err="1"/>
              <a:t>structure</a:t>
            </a:r>
            <a:r>
              <a:rPr lang="da-DK" dirty="0"/>
              <a:t> </a:t>
            </a:r>
            <a:r>
              <a:rPr lang="da-DK" dirty="0" err="1"/>
              <a:t>that</a:t>
            </a:r>
            <a:r>
              <a:rPr lang="da-DK" dirty="0"/>
              <a:t> </a:t>
            </a:r>
            <a:r>
              <a:rPr lang="da-DK" dirty="0" err="1"/>
              <a:t>allows</a:t>
            </a:r>
            <a:r>
              <a:rPr lang="da-DK" dirty="0"/>
              <a:t> </a:t>
            </a:r>
            <a:r>
              <a:rPr lang="da-DK" dirty="0" err="1"/>
              <a:t>you</a:t>
            </a:r>
            <a:r>
              <a:rPr lang="da-DK" dirty="0"/>
              <a:t> to browse to </a:t>
            </a:r>
            <a:r>
              <a:rPr lang="da-DK" dirty="0" err="1"/>
              <a:t>specific</a:t>
            </a:r>
            <a:r>
              <a:rPr lang="da-DK" dirty="0"/>
              <a:t> dates a la </a:t>
            </a:r>
            <a:r>
              <a:rPr lang="da-DK" dirty="0" err="1"/>
              <a:t>year</a:t>
            </a:r>
            <a:r>
              <a:rPr lang="da-DK" dirty="0"/>
              <a:t> &gt; </a:t>
            </a:r>
            <a:r>
              <a:rPr lang="da-DK" dirty="0" err="1"/>
              <a:t>month</a:t>
            </a:r>
            <a:r>
              <a:rPr lang="da-DK" dirty="0"/>
              <a:t> &gt; </a:t>
            </a:r>
            <a:r>
              <a:rPr lang="da-DK" dirty="0" err="1"/>
              <a:t>day</a:t>
            </a:r>
            <a:r>
              <a:rPr lang="da-DK" dirty="0"/>
              <a:t> . </a:t>
            </a:r>
            <a:r>
              <a:rPr lang="da-DK" dirty="0" err="1"/>
              <a:t>Within</a:t>
            </a:r>
            <a:r>
              <a:rPr lang="da-DK" dirty="0"/>
              <a:t> a </a:t>
            </a:r>
            <a:r>
              <a:rPr lang="da-DK" dirty="0" err="1"/>
              <a:t>day</a:t>
            </a:r>
            <a:r>
              <a:rPr lang="da-DK" dirty="0"/>
              <a:t>, a log-file is </a:t>
            </a:r>
            <a:r>
              <a:rPr lang="da-DK" dirty="0" err="1"/>
              <a:t>typically</a:t>
            </a:r>
            <a:r>
              <a:rPr lang="da-DK" dirty="0"/>
              <a:t> </a:t>
            </a:r>
            <a:r>
              <a:rPr lang="da-DK" dirty="0" err="1"/>
              <a:t>named</a:t>
            </a:r>
            <a:r>
              <a:rPr lang="da-DK" dirty="0"/>
              <a:t> </a:t>
            </a:r>
            <a:r>
              <a:rPr lang="da-DK" dirty="0" err="1"/>
              <a:t>after</a:t>
            </a:r>
            <a:r>
              <a:rPr lang="da-DK" dirty="0"/>
              <a:t> a timestamp a la HH.MM so </a:t>
            </a:r>
            <a:r>
              <a:rPr lang="da-DK" dirty="0" err="1"/>
              <a:t>that</a:t>
            </a:r>
            <a:r>
              <a:rPr lang="da-DK" dirty="0"/>
              <a:t> </a:t>
            </a:r>
            <a:r>
              <a:rPr lang="da-DK" dirty="0" err="1"/>
              <a:t>they</a:t>
            </a:r>
            <a:r>
              <a:rPr lang="da-DK" dirty="0"/>
              <a:t> </a:t>
            </a:r>
            <a:r>
              <a:rPr lang="da-DK" dirty="0" err="1"/>
              <a:t>can</a:t>
            </a:r>
            <a:r>
              <a:rPr lang="da-DK" dirty="0"/>
              <a:t> </a:t>
            </a:r>
            <a:r>
              <a:rPr lang="da-DK" dirty="0" err="1"/>
              <a:t>be</a:t>
            </a:r>
            <a:r>
              <a:rPr lang="da-DK" dirty="0"/>
              <a:t> </a:t>
            </a:r>
            <a:r>
              <a:rPr lang="da-DK" dirty="0" err="1"/>
              <a:t>ordered</a:t>
            </a:r>
            <a:r>
              <a:rPr lang="da-DK" dirty="0"/>
              <a:t> </a:t>
            </a:r>
            <a:r>
              <a:rPr lang="da-DK" dirty="0" err="1"/>
              <a:t>alphabetically</a:t>
            </a:r>
            <a:r>
              <a:rPr lang="da-DK" dirty="0"/>
              <a:t> and end up in a </a:t>
            </a:r>
            <a:r>
              <a:rPr lang="da-DK" dirty="0" err="1"/>
              <a:t>timely</a:t>
            </a:r>
            <a:r>
              <a:rPr lang="da-DK" dirty="0"/>
              <a:t> </a:t>
            </a:r>
            <a:r>
              <a:rPr lang="da-DK" dirty="0" err="1"/>
              <a:t>sequence</a:t>
            </a:r>
            <a:r>
              <a:rPr lang="da-DK" dirty="0"/>
              <a:t>.</a:t>
            </a:r>
          </a:p>
          <a:p>
            <a:endParaRPr lang="da-DK" dirty="0"/>
          </a:p>
          <a:p>
            <a:r>
              <a:rPr lang="da-DK" dirty="0"/>
              <a:t>A log file </a:t>
            </a:r>
            <a:r>
              <a:rPr lang="da-DK" dirty="0" err="1"/>
              <a:t>typically</a:t>
            </a:r>
            <a:r>
              <a:rPr lang="da-DK" dirty="0"/>
              <a:t> </a:t>
            </a:r>
            <a:r>
              <a:rPr lang="da-DK" dirty="0" err="1"/>
              <a:t>contains</a:t>
            </a:r>
            <a:r>
              <a:rPr lang="da-DK" dirty="0"/>
              <a:t> the content of 15 </a:t>
            </a:r>
            <a:r>
              <a:rPr lang="da-DK" dirty="0" err="1"/>
              <a:t>minutes</a:t>
            </a:r>
            <a:r>
              <a:rPr lang="da-DK" dirty="0"/>
              <a:t> of </a:t>
            </a:r>
            <a:r>
              <a:rPr lang="da-DK" dirty="0" err="1"/>
              <a:t>runtime</a:t>
            </a:r>
            <a:r>
              <a:rPr lang="da-DK" dirty="0"/>
              <a:t>, but </a:t>
            </a:r>
            <a:r>
              <a:rPr lang="da-DK" dirty="0" err="1"/>
              <a:t>can</a:t>
            </a:r>
            <a:r>
              <a:rPr lang="da-DK" dirty="0"/>
              <a:t> </a:t>
            </a:r>
            <a:r>
              <a:rPr lang="da-DK" dirty="0" err="1"/>
              <a:t>contain</a:t>
            </a:r>
            <a:r>
              <a:rPr lang="da-DK" dirty="0"/>
              <a:t> more or </a:t>
            </a:r>
            <a:r>
              <a:rPr lang="da-DK" dirty="0" err="1"/>
              <a:t>less</a:t>
            </a:r>
            <a:r>
              <a:rPr lang="da-DK" dirty="0"/>
              <a:t>, </a:t>
            </a:r>
            <a:r>
              <a:rPr lang="da-DK" dirty="0" err="1"/>
              <a:t>if</a:t>
            </a:r>
            <a:r>
              <a:rPr lang="da-DK" dirty="0"/>
              <a:t> the system has </a:t>
            </a:r>
            <a:r>
              <a:rPr lang="da-DK" dirty="0" err="1"/>
              <a:t>very</a:t>
            </a:r>
            <a:r>
              <a:rPr lang="da-DK" dirty="0"/>
              <a:t> </a:t>
            </a:r>
            <a:r>
              <a:rPr lang="da-DK" dirty="0" err="1"/>
              <a:t>little</a:t>
            </a:r>
            <a:r>
              <a:rPr lang="da-DK" dirty="0"/>
              <a:t>/</a:t>
            </a:r>
            <a:r>
              <a:rPr lang="da-DK" dirty="0" err="1"/>
              <a:t>much</a:t>
            </a:r>
            <a:r>
              <a:rPr lang="da-DK" dirty="0"/>
              <a:t> </a:t>
            </a:r>
            <a:r>
              <a:rPr lang="da-DK" dirty="0" err="1"/>
              <a:t>traffic</a:t>
            </a:r>
            <a:r>
              <a:rPr lang="da-DK" dirty="0"/>
              <a:t>.</a:t>
            </a:r>
          </a:p>
          <a:p>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34</a:t>
            </a:fld>
            <a:endParaRPr lang="en-GB" dirty="0"/>
          </a:p>
        </p:txBody>
      </p:sp>
    </p:spTree>
    <p:extLst>
      <p:ext uri="{BB962C8B-B14F-4D97-AF65-F5344CB8AC3E}">
        <p14:creationId xmlns:p14="http://schemas.microsoft.com/office/powerpoint/2010/main" val="28485975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Logging</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a:t>Logs </a:t>
            </a:r>
            <a:r>
              <a:rPr lang="da-DK" altLang="en-US" dirty="0" err="1"/>
              <a:t>are</a:t>
            </a:r>
            <a:r>
              <a:rPr lang="da-DK" altLang="en-US" dirty="0"/>
              <a:t> </a:t>
            </a:r>
            <a:r>
              <a:rPr lang="da-DK" altLang="en-US" dirty="0" err="1"/>
              <a:t>great</a:t>
            </a:r>
            <a:r>
              <a:rPr lang="da-DK" altLang="en-US" dirty="0"/>
              <a:t> for </a:t>
            </a:r>
            <a:r>
              <a:rPr lang="da-DK" altLang="en-US" dirty="0" err="1"/>
              <a:t>debugging</a:t>
            </a:r>
            <a:r>
              <a:rPr lang="da-DK" altLang="en-US" dirty="0"/>
              <a:t>. A system </a:t>
            </a:r>
            <a:r>
              <a:rPr lang="da-DK" altLang="en-US" dirty="0" err="1"/>
              <a:t>will</a:t>
            </a:r>
            <a:r>
              <a:rPr lang="da-DK" altLang="en-US" dirty="0"/>
              <a:t> </a:t>
            </a:r>
            <a:r>
              <a:rPr lang="da-DK" altLang="en-US" dirty="0" err="1"/>
              <a:t>sometimes</a:t>
            </a:r>
            <a:r>
              <a:rPr lang="da-DK" altLang="en-US" dirty="0"/>
              <a:t> run a bit </a:t>
            </a:r>
            <a:r>
              <a:rPr lang="da-DK" altLang="en-US" dirty="0" err="1"/>
              <a:t>different</a:t>
            </a:r>
            <a:r>
              <a:rPr lang="da-DK" altLang="en-US" dirty="0"/>
              <a:t> in </a:t>
            </a:r>
            <a:r>
              <a:rPr lang="da-DK" altLang="en-US" dirty="0" err="1"/>
              <a:t>production</a:t>
            </a:r>
            <a:r>
              <a:rPr lang="da-DK" altLang="en-US" dirty="0"/>
              <a:t> or run </a:t>
            </a:r>
            <a:r>
              <a:rPr lang="da-DK" altLang="en-US" dirty="0" err="1"/>
              <a:t>into</a:t>
            </a:r>
            <a:r>
              <a:rPr lang="da-DK" altLang="en-US" dirty="0"/>
              <a:t> </a:t>
            </a:r>
            <a:r>
              <a:rPr lang="da-DK" altLang="en-US" dirty="0" err="1"/>
              <a:t>usecases</a:t>
            </a:r>
            <a:r>
              <a:rPr lang="da-DK" altLang="en-US" dirty="0"/>
              <a:t> </a:t>
            </a:r>
            <a:r>
              <a:rPr lang="da-DK" altLang="en-US" dirty="0" err="1"/>
              <a:t>that</a:t>
            </a:r>
            <a:r>
              <a:rPr lang="da-DK" altLang="en-US" dirty="0"/>
              <a:t> </a:t>
            </a:r>
            <a:r>
              <a:rPr lang="da-DK" altLang="en-US" dirty="0" err="1"/>
              <a:t>were</a:t>
            </a:r>
            <a:r>
              <a:rPr lang="da-DK" altLang="en-US" dirty="0"/>
              <a:t> never </a:t>
            </a:r>
            <a:r>
              <a:rPr lang="da-DK" altLang="en-US" dirty="0" err="1"/>
              <a:t>tested</a:t>
            </a:r>
            <a:r>
              <a:rPr lang="da-DK" altLang="en-US" dirty="0"/>
              <a:t>, and the log </a:t>
            </a:r>
            <a:r>
              <a:rPr lang="da-DK" altLang="en-US" dirty="0" err="1"/>
              <a:t>contains</a:t>
            </a:r>
            <a:r>
              <a:rPr lang="da-DK" altLang="en-US" dirty="0"/>
              <a:t> </a:t>
            </a:r>
            <a:r>
              <a:rPr lang="da-DK" altLang="en-US" dirty="0" err="1"/>
              <a:t>your</a:t>
            </a:r>
            <a:r>
              <a:rPr lang="da-DK" altLang="en-US" dirty="0"/>
              <a:t> </a:t>
            </a:r>
            <a:r>
              <a:rPr lang="da-DK" altLang="en-US" dirty="0" err="1"/>
              <a:t>own</a:t>
            </a:r>
            <a:r>
              <a:rPr lang="da-DK" altLang="en-US" dirty="0"/>
              <a:t> </a:t>
            </a:r>
            <a:r>
              <a:rPr lang="da-DK" altLang="en-US" dirty="0" err="1"/>
              <a:t>error</a:t>
            </a:r>
            <a:r>
              <a:rPr lang="da-DK" altLang="en-US" dirty="0"/>
              <a:t> messages </a:t>
            </a:r>
            <a:r>
              <a:rPr lang="da-DK" altLang="en-US" dirty="0" err="1"/>
              <a:t>along</a:t>
            </a:r>
            <a:r>
              <a:rPr lang="da-DK" altLang="en-US" dirty="0"/>
              <a:t> with </a:t>
            </a:r>
            <a:r>
              <a:rPr lang="da-DK" altLang="en-US" dirty="0" err="1"/>
              <a:t>any</a:t>
            </a:r>
            <a:r>
              <a:rPr lang="da-DK" altLang="en-US" dirty="0"/>
              <a:t> relevant </a:t>
            </a:r>
            <a:r>
              <a:rPr lang="da-DK" altLang="en-US" dirty="0" err="1"/>
              <a:t>stack</a:t>
            </a:r>
            <a:r>
              <a:rPr lang="da-DK" altLang="en-US" dirty="0"/>
              <a:t> traces.</a:t>
            </a:r>
          </a:p>
          <a:p>
            <a:r>
              <a:rPr lang="da-DK" dirty="0" err="1"/>
              <a:t>When</a:t>
            </a:r>
            <a:r>
              <a:rPr lang="da-DK" dirty="0"/>
              <a:t> </a:t>
            </a:r>
            <a:r>
              <a:rPr lang="da-DK" dirty="0" err="1"/>
              <a:t>someone</a:t>
            </a:r>
            <a:r>
              <a:rPr lang="da-DK" dirty="0"/>
              <a:t> runs </a:t>
            </a:r>
            <a:r>
              <a:rPr lang="da-DK" dirty="0" err="1"/>
              <a:t>into</a:t>
            </a:r>
            <a:r>
              <a:rPr lang="da-DK" dirty="0"/>
              <a:t> an issue, </a:t>
            </a:r>
            <a:r>
              <a:rPr lang="da-DK" dirty="0" err="1"/>
              <a:t>they</a:t>
            </a:r>
            <a:r>
              <a:rPr lang="da-DK" dirty="0"/>
              <a:t> </a:t>
            </a:r>
            <a:r>
              <a:rPr lang="da-DK" dirty="0" err="1"/>
              <a:t>can</a:t>
            </a:r>
            <a:r>
              <a:rPr lang="da-DK" dirty="0"/>
              <a:t> give </a:t>
            </a:r>
            <a:r>
              <a:rPr lang="da-DK" dirty="0" err="1"/>
              <a:t>you</a:t>
            </a:r>
            <a:r>
              <a:rPr lang="da-DK" dirty="0"/>
              <a:t> the point in time to </a:t>
            </a:r>
            <a:r>
              <a:rPr lang="da-DK" dirty="0" err="1"/>
              <a:t>help</a:t>
            </a:r>
            <a:r>
              <a:rPr lang="da-DK" dirty="0"/>
              <a:t> </a:t>
            </a:r>
            <a:r>
              <a:rPr lang="da-DK" dirty="0" err="1"/>
              <a:t>you</a:t>
            </a:r>
            <a:r>
              <a:rPr lang="da-DK" dirty="0"/>
              <a:t> </a:t>
            </a:r>
            <a:r>
              <a:rPr lang="da-DK" dirty="0" err="1"/>
              <a:t>locate</a:t>
            </a:r>
            <a:r>
              <a:rPr lang="da-DK" dirty="0"/>
              <a:t> the </a:t>
            </a:r>
            <a:r>
              <a:rPr lang="da-DK" dirty="0" err="1"/>
              <a:t>error</a:t>
            </a:r>
            <a:r>
              <a:rPr lang="da-DK" dirty="0"/>
              <a:t>.</a:t>
            </a:r>
          </a:p>
          <a:p>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35</a:t>
            </a:fld>
            <a:endParaRPr lang="en-GB" dirty="0"/>
          </a:p>
        </p:txBody>
      </p:sp>
    </p:spTree>
    <p:extLst>
      <p:ext uri="{BB962C8B-B14F-4D97-AF65-F5344CB8AC3E}">
        <p14:creationId xmlns:p14="http://schemas.microsoft.com/office/powerpoint/2010/main" val="1741655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D52D38A2-D624-39D7-D92F-F93B374B06C8}"/>
              </a:ext>
            </a:extLst>
          </p:cNvPr>
          <p:cNvSpPr>
            <a:spLocks noGrp="1" noChangeArrowheads="1"/>
          </p:cNvSpPr>
          <p:nvPr>
            <p:ph type="ctrTitle"/>
          </p:nvPr>
        </p:nvSpPr>
        <p:spPr>
          <a:xfrm>
            <a:off x="414697" y="644080"/>
            <a:ext cx="10952579" cy="701040"/>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b="1" dirty="0">
                <a:latin typeface="Arial" panose="020B0604020202020204" pitchFamily="34" charset="0"/>
                <a:cs typeface="Arial" panose="020B0604020202020204" pitchFamily="34" charset="0"/>
              </a:rPr>
              <a:t>Monitoring – rolling application log</a:t>
            </a:r>
          </a:p>
        </p:txBody>
      </p:sp>
      <p:sp>
        <p:nvSpPr>
          <p:cNvPr id="5122" name="Rectangle 2">
            <a:extLst>
              <a:ext uri="{FF2B5EF4-FFF2-40B4-BE49-F238E27FC236}">
                <a16:creationId xmlns:a16="http://schemas.microsoft.com/office/drawing/2014/main" id="{ACD68839-6EFF-B492-1D80-440C3A6F3A9B}"/>
              </a:ext>
            </a:extLst>
          </p:cNvPr>
          <p:cNvSpPr>
            <a:spLocks noGrp="1" noChangeArrowheads="1"/>
          </p:cNvSpPr>
          <p:nvPr>
            <p:ph sz="quarter" idx="13"/>
          </p:nvPr>
        </p:nvSpPr>
        <p:spPr>
          <a:xfrm>
            <a:off x="414697" y="1345120"/>
            <a:ext cx="10952580" cy="5402518"/>
          </a:xfrm>
        </p:spPr>
        <p:txBody>
          <a:bodyPr>
            <a:normAutofit/>
          </a:bodyPr>
          <a:lstStyle/>
          <a:p>
            <a:pPr>
              <a:defRPr/>
            </a:pPr>
            <a:r>
              <a:rPr lang="en-US" sz="2000" dirty="0">
                <a:latin typeface="Arial" panose="020B0604020202020204" pitchFamily="34" charset="0"/>
                <a:cs typeface="Arial" panose="020B0604020202020204" pitchFamily="34" charset="0"/>
              </a:rPr>
              <a:t>We want to know if something critical is being logged</a:t>
            </a:r>
          </a:p>
          <a:p>
            <a:pPr lvl="1">
              <a:defRPr/>
            </a:pPr>
            <a:r>
              <a:rPr lang="en-US" sz="1600" dirty="0">
                <a:latin typeface="Arial" panose="020B0604020202020204" pitchFamily="34" charset="0"/>
                <a:cs typeface="Arial" panose="020B0604020202020204" pitchFamily="34" charset="0"/>
              </a:rPr>
              <a:t>This example uses the popular ELK Stack (Elasticsearch, Logstash, Kibana)</a:t>
            </a:r>
          </a:p>
          <a:p>
            <a:pPr>
              <a:lnSpc>
                <a:spcPct val="120000"/>
              </a:lnSpc>
              <a:defRPr/>
            </a:pPr>
            <a:r>
              <a:rPr lang="en-US" sz="2000" dirty="0">
                <a:latin typeface="Arial" panose="020B0604020202020204" pitchFamily="34" charset="0"/>
                <a:cs typeface="Arial" panose="020B0604020202020204" pitchFamily="34" charset="0"/>
              </a:rPr>
              <a:t>Configure Logstash for Log Processing:</a:t>
            </a:r>
          </a:p>
          <a:p>
            <a:pPr lvl="1">
              <a:lnSpc>
                <a:spcPct val="120000"/>
              </a:lnSpc>
              <a:defRPr/>
            </a:pPr>
            <a:r>
              <a:rPr lang="en-US" sz="1600" dirty="0">
                <a:latin typeface="Arial" panose="020B0604020202020204" pitchFamily="34" charset="0"/>
                <a:cs typeface="Arial" panose="020B0604020202020204" pitchFamily="34" charset="0"/>
              </a:rPr>
              <a:t>Logstash is used to process logs and send them to Elasticsearch. Configure Logstash to read your log files. In the Logstash configuration, specify the path to your log files and set it to check the files periodically (every hour, as per your requirement).</a:t>
            </a:r>
          </a:p>
          <a:p>
            <a:pPr lvl="1">
              <a:lnSpc>
                <a:spcPct val="120000"/>
              </a:lnSpc>
              <a:defRPr/>
            </a:pPr>
            <a:r>
              <a:rPr lang="en-US" sz="1600" dirty="0">
                <a:latin typeface="Arial" panose="020B0604020202020204" pitchFamily="34" charset="0"/>
                <a:cs typeface="Arial" panose="020B0604020202020204" pitchFamily="34" charset="0"/>
              </a:rPr>
              <a:t>Logstash can handle rolling log files by keeping track of which lines it has already read.</a:t>
            </a:r>
          </a:p>
          <a:p>
            <a:pPr lvl="1">
              <a:lnSpc>
                <a:spcPct val="120000"/>
              </a:lnSpc>
              <a:defRPr/>
            </a:pPr>
            <a:r>
              <a:rPr lang="en-US" sz="1600" dirty="0">
                <a:latin typeface="Arial" panose="020B0604020202020204" pitchFamily="34" charset="0"/>
                <a:cs typeface="Arial" panose="020B0604020202020204" pitchFamily="34" charset="0"/>
              </a:rPr>
              <a:t>Within your Logstash configuration, define filters to parse your log data. You can set conditions or match patterns that, when met, trigger an alarm.</a:t>
            </a:r>
          </a:p>
          <a:p>
            <a:pPr>
              <a:lnSpc>
                <a:spcPct val="120000"/>
              </a:lnSpc>
              <a:defRPr/>
            </a:pPr>
            <a:r>
              <a:rPr lang="en-US" sz="2000" dirty="0">
                <a:latin typeface="Arial" panose="020B0604020202020204" pitchFamily="34" charset="0"/>
                <a:cs typeface="Arial" panose="020B0604020202020204" pitchFamily="34" charset="0"/>
              </a:rPr>
              <a:t>Use Kibana as a web UI for Logstash (and elastic search):</a:t>
            </a:r>
          </a:p>
          <a:p>
            <a:pPr lvl="1">
              <a:lnSpc>
                <a:spcPct val="120000"/>
              </a:lnSpc>
              <a:defRPr/>
            </a:pPr>
            <a:r>
              <a:rPr lang="en-US" sz="1600" dirty="0">
                <a:latin typeface="Arial" panose="020B0604020202020204" pitchFamily="34" charset="0"/>
                <a:cs typeface="Arial" panose="020B0604020202020204" pitchFamily="34" charset="0"/>
              </a:rPr>
              <a:t>Use Kibana to set up dashboards that monitor your log data.</a:t>
            </a:r>
          </a:p>
          <a:p>
            <a:pPr lvl="1">
              <a:lnSpc>
                <a:spcPct val="120000"/>
              </a:lnSpc>
              <a:defRPr/>
            </a:pPr>
            <a:r>
              <a:rPr lang="en-US" sz="1600" dirty="0">
                <a:latin typeface="Arial" panose="020B0604020202020204" pitchFamily="34" charset="0"/>
                <a:cs typeface="Arial" panose="020B0604020202020204" pitchFamily="34" charset="0"/>
              </a:rPr>
              <a:t>Kibana also offers alerting features (through Kibana Alerting or Watcher in X-Pack) to notify you when certain conditions in your log data are met. These alerts can be set up based on the conditions defined in Logstash.</a:t>
            </a:r>
          </a:p>
          <a:p>
            <a:pPr>
              <a:defRPr/>
            </a:pPr>
            <a:r>
              <a:rPr lang="en-US" sz="2000" dirty="0">
                <a:latin typeface="Arial" panose="020B0604020202020204" pitchFamily="34" charset="0"/>
                <a:cs typeface="Arial" panose="020B0604020202020204" pitchFamily="34" charset="0"/>
              </a:rPr>
              <a:t>Elasticsearch for indexing and searching logs:</a:t>
            </a:r>
          </a:p>
          <a:p>
            <a:pPr lvl="1">
              <a:lnSpc>
                <a:spcPct val="120000"/>
              </a:lnSpc>
              <a:defRPr/>
            </a:pPr>
            <a:r>
              <a:rPr lang="en-US" sz="1600" dirty="0">
                <a:latin typeface="Arial" panose="020B0604020202020204" pitchFamily="34" charset="0"/>
                <a:cs typeface="Arial" panose="020B0604020202020204" pitchFamily="34" charset="0"/>
              </a:rPr>
              <a:t>Elasticsearch is a search and analytics engine. It can easily find data in vast data amounts, such as rolling logs.</a:t>
            </a:r>
          </a:p>
          <a:p>
            <a:pPr lvl="1">
              <a:lnSpc>
                <a:spcPct val="120000"/>
              </a:lnSpc>
              <a:defRPr/>
            </a:pPr>
            <a:r>
              <a:rPr lang="en-US" sz="1600" dirty="0">
                <a:latin typeface="Arial" panose="020B0604020202020204" pitchFamily="34" charset="0"/>
                <a:cs typeface="Arial" panose="020B0604020202020204" pitchFamily="34" charset="0"/>
              </a:rPr>
              <a:t>It can store and index your log data.</a:t>
            </a:r>
          </a:p>
        </p:txBody>
      </p:sp>
    </p:spTree>
    <p:extLst>
      <p:ext uri="{BB962C8B-B14F-4D97-AF65-F5344CB8AC3E}">
        <p14:creationId xmlns:p14="http://schemas.microsoft.com/office/powerpoint/2010/main" val="36390733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D52D38A2-D624-39D7-D92F-F93B374B06C8}"/>
              </a:ext>
            </a:extLst>
          </p:cNvPr>
          <p:cNvSpPr>
            <a:spLocks noGrp="1" noChangeArrowheads="1"/>
          </p:cNvSpPr>
          <p:nvPr>
            <p:ph type="ctrTitle"/>
          </p:nvPr>
        </p:nvSpPr>
        <p:spPr>
          <a:xfrm>
            <a:off x="414697" y="763352"/>
            <a:ext cx="10952579" cy="701040"/>
          </a:xfrm>
        </p:spPr>
        <p:txBody>
          <a:bodyPr/>
          <a:lstStyle/>
          <a:p>
            <a: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lang="en-US" b="1" dirty="0">
                <a:latin typeface="Arial" panose="020B0604020202020204" pitchFamily="34" charset="0"/>
                <a:cs typeface="Arial" panose="020B0604020202020204" pitchFamily="34" charset="0"/>
              </a:rPr>
              <a:t>Monitoring – database audit log</a:t>
            </a:r>
          </a:p>
        </p:txBody>
      </p:sp>
      <p:sp>
        <p:nvSpPr>
          <p:cNvPr id="5122" name="Rectangle 2">
            <a:extLst>
              <a:ext uri="{FF2B5EF4-FFF2-40B4-BE49-F238E27FC236}">
                <a16:creationId xmlns:a16="http://schemas.microsoft.com/office/drawing/2014/main" id="{ACD68839-6EFF-B492-1D80-440C3A6F3A9B}"/>
              </a:ext>
            </a:extLst>
          </p:cNvPr>
          <p:cNvSpPr>
            <a:spLocks noGrp="1" noChangeArrowheads="1"/>
          </p:cNvSpPr>
          <p:nvPr>
            <p:ph sz="quarter" idx="13"/>
          </p:nvPr>
        </p:nvSpPr>
        <p:spPr>
          <a:xfrm>
            <a:off x="414697" y="1464392"/>
            <a:ext cx="10952580" cy="5402518"/>
          </a:xfrm>
        </p:spPr>
        <p:txBody>
          <a:bodyPr>
            <a:normAutofit/>
          </a:bodyPr>
          <a:lstStyle/>
          <a:p>
            <a:pPr>
              <a:defRPr/>
            </a:pPr>
            <a:r>
              <a:rPr lang="en-US" sz="2000" dirty="0">
                <a:latin typeface="Arial" panose="020B0604020202020204" pitchFamily="34" charset="0"/>
                <a:cs typeface="Arial" panose="020B0604020202020204" pitchFamily="34" charset="0"/>
              </a:rPr>
              <a:t>In the database, an audit log is usually made using triggers, that will insert specific data into the audit-log table whenever something happens in the database.</a:t>
            </a:r>
          </a:p>
          <a:p>
            <a:pPr>
              <a:defRPr/>
            </a:pPr>
            <a:r>
              <a:rPr lang="en-US" sz="2000" dirty="0">
                <a:latin typeface="Arial" panose="020B0604020202020204" pitchFamily="34" charset="0"/>
                <a:cs typeface="Arial" panose="020B0604020202020204" pitchFamily="34" charset="0"/>
              </a:rPr>
              <a:t>By utilizing database triggers, we can ensure logging, even when changes are made directly in the database via SQL.</a:t>
            </a:r>
          </a:p>
          <a:p>
            <a:pPr>
              <a:defRPr/>
            </a:pPr>
            <a:r>
              <a:rPr lang="en-US" sz="2000" dirty="0">
                <a:latin typeface="Arial" panose="020B0604020202020204" pitchFamily="34" charset="0"/>
                <a:cs typeface="Arial" panose="020B0604020202020204" pitchFamily="34" charset="0"/>
              </a:rPr>
              <a:t>These logs can be automatically read every x minutes to retrieve any log entries made since last check.</a:t>
            </a:r>
          </a:p>
          <a:p>
            <a:pPr>
              <a:defRPr/>
            </a:pPr>
            <a:r>
              <a:rPr lang="en-US" sz="2000" dirty="0">
                <a:latin typeface="Arial" panose="020B0604020202020204" pitchFamily="34" charset="0"/>
                <a:cs typeface="Arial" panose="020B0604020202020204" pitchFamily="34" charset="0"/>
              </a:rPr>
              <a:t>If these entries contain any specific logs, we can set up alarms for it.</a:t>
            </a:r>
          </a:p>
          <a:p>
            <a:pPr>
              <a:defRPr/>
            </a:pPr>
            <a:r>
              <a:rPr lang="en-US" sz="2000" dirty="0">
                <a:latin typeface="Arial" panose="020B0604020202020204" pitchFamily="34" charset="0"/>
                <a:cs typeface="Arial" panose="020B0604020202020204" pitchFamily="34" charset="0"/>
              </a:rPr>
              <a:t>Splunk or </a:t>
            </a:r>
            <a:r>
              <a:rPr lang="en-US" sz="2000" dirty="0" err="1">
                <a:latin typeface="Arial" panose="020B0604020202020204" pitchFamily="34" charset="0"/>
                <a:cs typeface="Arial" panose="020B0604020202020204" pitchFamily="34" charset="0"/>
              </a:rPr>
              <a:t>elasticsearch</a:t>
            </a:r>
            <a:r>
              <a:rPr lang="en-US" sz="2000" dirty="0">
                <a:latin typeface="Arial" panose="020B0604020202020204" pitchFamily="34" charset="0"/>
                <a:cs typeface="Arial" panose="020B0604020202020204" pitchFamily="34" charset="0"/>
              </a:rPr>
              <a:t> can be used for automating the reading and alarm processes here.</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98112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Vulnerabilities</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38</a:t>
            </a:fld>
            <a:endParaRPr lang="en-GB" dirty="0"/>
          </a:p>
        </p:txBody>
      </p:sp>
    </p:spTree>
    <p:custDataLst>
      <p:custData r:id="rId1"/>
      <p:custData r:id="rId2"/>
      <p:tags r:id="rId3"/>
    </p:custDataLst>
    <p:extLst>
      <p:ext uri="{BB962C8B-B14F-4D97-AF65-F5344CB8AC3E}">
        <p14:creationId xmlns:p14="http://schemas.microsoft.com/office/powerpoint/2010/main" val="3537722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What</a:t>
            </a:r>
            <a:r>
              <a:rPr lang="da-DK" dirty="0"/>
              <a:t> is a </a:t>
            </a:r>
            <a:r>
              <a:rPr lang="da-DK" dirty="0" err="1"/>
              <a:t>vulnerability</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err="1"/>
              <a:t>When</a:t>
            </a:r>
            <a:r>
              <a:rPr lang="da-DK" altLang="en-US" dirty="0"/>
              <a:t> it is </a:t>
            </a:r>
            <a:r>
              <a:rPr lang="da-DK" altLang="en-US" dirty="0" err="1"/>
              <a:t>found</a:t>
            </a:r>
            <a:r>
              <a:rPr lang="da-DK" altLang="en-US" dirty="0"/>
              <a:t> </a:t>
            </a:r>
            <a:r>
              <a:rPr lang="da-DK" altLang="en-US" dirty="0" err="1"/>
              <a:t>that</a:t>
            </a:r>
            <a:r>
              <a:rPr lang="da-DK" altLang="en-US" dirty="0"/>
              <a:t> a </a:t>
            </a:r>
            <a:r>
              <a:rPr lang="da-DK" altLang="en-US" dirty="0" err="1"/>
              <a:t>commonly</a:t>
            </a:r>
            <a:r>
              <a:rPr lang="da-DK" altLang="en-US" dirty="0"/>
              <a:t> </a:t>
            </a:r>
            <a:r>
              <a:rPr lang="da-DK" altLang="en-US" dirty="0" err="1"/>
              <a:t>used</a:t>
            </a:r>
            <a:r>
              <a:rPr lang="da-DK" altLang="en-US" dirty="0"/>
              <a:t> or public framework or </a:t>
            </a:r>
            <a:r>
              <a:rPr lang="da-DK" altLang="en-US" dirty="0" err="1"/>
              <a:t>library</a:t>
            </a:r>
            <a:r>
              <a:rPr lang="da-DK" altLang="en-US" dirty="0"/>
              <a:t> has a security issue </a:t>
            </a:r>
            <a:r>
              <a:rPr lang="da-DK" altLang="en-US" dirty="0" err="1"/>
              <a:t>that</a:t>
            </a:r>
            <a:r>
              <a:rPr lang="da-DK" altLang="en-US" dirty="0"/>
              <a:t> </a:t>
            </a:r>
            <a:r>
              <a:rPr lang="da-DK" altLang="en-US" dirty="0" err="1"/>
              <a:t>could</a:t>
            </a:r>
            <a:r>
              <a:rPr lang="da-DK" altLang="en-US" dirty="0"/>
              <a:t> </a:t>
            </a:r>
            <a:r>
              <a:rPr lang="da-DK" altLang="en-US" dirty="0" err="1"/>
              <a:t>potentially</a:t>
            </a:r>
            <a:r>
              <a:rPr lang="da-DK" altLang="en-US" dirty="0"/>
              <a:t> </a:t>
            </a:r>
            <a:r>
              <a:rPr lang="da-DK" altLang="en-US" dirty="0" err="1"/>
              <a:t>be</a:t>
            </a:r>
            <a:r>
              <a:rPr lang="da-DK" altLang="en-US" dirty="0"/>
              <a:t> </a:t>
            </a:r>
            <a:r>
              <a:rPr lang="da-DK" altLang="en-US" b="1" dirty="0" err="1"/>
              <a:t>exploited</a:t>
            </a:r>
            <a:r>
              <a:rPr lang="da-DK" altLang="en-US" dirty="0"/>
              <a:t>, </a:t>
            </a:r>
            <a:r>
              <a:rPr lang="da-DK" altLang="en-US" dirty="0" err="1"/>
              <a:t>this</a:t>
            </a:r>
            <a:r>
              <a:rPr lang="da-DK" altLang="en-US" dirty="0"/>
              <a:t> is referred to as a </a:t>
            </a:r>
            <a:r>
              <a:rPr lang="da-DK" altLang="en-US" b="1" dirty="0" err="1"/>
              <a:t>vulnerability</a:t>
            </a:r>
            <a:r>
              <a:rPr lang="da-DK" altLang="en-US" dirty="0"/>
              <a:t>.</a:t>
            </a:r>
          </a:p>
          <a:p>
            <a:r>
              <a:rPr lang="da-DK" dirty="0"/>
              <a:t>Most security issues </a:t>
            </a:r>
            <a:r>
              <a:rPr lang="da-DK" dirty="0" err="1"/>
              <a:t>are</a:t>
            </a:r>
            <a:r>
              <a:rPr lang="da-DK" dirty="0"/>
              <a:t> </a:t>
            </a:r>
            <a:r>
              <a:rPr lang="da-DK" dirty="0" err="1"/>
              <a:t>found</a:t>
            </a:r>
            <a:r>
              <a:rPr lang="da-DK" dirty="0"/>
              <a:t> by </a:t>
            </a:r>
            <a:r>
              <a:rPr lang="da-DK" dirty="0" err="1"/>
              <a:t>white</a:t>
            </a:r>
            <a:r>
              <a:rPr lang="da-DK" dirty="0"/>
              <a:t>-hat hackers and made </a:t>
            </a:r>
            <a:r>
              <a:rPr lang="da-DK" dirty="0" err="1"/>
              <a:t>available</a:t>
            </a:r>
            <a:r>
              <a:rPr lang="da-DK" dirty="0"/>
              <a:t> to the public </a:t>
            </a:r>
            <a:r>
              <a:rPr lang="da-DK" dirty="0" err="1"/>
              <a:t>before</a:t>
            </a:r>
            <a:r>
              <a:rPr lang="da-DK" dirty="0"/>
              <a:t> </a:t>
            </a:r>
            <a:r>
              <a:rPr lang="da-DK" dirty="0" err="1"/>
              <a:t>any</a:t>
            </a:r>
            <a:r>
              <a:rPr lang="da-DK" dirty="0"/>
              <a:t> </a:t>
            </a:r>
            <a:r>
              <a:rPr lang="da-DK" dirty="0" err="1"/>
              <a:t>exploits</a:t>
            </a:r>
            <a:r>
              <a:rPr lang="da-DK" dirty="0"/>
              <a:t> </a:t>
            </a:r>
            <a:r>
              <a:rPr lang="da-DK" dirty="0" err="1"/>
              <a:t>happen</a:t>
            </a:r>
            <a:r>
              <a:rPr lang="da-DK" dirty="0"/>
              <a:t>.</a:t>
            </a:r>
          </a:p>
          <a:p>
            <a:r>
              <a:rPr lang="da-DK" dirty="0"/>
              <a:t>Most hackers </a:t>
            </a:r>
            <a:r>
              <a:rPr lang="da-DK" dirty="0" err="1"/>
              <a:t>either</a:t>
            </a:r>
            <a:r>
              <a:rPr lang="da-DK" dirty="0"/>
              <a:t> </a:t>
            </a:r>
            <a:r>
              <a:rPr lang="da-DK" dirty="0" err="1"/>
              <a:t>work</a:t>
            </a:r>
            <a:r>
              <a:rPr lang="da-DK" dirty="0"/>
              <a:t> to find </a:t>
            </a:r>
            <a:r>
              <a:rPr lang="da-DK" dirty="0" err="1"/>
              <a:t>vulnerabilities</a:t>
            </a:r>
            <a:r>
              <a:rPr lang="da-DK" dirty="0"/>
              <a:t> or to </a:t>
            </a:r>
            <a:r>
              <a:rPr lang="da-DK" dirty="0" err="1"/>
              <a:t>exploit</a:t>
            </a:r>
            <a:r>
              <a:rPr lang="da-DK" dirty="0"/>
              <a:t> </a:t>
            </a:r>
            <a:r>
              <a:rPr lang="da-DK" dirty="0" err="1"/>
              <a:t>existing</a:t>
            </a:r>
            <a:r>
              <a:rPr lang="da-DK" dirty="0"/>
              <a:t> </a:t>
            </a:r>
            <a:r>
              <a:rPr lang="da-DK" dirty="0" err="1"/>
              <a:t>ones</a:t>
            </a:r>
            <a:r>
              <a:rPr lang="da-DK" dirty="0"/>
              <a:t> – </a:t>
            </a:r>
            <a:r>
              <a:rPr lang="da-DK" dirty="0" err="1"/>
              <a:t>typically</a:t>
            </a:r>
            <a:r>
              <a:rPr lang="da-DK" dirty="0"/>
              <a:t> the </a:t>
            </a:r>
            <a:r>
              <a:rPr lang="da-DK" dirty="0" err="1"/>
              <a:t>latest</a:t>
            </a:r>
            <a:r>
              <a:rPr lang="da-DK" dirty="0"/>
              <a:t> </a:t>
            </a:r>
            <a:r>
              <a:rPr lang="da-DK" dirty="0" err="1"/>
              <a:t>ones</a:t>
            </a:r>
            <a:endParaRPr lang="da-DK" dirty="0"/>
          </a:p>
          <a:p>
            <a:r>
              <a:rPr lang="da-DK" dirty="0" err="1"/>
              <a:t>Vulnerabilities</a:t>
            </a:r>
            <a:r>
              <a:rPr lang="da-DK" dirty="0"/>
              <a:t> </a:t>
            </a:r>
            <a:r>
              <a:rPr lang="da-DK" dirty="0" err="1"/>
              <a:t>worth</a:t>
            </a:r>
            <a:r>
              <a:rPr lang="da-DK" dirty="0"/>
              <a:t> </a:t>
            </a:r>
            <a:r>
              <a:rPr lang="da-DK" dirty="0" err="1"/>
              <a:t>exploiting</a:t>
            </a:r>
            <a:r>
              <a:rPr lang="da-DK" dirty="0"/>
              <a:t> </a:t>
            </a:r>
            <a:r>
              <a:rPr lang="da-DK" dirty="0" err="1"/>
              <a:t>are</a:t>
            </a:r>
            <a:r>
              <a:rPr lang="da-DK" dirty="0"/>
              <a:t> </a:t>
            </a:r>
            <a:r>
              <a:rPr lang="da-DK" dirty="0" err="1"/>
              <a:t>typically</a:t>
            </a:r>
            <a:r>
              <a:rPr lang="da-DK" dirty="0"/>
              <a:t> </a:t>
            </a:r>
            <a:r>
              <a:rPr lang="da-DK" dirty="0" err="1"/>
              <a:t>exploited</a:t>
            </a:r>
            <a:r>
              <a:rPr lang="da-DK" dirty="0"/>
              <a:t> </a:t>
            </a:r>
            <a:r>
              <a:rPr lang="da-DK" dirty="0" err="1"/>
              <a:t>within</a:t>
            </a:r>
            <a:r>
              <a:rPr lang="da-DK" dirty="0"/>
              <a:t> 30 </a:t>
            </a:r>
            <a:r>
              <a:rPr lang="da-DK" dirty="0" err="1"/>
              <a:t>days</a:t>
            </a:r>
            <a:r>
              <a:rPr lang="da-DK" dirty="0"/>
              <a:t> or so</a:t>
            </a:r>
          </a:p>
          <a:p>
            <a:endParaRPr lang="da-DK" dirty="0"/>
          </a:p>
          <a:p>
            <a:r>
              <a:rPr lang="da-DK" dirty="0"/>
              <a:t>Most </a:t>
            </a:r>
            <a:r>
              <a:rPr lang="da-DK" dirty="0" err="1"/>
              <a:t>popular</a:t>
            </a:r>
            <a:r>
              <a:rPr lang="da-DK" dirty="0"/>
              <a:t> frameworks or </a:t>
            </a:r>
            <a:r>
              <a:rPr lang="da-DK" dirty="0" err="1"/>
              <a:t>libraries</a:t>
            </a:r>
            <a:r>
              <a:rPr lang="da-DK" dirty="0"/>
              <a:t> </a:t>
            </a:r>
            <a:r>
              <a:rPr lang="da-DK" dirty="0" err="1"/>
              <a:t>are</a:t>
            </a:r>
            <a:r>
              <a:rPr lang="da-DK" dirty="0"/>
              <a:t> </a:t>
            </a:r>
            <a:r>
              <a:rPr lang="da-DK" b="1" dirty="0" err="1"/>
              <a:t>patched</a:t>
            </a:r>
            <a:r>
              <a:rPr lang="da-DK" dirty="0"/>
              <a:t> </a:t>
            </a:r>
            <a:r>
              <a:rPr lang="da-DK" dirty="0" err="1"/>
              <a:t>within</a:t>
            </a:r>
            <a:r>
              <a:rPr lang="da-DK" dirty="0"/>
              <a:t> a </a:t>
            </a:r>
            <a:r>
              <a:rPr lang="da-DK" dirty="0" err="1"/>
              <a:t>few</a:t>
            </a:r>
            <a:r>
              <a:rPr lang="da-DK" dirty="0"/>
              <a:t> </a:t>
            </a:r>
            <a:r>
              <a:rPr lang="da-DK" dirty="0" err="1"/>
              <a:t>days</a:t>
            </a:r>
            <a:r>
              <a:rPr lang="da-DK" dirty="0"/>
              <a:t> </a:t>
            </a:r>
            <a:r>
              <a:rPr lang="da-DK" dirty="0" err="1"/>
              <a:t>after</a:t>
            </a:r>
            <a:r>
              <a:rPr lang="da-DK" dirty="0"/>
              <a:t> a </a:t>
            </a:r>
            <a:r>
              <a:rPr lang="da-DK" dirty="0" err="1"/>
              <a:t>vulnerability</a:t>
            </a:r>
            <a:r>
              <a:rPr lang="da-DK" dirty="0"/>
              <a:t> is </a:t>
            </a:r>
            <a:r>
              <a:rPr lang="da-DK" dirty="0" err="1"/>
              <a:t>found</a:t>
            </a:r>
            <a:r>
              <a:rPr lang="da-DK" dirty="0"/>
              <a:t>.</a:t>
            </a:r>
          </a:p>
          <a:p>
            <a:endParaRPr lang="da-DK" dirty="0"/>
          </a:p>
          <a:p>
            <a:endParaRPr lang="da-DK" dirty="0"/>
          </a:p>
          <a:p>
            <a:r>
              <a:rPr lang="da-DK" dirty="0" err="1"/>
              <a:t>Vulnerability</a:t>
            </a:r>
            <a:r>
              <a:rPr lang="da-DK" dirty="0"/>
              <a:t>: A </a:t>
            </a:r>
            <a:r>
              <a:rPr lang="da-DK" dirty="0" err="1"/>
              <a:t>known</a:t>
            </a:r>
            <a:r>
              <a:rPr lang="da-DK" dirty="0"/>
              <a:t> security </a:t>
            </a:r>
            <a:r>
              <a:rPr lang="da-DK" dirty="0" err="1"/>
              <a:t>risk</a:t>
            </a:r>
            <a:endParaRPr lang="da-DK" dirty="0"/>
          </a:p>
          <a:p>
            <a:r>
              <a:rPr lang="da-DK" dirty="0" err="1"/>
              <a:t>Exploit</a:t>
            </a:r>
            <a:r>
              <a:rPr lang="da-DK" dirty="0"/>
              <a:t>: </a:t>
            </a:r>
            <a:r>
              <a:rPr lang="da-DK" dirty="0" err="1"/>
              <a:t>Taking</a:t>
            </a:r>
            <a:r>
              <a:rPr lang="da-DK" dirty="0"/>
              <a:t> </a:t>
            </a:r>
            <a:r>
              <a:rPr lang="da-DK" dirty="0" err="1"/>
              <a:t>advantage</a:t>
            </a:r>
            <a:r>
              <a:rPr lang="da-DK" dirty="0"/>
              <a:t> of a </a:t>
            </a:r>
            <a:r>
              <a:rPr lang="da-DK" dirty="0" err="1"/>
              <a:t>vulnerability</a:t>
            </a:r>
            <a:endParaRPr lang="da-DK" dirty="0"/>
          </a:p>
          <a:p>
            <a:r>
              <a:rPr lang="da-DK" dirty="0"/>
              <a:t>Patch: Fix the </a:t>
            </a:r>
            <a:r>
              <a:rPr lang="da-DK" dirty="0" err="1"/>
              <a:t>vulnerability</a:t>
            </a:r>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39</a:t>
            </a:fld>
            <a:endParaRPr lang="en-GB" dirty="0"/>
          </a:p>
        </p:txBody>
      </p:sp>
    </p:spTree>
    <p:extLst>
      <p:ext uri="{BB962C8B-B14F-4D97-AF65-F5344CB8AC3E}">
        <p14:creationId xmlns:p14="http://schemas.microsoft.com/office/powerpoint/2010/main" val="5792192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Vulnerabilities</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err="1"/>
              <a:t>Some</a:t>
            </a:r>
            <a:r>
              <a:rPr lang="da-DK" altLang="en-US" dirty="0"/>
              <a:t> </a:t>
            </a:r>
            <a:r>
              <a:rPr lang="da-DK" altLang="en-US" dirty="0" err="1"/>
              <a:t>libraries</a:t>
            </a:r>
            <a:r>
              <a:rPr lang="da-DK" altLang="en-US" dirty="0"/>
              <a:t> </a:t>
            </a:r>
            <a:r>
              <a:rPr lang="da-DK" altLang="en-US" dirty="0" err="1"/>
              <a:t>are</a:t>
            </a:r>
            <a:r>
              <a:rPr lang="da-DK" altLang="en-US" dirty="0"/>
              <a:t> </a:t>
            </a:r>
            <a:r>
              <a:rPr lang="da-DK" altLang="en-US" dirty="0" err="1"/>
              <a:t>abandoned</a:t>
            </a:r>
            <a:r>
              <a:rPr lang="da-DK" altLang="en-US" dirty="0"/>
              <a:t> and </a:t>
            </a:r>
            <a:r>
              <a:rPr lang="da-DK" altLang="en-US" dirty="0" err="1"/>
              <a:t>will</a:t>
            </a:r>
            <a:r>
              <a:rPr lang="da-DK" altLang="en-US" dirty="0"/>
              <a:t> never </a:t>
            </a:r>
            <a:r>
              <a:rPr lang="da-DK" altLang="en-US" dirty="0" err="1"/>
              <a:t>be</a:t>
            </a:r>
            <a:r>
              <a:rPr lang="da-DK" altLang="en-US" dirty="0"/>
              <a:t> </a:t>
            </a:r>
            <a:r>
              <a:rPr lang="da-DK" altLang="en-US" dirty="0" err="1"/>
              <a:t>patched</a:t>
            </a:r>
            <a:r>
              <a:rPr lang="da-DK" altLang="en-US" dirty="0"/>
              <a:t> – </a:t>
            </a:r>
            <a:r>
              <a:rPr lang="da-DK" altLang="en-US" dirty="0" err="1"/>
              <a:t>we</a:t>
            </a:r>
            <a:r>
              <a:rPr lang="da-DK" altLang="en-US" dirty="0"/>
              <a:t> </a:t>
            </a:r>
            <a:r>
              <a:rPr lang="da-DK" altLang="en-US" dirty="0" err="1"/>
              <a:t>should</a:t>
            </a:r>
            <a:r>
              <a:rPr lang="da-DK" altLang="en-US" dirty="0"/>
              <a:t> </a:t>
            </a:r>
            <a:r>
              <a:rPr lang="da-DK" altLang="en-US" dirty="0" err="1"/>
              <a:t>avoid</a:t>
            </a:r>
            <a:r>
              <a:rPr lang="da-DK" altLang="en-US" dirty="0"/>
              <a:t> </a:t>
            </a:r>
            <a:r>
              <a:rPr lang="da-DK" altLang="en-US" dirty="0" err="1"/>
              <a:t>using</a:t>
            </a:r>
            <a:r>
              <a:rPr lang="da-DK" altLang="en-US" dirty="0"/>
              <a:t> </a:t>
            </a:r>
            <a:r>
              <a:rPr lang="da-DK" altLang="en-US" dirty="0" err="1"/>
              <a:t>these</a:t>
            </a:r>
            <a:endParaRPr lang="da-DK" altLang="en-US" dirty="0"/>
          </a:p>
          <a:p>
            <a:pPr lvl="1"/>
            <a:r>
              <a:rPr lang="da-DK" dirty="0" err="1"/>
              <a:t>You</a:t>
            </a:r>
            <a:r>
              <a:rPr lang="da-DK" dirty="0"/>
              <a:t> </a:t>
            </a:r>
            <a:r>
              <a:rPr lang="da-DK" dirty="0" err="1"/>
              <a:t>should</a:t>
            </a:r>
            <a:r>
              <a:rPr lang="da-DK" dirty="0"/>
              <a:t> look at </a:t>
            </a:r>
            <a:r>
              <a:rPr lang="da-DK" dirty="0" err="1"/>
              <a:t>when</a:t>
            </a:r>
            <a:r>
              <a:rPr lang="da-DK" dirty="0"/>
              <a:t> </a:t>
            </a:r>
            <a:r>
              <a:rPr lang="da-DK" dirty="0" err="1"/>
              <a:t>your</a:t>
            </a:r>
            <a:r>
              <a:rPr lang="da-DK" dirty="0"/>
              <a:t> </a:t>
            </a:r>
            <a:r>
              <a:rPr lang="da-DK" dirty="0" err="1"/>
              <a:t>libraries</a:t>
            </a:r>
            <a:r>
              <a:rPr lang="da-DK" dirty="0"/>
              <a:t> </a:t>
            </a:r>
            <a:r>
              <a:rPr lang="da-DK" dirty="0" err="1"/>
              <a:t>were</a:t>
            </a:r>
            <a:r>
              <a:rPr lang="da-DK" dirty="0"/>
              <a:t> last </a:t>
            </a:r>
            <a:r>
              <a:rPr lang="da-DK" dirty="0" err="1"/>
              <a:t>updated</a:t>
            </a:r>
            <a:r>
              <a:rPr lang="da-DK" dirty="0"/>
              <a:t> and </a:t>
            </a:r>
            <a:r>
              <a:rPr lang="da-DK" dirty="0" err="1"/>
              <a:t>how</a:t>
            </a:r>
            <a:r>
              <a:rPr lang="da-DK" dirty="0"/>
              <a:t> long it has </a:t>
            </a:r>
            <a:r>
              <a:rPr lang="da-DK" dirty="0" err="1"/>
              <a:t>existed</a:t>
            </a:r>
            <a:r>
              <a:rPr lang="da-DK" dirty="0"/>
              <a:t> for </a:t>
            </a:r>
            <a:r>
              <a:rPr lang="da-DK" dirty="0" err="1"/>
              <a:t>before</a:t>
            </a:r>
            <a:r>
              <a:rPr lang="da-DK" dirty="0"/>
              <a:t> </a:t>
            </a:r>
            <a:r>
              <a:rPr lang="da-DK" dirty="0" err="1"/>
              <a:t>you</a:t>
            </a:r>
            <a:r>
              <a:rPr lang="da-DK" dirty="0"/>
              <a:t> start </a:t>
            </a:r>
            <a:r>
              <a:rPr lang="da-DK" dirty="0" err="1"/>
              <a:t>using</a:t>
            </a:r>
            <a:r>
              <a:rPr lang="da-DK" dirty="0"/>
              <a:t> it</a:t>
            </a:r>
          </a:p>
          <a:p>
            <a:pPr lvl="1"/>
            <a:r>
              <a:rPr lang="da-DK" dirty="0" err="1"/>
              <a:t>Avoid</a:t>
            </a:r>
            <a:r>
              <a:rPr lang="da-DK" dirty="0"/>
              <a:t> an </a:t>
            </a:r>
            <a:r>
              <a:rPr lang="da-DK" dirty="0" err="1"/>
              <a:t>overreliance</a:t>
            </a:r>
            <a:r>
              <a:rPr lang="da-DK" dirty="0"/>
              <a:t> on </a:t>
            </a:r>
            <a:r>
              <a:rPr lang="da-DK" dirty="0" err="1"/>
              <a:t>external</a:t>
            </a:r>
            <a:r>
              <a:rPr lang="da-DK" dirty="0"/>
              <a:t> </a:t>
            </a:r>
            <a:r>
              <a:rPr lang="da-DK" dirty="0" err="1"/>
              <a:t>libraries</a:t>
            </a:r>
            <a:endParaRPr lang="da-DK" dirty="0"/>
          </a:p>
          <a:p>
            <a:endParaRPr lang="da-DK" dirty="0"/>
          </a:p>
          <a:p>
            <a:r>
              <a:rPr lang="da-DK" dirty="0" err="1"/>
              <a:t>Some</a:t>
            </a:r>
            <a:r>
              <a:rPr lang="da-DK" dirty="0"/>
              <a:t> </a:t>
            </a:r>
            <a:r>
              <a:rPr lang="da-DK" dirty="0" err="1"/>
              <a:t>vulnerabilities</a:t>
            </a:r>
            <a:r>
              <a:rPr lang="da-DK" dirty="0"/>
              <a:t> </a:t>
            </a:r>
            <a:r>
              <a:rPr lang="da-DK" dirty="0" err="1"/>
              <a:t>exist</a:t>
            </a:r>
            <a:r>
              <a:rPr lang="da-DK" dirty="0"/>
              <a:t> in a format </a:t>
            </a:r>
            <a:r>
              <a:rPr lang="da-DK" dirty="0" err="1"/>
              <a:t>where</a:t>
            </a:r>
            <a:r>
              <a:rPr lang="da-DK" dirty="0"/>
              <a:t> a simple patch is not </a:t>
            </a:r>
            <a:r>
              <a:rPr lang="da-DK" dirty="0" err="1"/>
              <a:t>possible</a:t>
            </a:r>
            <a:r>
              <a:rPr lang="da-DK" dirty="0"/>
              <a:t> – </a:t>
            </a:r>
            <a:r>
              <a:rPr lang="da-DK" dirty="0" err="1"/>
              <a:t>there</a:t>
            </a:r>
            <a:r>
              <a:rPr lang="da-DK" dirty="0"/>
              <a:t> </a:t>
            </a:r>
            <a:r>
              <a:rPr lang="da-DK" dirty="0" err="1"/>
              <a:t>could</a:t>
            </a:r>
            <a:r>
              <a:rPr lang="da-DK" dirty="0"/>
              <a:t> </a:t>
            </a:r>
            <a:r>
              <a:rPr lang="da-DK" dirty="0" err="1"/>
              <a:t>be</a:t>
            </a:r>
            <a:r>
              <a:rPr lang="da-DK" dirty="0"/>
              <a:t> a </a:t>
            </a:r>
            <a:r>
              <a:rPr lang="da-DK" dirty="0" err="1"/>
              <a:t>systematic</a:t>
            </a:r>
            <a:r>
              <a:rPr lang="da-DK" dirty="0"/>
              <a:t> problem with the </a:t>
            </a:r>
            <a:r>
              <a:rPr lang="da-DK" dirty="0" err="1"/>
              <a:t>whole</a:t>
            </a:r>
            <a:r>
              <a:rPr lang="da-DK" dirty="0"/>
              <a:t> </a:t>
            </a:r>
            <a:r>
              <a:rPr lang="da-DK" dirty="0" err="1"/>
              <a:t>setup</a:t>
            </a:r>
            <a:r>
              <a:rPr lang="da-DK" dirty="0"/>
              <a:t> of the </a:t>
            </a:r>
            <a:r>
              <a:rPr lang="da-DK" dirty="0" err="1"/>
              <a:t>library</a:t>
            </a:r>
            <a:r>
              <a:rPr lang="da-DK" dirty="0"/>
              <a:t>. </a:t>
            </a:r>
            <a:r>
              <a:rPr lang="da-DK" dirty="0" err="1"/>
              <a:t>When</a:t>
            </a:r>
            <a:r>
              <a:rPr lang="da-DK" dirty="0"/>
              <a:t> </a:t>
            </a:r>
            <a:r>
              <a:rPr lang="da-DK" dirty="0" err="1"/>
              <a:t>this</a:t>
            </a:r>
            <a:r>
              <a:rPr lang="da-DK" dirty="0"/>
              <a:t> is </a:t>
            </a:r>
            <a:r>
              <a:rPr lang="da-DK" dirty="0" err="1"/>
              <a:t>fixed</a:t>
            </a:r>
            <a:r>
              <a:rPr lang="da-DK" dirty="0"/>
              <a:t>, the </a:t>
            </a:r>
            <a:r>
              <a:rPr lang="da-DK" dirty="0" err="1"/>
              <a:t>library</a:t>
            </a:r>
            <a:r>
              <a:rPr lang="da-DK" dirty="0"/>
              <a:t> </a:t>
            </a:r>
            <a:r>
              <a:rPr lang="da-DK" dirty="0" err="1"/>
              <a:t>might</a:t>
            </a:r>
            <a:r>
              <a:rPr lang="da-DK" dirty="0"/>
              <a:t> </a:t>
            </a:r>
            <a:r>
              <a:rPr lang="da-DK" dirty="0" err="1"/>
              <a:t>work</a:t>
            </a:r>
            <a:r>
              <a:rPr lang="da-DK" dirty="0"/>
              <a:t> </a:t>
            </a:r>
            <a:r>
              <a:rPr lang="da-DK" dirty="0" err="1"/>
              <a:t>slightly</a:t>
            </a:r>
            <a:r>
              <a:rPr lang="da-DK" dirty="0"/>
              <a:t> </a:t>
            </a:r>
            <a:r>
              <a:rPr lang="da-DK" dirty="0" err="1"/>
              <a:t>differently</a:t>
            </a:r>
            <a:r>
              <a:rPr lang="da-DK" dirty="0"/>
              <a:t> from </a:t>
            </a:r>
            <a:r>
              <a:rPr lang="da-DK" dirty="0" err="1"/>
              <a:t>how</a:t>
            </a:r>
            <a:r>
              <a:rPr lang="da-DK" dirty="0"/>
              <a:t> it did </a:t>
            </a:r>
            <a:r>
              <a:rPr lang="da-DK" dirty="0" err="1"/>
              <a:t>before</a:t>
            </a:r>
            <a:r>
              <a:rPr lang="da-DK" dirty="0"/>
              <a:t> – and </a:t>
            </a:r>
            <a:r>
              <a:rPr lang="da-DK" dirty="0" err="1"/>
              <a:t>this</a:t>
            </a:r>
            <a:r>
              <a:rPr lang="da-DK" dirty="0"/>
              <a:t> </a:t>
            </a:r>
            <a:r>
              <a:rPr lang="da-DK" dirty="0" err="1"/>
              <a:t>will</a:t>
            </a:r>
            <a:r>
              <a:rPr lang="da-DK" dirty="0"/>
              <a:t> force users to </a:t>
            </a:r>
            <a:r>
              <a:rPr lang="da-DK" dirty="0" err="1"/>
              <a:t>update</a:t>
            </a:r>
            <a:r>
              <a:rPr lang="da-DK" dirty="0"/>
              <a:t> </a:t>
            </a:r>
            <a:r>
              <a:rPr lang="da-DK" dirty="0" err="1"/>
              <a:t>their</a:t>
            </a:r>
            <a:r>
              <a:rPr lang="da-DK" dirty="0"/>
              <a:t> </a:t>
            </a:r>
            <a:r>
              <a:rPr lang="da-DK" dirty="0" err="1"/>
              <a:t>own</a:t>
            </a:r>
            <a:r>
              <a:rPr lang="da-DK" dirty="0"/>
              <a:t> </a:t>
            </a:r>
            <a:r>
              <a:rPr lang="da-DK" dirty="0" err="1"/>
              <a:t>application</a:t>
            </a:r>
            <a:r>
              <a:rPr lang="da-DK" dirty="0"/>
              <a:t> </a:t>
            </a:r>
            <a:r>
              <a:rPr lang="da-DK" dirty="0" err="1"/>
              <a:t>code</a:t>
            </a:r>
            <a:r>
              <a:rPr lang="da-DK" dirty="0"/>
              <a:t> in </a:t>
            </a:r>
            <a:r>
              <a:rPr lang="da-DK" dirty="0" err="1"/>
              <a:t>order</a:t>
            </a:r>
            <a:r>
              <a:rPr lang="da-DK" dirty="0"/>
              <a:t> to </a:t>
            </a:r>
            <a:r>
              <a:rPr lang="da-DK" dirty="0" err="1"/>
              <a:t>use</a:t>
            </a:r>
            <a:r>
              <a:rPr lang="da-DK" dirty="0"/>
              <a:t> the </a:t>
            </a:r>
            <a:r>
              <a:rPr lang="da-DK" dirty="0" err="1"/>
              <a:t>patched</a:t>
            </a:r>
            <a:r>
              <a:rPr lang="da-DK" dirty="0"/>
              <a:t> </a:t>
            </a:r>
            <a:r>
              <a:rPr lang="da-DK" dirty="0" err="1"/>
              <a:t>library</a:t>
            </a:r>
            <a:r>
              <a:rPr lang="da-DK" dirty="0"/>
              <a:t>.</a:t>
            </a:r>
          </a:p>
          <a:p>
            <a:endParaRPr lang="da-DK" dirty="0"/>
          </a:p>
          <a:p>
            <a:r>
              <a:rPr lang="da-DK" dirty="0"/>
              <a:t>This is </a:t>
            </a:r>
            <a:r>
              <a:rPr lang="da-DK" dirty="0" err="1"/>
              <a:t>one</a:t>
            </a:r>
            <a:r>
              <a:rPr lang="da-DK" dirty="0"/>
              <a:t> of the most </a:t>
            </a:r>
            <a:r>
              <a:rPr lang="da-DK" dirty="0" err="1"/>
              <a:t>expensive</a:t>
            </a:r>
            <a:r>
              <a:rPr lang="da-DK" dirty="0"/>
              <a:t> software </a:t>
            </a:r>
            <a:r>
              <a:rPr lang="da-DK" dirty="0" err="1"/>
              <a:t>maintenance</a:t>
            </a:r>
            <a:r>
              <a:rPr lang="da-DK" dirty="0"/>
              <a:t> </a:t>
            </a:r>
            <a:r>
              <a:rPr lang="da-DK" dirty="0" err="1"/>
              <a:t>processes</a:t>
            </a:r>
            <a:r>
              <a:rPr lang="da-DK" dirty="0"/>
              <a:t>.</a:t>
            </a:r>
          </a:p>
          <a:p>
            <a:endParaRPr lang="da-DK" dirty="0"/>
          </a:p>
          <a:p>
            <a:r>
              <a:rPr lang="da-DK" dirty="0" err="1"/>
              <a:t>There</a:t>
            </a:r>
            <a:r>
              <a:rPr lang="da-DK" dirty="0"/>
              <a:t> </a:t>
            </a:r>
            <a:r>
              <a:rPr lang="da-DK" dirty="0" err="1"/>
              <a:t>are</a:t>
            </a:r>
            <a:r>
              <a:rPr lang="da-DK" dirty="0"/>
              <a:t> </a:t>
            </a:r>
            <a:r>
              <a:rPr lang="da-DK" dirty="0" err="1"/>
              <a:t>tools</a:t>
            </a:r>
            <a:r>
              <a:rPr lang="da-DK" dirty="0"/>
              <a:t> </a:t>
            </a:r>
            <a:r>
              <a:rPr lang="da-DK" dirty="0" err="1"/>
              <a:t>that</a:t>
            </a:r>
            <a:r>
              <a:rPr lang="da-DK" dirty="0"/>
              <a:t> </a:t>
            </a:r>
            <a:r>
              <a:rPr lang="da-DK" dirty="0" err="1"/>
              <a:t>will</a:t>
            </a:r>
            <a:r>
              <a:rPr lang="da-DK" dirty="0"/>
              <a:t> scan </a:t>
            </a:r>
            <a:r>
              <a:rPr lang="da-DK" dirty="0" err="1"/>
              <a:t>your</a:t>
            </a:r>
            <a:r>
              <a:rPr lang="da-DK" dirty="0"/>
              <a:t> </a:t>
            </a:r>
            <a:r>
              <a:rPr lang="da-DK" dirty="0" err="1"/>
              <a:t>imported</a:t>
            </a:r>
            <a:r>
              <a:rPr lang="da-DK" dirty="0"/>
              <a:t> </a:t>
            </a:r>
            <a:r>
              <a:rPr lang="da-DK" dirty="0" err="1"/>
              <a:t>libraries</a:t>
            </a:r>
            <a:r>
              <a:rPr lang="da-DK" dirty="0"/>
              <a:t> and frameworks for </a:t>
            </a:r>
            <a:r>
              <a:rPr lang="da-DK" dirty="0" err="1"/>
              <a:t>vulnerabilities</a:t>
            </a:r>
            <a:r>
              <a:rPr lang="da-DK" dirty="0"/>
              <a:t>, </a:t>
            </a:r>
            <a:r>
              <a:rPr lang="da-DK" dirty="0" err="1"/>
              <a:t>simply</a:t>
            </a:r>
            <a:r>
              <a:rPr lang="da-DK" dirty="0"/>
              <a:t> by scanning </a:t>
            </a:r>
            <a:r>
              <a:rPr lang="da-DK" dirty="0" err="1"/>
              <a:t>their</a:t>
            </a:r>
            <a:r>
              <a:rPr lang="da-DK" dirty="0"/>
              <a:t> </a:t>
            </a:r>
            <a:r>
              <a:rPr lang="da-DK" dirty="0" err="1"/>
              <a:t>names</a:t>
            </a:r>
            <a:r>
              <a:rPr lang="da-DK" dirty="0"/>
              <a:t> and version </a:t>
            </a:r>
            <a:r>
              <a:rPr lang="da-DK" dirty="0" err="1"/>
              <a:t>numbers</a:t>
            </a:r>
            <a:r>
              <a:rPr lang="da-DK" dirty="0"/>
              <a:t> and </a:t>
            </a:r>
            <a:r>
              <a:rPr lang="da-DK" dirty="0" err="1"/>
              <a:t>comparing</a:t>
            </a:r>
            <a:r>
              <a:rPr lang="da-DK" dirty="0"/>
              <a:t> it to a list of </a:t>
            </a:r>
            <a:r>
              <a:rPr lang="da-DK" dirty="0" err="1"/>
              <a:t>known</a:t>
            </a:r>
            <a:r>
              <a:rPr lang="da-DK" dirty="0"/>
              <a:t> </a:t>
            </a:r>
            <a:r>
              <a:rPr lang="da-DK" dirty="0" err="1"/>
              <a:t>vulnerabilities</a:t>
            </a:r>
            <a:r>
              <a:rPr lang="da-DK" dirty="0"/>
              <a:t>.</a:t>
            </a:r>
          </a:p>
          <a:p>
            <a:pPr lvl="1"/>
            <a:r>
              <a:rPr lang="da-DK" dirty="0" err="1"/>
              <a:t>Jfrog</a:t>
            </a:r>
            <a:r>
              <a:rPr lang="da-DK" dirty="0"/>
              <a:t>, OWASP ZAP</a:t>
            </a:r>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40</a:t>
            </a:fld>
            <a:endParaRPr lang="en-GB" dirty="0"/>
          </a:p>
        </p:txBody>
      </p:sp>
    </p:spTree>
    <p:extLst>
      <p:ext uri="{BB962C8B-B14F-4D97-AF65-F5344CB8AC3E}">
        <p14:creationId xmlns:p14="http://schemas.microsoft.com/office/powerpoint/2010/main" val="13984767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Vulnerabilities</a:t>
            </a:r>
            <a:endParaRPr lang="da-DK" dirty="0"/>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err="1"/>
              <a:t>Since</a:t>
            </a:r>
            <a:r>
              <a:rPr lang="da-DK" altLang="en-US" dirty="0"/>
              <a:t> </a:t>
            </a:r>
            <a:r>
              <a:rPr lang="da-DK" altLang="en-US" dirty="0" err="1"/>
              <a:t>vulnerabilities</a:t>
            </a:r>
            <a:r>
              <a:rPr lang="da-DK" altLang="en-US" dirty="0"/>
              <a:t> </a:t>
            </a:r>
            <a:r>
              <a:rPr lang="da-DK" altLang="en-US" dirty="0" err="1"/>
              <a:t>are</a:t>
            </a:r>
            <a:r>
              <a:rPr lang="da-DK" altLang="en-US" dirty="0"/>
              <a:t> part of a </a:t>
            </a:r>
            <a:r>
              <a:rPr lang="da-DK" altLang="en-US" dirty="0" err="1"/>
              <a:t>specific</a:t>
            </a:r>
            <a:r>
              <a:rPr lang="da-DK" altLang="en-US" dirty="0"/>
              <a:t> version, a simple version-</a:t>
            </a:r>
            <a:r>
              <a:rPr lang="da-DK" altLang="en-US" dirty="0" err="1"/>
              <a:t>spoof</a:t>
            </a:r>
            <a:r>
              <a:rPr lang="da-DK" altLang="en-US" dirty="0"/>
              <a:t> </a:t>
            </a:r>
            <a:r>
              <a:rPr lang="da-DK" altLang="en-US" dirty="0" err="1"/>
              <a:t>can</a:t>
            </a:r>
            <a:r>
              <a:rPr lang="da-DK" altLang="en-US" dirty="0"/>
              <a:t> </a:t>
            </a:r>
            <a:r>
              <a:rPr lang="da-DK" altLang="en-US" dirty="0" err="1"/>
              <a:t>introduce</a:t>
            </a:r>
            <a:r>
              <a:rPr lang="da-DK" altLang="en-US" dirty="0"/>
              <a:t> a </a:t>
            </a:r>
            <a:r>
              <a:rPr lang="da-DK" altLang="en-US" dirty="0" err="1"/>
              <a:t>vulnerability</a:t>
            </a:r>
            <a:r>
              <a:rPr lang="da-DK" altLang="en-US" dirty="0"/>
              <a:t> </a:t>
            </a:r>
            <a:r>
              <a:rPr lang="da-DK" altLang="en-US" dirty="0" err="1"/>
              <a:t>that</a:t>
            </a:r>
            <a:r>
              <a:rPr lang="da-DK" altLang="en-US" dirty="0"/>
              <a:t> is </a:t>
            </a:r>
            <a:r>
              <a:rPr lang="da-DK" altLang="en-US" dirty="0" err="1"/>
              <a:t>difficult</a:t>
            </a:r>
            <a:r>
              <a:rPr lang="da-DK" altLang="en-US" dirty="0"/>
              <a:t> to </a:t>
            </a:r>
            <a:r>
              <a:rPr lang="da-DK" altLang="en-US" dirty="0" err="1"/>
              <a:t>detect</a:t>
            </a:r>
            <a:r>
              <a:rPr lang="da-DK" altLang="en-US" dirty="0"/>
              <a:t>. </a:t>
            </a:r>
            <a:r>
              <a:rPr lang="da-DK" altLang="en-US" dirty="0" err="1"/>
              <a:t>Many</a:t>
            </a:r>
            <a:r>
              <a:rPr lang="da-DK" altLang="en-US" dirty="0"/>
              <a:t> large software </a:t>
            </a:r>
            <a:r>
              <a:rPr lang="da-DK" altLang="en-US" dirty="0" err="1"/>
              <a:t>companies</a:t>
            </a:r>
            <a:r>
              <a:rPr lang="da-DK" altLang="en-US" dirty="0"/>
              <a:t> have </a:t>
            </a:r>
            <a:r>
              <a:rPr lang="da-DK" altLang="en-US" dirty="0" err="1"/>
              <a:t>their</a:t>
            </a:r>
            <a:r>
              <a:rPr lang="da-DK" altLang="en-US" dirty="0"/>
              <a:t> </a:t>
            </a:r>
            <a:r>
              <a:rPr lang="da-DK" altLang="en-US" dirty="0" err="1"/>
              <a:t>own</a:t>
            </a:r>
            <a:r>
              <a:rPr lang="da-DK" altLang="en-US" dirty="0"/>
              <a:t> </a:t>
            </a:r>
            <a:r>
              <a:rPr lang="da-DK" altLang="en-US" dirty="0" err="1"/>
              <a:t>library</a:t>
            </a:r>
            <a:r>
              <a:rPr lang="da-DK" altLang="en-US" dirty="0"/>
              <a:t> </a:t>
            </a:r>
            <a:r>
              <a:rPr lang="da-DK" altLang="en-US" dirty="0" err="1"/>
              <a:t>repositories</a:t>
            </a:r>
            <a:r>
              <a:rPr lang="da-DK" altLang="en-US" dirty="0"/>
              <a:t> for </a:t>
            </a:r>
            <a:r>
              <a:rPr lang="da-DK" altLang="en-US" dirty="0" err="1"/>
              <a:t>safe</a:t>
            </a:r>
            <a:r>
              <a:rPr lang="da-DK" altLang="en-US" dirty="0"/>
              <a:t> </a:t>
            </a:r>
            <a:r>
              <a:rPr lang="da-DK" altLang="en-US" dirty="0" err="1"/>
              <a:t>storage</a:t>
            </a:r>
            <a:r>
              <a:rPr lang="da-DK" altLang="en-US" dirty="0"/>
              <a:t> of </a:t>
            </a:r>
            <a:r>
              <a:rPr lang="da-DK" altLang="en-US" dirty="0" err="1"/>
              <a:t>verified</a:t>
            </a:r>
            <a:r>
              <a:rPr lang="da-DK" altLang="en-US" dirty="0"/>
              <a:t> </a:t>
            </a:r>
            <a:r>
              <a:rPr lang="da-DK" altLang="en-US" dirty="0" err="1"/>
              <a:t>external</a:t>
            </a:r>
            <a:r>
              <a:rPr lang="da-DK" altLang="en-US" dirty="0"/>
              <a:t> </a:t>
            </a:r>
            <a:r>
              <a:rPr lang="da-DK" altLang="en-US" dirty="0" err="1"/>
              <a:t>libraries</a:t>
            </a:r>
            <a:r>
              <a:rPr lang="da-DK" altLang="en-US" dirty="0"/>
              <a:t> to </a:t>
            </a:r>
            <a:r>
              <a:rPr lang="da-DK" altLang="en-US" dirty="0" err="1"/>
              <a:t>make</a:t>
            </a:r>
            <a:r>
              <a:rPr lang="da-DK" altLang="en-US" dirty="0"/>
              <a:t> sure </a:t>
            </a:r>
            <a:r>
              <a:rPr lang="da-DK" altLang="en-US" dirty="0" err="1"/>
              <a:t>nothing</a:t>
            </a:r>
            <a:r>
              <a:rPr lang="da-DK" altLang="en-US" dirty="0"/>
              <a:t> is </a:t>
            </a:r>
            <a:r>
              <a:rPr lang="da-DK" altLang="en-US" dirty="0" err="1"/>
              <a:t>injected</a:t>
            </a:r>
            <a:r>
              <a:rPr lang="da-DK" altLang="en-US" dirty="0"/>
              <a:t> </a:t>
            </a:r>
            <a:r>
              <a:rPr lang="da-DK" altLang="en-US" dirty="0" err="1"/>
              <a:t>into</a:t>
            </a:r>
            <a:r>
              <a:rPr lang="da-DK" altLang="en-US" dirty="0"/>
              <a:t> third-party </a:t>
            </a:r>
            <a:r>
              <a:rPr lang="da-DK" altLang="en-US" dirty="0" err="1"/>
              <a:t>libraries</a:t>
            </a:r>
            <a:r>
              <a:rPr lang="da-DK" altLang="en-US" dirty="0"/>
              <a:t>.</a:t>
            </a:r>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41</a:t>
            </a:fld>
            <a:endParaRPr lang="en-GB" dirty="0"/>
          </a:p>
        </p:txBody>
      </p:sp>
    </p:spTree>
    <p:extLst>
      <p:ext uri="{BB962C8B-B14F-4D97-AF65-F5344CB8AC3E}">
        <p14:creationId xmlns:p14="http://schemas.microsoft.com/office/powerpoint/2010/main" val="35423116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DDoS</a:t>
            </a:r>
            <a:br>
              <a:rPr lang="en-GB" dirty="0"/>
            </a:br>
            <a:r>
              <a:rPr lang="en-GB" dirty="0"/>
              <a:t>Distributed Denial of Service</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42</a:t>
            </a:fld>
            <a:endParaRPr lang="en-GB" dirty="0"/>
          </a:p>
        </p:txBody>
      </p:sp>
    </p:spTree>
    <p:custDataLst>
      <p:custData r:id="rId1"/>
      <p:custData r:id="rId2"/>
      <p:tags r:id="rId3"/>
    </p:custDataLst>
    <p:extLst>
      <p:ext uri="{BB962C8B-B14F-4D97-AF65-F5344CB8AC3E}">
        <p14:creationId xmlns:p14="http://schemas.microsoft.com/office/powerpoint/2010/main" val="23927083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DDoS</a:t>
            </a:r>
            <a:r>
              <a:rPr lang="da-DK" dirty="0"/>
              <a:t> – Distributed </a:t>
            </a:r>
            <a:r>
              <a:rPr lang="da-DK" dirty="0" err="1"/>
              <a:t>Denial</a:t>
            </a:r>
            <a:r>
              <a:rPr lang="da-DK" dirty="0"/>
              <a:t> of Service</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p:txBody>
          <a:bodyPr/>
          <a:lstStyle/>
          <a:p>
            <a:r>
              <a:rPr lang="da-DK" altLang="en-US" dirty="0"/>
              <a:t>A simple </a:t>
            </a:r>
            <a:r>
              <a:rPr lang="da-DK" altLang="en-US" dirty="0" err="1"/>
              <a:t>way</a:t>
            </a:r>
            <a:r>
              <a:rPr lang="da-DK" altLang="en-US" dirty="0"/>
              <a:t> to break a service is to </a:t>
            </a:r>
            <a:r>
              <a:rPr lang="da-DK" altLang="en-US" dirty="0" err="1"/>
              <a:t>simply</a:t>
            </a:r>
            <a:r>
              <a:rPr lang="da-DK" altLang="en-US" dirty="0"/>
              <a:t> </a:t>
            </a:r>
            <a:r>
              <a:rPr lang="da-DK" altLang="en-US" dirty="0" err="1"/>
              <a:t>saturate</a:t>
            </a:r>
            <a:r>
              <a:rPr lang="da-DK" altLang="en-US" dirty="0"/>
              <a:t> </a:t>
            </a:r>
            <a:r>
              <a:rPr lang="da-DK" altLang="en-US" dirty="0" err="1"/>
              <a:t>its</a:t>
            </a:r>
            <a:r>
              <a:rPr lang="da-DK" altLang="en-US" dirty="0"/>
              <a:t> ressources</a:t>
            </a:r>
          </a:p>
          <a:p>
            <a:r>
              <a:rPr lang="da-DK" dirty="0"/>
              <a:t>Call a server </a:t>
            </a:r>
            <a:r>
              <a:rPr lang="da-DK" dirty="0" err="1"/>
              <a:t>frequently</a:t>
            </a:r>
            <a:r>
              <a:rPr lang="da-DK" dirty="0"/>
              <a:t> </a:t>
            </a:r>
            <a:r>
              <a:rPr lang="da-DK" dirty="0" err="1"/>
              <a:t>enough</a:t>
            </a:r>
            <a:r>
              <a:rPr lang="da-DK" dirty="0"/>
              <a:t>, and it </a:t>
            </a:r>
            <a:r>
              <a:rPr lang="da-DK" dirty="0" err="1"/>
              <a:t>will</a:t>
            </a:r>
            <a:r>
              <a:rPr lang="da-DK" dirty="0"/>
              <a:t> </a:t>
            </a:r>
            <a:r>
              <a:rPr lang="da-DK" dirty="0" err="1"/>
              <a:t>surely</a:t>
            </a:r>
            <a:r>
              <a:rPr lang="da-DK" dirty="0"/>
              <a:t> break</a:t>
            </a:r>
          </a:p>
          <a:p>
            <a:r>
              <a:rPr lang="da-DK" dirty="0"/>
              <a:t>The simplest </a:t>
            </a:r>
            <a:r>
              <a:rPr lang="da-DK" dirty="0" err="1"/>
              <a:t>way</a:t>
            </a:r>
            <a:r>
              <a:rPr lang="da-DK" dirty="0"/>
              <a:t> to </a:t>
            </a:r>
            <a:r>
              <a:rPr lang="da-DK" dirty="0" err="1"/>
              <a:t>defend</a:t>
            </a:r>
            <a:r>
              <a:rPr lang="da-DK" dirty="0"/>
              <a:t> </a:t>
            </a:r>
            <a:r>
              <a:rPr lang="da-DK" dirty="0" err="1"/>
              <a:t>agains</a:t>
            </a:r>
            <a:r>
              <a:rPr lang="da-DK" dirty="0"/>
              <a:t> </a:t>
            </a:r>
            <a:r>
              <a:rPr lang="da-DK" dirty="0" err="1"/>
              <a:t>this</a:t>
            </a:r>
            <a:r>
              <a:rPr lang="da-DK" dirty="0"/>
              <a:t> is to </a:t>
            </a:r>
            <a:r>
              <a:rPr lang="da-DK" dirty="0" err="1"/>
              <a:t>deny</a:t>
            </a:r>
            <a:r>
              <a:rPr lang="da-DK" dirty="0"/>
              <a:t> </a:t>
            </a:r>
            <a:r>
              <a:rPr lang="da-DK" dirty="0" err="1"/>
              <a:t>access</a:t>
            </a:r>
            <a:r>
              <a:rPr lang="da-DK" dirty="0"/>
              <a:t> for </a:t>
            </a:r>
            <a:r>
              <a:rPr lang="da-DK" dirty="0" err="1"/>
              <a:t>any</a:t>
            </a:r>
            <a:r>
              <a:rPr lang="da-DK" dirty="0"/>
              <a:t> IP </a:t>
            </a:r>
            <a:r>
              <a:rPr lang="da-DK" dirty="0" err="1"/>
              <a:t>address</a:t>
            </a:r>
            <a:r>
              <a:rPr lang="da-DK" dirty="0"/>
              <a:t> </a:t>
            </a:r>
            <a:r>
              <a:rPr lang="da-DK" dirty="0" err="1"/>
              <a:t>making</a:t>
            </a:r>
            <a:r>
              <a:rPr lang="da-DK" dirty="0"/>
              <a:t> more </a:t>
            </a:r>
            <a:r>
              <a:rPr lang="da-DK" dirty="0" err="1"/>
              <a:t>than</a:t>
            </a:r>
            <a:r>
              <a:rPr lang="da-DK" dirty="0"/>
              <a:t> x </a:t>
            </a:r>
            <a:r>
              <a:rPr lang="da-DK" dirty="0" err="1"/>
              <a:t>requests</a:t>
            </a:r>
            <a:r>
              <a:rPr lang="da-DK" dirty="0"/>
              <a:t> per </a:t>
            </a:r>
            <a:r>
              <a:rPr lang="da-DK" dirty="0" err="1"/>
              <a:t>second</a:t>
            </a:r>
            <a:endParaRPr lang="da-DK" dirty="0"/>
          </a:p>
          <a:p>
            <a:r>
              <a:rPr lang="da-DK" dirty="0"/>
              <a:t>But </a:t>
            </a:r>
            <a:r>
              <a:rPr lang="da-DK" dirty="0" err="1"/>
              <a:t>if</a:t>
            </a:r>
            <a:r>
              <a:rPr lang="da-DK" dirty="0"/>
              <a:t> </a:t>
            </a:r>
            <a:r>
              <a:rPr lang="da-DK" dirty="0" err="1"/>
              <a:t>you</a:t>
            </a:r>
            <a:r>
              <a:rPr lang="da-DK" dirty="0"/>
              <a:t> </a:t>
            </a:r>
            <a:r>
              <a:rPr lang="da-DK" dirty="0" err="1"/>
              <a:t>gain</a:t>
            </a:r>
            <a:r>
              <a:rPr lang="da-DK" dirty="0"/>
              <a:t> </a:t>
            </a:r>
            <a:r>
              <a:rPr lang="da-DK" dirty="0" err="1"/>
              <a:t>access</a:t>
            </a:r>
            <a:r>
              <a:rPr lang="da-DK" dirty="0"/>
              <a:t> to </a:t>
            </a:r>
            <a:r>
              <a:rPr lang="da-DK" dirty="0" err="1"/>
              <a:t>enough</a:t>
            </a:r>
            <a:r>
              <a:rPr lang="da-DK" dirty="0"/>
              <a:t> </a:t>
            </a:r>
            <a:r>
              <a:rPr lang="da-DK" dirty="0" err="1"/>
              <a:t>different</a:t>
            </a:r>
            <a:r>
              <a:rPr lang="da-DK" dirty="0"/>
              <a:t> </a:t>
            </a:r>
            <a:r>
              <a:rPr lang="da-DK" dirty="0" err="1"/>
              <a:t>IP-addresses</a:t>
            </a:r>
            <a:r>
              <a:rPr lang="da-DK" dirty="0"/>
              <a:t> via </a:t>
            </a:r>
            <a:r>
              <a:rPr lang="da-DK" dirty="0" err="1"/>
              <a:t>VPN's</a:t>
            </a:r>
            <a:r>
              <a:rPr lang="da-DK" dirty="0"/>
              <a:t>, malware, XSS, etc., </a:t>
            </a:r>
            <a:r>
              <a:rPr lang="da-DK" dirty="0" err="1"/>
              <a:t>then</a:t>
            </a:r>
            <a:r>
              <a:rPr lang="da-DK" dirty="0"/>
              <a:t> </a:t>
            </a:r>
            <a:r>
              <a:rPr lang="da-DK" dirty="0" err="1"/>
              <a:t>you</a:t>
            </a:r>
            <a:r>
              <a:rPr lang="da-DK" dirty="0"/>
              <a:t> </a:t>
            </a:r>
            <a:r>
              <a:rPr lang="da-DK" dirty="0" err="1"/>
              <a:t>can</a:t>
            </a:r>
            <a:r>
              <a:rPr lang="da-DK" dirty="0"/>
              <a:t> </a:t>
            </a:r>
            <a:r>
              <a:rPr lang="da-DK" dirty="0" err="1"/>
              <a:t>make</a:t>
            </a:r>
            <a:r>
              <a:rPr lang="da-DK" dirty="0"/>
              <a:t> the max </a:t>
            </a:r>
            <a:r>
              <a:rPr lang="da-DK" dirty="0" err="1"/>
              <a:t>number</a:t>
            </a:r>
            <a:r>
              <a:rPr lang="da-DK" dirty="0"/>
              <a:t> of </a:t>
            </a:r>
            <a:r>
              <a:rPr lang="da-DK" dirty="0" err="1"/>
              <a:t>requests</a:t>
            </a:r>
            <a:r>
              <a:rPr lang="da-DK" dirty="0"/>
              <a:t> per </a:t>
            </a:r>
            <a:r>
              <a:rPr lang="da-DK" dirty="0" err="1"/>
              <a:t>second</a:t>
            </a:r>
            <a:r>
              <a:rPr lang="da-DK" dirty="0"/>
              <a:t> from a </a:t>
            </a:r>
            <a:r>
              <a:rPr lang="da-DK" dirty="0" err="1"/>
              <a:t>plethora</a:t>
            </a:r>
            <a:r>
              <a:rPr lang="da-DK" dirty="0"/>
              <a:t> of </a:t>
            </a:r>
            <a:r>
              <a:rPr lang="da-DK" dirty="0" err="1"/>
              <a:t>different</a:t>
            </a:r>
            <a:r>
              <a:rPr lang="da-DK" dirty="0"/>
              <a:t> IP </a:t>
            </a:r>
            <a:r>
              <a:rPr lang="da-DK" dirty="0" err="1"/>
              <a:t>addresses</a:t>
            </a:r>
            <a:r>
              <a:rPr lang="da-DK" dirty="0"/>
              <a:t> </a:t>
            </a:r>
            <a:r>
              <a:rPr lang="da-DK" dirty="0" err="1"/>
              <a:t>simultaneously</a:t>
            </a:r>
            <a:r>
              <a:rPr lang="da-DK" dirty="0"/>
              <a:t>.</a:t>
            </a:r>
          </a:p>
          <a:p>
            <a:endParaRPr lang="da-DK" dirty="0"/>
          </a:p>
          <a:p>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43</a:t>
            </a:fld>
            <a:endParaRPr lang="en-GB" dirty="0"/>
          </a:p>
        </p:txBody>
      </p:sp>
    </p:spTree>
    <p:extLst>
      <p:ext uri="{BB962C8B-B14F-4D97-AF65-F5344CB8AC3E}">
        <p14:creationId xmlns:p14="http://schemas.microsoft.com/office/powerpoint/2010/main" val="41671914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dato 2">
            <a:extLst>
              <a:ext uri="{FF2B5EF4-FFF2-40B4-BE49-F238E27FC236}">
                <a16:creationId xmlns:a16="http://schemas.microsoft.com/office/drawing/2014/main" id="{B8FEE912-AB78-CBCA-AE49-6F10A5919370}"/>
              </a:ext>
            </a:extLst>
          </p:cNvPr>
          <p:cNvSpPr>
            <a:spLocks noGrp="1"/>
          </p:cNvSpPr>
          <p:nvPr>
            <p:ph type="dt" sz="half" idx="2"/>
          </p:nvPr>
        </p:nvSpPr>
        <p:spPr/>
        <p:txBody>
          <a:bodyPr/>
          <a:lstStyle/>
          <a:p>
            <a:fld id="{489359D9-A70F-D248-A2D6-A1FFEF208DEF}" type="datetime1">
              <a:rPr lang="en-GB" smtClean="0"/>
              <a:t>18/09/2024</a:t>
            </a:fld>
            <a:endParaRPr lang="en-GB" dirty="0"/>
          </a:p>
        </p:txBody>
      </p:sp>
      <p:pic>
        <p:nvPicPr>
          <p:cNvPr id="1026" name="Picture 2" descr="DDoS - Wikipedia, den frie encyklopædi">
            <a:extLst>
              <a:ext uri="{FF2B5EF4-FFF2-40B4-BE49-F238E27FC236}">
                <a16:creationId xmlns:a16="http://schemas.microsoft.com/office/drawing/2014/main" id="{D72CDEFD-EAC9-EE8C-4505-859BE34A8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059" y="657707"/>
            <a:ext cx="8184296" cy="5542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5251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8F8746-5164-4738-A9F0-DA05BED9E09F}"/>
              </a:ext>
            </a:extLst>
          </p:cNvPr>
          <p:cNvSpPr>
            <a:spLocks noGrp="1"/>
          </p:cNvSpPr>
          <p:nvPr>
            <p:ph type="ctrTitle"/>
          </p:nvPr>
        </p:nvSpPr>
        <p:spPr/>
        <p:txBody>
          <a:bodyPr/>
          <a:lstStyle/>
          <a:p>
            <a:r>
              <a:rPr lang="da-DK" dirty="0" err="1"/>
              <a:t>DDoS</a:t>
            </a:r>
            <a:r>
              <a:rPr lang="da-DK" dirty="0"/>
              <a:t> – Distributed </a:t>
            </a:r>
            <a:r>
              <a:rPr lang="da-DK" dirty="0" err="1"/>
              <a:t>Denial</a:t>
            </a:r>
            <a:r>
              <a:rPr lang="da-DK" dirty="0"/>
              <a:t> of Service</a:t>
            </a:r>
          </a:p>
        </p:txBody>
      </p:sp>
      <p:sp>
        <p:nvSpPr>
          <p:cNvPr id="3" name="Pladsholder til indhold 2">
            <a:extLst>
              <a:ext uri="{FF2B5EF4-FFF2-40B4-BE49-F238E27FC236}">
                <a16:creationId xmlns:a16="http://schemas.microsoft.com/office/drawing/2014/main" id="{93199A94-7515-4A3B-AEF4-C4C2DB119255}"/>
              </a:ext>
            </a:extLst>
          </p:cNvPr>
          <p:cNvSpPr>
            <a:spLocks noGrp="1"/>
          </p:cNvSpPr>
          <p:nvPr>
            <p:ph sz="quarter" idx="13"/>
          </p:nvPr>
        </p:nvSpPr>
        <p:spPr>
          <a:xfrm>
            <a:off x="414696" y="1700213"/>
            <a:ext cx="10952580" cy="4141787"/>
          </a:xfrm>
        </p:spPr>
        <p:txBody>
          <a:bodyPr/>
          <a:lstStyle/>
          <a:p>
            <a:r>
              <a:rPr lang="da-DK" altLang="en-US" dirty="0"/>
              <a:t>Solution:</a:t>
            </a:r>
          </a:p>
          <a:p>
            <a:pPr lvl="1"/>
            <a:r>
              <a:rPr lang="da-DK" dirty="0"/>
              <a:t>Make sure </a:t>
            </a:r>
            <a:r>
              <a:rPr lang="da-DK" dirty="0" err="1"/>
              <a:t>you</a:t>
            </a:r>
            <a:r>
              <a:rPr lang="da-DK" dirty="0"/>
              <a:t> </a:t>
            </a:r>
            <a:r>
              <a:rPr lang="da-DK" dirty="0" err="1"/>
              <a:t>know</a:t>
            </a:r>
            <a:r>
              <a:rPr lang="da-DK" dirty="0"/>
              <a:t> </a:t>
            </a:r>
            <a:r>
              <a:rPr lang="da-DK" dirty="0" err="1"/>
              <a:t>your</a:t>
            </a:r>
            <a:r>
              <a:rPr lang="da-DK" dirty="0"/>
              <a:t> users</a:t>
            </a:r>
          </a:p>
          <a:p>
            <a:pPr lvl="1"/>
            <a:r>
              <a:rPr lang="da-DK" dirty="0"/>
              <a:t>NemID and </a:t>
            </a:r>
            <a:r>
              <a:rPr lang="da-DK" dirty="0" err="1"/>
              <a:t>UniLogin</a:t>
            </a:r>
            <a:r>
              <a:rPr lang="da-DK" dirty="0"/>
              <a:t> </a:t>
            </a:r>
            <a:r>
              <a:rPr lang="da-DK" dirty="0" err="1"/>
              <a:t>will</a:t>
            </a:r>
            <a:r>
              <a:rPr lang="da-DK" dirty="0"/>
              <a:t> generally not </a:t>
            </a:r>
            <a:r>
              <a:rPr lang="da-DK" dirty="0" err="1"/>
              <a:t>allow</a:t>
            </a:r>
            <a:r>
              <a:rPr lang="da-DK" dirty="0"/>
              <a:t> </a:t>
            </a:r>
            <a:r>
              <a:rPr lang="da-DK" dirty="0" err="1"/>
              <a:t>access</a:t>
            </a:r>
            <a:r>
              <a:rPr lang="da-DK" dirty="0"/>
              <a:t> from </a:t>
            </a:r>
            <a:r>
              <a:rPr lang="da-DK" dirty="0" err="1"/>
              <a:t>outside</a:t>
            </a:r>
            <a:r>
              <a:rPr lang="da-DK" dirty="0"/>
              <a:t> of Europe</a:t>
            </a:r>
          </a:p>
          <a:p>
            <a:pPr lvl="2"/>
            <a:r>
              <a:rPr lang="da-DK" dirty="0"/>
              <a:t>IP </a:t>
            </a:r>
            <a:r>
              <a:rPr lang="da-DK" dirty="0" err="1"/>
              <a:t>geography</a:t>
            </a:r>
            <a:r>
              <a:rPr lang="da-DK" dirty="0"/>
              <a:t> </a:t>
            </a:r>
            <a:r>
              <a:rPr lang="da-DK" dirty="0" err="1"/>
              <a:t>can</a:t>
            </a:r>
            <a:r>
              <a:rPr lang="da-DK" dirty="0"/>
              <a:t> </a:t>
            </a:r>
            <a:r>
              <a:rPr lang="da-DK" dirty="0" err="1"/>
              <a:t>be</a:t>
            </a:r>
            <a:r>
              <a:rPr lang="da-DK" dirty="0"/>
              <a:t> </a:t>
            </a:r>
            <a:r>
              <a:rPr lang="da-DK" dirty="0" err="1"/>
              <a:t>tested</a:t>
            </a:r>
            <a:r>
              <a:rPr lang="da-DK" dirty="0"/>
              <a:t> on a </a:t>
            </a:r>
            <a:r>
              <a:rPr lang="da-DK" dirty="0" err="1"/>
              <a:t>dedicated</a:t>
            </a:r>
            <a:r>
              <a:rPr lang="da-DK" dirty="0"/>
              <a:t> server to </a:t>
            </a:r>
            <a:r>
              <a:rPr lang="da-DK" dirty="0" err="1"/>
              <a:t>avoid</a:t>
            </a:r>
            <a:r>
              <a:rPr lang="da-DK" dirty="0"/>
              <a:t> </a:t>
            </a:r>
            <a:r>
              <a:rPr lang="da-DK" dirty="0" err="1"/>
              <a:t>impacting</a:t>
            </a:r>
            <a:r>
              <a:rPr lang="da-DK" dirty="0"/>
              <a:t> </a:t>
            </a:r>
            <a:r>
              <a:rPr lang="da-DK" dirty="0" err="1"/>
              <a:t>application</a:t>
            </a:r>
            <a:r>
              <a:rPr lang="da-DK" dirty="0"/>
              <a:t> performance</a:t>
            </a:r>
          </a:p>
          <a:p>
            <a:pPr lvl="1"/>
            <a:r>
              <a:rPr lang="da-DK" dirty="0"/>
              <a:t>Block </a:t>
            </a:r>
            <a:r>
              <a:rPr lang="da-DK" dirty="0" err="1"/>
              <a:t>known</a:t>
            </a:r>
            <a:r>
              <a:rPr lang="da-DK" dirty="0"/>
              <a:t> </a:t>
            </a:r>
            <a:r>
              <a:rPr lang="da-DK" dirty="0" err="1"/>
              <a:t>offenders</a:t>
            </a:r>
            <a:endParaRPr lang="da-DK" dirty="0"/>
          </a:p>
          <a:p>
            <a:pPr lvl="2"/>
            <a:r>
              <a:rPr lang="da-DK" dirty="0" err="1"/>
              <a:t>BlockList.de</a:t>
            </a:r>
            <a:r>
              <a:rPr lang="da-DK" dirty="0"/>
              <a:t> is an </a:t>
            </a:r>
            <a:r>
              <a:rPr lang="da-DK" dirty="0" err="1"/>
              <a:t>example</a:t>
            </a:r>
            <a:r>
              <a:rPr lang="da-DK" dirty="0"/>
              <a:t> of a site </a:t>
            </a:r>
            <a:r>
              <a:rPr lang="da-DK" dirty="0" err="1"/>
              <a:t>that</a:t>
            </a:r>
            <a:r>
              <a:rPr lang="da-DK" dirty="0"/>
              <a:t> logs and </a:t>
            </a:r>
            <a:r>
              <a:rPr lang="da-DK" dirty="0" err="1"/>
              <a:t>publishes</a:t>
            </a:r>
            <a:r>
              <a:rPr lang="da-DK" dirty="0"/>
              <a:t> IP </a:t>
            </a:r>
            <a:r>
              <a:rPr lang="da-DK" dirty="0" err="1"/>
              <a:t>addresses</a:t>
            </a:r>
            <a:r>
              <a:rPr lang="da-DK" dirty="0"/>
              <a:t> </a:t>
            </a:r>
            <a:r>
              <a:rPr lang="da-DK" dirty="0" err="1"/>
              <a:t>that</a:t>
            </a:r>
            <a:r>
              <a:rPr lang="da-DK" dirty="0"/>
              <a:t> have </a:t>
            </a:r>
            <a:r>
              <a:rPr lang="da-DK" dirty="0" err="1"/>
              <a:t>recently</a:t>
            </a:r>
            <a:r>
              <a:rPr lang="da-DK" dirty="0"/>
              <a:t> </a:t>
            </a:r>
            <a:r>
              <a:rPr lang="da-DK" dirty="0" err="1"/>
              <a:t>been</a:t>
            </a:r>
            <a:r>
              <a:rPr lang="da-DK" dirty="0"/>
              <a:t> </a:t>
            </a:r>
            <a:r>
              <a:rPr lang="da-DK" dirty="0" err="1"/>
              <a:t>used</a:t>
            </a:r>
            <a:r>
              <a:rPr lang="da-DK" dirty="0"/>
              <a:t> for </a:t>
            </a:r>
            <a:r>
              <a:rPr lang="da-DK" dirty="0" err="1"/>
              <a:t>malicious</a:t>
            </a:r>
            <a:r>
              <a:rPr lang="da-DK" dirty="0"/>
              <a:t> </a:t>
            </a:r>
            <a:r>
              <a:rPr lang="da-DK" dirty="0" err="1"/>
              <a:t>attacks</a:t>
            </a:r>
            <a:endParaRPr lang="da-DK" dirty="0"/>
          </a:p>
          <a:p>
            <a:pPr lvl="2"/>
            <a:r>
              <a:rPr lang="da-DK" dirty="0"/>
              <a:t>This </a:t>
            </a:r>
            <a:r>
              <a:rPr lang="da-DK" dirty="0" err="1"/>
              <a:t>can</a:t>
            </a:r>
            <a:r>
              <a:rPr lang="da-DK" dirty="0"/>
              <a:t> </a:t>
            </a:r>
            <a:r>
              <a:rPr lang="da-DK" dirty="0" err="1"/>
              <a:t>block</a:t>
            </a:r>
            <a:r>
              <a:rPr lang="da-DK" dirty="0"/>
              <a:t> </a:t>
            </a:r>
            <a:r>
              <a:rPr lang="da-DK" dirty="0" err="1"/>
              <a:t>your</a:t>
            </a:r>
            <a:r>
              <a:rPr lang="da-DK" dirty="0"/>
              <a:t> system from </a:t>
            </a:r>
            <a:r>
              <a:rPr lang="da-DK" dirty="0" err="1"/>
              <a:t>integrating</a:t>
            </a:r>
            <a:r>
              <a:rPr lang="da-DK" dirty="0"/>
              <a:t> with </a:t>
            </a:r>
            <a:r>
              <a:rPr lang="da-DK" dirty="0" err="1"/>
              <a:t>other</a:t>
            </a:r>
            <a:r>
              <a:rPr lang="da-DK" dirty="0"/>
              <a:t> systems </a:t>
            </a:r>
            <a:r>
              <a:rPr lang="da-DK" dirty="0" err="1"/>
              <a:t>if</a:t>
            </a:r>
            <a:r>
              <a:rPr lang="da-DK" dirty="0"/>
              <a:t> </a:t>
            </a:r>
            <a:r>
              <a:rPr lang="da-DK" dirty="0" err="1"/>
              <a:t>you</a:t>
            </a:r>
            <a:r>
              <a:rPr lang="da-DK" dirty="0"/>
              <a:t> </a:t>
            </a:r>
            <a:r>
              <a:rPr lang="da-DK" dirty="0" err="1"/>
              <a:t>share</a:t>
            </a:r>
            <a:r>
              <a:rPr lang="da-DK" dirty="0"/>
              <a:t> </a:t>
            </a:r>
            <a:r>
              <a:rPr lang="da-DK" dirty="0" err="1"/>
              <a:t>hosting</a:t>
            </a:r>
            <a:r>
              <a:rPr lang="da-DK" dirty="0"/>
              <a:t> with </a:t>
            </a:r>
            <a:r>
              <a:rPr lang="da-DK" dirty="0" err="1"/>
              <a:t>someone</a:t>
            </a:r>
            <a:r>
              <a:rPr lang="da-DK" dirty="0"/>
              <a:t> </a:t>
            </a:r>
            <a:r>
              <a:rPr lang="da-DK" dirty="0" err="1"/>
              <a:t>who</a:t>
            </a:r>
            <a:r>
              <a:rPr lang="da-DK" dirty="0"/>
              <a:t> is </a:t>
            </a:r>
            <a:r>
              <a:rPr lang="da-DK" dirty="0" err="1"/>
              <a:t>blacklisted</a:t>
            </a:r>
            <a:endParaRPr lang="da-DK" dirty="0"/>
          </a:p>
          <a:p>
            <a:pPr lvl="1"/>
            <a:r>
              <a:rPr lang="da-DK" dirty="0"/>
              <a:t>Make </a:t>
            </a:r>
            <a:r>
              <a:rPr lang="da-DK" dirty="0" err="1"/>
              <a:t>application</a:t>
            </a:r>
            <a:r>
              <a:rPr lang="da-DK" dirty="0"/>
              <a:t> </a:t>
            </a:r>
            <a:r>
              <a:rPr lang="da-DK" dirty="0" err="1"/>
              <a:t>validity</a:t>
            </a:r>
            <a:r>
              <a:rPr lang="da-DK" dirty="0"/>
              <a:t> checks </a:t>
            </a:r>
            <a:r>
              <a:rPr lang="da-DK" dirty="0" err="1"/>
              <a:t>early</a:t>
            </a:r>
            <a:r>
              <a:rPr lang="da-DK" dirty="0"/>
              <a:t> in the </a:t>
            </a:r>
            <a:r>
              <a:rPr lang="da-DK" dirty="0" err="1"/>
              <a:t>application</a:t>
            </a:r>
            <a:r>
              <a:rPr lang="da-DK" dirty="0"/>
              <a:t> </a:t>
            </a:r>
            <a:r>
              <a:rPr lang="da-DK" dirty="0" err="1"/>
              <a:t>response</a:t>
            </a:r>
            <a:endParaRPr lang="da-DK" dirty="0"/>
          </a:p>
          <a:p>
            <a:pPr lvl="2"/>
            <a:r>
              <a:rPr lang="da-DK" dirty="0" err="1"/>
              <a:t>Avoid</a:t>
            </a:r>
            <a:r>
              <a:rPr lang="da-DK" dirty="0"/>
              <a:t> </a:t>
            </a:r>
            <a:r>
              <a:rPr lang="da-DK" dirty="0" err="1"/>
              <a:t>wasting</a:t>
            </a:r>
            <a:r>
              <a:rPr lang="da-DK" dirty="0"/>
              <a:t> ressources on </a:t>
            </a:r>
            <a:r>
              <a:rPr lang="da-DK" dirty="0" err="1"/>
              <a:t>someone</a:t>
            </a:r>
            <a:r>
              <a:rPr lang="da-DK" dirty="0"/>
              <a:t> </a:t>
            </a:r>
            <a:r>
              <a:rPr lang="da-DK" dirty="0" err="1"/>
              <a:t>who</a:t>
            </a:r>
            <a:r>
              <a:rPr lang="da-DK" dirty="0"/>
              <a:t> </a:t>
            </a:r>
            <a:r>
              <a:rPr lang="da-DK" dirty="0" err="1"/>
              <a:t>will</a:t>
            </a:r>
            <a:r>
              <a:rPr lang="da-DK" dirty="0"/>
              <a:t> end up </a:t>
            </a:r>
            <a:r>
              <a:rPr lang="da-DK" dirty="0" err="1"/>
              <a:t>being</a:t>
            </a:r>
            <a:r>
              <a:rPr lang="da-DK" dirty="0"/>
              <a:t> </a:t>
            </a:r>
            <a:r>
              <a:rPr lang="da-DK" dirty="0" err="1"/>
              <a:t>blocked</a:t>
            </a:r>
            <a:endParaRPr lang="da-DK" dirty="0"/>
          </a:p>
          <a:p>
            <a:pPr lvl="1"/>
            <a:r>
              <a:rPr lang="da-DK" dirty="0" err="1"/>
              <a:t>Prepare</a:t>
            </a:r>
            <a:r>
              <a:rPr lang="da-DK" dirty="0"/>
              <a:t> for </a:t>
            </a:r>
            <a:r>
              <a:rPr lang="da-DK" dirty="0" err="1"/>
              <a:t>disasters</a:t>
            </a:r>
            <a:endParaRPr lang="da-DK" dirty="0"/>
          </a:p>
          <a:p>
            <a:pPr lvl="2"/>
            <a:r>
              <a:rPr lang="da-DK" dirty="0"/>
              <a:t>Make sure </a:t>
            </a:r>
            <a:r>
              <a:rPr lang="da-DK" dirty="0" err="1"/>
              <a:t>you</a:t>
            </a:r>
            <a:r>
              <a:rPr lang="da-DK" dirty="0"/>
              <a:t> have a plan </a:t>
            </a:r>
            <a:r>
              <a:rPr lang="da-DK" dirty="0" err="1"/>
              <a:t>that</a:t>
            </a:r>
            <a:r>
              <a:rPr lang="da-DK" dirty="0"/>
              <a:t> </a:t>
            </a:r>
            <a:r>
              <a:rPr lang="da-DK" dirty="0" err="1"/>
              <a:t>will</a:t>
            </a:r>
            <a:r>
              <a:rPr lang="da-DK" dirty="0"/>
              <a:t> </a:t>
            </a:r>
            <a:r>
              <a:rPr lang="da-DK" dirty="0" err="1"/>
              <a:t>allow</a:t>
            </a:r>
            <a:r>
              <a:rPr lang="da-DK" dirty="0"/>
              <a:t> </a:t>
            </a:r>
            <a:r>
              <a:rPr lang="da-DK" dirty="0" err="1"/>
              <a:t>you</a:t>
            </a:r>
            <a:r>
              <a:rPr lang="da-DK" dirty="0"/>
              <a:t> to </a:t>
            </a:r>
            <a:r>
              <a:rPr lang="da-DK" dirty="0" err="1"/>
              <a:t>immediately</a:t>
            </a:r>
            <a:r>
              <a:rPr lang="da-DK" dirty="0"/>
              <a:t> </a:t>
            </a:r>
            <a:r>
              <a:rPr lang="da-DK" dirty="0" err="1"/>
              <a:t>take</a:t>
            </a:r>
            <a:r>
              <a:rPr lang="da-DK" dirty="0"/>
              <a:t> </a:t>
            </a:r>
            <a:r>
              <a:rPr lang="da-DK" dirty="0" err="1"/>
              <a:t>down</a:t>
            </a:r>
            <a:r>
              <a:rPr lang="da-DK" dirty="0"/>
              <a:t> the </a:t>
            </a:r>
            <a:r>
              <a:rPr lang="da-DK" dirty="0" err="1"/>
              <a:t>application</a:t>
            </a:r>
            <a:r>
              <a:rPr lang="da-DK" dirty="0"/>
              <a:t> and </a:t>
            </a:r>
            <a:r>
              <a:rPr lang="da-DK" dirty="0" err="1"/>
              <a:t>get</a:t>
            </a:r>
            <a:r>
              <a:rPr lang="da-DK" dirty="0"/>
              <a:t> it back up and running</a:t>
            </a:r>
          </a:p>
          <a:p>
            <a:pPr lvl="2"/>
            <a:endParaRPr lang="da-DK" dirty="0"/>
          </a:p>
          <a:p>
            <a:pPr lvl="1"/>
            <a:r>
              <a:rPr lang="da-DK" dirty="0"/>
              <a:t>IP </a:t>
            </a:r>
            <a:r>
              <a:rPr lang="da-DK" dirty="0" err="1"/>
              <a:t>whitelisting</a:t>
            </a:r>
            <a:endParaRPr lang="da-DK" dirty="0"/>
          </a:p>
          <a:p>
            <a:pPr lvl="2"/>
            <a:r>
              <a:rPr lang="da-DK" dirty="0"/>
              <a:t>IP </a:t>
            </a:r>
            <a:r>
              <a:rPr lang="da-DK" dirty="0" err="1"/>
              <a:t>whitelisting</a:t>
            </a:r>
            <a:r>
              <a:rPr lang="da-DK" dirty="0"/>
              <a:t> </a:t>
            </a:r>
            <a:r>
              <a:rPr lang="da-DK" dirty="0" err="1"/>
              <a:t>can</a:t>
            </a:r>
            <a:r>
              <a:rPr lang="da-DK" dirty="0"/>
              <a:t> </a:t>
            </a:r>
            <a:r>
              <a:rPr lang="da-DK" dirty="0" err="1"/>
              <a:t>be</a:t>
            </a:r>
            <a:r>
              <a:rPr lang="da-DK" dirty="0"/>
              <a:t> </a:t>
            </a:r>
            <a:r>
              <a:rPr lang="da-DK" dirty="0" err="1"/>
              <a:t>used</a:t>
            </a:r>
            <a:r>
              <a:rPr lang="da-DK" dirty="0"/>
              <a:t> a </a:t>
            </a:r>
            <a:r>
              <a:rPr lang="da-DK" dirty="0" err="1"/>
              <a:t>way</a:t>
            </a:r>
            <a:r>
              <a:rPr lang="da-DK" dirty="0"/>
              <a:t> to </a:t>
            </a:r>
            <a:r>
              <a:rPr lang="da-DK" dirty="0" err="1"/>
              <a:t>slowly</a:t>
            </a:r>
            <a:r>
              <a:rPr lang="da-DK" dirty="0"/>
              <a:t> </a:t>
            </a:r>
            <a:r>
              <a:rPr lang="da-DK" dirty="0" err="1"/>
              <a:t>validate</a:t>
            </a:r>
            <a:r>
              <a:rPr lang="da-DK" dirty="0"/>
              <a:t> users for a </a:t>
            </a:r>
            <a:r>
              <a:rPr lang="da-DK" dirty="0" err="1"/>
              <a:t>period</a:t>
            </a:r>
            <a:r>
              <a:rPr lang="da-DK" dirty="0"/>
              <a:t> of time</a:t>
            </a:r>
          </a:p>
          <a:p>
            <a:pPr lvl="2"/>
            <a:r>
              <a:rPr lang="da-DK" dirty="0" err="1"/>
              <a:t>Once</a:t>
            </a:r>
            <a:r>
              <a:rPr lang="da-DK" dirty="0"/>
              <a:t> </a:t>
            </a:r>
            <a:r>
              <a:rPr lang="da-DK" dirty="0" err="1"/>
              <a:t>you</a:t>
            </a:r>
            <a:r>
              <a:rPr lang="da-DK" dirty="0"/>
              <a:t> </a:t>
            </a:r>
            <a:r>
              <a:rPr lang="da-DK" dirty="0" err="1"/>
              <a:t>know</a:t>
            </a:r>
            <a:r>
              <a:rPr lang="da-DK" dirty="0"/>
              <a:t> </a:t>
            </a:r>
            <a:r>
              <a:rPr lang="da-DK" dirty="0" err="1"/>
              <a:t>your</a:t>
            </a:r>
            <a:r>
              <a:rPr lang="da-DK" dirty="0"/>
              <a:t> </a:t>
            </a:r>
            <a:r>
              <a:rPr lang="da-DK" dirty="0" err="1"/>
              <a:t>typical</a:t>
            </a:r>
            <a:r>
              <a:rPr lang="da-DK" dirty="0"/>
              <a:t> </a:t>
            </a:r>
            <a:r>
              <a:rPr lang="da-DK" dirty="0" err="1"/>
              <a:t>cadence</a:t>
            </a:r>
            <a:r>
              <a:rPr lang="da-DK" dirty="0"/>
              <a:t> of </a:t>
            </a:r>
            <a:r>
              <a:rPr lang="da-DK" dirty="0" err="1"/>
              <a:t>whitelisting</a:t>
            </a:r>
            <a:r>
              <a:rPr lang="da-DK" dirty="0"/>
              <a:t>, </a:t>
            </a:r>
            <a:r>
              <a:rPr lang="da-DK" dirty="0" err="1"/>
              <a:t>you</a:t>
            </a:r>
            <a:r>
              <a:rPr lang="da-DK" dirty="0"/>
              <a:t> </a:t>
            </a:r>
            <a:r>
              <a:rPr lang="da-DK" dirty="0" err="1"/>
              <a:t>can</a:t>
            </a:r>
            <a:r>
              <a:rPr lang="da-DK" dirty="0"/>
              <a:t> </a:t>
            </a:r>
            <a:r>
              <a:rPr lang="da-DK" dirty="0" err="1"/>
              <a:t>shut</a:t>
            </a:r>
            <a:r>
              <a:rPr lang="da-DK" dirty="0"/>
              <a:t> </a:t>
            </a:r>
            <a:r>
              <a:rPr lang="da-DK" dirty="0" err="1"/>
              <a:t>down</a:t>
            </a:r>
            <a:r>
              <a:rPr lang="da-DK" dirty="0"/>
              <a:t> </a:t>
            </a:r>
            <a:r>
              <a:rPr lang="da-DK" dirty="0" err="1"/>
              <a:t>whitelisting</a:t>
            </a:r>
            <a:r>
              <a:rPr lang="da-DK" dirty="0"/>
              <a:t> </a:t>
            </a:r>
            <a:r>
              <a:rPr lang="da-DK" dirty="0" err="1"/>
              <a:t>when</a:t>
            </a:r>
            <a:r>
              <a:rPr lang="da-DK" dirty="0"/>
              <a:t> </a:t>
            </a:r>
            <a:r>
              <a:rPr lang="da-DK" dirty="0" err="1"/>
              <a:t>that</a:t>
            </a:r>
            <a:r>
              <a:rPr lang="da-DK" dirty="0"/>
              <a:t> </a:t>
            </a:r>
            <a:r>
              <a:rPr lang="da-DK" dirty="0" err="1"/>
              <a:t>cadence</a:t>
            </a:r>
            <a:r>
              <a:rPr lang="da-DK" dirty="0"/>
              <a:t> </a:t>
            </a:r>
            <a:r>
              <a:rPr lang="da-DK" dirty="0" err="1"/>
              <a:t>grows</a:t>
            </a:r>
            <a:r>
              <a:rPr lang="da-DK" dirty="0"/>
              <a:t> </a:t>
            </a:r>
            <a:r>
              <a:rPr lang="da-DK" dirty="0" err="1"/>
              <a:t>significantly</a:t>
            </a:r>
            <a:endParaRPr lang="da-DK" dirty="0"/>
          </a:p>
          <a:p>
            <a:pPr lvl="2"/>
            <a:endParaRPr lang="da-DK" dirty="0"/>
          </a:p>
          <a:p>
            <a:r>
              <a:rPr lang="da-DK" dirty="0" err="1"/>
              <a:t>DDoS</a:t>
            </a:r>
            <a:r>
              <a:rPr lang="da-DK" dirty="0"/>
              <a:t> is </a:t>
            </a:r>
            <a:r>
              <a:rPr lang="da-DK" dirty="0" err="1"/>
              <a:t>one</a:t>
            </a:r>
            <a:r>
              <a:rPr lang="da-DK" dirty="0"/>
              <a:t> of the most </a:t>
            </a:r>
            <a:r>
              <a:rPr lang="da-DK" dirty="0" err="1"/>
              <a:t>difficult</a:t>
            </a:r>
            <a:r>
              <a:rPr lang="da-DK" dirty="0"/>
              <a:t> </a:t>
            </a:r>
            <a:r>
              <a:rPr lang="da-DK" dirty="0" err="1"/>
              <a:t>attacks</a:t>
            </a:r>
            <a:r>
              <a:rPr lang="da-DK" dirty="0"/>
              <a:t> to </a:t>
            </a:r>
            <a:r>
              <a:rPr lang="da-DK" dirty="0" err="1"/>
              <a:t>protect</a:t>
            </a:r>
            <a:r>
              <a:rPr lang="da-DK" dirty="0"/>
              <a:t> </a:t>
            </a:r>
            <a:r>
              <a:rPr lang="da-DK" dirty="0" err="1"/>
              <a:t>against</a:t>
            </a:r>
            <a:r>
              <a:rPr lang="da-DK" dirty="0"/>
              <a:t>, but </a:t>
            </a:r>
            <a:r>
              <a:rPr lang="da-DK" dirty="0" err="1"/>
              <a:t>you</a:t>
            </a:r>
            <a:r>
              <a:rPr lang="da-DK" dirty="0"/>
              <a:t> </a:t>
            </a:r>
            <a:r>
              <a:rPr lang="da-DK" dirty="0" err="1"/>
              <a:t>can</a:t>
            </a:r>
            <a:r>
              <a:rPr lang="da-DK" dirty="0"/>
              <a:t> </a:t>
            </a:r>
            <a:r>
              <a:rPr lang="da-DK" dirty="0" err="1"/>
              <a:t>severely</a:t>
            </a:r>
            <a:r>
              <a:rPr lang="da-DK" dirty="0"/>
              <a:t> </a:t>
            </a:r>
            <a:r>
              <a:rPr lang="da-DK" dirty="0" err="1"/>
              <a:t>decrease</a:t>
            </a:r>
            <a:r>
              <a:rPr lang="da-DK" dirty="0"/>
              <a:t> the </a:t>
            </a:r>
            <a:r>
              <a:rPr lang="da-DK" dirty="0" err="1"/>
              <a:t>probability</a:t>
            </a:r>
            <a:r>
              <a:rPr lang="da-DK" dirty="0"/>
              <a:t> by </a:t>
            </a:r>
            <a:r>
              <a:rPr lang="da-DK" dirty="0" err="1"/>
              <a:t>decreasing</a:t>
            </a:r>
            <a:r>
              <a:rPr lang="da-DK" dirty="0"/>
              <a:t> the </a:t>
            </a:r>
            <a:r>
              <a:rPr lang="da-DK" dirty="0" err="1"/>
              <a:t>number</a:t>
            </a:r>
            <a:r>
              <a:rPr lang="da-DK" dirty="0"/>
              <a:t> of acceptable IP </a:t>
            </a:r>
            <a:r>
              <a:rPr lang="da-DK" dirty="0" err="1"/>
              <a:t>addresses</a:t>
            </a:r>
            <a:endParaRPr lang="da-DK" dirty="0"/>
          </a:p>
        </p:txBody>
      </p:sp>
      <p:sp>
        <p:nvSpPr>
          <p:cNvPr id="4" name="Pladsholder til dato 3">
            <a:extLst>
              <a:ext uri="{FF2B5EF4-FFF2-40B4-BE49-F238E27FC236}">
                <a16:creationId xmlns:a16="http://schemas.microsoft.com/office/drawing/2014/main" id="{1B41C5B7-9E71-4AE8-809B-54BF12B22BBA}"/>
              </a:ext>
            </a:extLst>
          </p:cNvPr>
          <p:cNvSpPr>
            <a:spLocks noGrp="1"/>
          </p:cNvSpPr>
          <p:nvPr>
            <p:ph type="dt" sz="half" idx="2"/>
          </p:nvPr>
        </p:nvSpPr>
        <p:spPr/>
        <p:txBody>
          <a:bodyPr/>
          <a:lstStyle/>
          <a:p>
            <a:fld id="{AC541DA6-B7B5-41EB-84E7-FCF2AE8E6F3B}" type="datetime1">
              <a:rPr lang="en-GB" smtClean="0"/>
              <a:t>18/09/2024</a:t>
            </a:fld>
            <a:endParaRPr lang="en-GB" dirty="0"/>
          </a:p>
        </p:txBody>
      </p:sp>
      <p:sp>
        <p:nvSpPr>
          <p:cNvPr id="5" name="Pladsholder til sidefod 4">
            <a:extLst>
              <a:ext uri="{FF2B5EF4-FFF2-40B4-BE49-F238E27FC236}">
                <a16:creationId xmlns:a16="http://schemas.microsoft.com/office/drawing/2014/main" id="{852EB468-150E-45AD-BFE0-B781C52A07F6}"/>
              </a:ext>
            </a:extLst>
          </p:cNvPr>
          <p:cNvSpPr>
            <a:spLocks noGrp="1"/>
          </p:cNvSpPr>
          <p:nvPr>
            <p:ph type="ftr" sz="quarter" idx="14"/>
          </p:nvPr>
        </p:nvSpPr>
        <p:spPr/>
        <p:txBody>
          <a:bodyPr/>
          <a:lstStyle/>
          <a:p>
            <a:endParaRPr lang="en-GB" dirty="0"/>
          </a:p>
        </p:txBody>
      </p:sp>
      <p:sp>
        <p:nvSpPr>
          <p:cNvPr id="6" name="Pladsholder til slidenummer 5">
            <a:extLst>
              <a:ext uri="{FF2B5EF4-FFF2-40B4-BE49-F238E27FC236}">
                <a16:creationId xmlns:a16="http://schemas.microsoft.com/office/drawing/2014/main" id="{8307F2E6-81E4-4923-BE15-1E75CF9428EA}"/>
              </a:ext>
            </a:extLst>
          </p:cNvPr>
          <p:cNvSpPr>
            <a:spLocks noGrp="1"/>
          </p:cNvSpPr>
          <p:nvPr>
            <p:ph type="sldNum" sz="quarter" idx="15"/>
          </p:nvPr>
        </p:nvSpPr>
        <p:spPr/>
        <p:txBody>
          <a:bodyPr/>
          <a:lstStyle/>
          <a:p>
            <a:fld id="{45D37B1E-C366-494F-A587-962AD9AABC83}" type="slidenum">
              <a:rPr lang="en-GB" smtClean="0"/>
              <a:pPr/>
              <a:t>45</a:t>
            </a:fld>
            <a:endParaRPr lang="en-GB" dirty="0"/>
          </a:p>
        </p:txBody>
      </p:sp>
    </p:spTree>
    <p:extLst>
      <p:ext uri="{BB962C8B-B14F-4D97-AF65-F5344CB8AC3E}">
        <p14:creationId xmlns:p14="http://schemas.microsoft.com/office/powerpoint/2010/main" val="6373832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ktangel 2">
            <a:extLst>
              <a:ext uri="{FF2B5EF4-FFF2-40B4-BE49-F238E27FC236}">
                <a16:creationId xmlns:a16="http://schemas.microsoft.com/office/drawing/2014/main" id="{B62A164F-D56C-4D61-AC27-A5367F4424C1}"/>
              </a:ext>
            </a:extLst>
          </p:cNvPr>
          <p:cNvSpPr/>
          <p:nvPr/>
        </p:nvSpPr>
        <p:spPr>
          <a:xfrm>
            <a:off x="0" y="0"/>
            <a:ext cx="12192000" cy="68580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da-DK" sz="1600" dirty="0" err="1"/>
          </a:p>
        </p:txBody>
      </p:sp>
      <p:sp>
        <p:nvSpPr>
          <p:cNvPr id="2" name="Title 1">
            <a:extLst>
              <a:ext uri="{FF2B5EF4-FFF2-40B4-BE49-F238E27FC236}">
                <a16:creationId xmlns:a16="http://schemas.microsoft.com/office/drawing/2014/main" id="{BDDB5404-88DD-4C7D-B8CA-E07E973EF1FB}"/>
              </a:ext>
            </a:extLst>
          </p:cNvPr>
          <p:cNvSpPr>
            <a:spLocks noGrp="1"/>
          </p:cNvSpPr>
          <p:nvPr>
            <p:ph type="ctrTitle"/>
          </p:nvPr>
        </p:nvSpPr>
        <p:spPr/>
        <p:txBody>
          <a:bodyPr/>
          <a:lstStyle/>
          <a:p>
            <a:r>
              <a:rPr lang="en-GB" dirty="0"/>
              <a:t>Recap</a:t>
            </a:r>
          </a:p>
        </p:txBody>
      </p:sp>
      <p:sp>
        <p:nvSpPr>
          <p:cNvPr id="8" name="Pladsholder til slidenummer 7"/>
          <p:cNvSpPr>
            <a:spLocks noGrp="1"/>
          </p:cNvSpPr>
          <p:nvPr>
            <p:ph type="sldNum" sz="quarter" idx="4294967295"/>
          </p:nvPr>
        </p:nvSpPr>
        <p:spPr>
          <a:xfrm>
            <a:off x="0" y="6912000"/>
            <a:ext cx="0" cy="0"/>
          </a:xfrm>
        </p:spPr>
        <p:txBody>
          <a:bodyPr/>
          <a:lstStyle/>
          <a:p>
            <a:fld id="{45D37B1E-C366-494F-A587-962AD9AABC83}" type="slidenum">
              <a:rPr lang="en-GB"/>
              <a:pPr/>
              <a:t>46</a:t>
            </a:fld>
            <a:endParaRPr lang="en-GB" dirty="0"/>
          </a:p>
        </p:txBody>
      </p:sp>
    </p:spTree>
    <p:custDataLst>
      <p:custData r:id="rId1"/>
      <p:custData r:id="rId2"/>
      <p:tags r:id="rId3"/>
    </p:custDataLst>
    <p:extLst>
      <p:ext uri="{BB962C8B-B14F-4D97-AF65-F5344CB8AC3E}">
        <p14:creationId xmlns:p14="http://schemas.microsoft.com/office/powerpoint/2010/main" val="27892738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dato 2">
            <a:extLst>
              <a:ext uri="{FF2B5EF4-FFF2-40B4-BE49-F238E27FC236}">
                <a16:creationId xmlns:a16="http://schemas.microsoft.com/office/drawing/2014/main" id="{B8FEE912-AB78-CBCA-AE49-6F10A5919370}"/>
              </a:ext>
            </a:extLst>
          </p:cNvPr>
          <p:cNvSpPr>
            <a:spLocks noGrp="1"/>
          </p:cNvSpPr>
          <p:nvPr>
            <p:ph type="dt" sz="half" idx="2"/>
          </p:nvPr>
        </p:nvSpPr>
        <p:spPr/>
        <p:txBody>
          <a:bodyPr/>
          <a:lstStyle/>
          <a:p>
            <a:fld id="{489359D9-A70F-D248-A2D6-A1FFEF208DEF}" type="datetime1">
              <a:rPr lang="en-GB" smtClean="0"/>
              <a:t>18/09/2024</a:t>
            </a:fld>
            <a:endParaRPr lang="en-GB" dirty="0"/>
          </a:p>
        </p:txBody>
      </p:sp>
      <p:pic>
        <p:nvPicPr>
          <p:cNvPr id="3074" name="Picture 2" descr="10 Scariest Software Security Vulnerabilities">
            <a:extLst>
              <a:ext uri="{FF2B5EF4-FFF2-40B4-BE49-F238E27FC236}">
                <a16:creationId xmlns:a16="http://schemas.microsoft.com/office/drawing/2014/main" id="{04817985-4B43-CFEE-7E87-C37911209E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2550"/>
            <a:ext cx="5905500" cy="66929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62C3EDD8-3F7F-A2F1-045D-98964C26ABBC}"/>
              </a:ext>
            </a:extLst>
          </p:cNvPr>
          <p:cNvSpPr>
            <a:spLocks noGrp="1"/>
          </p:cNvSpPr>
          <p:nvPr>
            <p:ph type="ctrTitle"/>
          </p:nvPr>
        </p:nvSpPr>
        <p:spPr>
          <a:xfrm>
            <a:off x="414697" y="999173"/>
            <a:ext cx="5505458" cy="2670150"/>
          </a:xfrm>
        </p:spPr>
        <p:txBody>
          <a:bodyPr/>
          <a:lstStyle/>
          <a:p>
            <a:r>
              <a:rPr lang="da-DK" dirty="0" err="1"/>
              <a:t>What</a:t>
            </a:r>
            <a:r>
              <a:rPr lang="da-DK" dirty="0"/>
              <a:t> do </a:t>
            </a:r>
            <a:r>
              <a:rPr lang="da-DK" dirty="0" err="1"/>
              <a:t>we</a:t>
            </a:r>
            <a:r>
              <a:rPr lang="da-DK" dirty="0"/>
              <a:t> do?</a:t>
            </a:r>
          </a:p>
        </p:txBody>
      </p:sp>
    </p:spTree>
    <p:extLst>
      <p:ext uri="{BB962C8B-B14F-4D97-AF65-F5344CB8AC3E}">
        <p14:creationId xmlns:p14="http://schemas.microsoft.com/office/powerpoint/2010/main" val="33094646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2.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3.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4.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5.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6.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7.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8.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ags/tag9.xml><?xml version="1.0" encoding="utf-8"?>
<p:tagLst xmlns:a="http://schemas.openxmlformats.org/drawingml/2006/main" xmlns:r="http://schemas.openxmlformats.org/officeDocument/2006/relationships" xmlns:p="http://schemas.openxmlformats.org/presentationml/2006/main">
  <p:tag name="TEMPLAFYSLIDEID" val="a56b0fb8-d552-4215-bd97-31ad12d99a5c"/>
</p:tagLst>
</file>

<file path=ppt/theme/theme1.xml><?xml version="1.0" encoding="utf-8"?>
<a:theme xmlns:a="http://schemas.openxmlformats.org/drawingml/2006/main" name="Blank">
  <a:themeElements>
    <a:clrScheme name="SDU">
      <a:dk1>
        <a:srgbClr val="000000"/>
      </a:dk1>
      <a:lt1>
        <a:srgbClr val="FFFFFF"/>
      </a:lt1>
      <a:dk2>
        <a:srgbClr val="7A6040"/>
      </a:dk2>
      <a:lt2>
        <a:srgbClr val="DDCBA4"/>
      </a:lt2>
      <a:accent1>
        <a:srgbClr val="AEB862"/>
      </a:accent1>
      <a:accent2>
        <a:srgbClr val="789D4A"/>
      </a:accent2>
      <a:accent3>
        <a:srgbClr val="F2C75C"/>
      </a:accent3>
      <a:accent4>
        <a:srgbClr val="E07E3C"/>
      </a:accent4>
      <a:accent5>
        <a:srgbClr val="E1BBB4"/>
      </a:accent5>
      <a:accent6>
        <a:srgbClr val="D05A57"/>
      </a:accent6>
      <a:hlink>
        <a:srgbClr val="0563C1"/>
      </a:hlink>
      <a:folHlink>
        <a:srgbClr val="954F72"/>
      </a:folHlink>
    </a:clrScheme>
    <a:fontScheme name="SDU">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solidFill>
            <a:schemeClr val="accent1"/>
          </a:solidFill>
        </a:ln>
      </a:spPr>
      <a:bodyPr lIns="72000" tIns="72000" rIns="72000" bIns="72000" rtlCol="0" anchor="ctr"/>
      <a:lstStyle>
        <a:defPPr algn="ctr">
          <a:defRPr sz="1600" dirty="0" err="1"/>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defRPr sz="1600" dirty="0" err="1"/>
        </a:defPPr>
      </a:lstStyle>
    </a:txDef>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extLst>
    <a:ext uri="{05A4C25C-085E-4340-85A3-A5531E510DB2}">
      <thm15:themeFamily xmlns:thm15="http://schemas.microsoft.com/office/thememl/2012/main" name="SDU widescreen.potx" id="{1C4F8E8D-0334-4267-96F7-9CAC143C1229}" vid="{6887ADA9-E5D5-4F4B-ACE2-43240691910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Grøn 1">
      <a:srgbClr val="4E5B31"/>
    </a:custClr>
    <a:custClr name="Grøn 2">
      <a:srgbClr val="789D4A"/>
    </a:custClr>
    <a:custClr name="Grøn 3">
      <a:srgbClr val="AEB862"/>
    </a:custClr>
    <a:custClr name="Grøn 4">
      <a:srgbClr val="EAE7B9"/>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Orange 1">
      <a:srgbClr val="D38235"/>
    </a:custClr>
    <a:custClr name="Orange 2">
      <a:srgbClr val="E0A526"/>
    </a:custClr>
    <a:custClr name="Orange 3">
      <a:srgbClr val="EED484"/>
    </a:custClr>
    <a:custClr name="Orange 4">
      <a:srgbClr val="FCF0C4"/>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Rød 1">
      <a:srgbClr val="862633"/>
    </a:custClr>
    <a:custClr name="Rød 2">
      <a:srgbClr val="D05A57"/>
    </a:custClr>
    <a:custClr name="Rød 3">
      <a:srgbClr val="E1BBB4"/>
    </a:custClr>
    <a:custClr name="Rød 4">
      <a:srgbClr val="F4E2DE"/>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Brun 1">
      <a:srgbClr val="473729"/>
    </a:custClr>
    <a:custClr name="Brun 2">
      <a:srgbClr val="946037"/>
    </a:custClr>
    <a:custClr name="Brun 3">
      <a:srgbClr val="DDCBA4"/>
    </a:custClr>
    <a:custClr name="Brun 4">
      <a:srgbClr val="EFE5D1"/>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Color has no name">
      <a:srgbClr val="FFFFFF"/>
    </a:custClr>
    <a:custClr name="Sort">
      <a:srgbClr val="000000"/>
    </a:custClr>
    <a:custClr name="Hvid">
      <a:srgbClr val="FFFFFF"/>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item1.xml><?xml version="1.0" encoding="utf-8"?>
<TemplafySlideFormConfiguration><![CDATA[{"formFields":[],"formDataEntries":[]}]]></TemplafySlideFormConfiguration>
</file>

<file path=customXml/item2.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3.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4.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5.xml><?xml version="1.0" encoding="utf-8"?>
<TemplafySlideFormConfiguration><![CDATA[{"formFields":[],"formDataEntries":[]}]]></TemplafySlideFormConfiguration>
</file>

<file path=customXml/item6.xml><?xml version="1.0" encoding="utf-8"?>
<TemplafySlideFormConfiguration><![CDATA[{"formFields":[],"formDataEntries":[]}]]></TemplafySlideFormConfiguration>
</file>

<file path=customXml/item7.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8.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9.xml><?xml version="1.0" encoding="utf-8"?>
<TemplafySlideTemplateConfiguration><![CDATA[{"documentContentValidatorConfiguration":{"enableDocumentContentValidator":false,"documentContentValidatorVersion":0},"elementsMetadata":[],"slideId":"636891895635542819","enableDocumentContentUpdater":true,"version":"1.3"}]]></TemplafySlideTemplateConfiguration>
</file>

<file path=customXml/item10.xml><?xml version="1.0" encoding="utf-8"?>
<TemplafySlideFormConfiguration><![CDATA[{"formFields":[],"formDataEntries":[]}]]></TemplafySlideFormConfiguration>
</file>

<file path=customXml/item11.xml><?xml version="1.0" encoding="utf-8"?>
<TemplafySlideTemplateConfiguration><![CDATA[{"documentContentValidatorConfiguration":{"enableDocumentContentValidator":false,"documentContentValidatorVersion":0},"elementsMetadata":[],"slideId":"636891895634761136","enableDocumentContentUpdater":true,"version":"1.3"}]]></TemplafySlideTemplateConfiguration>
</file>

<file path=customXml/item12.xml><?xml version="1.0" encoding="utf-8"?>
<TemplafyFormConfiguration><![CDATA[{"formFields":[{"required":false,"type":"datePicker","name":"Date","label":"Date","helpTexts":{"prefix":"","postfix":""},"spacing":{},"fullyQualifiedName":"Date"}],"formDataEntries":[{"name":"Date","value":"2Ix+bEfKiBgFPlbzHV5hwA=="}]}]]></TemplafyFormConfiguration>
</file>

<file path=customXml/item13.xml><?xml version="1.0" encoding="utf-8"?>
<TemplafySlideFormConfiguration><![CDATA[{"formFields":[],"formDataEntries":[]}]]></TemplafySlideFormConfiguration>
</file>

<file path=customXml/item14.xml><?xml version="1.0" encoding="utf-8"?>
<TemplafySlideTemplateConfiguration><![CDATA[{"documentContentValidatorConfiguration":{"enableDocumentContentValidator":false,"documentContentValidatorVersion":0},"elementsMetadata":[],"slideId":"636891895634761136","enableDocumentContentUpdater":true,"version":"1.3"}]]></TemplafySlideTemplateConfiguration>
</file>

<file path=customXml/item15.xml><?xml version="1.0" encoding="utf-8"?>
<TemplafySlideFormConfiguration><![CDATA[{"formFields":[],"formDataEntries":[]}]]></TemplafySlideFormConfiguration>
</file>

<file path=customXml/item16.xml><?xml version="1.0" encoding="utf-8"?>
<TemplafySlideTemplateConfiguration><![CDATA[{"documentContentValidatorConfiguration":{"enableDocumentContentValidator":false,"documentContentValidatorVersion":0},"elementsMetadata":[],"slideId":"636891895634761137","enableDocumentContentUpdater":true,"version":"1.3"}]]></TemplafySlideTemplateConfiguration>
</file>

<file path=customXml/item17.xml><?xml version="1.0" encoding="utf-8"?>
<TemplafyTemplateConfiguration><![CDATA[{"elementsMetadata":[{"type":"shape","id":"d572fa25-8edd-43b8-9b55-27d872b6b1fc","elementConfiguration":{"format":"{{DateFormats.MonthYear}}","binding":"Form.Date","disableUpdates":false,"type":"date"}},{"type":"shape","id":"bbb50dc8-a7c0-4554-930d-663460fed123","elementConfiguration":{"binding":"UserProfile.Institut.InstituteDCU_{{DocumentLanguage}}","disableUpdates":false,"type":"text"}},{"type":"shape","id":"f39ab476-473e-4cbc-a735-08e8467cfb7b","elementConfiguration":{"binding":"UserProfile.Institut.InstituteDCU_{{DocumentLanguage}}","disableUpdates":false,"type":"text"}},{"type":"shape","id":"8f4f5ab2-38ae-4794-9556-95edf115af0a","elementConfiguration":{"format":"{{DateFormats.MonthYear}}","binding":"Form.Date","disableUpdates":false,"type":"date"}},{"type":"shape","id":"535c2e69-01e7-4dce-95a6-4de9d99d38ac","elementConfiguration":{"binding":"UserProfile.Institut.InstituteDCU_{{DocumentLanguage}}","disableUpdates":false,"type":"text"}},{"type":"shape","id":"4580039a-6a0b-47c3-8582-fb9e2e105f97","elementConfiguration":{"format":"{{DateFormats.MonthYear}}","binding":"Form.Date","disableUpdates":false,"type":"date"}},{"type":"shape","id":"9e66ba45-e00c-4751-bf02-a4956d240516","elementConfiguration":{"binding":"UserProfile.Institut.InstituteDCU_{{DocumentLanguage}}","disableUpdates":false,"type":"text"}},{"type":"shape","id":"e93eeae9-b581-4184-9cc7-9a0f9897d348","elementConfiguration":{"format":"{{DateFormats.MonthYear}}","binding":"Form.Date","disableUpdates":false,"type":"date"}},{"type":"shape","id":"b451176b-5c0c-4d4d-9060-3837f3de11a8","elementConfiguration":{"format":"{{DateFormats.MonthYear}}","binding":"Form.Date","disableUpdates":false,"type":"date"}},{"type":"shape","id":"c68689c9-e668-4c96-a109-f982a524f861","elementConfiguration":{"binding":"UserProfile.Institut.InstituteDCU_{{DocumentLanguage}}","disableUpdates":false,"type":"text"}},{"type":"shape","id":"c5e3364f-695b-4164-8ae0-df0baedf3be1","elementConfiguration":{"binding":"UserProfile.Institut.InstituteDCU_{{DocumentLanguage}}","disableUpdates":false,"type":"text"}},{"type":"shape","id":"19392b15-c614-4755-aea8-28d38b6bbe91","elementConfiguration":{"binding":"UserProfile.Institut.InstituteDCU_{{DocumentLanguage}}","disableUpdates":false,"type":"text"}},{"type":"shape","id":"7c8a4e8f-f1eb-4af7-b254-c88f4a86ec48","elementConfiguration":{"format":"{{DateFormats.MonthYear}}","binding":"Form.Date","disableUpdates":false,"type":"date"}}],"transformationConfigurations":[{"language":"{{DocumentLanguage}}","disableUpdates":false,"type":"proofingLanguage"}],"templateName":"SDU widescreen 16:9 template","templateDescription":"Tom bredformat skabelon til Powerpoint med enhed, dato og links","enableDocumentContentUpdater":true,"version":"1.3"}]]></TemplafyTemplateConfiguration>
</file>

<file path=customXml/item18.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19.xml><?xml version="1.0" encoding="utf-8"?>
<TemplafySlideFormConfiguration><![CDATA[{"formFields":[],"formDataEntries":[]}]]></TemplafySlideFormConfiguration>
</file>

<file path=customXml/item20.xml><?xml version="1.0" encoding="utf-8"?>
<TemplafySlideFormConfiguration><![CDATA[{"formFields":[],"formDataEntries":[]}]]></TemplafySlideFormConfiguration>
</file>

<file path=customXml/item21.xml><?xml version="1.0" encoding="utf-8"?>
<TemplafySlideFormConfiguration><![CDATA[{"formFields":[],"formDataEntries":[]}]]></TemplafySlideFormConfiguration>
</file>

<file path=customXml/item22.xml><?xml version="1.0" encoding="utf-8"?>
<TemplafySlideFormConfiguration><![CDATA[{"formFields":[],"formDataEntries":[]}]]></TemplafySlideFormConfiguration>
</file>

<file path=customXml/item23.xml><?xml version="1.0" encoding="utf-8"?>
<TemplafySlideFormConfiguration><![CDATA[{"formFields":[],"formDataEntries":[]}]]></TemplafySlideFormConfiguration>
</file>

<file path=customXml/item24.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5.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6.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7.xml><?xml version="1.0" encoding="utf-8"?>
<TemplafySlideFormConfiguration><![CDATA[{"formFields":[],"formDataEntries":[]}]]></TemplafySlideFormConfiguration>
</file>

<file path=customXml/item28.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29.xml><?xml version="1.0" encoding="utf-8"?>
<TemplafySlideFormConfiguration><![CDATA[{"formFields":[],"formDataEntries":[]}]]></TemplafySlideFormConfiguration>
</file>

<file path=customXml/item30.xml><?xml version="1.0" encoding="utf-8"?>
<TemplafySlideFormConfiguration><![CDATA[{"formFields":[],"formDataEntries":[]}]]></TemplafySlideFormConfiguration>
</file>

<file path=customXml/item31.xml><?xml version="1.0" encoding="utf-8"?>
<TemplafySlideFormConfiguration><![CDATA[{"formFields":[],"formDataEntries":[]}]]></TemplafySlideFormConfiguration>
</file>

<file path=customXml/item32.xml><?xml version="1.0" encoding="utf-8"?>
<TemplafySlideFormConfiguration><![CDATA[{"formFields":[],"formDataEntries":[]}]]></TemplafySlideFormConfiguration>
</file>

<file path=customXml/item33.xml><?xml version="1.0" encoding="utf-8"?>
<TemplafySlideTemplateConfiguration><![CDATA[{"documentContentValidatorConfiguration":{"enableDocumentContentValidator":false,"documentContentValidatorVersion":0},"elementsMetadata":[],"slideId":"636891895635699094","enableDocumentContentUpdater":true,"version":"1.3"}]]></TemplafySlideTemplateConfiguration>
</file>

<file path=customXml/item34.xml><?xml version="1.0" encoding="utf-8"?>
<TemplafySlideTemplateConfiguration><![CDATA[{"documentContentValidatorConfiguration":{"enableDocumentContentValidator":false,"documentContentValidatorVersion":0},"elementsMetadata":[],"slideId":"636891895634292863","enableDocumentContentUpdater":true,"version":"1.3"}]]></TemplafySlideTemplateConfiguration>
</file>

<file path=customXml/itemProps1.xml><?xml version="1.0" encoding="utf-8"?>
<ds:datastoreItem xmlns:ds="http://schemas.openxmlformats.org/officeDocument/2006/customXml" ds:itemID="{92B9B527-2D2E-B24D-A8E3-620321EC1E33}">
  <ds:schemaRefs/>
</ds:datastoreItem>
</file>

<file path=customXml/itemProps2.xml><?xml version="1.0" encoding="utf-8"?>
<ds:datastoreItem xmlns:ds="http://schemas.openxmlformats.org/officeDocument/2006/customXml" ds:itemID="{27CDD743-0B32-43BA-9D13-0307BD0B43CD}">
  <ds:schemaRefs/>
</ds:datastoreItem>
</file>

<file path=customXml/itemProps3.xml><?xml version="1.0" encoding="utf-8"?>
<ds:datastoreItem xmlns:ds="http://schemas.openxmlformats.org/officeDocument/2006/customXml" ds:itemID="{EE04C3D7-B4E1-9142-9FE5-642E8F59CF78}">
  <ds:schemaRefs/>
</ds:datastoreItem>
</file>

<file path=customXml/itemProps4.xml><?xml version="1.0" encoding="utf-8"?>
<ds:datastoreItem xmlns:ds="http://schemas.openxmlformats.org/officeDocument/2006/customXml" ds:itemID="{39CF56E8-5167-334F-951F-1ACB9136EC94}">
  <ds:schemaRefs/>
</ds:datastoreItem>
</file>

<file path=customXml/itemProps5.xml><?xml version="1.0" encoding="utf-8"?>
<ds:datastoreItem xmlns:ds="http://schemas.openxmlformats.org/officeDocument/2006/customXml" ds:itemID="{0DCBF946-FA7B-C640-A9B7-DD7F216AFBA8}">
  <ds:schemaRefs/>
</ds:datastoreItem>
</file>

<file path=customXml/itemProps6.xml><?xml version="1.0" encoding="utf-8"?>
<ds:datastoreItem xmlns:ds="http://schemas.openxmlformats.org/officeDocument/2006/customXml" ds:itemID="{AE4511BA-71F6-4AAE-90AC-6442626391DC}">
  <ds:schemaRefs/>
</ds:datastoreItem>
</file>

<file path=customXml/itemProps7.xml><?xml version="1.0" encoding="utf-8"?>
<ds:datastoreItem xmlns:ds="http://schemas.openxmlformats.org/officeDocument/2006/customXml" ds:itemID="{9C91783C-149E-4E46-8685-9D74EE2C269E}">
  <ds:schemaRefs/>
</ds:datastoreItem>
</file>

<file path=customXml/itemProps8.xml><?xml version="1.0" encoding="utf-8"?>
<ds:datastoreItem xmlns:ds="http://schemas.openxmlformats.org/officeDocument/2006/customXml" ds:itemID="{2F434A59-20DB-47CC-9F00-74C7A3232553}">
  <ds:schemaRefs/>
</ds:datastoreItem>
</file>

<file path=customXml/itemProps9.xml><?xml version="1.0" encoding="utf-8"?>
<ds:datastoreItem xmlns:ds="http://schemas.openxmlformats.org/officeDocument/2006/customXml" ds:itemID="{3FF30AE2-4030-4619-B981-FE19E0E4A113}">
  <ds:schemaRefs/>
</ds:datastoreItem>
</file>

<file path=customXml/itemProps10.xml><?xml version="1.0" encoding="utf-8"?>
<ds:datastoreItem xmlns:ds="http://schemas.openxmlformats.org/officeDocument/2006/customXml" ds:itemID="{EFDDF717-020F-184C-B911-5202BA8FAF1B}">
  <ds:schemaRefs/>
</ds:datastoreItem>
</file>

<file path=customXml/itemProps11.xml><?xml version="1.0" encoding="utf-8"?>
<ds:datastoreItem xmlns:ds="http://schemas.openxmlformats.org/officeDocument/2006/customXml" ds:itemID="{8F36D3C8-5173-4306-861C-CC9CB4A0CF4B}">
  <ds:schemaRefs/>
</ds:datastoreItem>
</file>

<file path=customXml/itemProps12.xml><?xml version="1.0" encoding="utf-8"?>
<ds:datastoreItem xmlns:ds="http://schemas.openxmlformats.org/officeDocument/2006/customXml" ds:itemID="{C5CD5A01-6378-494D-B71B-D23DEC9A120C}">
  <ds:schemaRefs/>
</ds:datastoreItem>
</file>

<file path=customXml/itemProps13.xml><?xml version="1.0" encoding="utf-8"?>
<ds:datastoreItem xmlns:ds="http://schemas.openxmlformats.org/officeDocument/2006/customXml" ds:itemID="{DF8FC11B-2B8F-48E8-89FC-329FD59E3C3C}">
  <ds:schemaRefs/>
</ds:datastoreItem>
</file>

<file path=customXml/itemProps14.xml><?xml version="1.0" encoding="utf-8"?>
<ds:datastoreItem xmlns:ds="http://schemas.openxmlformats.org/officeDocument/2006/customXml" ds:itemID="{26B8B898-3EBC-4680-AA80-5BD076E57B47}">
  <ds:schemaRefs/>
</ds:datastoreItem>
</file>

<file path=customXml/itemProps15.xml><?xml version="1.0" encoding="utf-8"?>
<ds:datastoreItem xmlns:ds="http://schemas.openxmlformats.org/officeDocument/2006/customXml" ds:itemID="{AE43FC57-6EB7-CE4E-B3D0-65008CBD6F67}">
  <ds:schemaRefs/>
</ds:datastoreItem>
</file>

<file path=customXml/itemProps16.xml><?xml version="1.0" encoding="utf-8"?>
<ds:datastoreItem xmlns:ds="http://schemas.openxmlformats.org/officeDocument/2006/customXml" ds:itemID="{1DA5F47D-14F9-49C7-BB6D-79A6A719F13C}">
  <ds:schemaRefs/>
</ds:datastoreItem>
</file>

<file path=customXml/itemProps17.xml><?xml version="1.0" encoding="utf-8"?>
<ds:datastoreItem xmlns:ds="http://schemas.openxmlformats.org/officeDocument/2006/customXml" ds:itemID="{C484C70F-0F64-4774-853F-19FDF7E1F81D}">
  <ds:schemaRefs/>
</ds:datastoreItem>
</file>

<file path=customXml/itemProps18.xml><?xml version="1.0" encoding="utf-8"?>
<ds:datastoreItem xmlns:ds="http://schemas.openxmlformats.org/officeDocument/2006/customXml" ds:itemID="{96205AFC-0BF7-F541-923C-8232F546B591}">
  <ds:schemaRefs/>
</ds:datastoreItem>
</file>

<file path=customXml/itemProps19.xml><?xml version="1.0" encoding="utf-8"?>
<ds:datastoreItem xmlns:ds="http://schemas.openxmlformats.org/officeDocument/2006/customXml" ds:itemID="{E37C6DCE-8348-4767-834E-94782BBE0F9E}">
  <ds:schemaRefs/>
</ds:datastoreItem>
</file>

<file path=customXml/itemProps20.xml><?xml version="1.0" encoding="utf-8"?>
<ds:datastoreItem xmlns:ds="http://schemas.openxmlformats.org/officeDocument/2006/customXml" ds:itemID="{13904DEA-8253-4BF3-9310-8891F043FA29}">
  <ds:schemaRefs/>
</ds:datastoreItem>
</file>

<file path=customXml/itemProps21.xml><?xml version="1.0" encoding="utf-8"?>
<ds:datastoreItem xmlns:ds="http://schemas.openxmlformats.org/officeDocument/2006/customXml" ds:itemID="{F2272AAD-8D33-4FB9-9B40-46554F80457C}">
  <ds:schemaRefs/>
</ds:datastoreItem>
</file>

<file path=customXml/itemProps22.xml><?xml version="1.0" encoding="utf-8"?>
<ds:datastoreItem xmlns:ds="http://schemas.openxmlformats.org/officeDocument/2006/customXml" ds:itemID="{AAB3CA4C-5F0D-4E47-8E34-2256889CAAB4}">
  <ds:schemaRefs/>
</ds:datastoreItem>
</file>

<file path=customXml/itemProps23.xml><?xml version="1.0" encoding="utf-8"?>
<ds:datastoreItem xmlns:ds="http://schemas.openxmlformats.org/officeDocument/2006/customXml" ds:itemID="{C1C731A2-9AED-1346-8570-D81CC8831A6D}">
  <ds:schemaRefs/>
</ds:datastoreItem>
</file>

<file path=customXml/itemProps24.xml><?xml version="1.0" encoding="utf-8"?>
<ds:datastoreItem xmlns:ds="http://schemas.openxmlformats.org/officeDocument/2006/customXml" ds:itemID="{8ED66D15-5712-A348-B413-5D0D6C0A5CAF}">
  <ds:schemaRefs/>
</ds:datastoreItem>
</file>

<file path=customXml/itemProps25.xml><?xml version="1.0" encoding="utf-8"?>
<ds:datastoreItem xmlns:ds="http://schemas.openxmlformats.org/officeDocument/2006/customXml" ds:itemID="{78A40811-D6DA-9843-A24A-56E9007B6710}">
  <ds:schemaRefs/>
</ds:datastoreItem>
</file>

<file path=customXml/itemProps26.xml><?xml version="1.0" encoding="utf-8"?>
<ds:datastoreItem xmlns:ds="http://schemas.openxmlformats.org/officeDocument/2006/customXml" ds:itemID="{C258F903-23EC-7F43-8879-A2A7ACD048E8}">
  <ds:schemaRefs/>
</ds:datastoreItem>
</file>

<file path=customXml/itemProps27.xml><?xml version="1.0" encoding="utf-8"?>
<ds:datastoreItem xmlns:ds="http://schemas.openxmlformats.org/officeDocument/2006/customXml" ds:itemID="{CFC7CD9E-B387-47DD-A892-194586C4B0A8}">
  <ds:schemaRefs/>
</ds:datastoreItem>
</file>

<file path=customXml/itemProps28.xml><?xml version="1.0" encoding="utf-8"?>
<ds:datastoreItem xmlns:ds="http://schemas.openxmlformats.org/officeDocument/2006/customXml" ds:itemID="{304C8963-AE92-FC49-8F03-E4A3681D0521}">
  <ds:schemaRefs/>
</ds:datastoreItem>
</file>

<file path=customXml/itemProps29.xml><?xml version="1.0" encoding="utf-8"?>
<ds:datastoreItem xmlns:ds="http://schemas.openxmlformats.org/officeDocument/2006/customXml" ds:itemID="{BCE7116C-EBB2-4DE3-8482-CDB3DC27564C}">
  <ds:schemaRefs/>
</ds:datastoreItem>
</file>

<file path=customXml/itemProps30.xml><?xml version="1.0" encoding="utf-8"?>
<ds:datastoreItem xmlns:ds="http://schemas.openxmlformats.org/officeDocument/2006/customXml" ds:itemID="{AC241A1A-6EE0-45E9-B9B3-E84BDA147342}">
  <ds:schemaRefs/>
</ds:datastoreItem>
</file>

<file path=customXml/itemProps31.xml><?xml version="1.0" encoding="utf-8"?>
<ds:datastoreItem xmlns:ds="http://schemas.openxmlformats.org/officeDocument/2006/customXml" ds:itemID="{1E4F6CA6-A5A0-AC4F-B771-D93CC4838039}">
  <ds:schemaRefs/>
</ds:datastoreItem>
</file>

<file path=customXml/itemProps32.xml><?xml version="1.0" encoding="utf-8"?>
<ds:datastoreItem xmlns:ds="http://schemas.openxmlformats.org/officeDocument/2006/customXml" ds:itemID="{8A4007BE-F52F-49E9-9D79-943704CAF243}">
  <ds:schemaRefs/>
</ds:datastoreItem>
</file>

<file path=customXml/itemProps33.xml><?xml version="1.0" encoding="utf-8"?>
<ds:datastoreItem xmlns:ds="http://schemas.openxmlformats.org/officeDocument/2006/customXml" ds:itemID="{61049392-9824-46E8-B53B-071ADFE52D03}">
  <ds:schemaRefs/>
</ds:datastoreItem>
</file>

<file path=customXml/itemProps34.xml><?xml version="1.0" encoding="utf-8"?>
<ds:datastoreItem xmlns:ds="http://schemas.openxmlformats.org/officeDocument/2006/customXml" ds:itemID="{C66E74AB-6472-4216-A030-CEF6826F2820}">
  <ds:schemaRefs/>
</ds:datastoreItem>
</file>

<file path=docProps/app.xml><?xml version="1.0" encoding="utf-8"?>
<Properties xmlns="http://schemas.openxmlformats.org/officeDocument/2006/extended-properties" xmlns:vt="http://schemas.openxmlformats.org/officeDocument/2006/docPropsVTypes">
  <TotalTime>0</TotalTime>
  <Words>4114</Words>
  <Application>Microsoft Macintosh PowerPoint</Application>
  <PresentationFormat>Widescreen</PresentationFormat>
  <Paragraphs>409</Paragraphs>
  <Slides>47</Slides>
  <Notes>11</Notes>
  <HiddenSlides>0</HiddenSlides>
  <MMClips>0</MMClips>
  <ScaleCrop>false</ScaleCrop>
  <HeadingPairs>
    <vt:vector size="6" baseType="variant">
      <vt:variant>
        <vt:lpstr>Benyttede skrifttyper</vt:lpstr>
      </vt:variant>
      <vt:variant>
        <vt:i4>7</vt:i4>
      </vt:variant>
      <vt:variant>
        <vt:lpstr>Tema</vt:lpstr>
      </vt:variant>
      <vt:variant>
        <vt:i4>1</vt:i4>
      </vt:variant>
      <vt:variant>
        <vt:lpstr>Slidetitler</vt:lpstr>
      </vt:variant>
      <vt:variant>
        <vt:i4>47</vt:i4>
      </vt:variant>
    </vt:vector>
  </HeadingPairs>
  <TitlesOfParts>
    <vt:vector size="55" baseType="lpstr">
      <vt:lpstr>ＭＳ Ｐゴシック</vt:lpstr>
      <vt:lpstr>‘Inter’ -apple-system</vt:lpstr>
      <vt:lpstr>Arial</vt:lpstr>
      <vt:lpstr>HelveticaNeueLT Pro 77 BdCn</vt:lpstr>
      <vt:lpstr>Times New Roman</vt:lpstr>
      <vt:lpstr>Wingdings</vt:lpstr>
      <vt:lpstr>ヒラギノ角ゴ ProN W3</vt:lpstr>
      <vt:lpstr>Blank</vt:lpstr>
      <vt:lpstr>  Cyber Security  by Henrik Lange</vt:lpstr>
      <vt:lpstr>Agenda</vt:lpstr>
      <vt:lpstr>Cyber Security</vt:lpstr>
      <vt:lpstr>OWASP: Open Web Application Security Project</vt:lpstr>
      <vt:lpstr>How login systems work</vt:lpstr>
      <vt:lpstr>OWASP has a 4 year update cycle</vt:lpstr>
      <vt:lpstr>OWASP top 10 (2021)</vt:lpstr>
      <vt:lpstr>OWASP top 10 (2021)</vt:lpstr>
      <vt:lpstr>OWASP top 10 (2021)</vt:lpstr>
      <vt:lpstr>Access Control</vt:lpstr>
      <vt:lpstr>How login systems work</vt:lpstr>
      <vt:lpstr>API Key</vt:lpstr>
      <vt:lpstr>BasicAuth</vt:lpstr>
      <vt:lpstr>BasicAuth</vt:lpstr>
      <vt:lpstr>OAuth with API Keys</vt:lpstr>
      <vt:lpstr>Oauth – Facebook login example</vt:lpstr>
      <vt:lpstr>The difference between authentication and authorization</vt:lpstr>
      <vt:lpstr>Injection</vt:lpstr>
      <vt:lpstr>Cross-Site Scripting (XSS)</vt:lpstr>
      <vt:lpstr>Cross-Site Scripting XSS</vt:lpstr>
      <vt:lpstr>SQL Injection</vt:lpstr>
      <vt:lpstr>SQL Injection</vt:lpstr>
      <vt:lpstr>Solution: SQL Injection</vt:lpstr>
      <vt:lpstr>Backend Script Injection</vt:lpstr>
      <vt:lpstr>Solution: Backend Script Injection</vt:lpstr>
      <vt:lpstr>Direct Database Access</vt:lpstr>
      <vt:lpstr>Solution: Direct Database Access</vt:lpstr>
      <vt:lpstr>Solution: Direct Database Access</vt:lpstr>
      <vt:lpstr>XSRF: Cross-Site Request Forgery</vt:lpstr>
      <vt:lpstr>Cross-Site Request Forgery</vt:lpstr>
      <vt:lpstr>Cross-Site Request Forgery</vt:lpstr>
      <vt:lpstr>Let's find some!</vt:lpstr>
      <vt:lpstr>Logging and monitoring</vt:lpstr>
      <vt:lpstr>Logging</vt:lpstr>
      <vt:lpstr>Logging</vt:lpstr>
      <vt:lpstr>Monitoring – rolling application log</vt:lpstr>
      <vt:lpstr>Monitoring – database audit log</vt:lpstr>
      <vt:lpstr>Vulnerabilities</vt:lpstr>
      <vt:lpstr>What is a vulnerability</vt:lpstr>
      <vt:lpstr>Vulnerabilities</vt:lpstr>
      <vt:lpstr>Vulnerabilities</vt:lpstr>
      <vt:lpstr>DDoS Distributed Denial of Service</vt:lpstr>
      <vt:lpstr>DDoS – Distributed Denial of Service</vt:lpstr>
      <vt:lpstr>PowerPoint-præsentation</vt:lpstr>
      <vt:lpstr>DDoS – Distributed Denial of Service</vt:lpstr>
      <vt:lpstr>Recap</vt:lpstr>
      <vt:lpstr>What do we 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2020-11-22T21:53:34Z</dcterms:created>
  <dcterms:modified xsi:type="dcterms:W3CDTF">2024-09-18T14:42:03Z</dcterms:modified>
</cp:coreProperties>
</file>